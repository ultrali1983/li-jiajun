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8" r:id="rId2"/>
    <p:sldId id="257" r:id="rId3"/>
  </p:sldIdLst>
  <p:sldSz cx="6858000" cy="9906000" type="A4"/>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6A6C"/>
    <a:srgbClr val="9EA1A2"/>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autoAdjust="0"/>
    <p:restoredTop sz="94709"/>
  </p:normalViewPr>
  <p:slideViewPr>
    <p:cSldViewPr snapToGrid="0">
      <p:cViewPr varScale="1">
        <p:scale>
          <a:sx n="67" d="100"/>
          <a:sy n="67" d="100"/>
        </p:scale>
        <p:origin x="332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2021/12/2</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85153" y="1149881"/>
            <a:ext cx="6545845" cy="1064191"/>
            <a:chOff x="185153" y="1175281"/>
            <a:chExt cx="6545845" cy="1064191"/>
          </a:xfrm>
        </p:grpSpPr>
        <p:sp>
          <p:nvSpPr>
            <p:cNvPr id="5" name="文本框 4">
              <a:extLst>
                <a:ext uri="{FF2B5EF4-FFF2-40B4-BE49-F238E27FC236}">
                  <a16:creationId xmlns:a16="http://schemas.microsoft.com/office/drawing/2014/main" id="{6328BBE5-BD67-4242-90DC-5145D59E3704}"/>
                </a:ext>
              </a:extLst>
            </p:cNvPr>
            <p:cNvSpPr txBox="1"/>
            <p:nvPr/>
          </p:nvSpPr>
          <p:spPr>
            <a:xfrm>
              <a:off x="185153" y="1175281"/>
              <a:ext cx="796876" cy="334707"/>
            </a:xfrm>
            <a:prstGeom prst="rect">
              <a:avLst/>
            </a:prstGeom>
            <a:noFill/>
          </p:spPr>
          <p:txBody>
            <a:bodyPr wrap="square" rtlCol="0">
              <a:spAutoFit/>
            </a:bodyPr>
            <a:lstStyle/>
            <a:p>
              <a:pPr>
                <a:lnSpc>
                  <a:spcPct val="150000"/>
                </a:lnSpc>
              </a:pPr>
              <a:r>
                <a:rPr lang="zh-CN" altLang="en-US" sz="1050" b="1" u="sng" dirty="0">
                  <a:solidFill>
                    <a:srgbClr val="696A6C"/>
                  </a:solidFill>
                  <a:latin typeface="微软雅黑" panose="020B0503020204020204" pitchFamily="34" charset="-122"/>
                  <a:ea typeface="微软雅黑" panose="020B0503020204020204" pitchFamily="34" charset="-122"/>
                </a:rPr>
                <a:t>求职目标</a:t>
              </a:r>
              <a:endParaRPr lang="en-US" altLang="zh-CN" sz="1050" b="1" u="sng" dirty="0">
                <a:solidFill>
                  <a:srgbClr val="696A6C"/>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CC1EBB91-CDFE-B640-B2D6-B8BB71CC595B}"/>
                </a:ext>
              </a:extLst>
            </p:cNvPr>
            <p:cNvSpPr txBox="1"/>
            <p:nvPr/>
          </p:nvSpPr>
          <p:spPr>
            <a:xfrm>
              <a:off x="858675" y="1177643"/>
              <a:ext cx="5872323" cy="1061829"/>
            </a:xfrm>
            <a:prstGeom prst="rect">
              <a:avLst/>
            </a:prstGeom>
            <a:noFill/>
          </p:spPr>
          <p:txBody>
            <a:bodyPr wrap="square" rtlCol="0">
              <a:spAutoFit/>
            </a:bodyPr>
            <a:lstStyle/>
            <a:p>
              <a:pPr>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供应商管理与开发</a:t>
              </a:r>
              <a:r>
                <a:rPr lang="en-US" altLang="zh-CN" sz="1050" b="1" dirty="0">
                  <a:solidFill>
                    <a:srgbClr val="696A6C"/>
                  </a:solidFill>
                  <a:latin typeface="微软雅黑" panose="020B0503020204020204" pitchFamily="34" charset="-122"/>
                  <a:ea typeface="微软雅黑" panose="020B0503020204020204" pitchFamily="34" charset="-122"/>
                </a:rPr>
                <a:t>  </a:t>
              </a:r>
              <a:r>
                <a:rPr lang="zh-CN" altLang="en-US" sz="1050" b="1" dirty="0">
                  <a:solidFill>
                    <a:srgbClr val="696A6C"/>
                  </a:solidFill>
                  <a:latin typeface="微软雅黑" panose="020B0503020204020204" pitchFamily="34" charset="-122"/>
                  <a:ea typeface="微软雅黑" panose="020B0503020204020204" pitchFamily="34" charset="-122"/>
                </a:rPr>
                <a:t>经理</a:t>
              </a:r>
              <a:endParaRPr lang="en-US" altLang="zh-CN" sz="1050" b="1"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在大众汽车集团积累了</a:t>
              </a:r>
              <a:r>
                <a:rPr lang="en-US" altLang="zh-CN" sz="1050" dirty="0">
                  <a:solidFill>
                    <a:srgbClr val="696A6C"/>
                  </a:solidFill>
                  <a:latin typeface="微软雅黑" panose="020B0503020204020204" pitchFamily="34" charset="-122"/>
                  <a:ea typeface="微软雅黑" panose="020B0503020204020204" pitchFamily="34" charset="-122"/>
                </a:rPr>
                <a:t>15</a:t>
              </a:r>
              <a:r>
                <a:rPr lang="zh-CN" altLang="en-US" sz="1050" dirty="0">
                  <a:solidFill>
                    <a:srgbClr val="696A6C"/>
                  </a:solidFill>
                  <a:latin typeface="微软雅黑" panose="020B0503020204020204" pitchFamily="34" charset="-122"/>
                  <a:ea typeface="微软雅黑" panose="020B0503020204020204" pitchFamily="34" charset="-122"/>
                </a:rPr>
                <a:t>年供应商管理工作经验，擅长体系化管理汽车零部件供应商，沟通谈判能力强。</a:t>
              </a:r>
              <a:endParaRPr lang="en-US" altLang="zh-CN" sz="1050"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上汽集团认证讲师，带教能力强。</a:t>
              </a:r>
              <a:endParaRPr lang="en-US" altLang="zh-CN" sz="1050" dirty="0">
                <a:solidFill>
                  <a:srgbClr val="696A6C"/>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130669" y="374781"/>
            <a:ext cx="4091437" cy="808983"/>
            <a:chOff x="130669" y="387481"/>
            <a:chExt cx="4091437" cy="808983"/>
          </a:xfrm>
        </p:grpSpPr>
        <p:sp>
          <p:nvSpPr>
            <p:cNvPr id="4" name="文本框 3"/>
            <p:cNvSpPr txBox="1"/>
            <p:nvPr/>
          </p:nvSpPr>
          <p:spPr>
            <a:xfrm>
              <a:off x="178048" y="619383"/>
              <a:ext cx="2234514" cy="577081"/>
            </a:xfrm>
            <a:prstGeom prst="rect">
              <a:avLst/>
            </a:prstGeom>
            <a:noFill/>
          </p:spPr>
          <p:txBody>
            <a:bodyPr wrap="square" rtlCol="0">
              <a:spAutoFit/>
            </a:bodyPr>
            <a:lstStyle/>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性别：男 </a:t>
              </a:r>
              <a:endParaRPr lang="en-US" altLang="zh-CN" sz="1050"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联系电话：</a:t>
              </a:r>
              <a:r>
                <a:rPr lang="en-US" altLang="zh-CN" sz="1050" dirty="0">
                  <a:solidFill>
                    <a:srgbClr val="696A6C"/>
                  </a:solidFill>
                  <a:latin typeface="微软雅黑" panose="020B0503020204020204" pitchFamily="34" charset="-122"/>
                  <a:ea typeface="微软雅黑" panose="020B0503020204020204" pitchFamily="34" charset="-122"/>
                </a:rPr>
                <a:t>13761058893</a:t>
              </a:r>
            </a:p>
          </p:txBody>
        </p:sp>
        <p:sp>
          <p:nvSpPr>
            <p:cNvPr id="10" name="文本框 9"/>
            <p:cNvSpPr txBox="1"/>
            <p:nvPr/>
          </p:nvSpPr>
          <p:spPr>
            <a:xfrm>
              <a:off x="1987592" y="609426"/>
              <a:ext cx="2234514" cy="548548"/>
            </a:xfrm>
            <a:prstGeom prst="rect">
              <a:avLst/>
            </a:prstGeom>
            <a:noFill/>
          </p:spPr>
          <p:txBody>
            <a:bodyPr wrap="square" rtlCol="0">
              <a:spAutoFit/>
            </a:bodyPr>
            <a:lstStyle/>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出生年月</a:t>
              </a:r>
              <a:r>
                <a:rPr lang="en-US" altLang="zh-CN" sz="1050" dirty="0">
                  <a:solidFill>
                    <a:srgbClr val="696A6C"/>
                  </a:solidFill>
                  <a:latin typeface="微软雅黑" panose="020B0503020204020204" pitchFamily="34" charset="-122"/>
                  <a:ea typeface="微软雅黑" panose="020B0503020204020204" pitchFamily="34" charset="-122"/>
                </a:rPr>
                <a:t>:   1983</a:t>
              </a:r>
              <a:r>
                <a:rPr lang="zh-CN" altLang="en-US" sz="1050" dirty="0">
                  <a:solidFill>
                    <a:srgbClr val="696A6C"/>
                  </a:solidFill>
                  <a:latin typeface="微软雅黑" panose="020B0503020204020204" pitchFamily="34" charset="-122"/>
                  <a:ea typeface="微软雅黑" panose="020B0503020204020204" pitchFamily="34" charset="-122"/>
                </a:rPr>
                <a:t>年</a:t>
              </a:r>
              <a:r>
                <a:rPr lang="en-US" altLang="zh-CN" sz="1050" dirty="0">
                  <a:solidFill>
                    <a:srgbClr val="696A6C"/>
                  </a:solidFill>
                  <a:latin typeface="微软雅黑" panose="020B0503020204020204" pitchFamily="34" charset="-122"/>
                  <a:ea typeface="微软雅黑" panose="020B0503020204020204" pitchFamily="34" charset="-122"/>
                </a:rPr>
                <a:t>12</a:t>
              </a:r>
              <a:r>
                <a:rPr lang="zh-CN" altLang="en-US" sz="1050" dirty="0">
                  <a:solidFill>
                    <a:srgbClr val="696A6C"/>
                  </a:solidFill>
                  <a:latin typeface="微软雅黑" panose="020B0503020204020204" pitchFamily="34" charset="-122"/>
                  <a:ea typeface="微软雅黑" panose="020B0503020204020204" pitchFamily="34" charset="-122"/>
                </a:rPr>
                <a:t>月</a:t>
              </a:r>
              <a:endParaRPr lang="en-US" altLang="zh-CN" sz="1050"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邮箱：</a:t>
              </a:r>
              <a:r>
                <a:rPr lang="en-US" altLang="zh-CN" sz="1050" dirty="0">
                  <a:solidFill>
                    <a:srgbClr val="696A6C"/>
                  </a:solidFill>
                  <a:latin typeface="微软雅黑" panose="020B0503020204020204" pitchFamily="34" charset="-122"/>
                  <a:ea typeface="微软雅黑" panose="020B0503020204020204" pitchFamily="34" charset="-122"/>
                </a:rPr>
                <a:t>   lijiajun_vwpt@163.com</a:t>
              </a:r>
              <a:endParaRPr lang="zh-CN" altLang="en-US" sz="1050" dirty="0">
                <a:solidFill>
                  <a:srgbClr val="696A6C"/>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30669" y="387481"/>
              <a:ext cx="757080" cy="276999"/>
            </a:xfrm>
            <a:prstGeom prst="rect">
              <a:avLst/>
            </a:prstGeom>
            <a:noFill/>
          </p:spPr>
          <p:txBody>
            <a:bodyPr wrap="square" rtlCol="0">
              <a:spAutoFit/>
            </a:bodyPr>
            <a:lstStyle/>
            <a:p>
              <a:pPr algn="ctr"/>
              <a:r>
                <a:rPr lang="zh-CN" altLang="en-US" sz="1200" dirty="0">
                  <a:solidFill>
                    <a:srgbClr val="696A6C"/>
                  </a:solidFill>
                  <a:latin typeface="微软雅黑" panose="020B0503020204020204" pitchFamily="34" charset="-122"/>
                  <a:ea typeface="微软雅黑" panose="020B0503020204020204" pitchFamily="34" charset="-122"/>
                </a:rPr>
                <a:t>李嘉俊</a:t>
              </a:r>
            </a:p>
          </p:txBody>
        </p:sp>
      </p:grpSp>
      <p:grpSp>
        <p:nvGrpSpPr>
          <p:cNvPr id="16" name="组合 15"/>
          <p:cNvGrpSpPr/>
          <p:nvPr/>
        </p:nvGrpSpPr>
        <p:grpSpPr>
          <a:xfrm>
            <a:off x="185153" y="2150641"/>
            <a:ext cx="6545846" cy="337069"/>
            <a:chOff x="185153" y="1175281"/>
            <a:chExt cx="6545846" cy="337069"/>
          </a:xfrm>
        </p:grpSpPr>
        <p:sp>
          <p:nvSpPr>
            <p:cNvPr id="17" name="文本框 16">
              <a:extLst>
                <a:ext uri="{FF2B5EF4-FFF2-40B4-BE49-F238E27FC236}">
                  <a16:creationId xmlns:a16="http://schemas.microsoft.com/office/drawing/2014/main" id="{6328BBE5-BD67-4242-90DC-5145D59E3704}"/>
                </a:ext>
              </a:extLst>
            </p:cNvPr>
            <p:cNvSpPr txBox="1"/>
            <p:nvPr/>
          </p:nvSpPr>
          <p:spPr>
            <a:xfrm>
              <a:off x="185153" y="1175281"/>
              <a:ext cx="796876" cy="334707"/>
            </a:xfrm>
            <a:prstGeom prst="rect">
              <a:avLst/>
            </a:prstGeom>
            <a:noFill/>
          </p:spPr>
          <p:txBody>
            <a:bodyPr wrap="square" rtlCol="0">
              <a:spAutoFit/>
            </a:bodyPr>
            <a:lstStyle/>
            <a:p>
              <a:pPr>
                <a:lnSpc>
                  <a:spcPct val="150000"/>
                </a:lnSpc>
              </a:pPr>
              <a:r>
                <a:rPr lang="zh-CN" altLang="en-US" sz="1050" b="1" u="sng" dirty="0">
                  <a:solidFill>
                    <a:srgbClr val="696A6C"/>
                  </a:solidFill>
                  <a:latin typeface="微软雅黑" panose="020B0503020204020204" pitchFamily="34" charset="-122"/>
                  <a:ea typeface="微软雅黑" panose="020B0503020204020204" pitchFamily="34" charset="-122"/>
                </a:rPr>
                <a:t>教育背景</a:t>
              </a:r>
              <a:endParaRPr lang="en-US" altLang="zh-CN" sz="1050" b="1" u="sng" dirty="0">
                <a:solidFill>
                  <a:srgbClr val="696A6C"/>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CC1EBB91-CDFE-B640-B2D6-B8BB71CC595B}"/>
                </a:ext>
              </a:extLst>
            </p:cNvPr>
            <p:cNvSpPr txBox="1"/>
            <p:nvPr/>
          </p:nvSpPr>
          <p:spPr>
            <a:xfrm>
              <a:off x="878997" y="1177643"/>
              <a:ext cx="5852002" cy="334707"/>
            </a:xfrm>
            <a:prstGeom prst="rect">
              <a:avLst/>
            </a:prstGeom>
            <a:noFill/>
          </p:spPr>
          <p:txBody>
            <a:bodyPr wrap="square" rtlCol="0">
              <a:spAutoFit/>
            </a:bodyPr>
            <a:lstStyle/>
            <a:p>
              <a:pPr>
                <a:lnSpc>
                  <a:spcPct val="150000"/>
                </a:lnSpc>
              </a:pPr>
              <a:r>
                <a:rPr lang="en-US" altLang="zh-CN" sz="1050" dirty="0">
                  <a:solidFill>
                    <a:srgbClr val="696A6C"/>
                  </a:solidFill>
                  <a:latin typeface="微软雅黑" panose="020B0503020204020204" pitchFamily="34" charset="-122"/>
                  <a:ea typeface="微软雅黑" panose="020B0503020204020204" pitchFamily="34" charset="-122"/>
                </a:rPr>
                <a:t>2002/Sep</a:t>
              </a:r>
              <a:r>
                <a:rPr lang="zh-CN" altLang="en-US" sz="1050" dirty="0">
                  <a:solidFill>
                    <a:srgbClr val="696A6C"/>
                  </a:solidFill>
                  <a:latin typeface="微软雅黑" panose="020B0503020204020204" pitchFamily="34" charset="-122"/>
                  <a:ea typeface="微软雅黑" panose="020B0503020204020204" pitchFamily="34" charset="-122"/>
                </a:rPr>
                <a:t>～</a:t>
              </a:r>
              <a:r>
                <a:rPr lang="en-US" altLang="zh-CN" sz="1050" dirty="0">
                  <a:solidFill>
                    <a:srgbClr val="696A6C"/>
                  </a:solidFill>
                  <a:latin typeface="微软雅黑" panose="020B0503020204020204" pitchFamily="34" charset="-122"/>
                  <a:ea typeface="微软雅黑" panose="020B0503020204020204" pitchFamily="34" charset="-122"/>
                </a:rPr>
                <a:t>2006/Jul	</a:t>
              </a:r>
              <a:r>
                <a:rPr lang="zh-CN" altLang="en-US" sz="1050" dirty="0">
                  <a:solidFill>
                    <a:srgbClr val="696A6C"/>
                  </a:solidFill>
                  <a:latin typeface="微软雅黑" panose="020B0503020204020204" pitchFamily="34" charset="-122"/>
                  <a:ea typeface="微软雅黑" panose="020B0503020204020204" pitchFamily="34" charset="-122"/>
                </a:rPr>
                <a:t>上海海事大学</a:t>
              </a:r>
              <a:r>
                <a:rPr lang="en-US" altLang="zh-CN" sz="1050" dirty="0">
                  <a:solidFill>
                    <a:srgbClr val="696A6C"/>
                  </a:solidFill>
                  <a:latin typeface="微软雅黑" panose="020B0503020204020204" pitchFamily="34" charset="-122"/>
                  <a:ea typeface="微软雅黑" panose="020B0503020204020204" pitchFamily="34" charset="-122"/>
                </a:rPr>
                <a:t>	</a:t>
              </a:r>
              <a:r>
                <a:rPr lang="zh-CN" altLang="en-US" sz="1050" dirty="0">
                  <a:solidFill>
                    <a:srgbClr val="696A6C"/>
                  </a:solidFill>
                  <a:latin typeface="微软雅黑" panose="020B0503020204020204" pitchFamily="34" charset="-122"/>
                  <a:ea typeface="微软雅黑" panose="020B0503020204020204" pitchFamily="34" charset="-122"/>
                </a:rPr>
                <a:t>轮机工程专业</a:t>
              </a:r>
              <a:r>
                <a:rPr lang="en-US" altLang="zh-CN" sz="1050" dirty="0">
                  <a:solidFill>
                    <a:srgbClr val="696A6C"/>
                  </a:solidFill>
                  <a:latin typeface="微软雅黑" panose="020B0503020204020204" pitchFamily="34" charset="-122"/>
                  <a:ea typeface="微软雅黑" panose="020B0503020204020204" pitchFamily="34" charset="-122"/>
                </a:rPr>
                <a:t>	</a:t>
              </a:r>
              <a:r>
                <a:rPr lang="zh-CN" altLang="en-US" sz="1050" dirty="0">
                  <a:solidFill>
                    <a:srgbClr val="696A6C"/>
                  </a:solidFill>
                  <a:latin typeface="微软雅黑" panose="020B0503020204020204" pitchFamily="34" charset="-122"/>
                  <a:ea typeface="微软雅黑" panose="020B0503020204020204" pitchFamily="34" charset="-122"/>
                </a:rPr>
                <a:t>本科（工学学士）</a:t>
              </a:r>
              <a:endParaRPr lang="en-US" altLang="zh-CN" sz="1050" dirty="0">
                <a:solidFill>
                  <a:srgbClr val="696A6C"/>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190233" y="2457981"/>
            <a:ext cx="6540766" cy="6638794"/>
            <a:chOff x="185153" y="1175281"/>
            <a:chExt cx="6540766" cy="6638794"/>
          </a:xfrm>
        </p:grpSpPr>
        <p:sp>
          <p:nvSpPr>
            <p:cNvPr id="20" name="文本框 19">
              <a:extLst>
                <a:ext uri="{FF2B5EF4-FFF2-40B4-BE49-F238E27FC236}">
                  <a16:creationId xmlns:a16="http://schemas.microsoft.com/office/drawing/2014/main" id="{6328BBE5-BD67-4242-90DC-5145D59E3704}"/>
                </a:ext>
              </a:extLst>
            </p:cNvPr>
            <p:cNvSpPr txBox="1"/>
            <p:nvPr/>
          </p:nvSpPr>
          <p:spPr>
            <a:xfrm>
              <a:off x="185153" y="1175281"/>
              <a:ext cx="796876" cy="334707"/>
            </a:xfrm>
            <a:prstGeom prst="rect">
              <a:avLst/>
            </a:prstGeom>
            <a:noFill/>
          </p:spPr>
          <p:txBody>
            <a:bodyPr wrap="square" rtlCol="0">
              <a:spAutoFit/>
            </a:bodyPr>
            <a:lstStyle/>
            <a:p>
              <a:pPr>
                <a:lnSpc>
                  <a:spcPct val="150000"/>
                </a:lnSpc>
              </a:pPr>
              <a:r>
                <a:rPr lang="zh-CN" altLang="en-US" sz="1050" b="1" u="sng" dirty="0">
                  <a:solidFill>
                    <a:srgbClr val="696A6C"/>
                  </a:solidFill>
                  <a:latin typeface="微软雅黑" panose="020B0503020204020204" pitchFamily="34" charset="-122"/>
                  <a:ea typeface="微软雅黑" panose="020B0503020204020204" pitchFamily="34" charset="-122"/>
                </a:rPr>
                <a:t>工作经历</a:t>
              </a:r>
              <a:endParaRPr lang="en-US" altLang="zh-CN" sz="1050" b="1" u="sng" dirty="0">
                <a:solidFill>
                  <a:srgbClr val="696A6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CC1EBB91-CDFE-B640-B2D6-B8BB71CC595B}"/>
                </a:ext>
              </a:extLst>
            </p:cNvPr>
            <p:cNvSpPr txBox="1"/>
            <p:nvPr/>
          </p:nvSpPr>
          <p:spPr>
            <a:xfrm>
              <a:off x="873916" y="1177643"/>
              <a:ext cx="5852003" cy="6636432"/>
            </a:xfrm>
            <a:prstGeom prst="rect">
              <a:avLst/>
            </a:prstGeom>
            <a:noFill/>
          </p:spPr>
          <p:txBody>
            <a:bodyPr wrap="square" rtlCol="0">
              <a:spAutoFit/>
            </a:bodyPr>
            <a:lstStyle/>
            <a:p>
              <a:pPr>
                <a:lnSpc>
                  <a:spcPct val="150000"/>
                </a:lnSpc>
              </a:pPr>
              <a:r>
                <a:rPr lang="en-US" altLang="zh-CN" sz="1050" dirty="0">
                  <a:solidFill>
                    <a:srgbClr val="696A6C"/>
                  </a:solidFill>
                  <a:latin typeface="微软雅黑" panose="020B0503020204020204" pitchFamily="34" charset="-122"/>
                  <a:ea typeface="微软雅黑" panose="020B0503020204020204" pitchFamily="34" charset="-122"/>
                </a:rPr>
                <a:t>2006.02</a:t>
              </a:r>
              <a:r>
                <a:rPr lang="zh-CN" altLang="en-US" sz="1050" dirty="0">
                  <a:solidFill>
                    <a:srgbClr val="696A6C"/>
                  </a:solidFill>
                  <a:latin typeface="微软雅黑" panose="020B0503020204020204" pitchFamily="34" charset="-122"/>
                  <a:ea typeface="微软雅黑" panose="020B0503020204020204" pitchFamily="34" charset="-122"/>
                </a:rPr>
                <a:t>～</a:t>
              </a:r>
              <a:r>
                <a:rPr lang="zh-CN" altLang="zh-CN" sz="1050" dirty="0">
                  <a:solidFill>
                    <a:srgbClr val="696A6C"/>
                  </a:solidFill>
                  <a:latin typeface="微软雅黑" panose="020B0503020204020204" pitchFamily="34" charset="-122"/>
                  <a:ea typeface="微软雅黑" panose="020B0503020204020204" pitchFamily="34" charset="-122"/>
                </a:rPr>
                <a:t>至今</a:t>
              </a:r>
              <a:r>
                <a:rPr lang="en-US" altLang="zh-CN" sz="1050" dirty="0">
                  <a:solidFill>
                    <a:srgbClr val="696A6C"/>
                  </a:solidFill>
                  <a:latin typeface="微软雅黑" panose="020B0503020204020204" pitchFamily="34" charset="-122"/>
                  <a:ea typeface="微软雅黑" panose="020B0503020204020204" pitchFamily="34" charset="-122"/>
                </a:rPr>
                <a:t>		</a:t>
              </a:r>
              <a:r>
                <a:rPr lang="en-US" altLang="zh-CN" sz="1050" b="1" dirty="0">
                  <a:solidFill>
                    <a:srgbClr val="696A6C"/>
                  </a:solidFill>
                  <a:latin typeface="微软雅黑" panose="020B0503020204020204" pitchFamily="34" charset="-122"/>
                  <a:ea typeface="微软雅黑" panose="020B0503020204020204" pitchFamily="34" charset="-122"/>
                </a:rPr>
                <a:t>    </a:t>
              </a:r>
              <a:r>
                <a:rPr lang="zh-CN" altLang="zh-CN" sz="1050" b="1" dirty="0">
                  <a:solidFill>
                    <a:srgbClr val="696A6C"/>
                  </a:solidFill>
                  <a:latin typeface="微软雅黑" panose="020B0503020204020204" pitchFamily="34" charset="-122"/>
                  <a:ea typeface="微软雅黑" panose="020B0503020204020204" pitchFamily="34" charset="-122"/>
                </a:rPr>
                <a:t>上海大众动力总成有限公司</a:t>
              </a:r>
              <a:r>
                <a:rPr lang="zh-CN" altLang="en-US" sz="1050" dirty="0">
                  <a:solidFill>
                    <a:srgbClr val="696A6C"/>
                  </a:solidFill>
                  <a:latin typeface="微软雅黑" panose="020B0503020204020204" pitchFamily="34" charset="-122"/>
                  <a:ea typeface="微软雅黑" panose="020B0503020204020204" pitchFamily="34" charset="-122"/>
                </a:rPr>
                <a:t>（亚太第一，累计产量过万千台）</a:t>
              </a:r>
              <a:endParaRPr lang="en-US" altLang="zh-CN" sz="1050" dirty="0">
                <a:solidFill>
                  <a:srgbClr val="696A6C"/>
                </a:solidFill>
                <a:latin typeface="微软雅黑" panose="020B0503020204020204" pitchFamily="34" charset="-122"/>
                <a:ea typeface="微软雅黑" panose="020B0503020204020204" pitchFamily="34" charset="-122"/>
              </a:endParaRPr>
            </a:p>
            <a:p>
              <a:pPr>
                <a:lnSpc>
                  <a:spcPct val="150000"/>
                </a:lnSpc>
              </a:pPr>
              <a:r>
                <a:rPr lang="en-US" altLang="zh-CN" sz="1050" b="1" dirty="0">
                  <a:solidFill>
                    <a:srgbClr val="696A6C"/>
                  </a:solidFill>
                  <a:latin typeface="微软雅黑" panose="020B0503020204020204" pitchFamily="34" charset="-122"/>
                  <a:ea typeface="微软雅黑" panose="020B0503020204020204" pitchFamily="34" charset="-122"/>
                </a:rPr>
                <a:t>2016/Feb.~</a:t>
              </a:r>
              <a:r>
                <a:rPr lang="zh-CN" altLang="en-US" sz="1050" b="1" dirty="0">
                  <a:solidFill>
                    <a:srgbClr val="696A6C"/>
                  </a:solidFill>
                  <a:latin typeface="微软雅黑" panose="020B0503020204020204" pitchFamily="34" charset="-122"/>
                  <a:ea typeface="微软雅黑" panose="020B0503020204020204" pitchFamily="34" charset="-122"/>
                </a:rPr>
                <a:t>至今</a:t>
              </a:r>
              <a:r>
                <a:rPr lang="en-US" altLang="zh-CN" sz="1050" b="1" dirty="0">
                  <a:solidFill>
                    <a:srgbClr val="696A6C"/>
                  </a:solidFill>
                  <a:latin typeface="微软雅黑" panose="020B0503020204020204" pitchFamily="34" charset="-122"/>
                  <a:ea typeface="微软雅黑" panose="020B0503020204020204" pitchFamily="34" charset="-122"/>
                </a:rPr>
                <a:t>	</a:t>
              </a:r>
              <a:r>
                <a:rPr lang="zh-CN" altLang="en-US" sz="1050" b="1" dirty="0">
                  <a:solidFill>
                    <a:srgbClr val="696A6C"/>
                  </a:solidFill>
                  <a:latin typeface="微软雅黑" panose="020B0503020204020204" pitchFamily="34" charset="-122"/>
                  <a:ea typeface="微软雅黑" panose="020B0503020204020204" pitchFamily="34" charset="-122"/>
                </a:rPr>
                <a:t>供应链管理</a:t>
              </a:r>
              <a:r>
                <a:rPr lang="zh-CN" altLang="zh-CN" sz="1050" b="1" dirty="0">
                  <a:solidFill>
                    <a:srgbClr val="696A6C"/>
                  </a:solidFill>
                  <a:latin typeface="微软雅黑" panose="020B0503020204020204" pitchFamily="34" charset="-122"/>
                  <a:ea typeface="微软雅黑" panose="020B0503020204020204" pitchFamily="34" charset="-122"/>
                </a:rPr>
                <a:t>专家</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171450" indent="-171450">
                <a:lnSpc>
                  <a:spcPct val="150000"/>
                </a:lnSpc>
                <a:buSzPct val="100000"/>
                <a:buFont typeface="Microsoft YaHei" panose="020B0503020204020204" pitchFamily="34" charset="-122"/>
                <a:buChar char="•"/>
              </a:pP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负责管理公司供应链管理团队，协同大众中国与南北大众开展工作</a:t>
              </a:r>
              <a:endPar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根据大众集团与公司战略预测，规划供应商生产能力。</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负责规划约</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个材料组（约</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500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个零件，</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其中</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35</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个涉芯片零件</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）的产能，指导供应商制定产能保障计划，协同中国区采购与物流团队推进规划产能落地，最终将所有达标产能数据进行存档。</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管理供应商</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KPI</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（涵盖供应商</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130+</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家）</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。负责通过</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VW</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集团系统对供应商进行月度考核，考核内容：产能状况、交付准确率</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&amp;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及时率、包装状况，等。并基于</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KPI</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结果推动供应商进行优化与改进。</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自</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2016</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年系统上线以来，已有效提升供应商运作水平。（均分</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78</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提升至均分</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90+</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对批量供应商进行评审，决定其新项目定点资格。</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通过对供应商的既往</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KPI</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；供应商审核问卷（</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包含供应体系搭建状态、环保状况等</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）；供应能力评估这三个角度进行评价。基于综合评价结果，在</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VW</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系统中进行打分。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确保无重大缺陷的新供应商，同时约束现供应商，</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保障供应链安全与长期经济性（年降的执行）</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协助供应商从项目至批量阶段的起步成长。</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峰值年需求量</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350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万台</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（大众中国区），</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重点关注“零起步”供应商。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组建大众联合团队进行起步支持，涵盖但不限于采购、质量、生产等功能模块。进驻供应商工厂，支持其各环节的快速爬坡。</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在确保满足供应需求的同时，帮助供应商的各职能模块形成可持续的战力。其中已有多家供应商成为行业的头部（行业前</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）企业。</a:t>
              </a:r>
              <a:endPar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预判、分析并汇总零部件供应风险，并制定解决措施，保障批量生产。</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代表公司参与大众中国区资源及产能分配。</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给予</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S&amp;OP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提供供应端相关意见，决定未来月度排产。</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en-US" altLang="zh-CN" sz="1050" b="1" dirty="0">
                  <a:solidFill>
                    <a:srgbClr val="696A6C"/>
                  </a:solidFill>
                  <a:latin typeface="微软雅黑" panose="020B0503020204020204" pitchFamily="34" charset="-122"/>
                  <a:ea typeface="微软雅黑" panose="020B0503020204020204" pitchFamily="34" charset="-122"/>
                </a:rPr>
                <a:t>2006/Jul.</a:t>
              </a:r>
              <a:r>
                <a:rPr lang="zh-CN" altLang="en-US" sz="1050" b="1" dirty="0">
                  <a:solidFill>
                    <a:srgbClr val="696A6C"/>
                  </a:solidFill>
                  <a:latin typeface="微软雅黑" panose="020B0503020204020204" pitchFamily="34" charset="-122"/>
                  <a:ea typeface="微软雅黑" panose="020B0503020204020204" pitchFamily="34" charset="-122"/>
                </a:rPr>
                <a:t>～</a:t>
              </a:r>
              <a:r>
                <a:rPr lang="en-US" altLang="zh-CN" sz="1050" b="1" dirty="0">
                  <a:solidFill>
                    <a:srgbClr val="696A6C"/>
                  </a:solidFill>
                  <a:latin typeface="微软雅黑" panose="020B0503020204020204" pitchFamily="34" charset="-122"/>
                  <a:ea typeface="微软雅黑" panose="020B0503020204020204" pitchFamily="34" charset="-122"/>
                </a:rPr>
                <a:t>2016/Jan	</a:t>
              </a:r>
              <a:r>
                <a:rPr lang="zh-CN" altLang="en-US" sz="1050" b="1" dirty="0">
                  <a:solidFill>
                    <a:srgbClr val="696A6C"/>
                  </a:solidFill>
                  <a:latin typeface="微软雅黑" panose="020B0503020204020204" pitchFamily="34" charset="-122"/>
                  <a:ea typeface="微软雅黑" panose="020B0503020204020204" pitchFamily="34" charset="-122"/>
                </a:rPr>
                <a:t>零</a:t>
              </a:r>
              <a:r>
                <a:rPr lang="zh-CN" altLang="zh-CN" sz="1050" b="1" dirty="0">
                  <a:solidFill>
                    <a:srgbClr val="696A6C"/>
                  </a:solidFill>
                  <a:latin typeface="微软雅黑" panose="020B0503020204020204" pitchFamily="34" charset="-122"/>
                  <a:ea typeface="微软雅黑" panose="020B0503020204020204" pitchFamily="34" charset="-122"/>
                </a:rPr>
                <a:t>件筹措</a:t>
              </a:r>
              <a:r>
                <a:rPr lang="en-US" altLang="zh-CN" sz="1050" b="1" dirty="0">
                  <a:solidFill>
                    <a:srgbClr val="696A6C"/>
                  </a:solidFill>
                  <a:latin typeface="微软雅黑" panose="020B0503020204020204" pitchFamily="34" charset="-122"/>
                  <a:ea typeface="微软雅黑" panose="020B0503020204020204" pitchFamily="34" charset="-122"/>
                </a:rPr>
                <a:t>&amp;</a:t>
              </a:r>
              <a:r>
                <a:rPr lang="zh-CN" altLang="en-US" sz="1050" b="1" dirty="0">
                  <a:solidFill>
                    <a:srgbClr val="696A6C"/>
                  </a:solidFill>
                  <a:latin typeface="微软雅黑" panose="020B0503020204020204" pitchFamily="34" charset="-122"/>
                  <a:ea typeface="微软雅黑" panose="020B0503020204020204" pitchFamily="34" charset="-122"/>
                </a:rPr>
                <a:t>物料计划 专员</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运作</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SAP MRP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模块，制作零件物料计划并经由</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WEB-EDI</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发布。</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Font typeface="Arial" panose="020B0604020202020204" pitchFamily="34" charset="0"/>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维护</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MRP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相关参数，控制交付期、最小起订量、安全库存等。</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Font typeface="Arial" panose="020B0604020202020204" pitchFamily="34" charset="0"/>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推动供应商的物流运作质量提升，协助包装</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&amp;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运输工程师降低物流成本。</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Font typeface="Arial" panose="020B0604020202020204" pitchFamily="34" charset="0"/>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跟踪零部件到货，如有必要进行催货。</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Font typeface="Arial" panose="020B0604020202020204" pitchFamily="34" charset="0"/>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基于物料供应状况，协助生产计划员进行有效排产。</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p:txBody>
        </p:sp>
      </p:grpSp>
      <p:grpSp>
        <p:nvGrpSpPr>
          <p:cNvPr id="23" name="组合 22"/>
          <p:cNvGrpSpPr/>
          <p:nvPr/>
        </p:nvGrpSpPr>
        <p:grpSpPr>
          <a:xfrm>
            <a:off x="190233" y="8745751"/>
            <a:ext cx="2553833" cy="821817"/>
            <a:chOff x="185153" y="1175281"/>
            <a:chExt cx="2553833" cy="821817"/>
          </a:xfrm>
        </p:grpSpPr>
        <p:sp>
          <p:nvSpPr>
            <p:cNvPr id="24" name="文本框 23">
              <a:extLst>
                <a:ext uri="{FF2B5EF4-FFF2-40B4-BE49-F238E27FC236}">
                  <a16:creationId xmlns:a16="http://schemas.microsoft.com/office/drawing/2014/main" id="{6328BBE5-BD67-4242-90DC-5145D59E3704}"/>
                </a:ext>
              </a:extLst>
            </p:cNvPr>
            <p:cNvSpPr txBox="1"/>
            <p:nvPr/>
          </p:nvSpPr>
          <p:spPr>
            <a:xfrm>
              <a:off x="185153" y="1175281"/>
              <a:ext cx="796876" cy="334707"/>
            </a:xfrm>
            <a:prstGeom prst="rect">
              <a:avLst/>
            </a:prstGeom>
            <a:noFill/>
          </p:spPr>
          <p:txBody>
            <a:bodyPr wrap="square" rtlCol="0">
              <a:spAutoFit/>
            </a:bodyPr>
            <a:lstStyle/>
            <a:p>
              <a:pPr>
                <a:lnSpc>
                  <a:spcPct val="150000"/>
                </a:lnSpc>
              </a:pPr>
              <a:r>
                <a:rPr lang="zh-CN" altLang="en-US" sz="1050" b="1" u="sng" dirty="0">
                  <a:solidFill>
                    <a:srgbClr val="696A6C"/>
                  </a:solidFill>
                  <a:latin typeface="微软雅黑" panose="020B0503020204020204" pitchFamily="34" charset="-122"/>
                  <a:ea typeface="微软雅黑" panose="020B0503020204020204" pitchFamily="34" charset="-122"/>
                </a:rPr>
                <a:t>相关技能</a:t>
              </a:r>
              <a:endParaRPr lang="en-US" altLang="zh-CN" sz="1050" b="1" u="sng" dirty="0">
                <a:solidFill>
                  <a:srgbClr val="696A6C"/>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CC1EBB91-CDFE-B640-B2D6-B8BB71CC595B}"/>
                </a:ext>
              </a:extLst>
            </p:cNvPr>
            <p:cNvSpPr txBox="1"/>
            <p:nvPr/>
          </p:nvSpPr>
          <p:spPr>
            <a:xfrm>
              <a:off x="873917" y="1177643"/>
              <a:ext cx="1865069" cy="81945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solidFill>
                    <a:srgbClr val="696A6C"/>
                  </a:solidFill>
                  <a:latin typeface="微软雅黑" panose="020B0503020204020204" pitchFamily="34" charset="-122"/>
                  <a:ea typeface="微软雅黑" panose="020B0503020204020204" pitchFamily="34" charset="-122"/>
                </a:rPr>
                <a:t>英语</a:t>
              </a:r>
              <a:r>
                <a:rPr lang="en-US" altLang="zh-CN" sz="1050" dirty="0">
                  <a:solidFill>
                    <a:srgbClr val="696A6C"/>
                  </a:solidFill>
                  <a:latin typeface="微软雅黑" panose="020B0503020204020204" pitchFamily="34" charset="-122"/>
                  <a:ea typeface="微软雅黑" panose="020B0503020204020204" pitchFamily="34" charset="-122"/>
                </a:rPr>
                <a:t>	CET-4</a:t>
              </a:r>
            </a:p>
            <a:p>
              <a:pPr marL="171450" indent="-171450">
                <a:lnSpc>
                  <a:spcPct val="150000"/>
                </a:lnSpc>
                <a:buFont typeface="Arial" panose="020B0604020202020204" pitchFamily="34" charset="0"/>
                <a:buChar char="•"/>
              </a:pPr>
              <a:r>
                <a:rPr lang="zh-CN" altLang="en-US"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计算机</a:t>
              </a:r>
              <a:r>
                <a:rPr lang="en-US" altLang="zh-CN"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	MS-Office                     	SAP, ERP</a:t>
              </a:r>
            </a:p>
          </p:txBody>
        </p:sp>
      </p:gr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6251" y="2569632"/>
            <a:ext cx="139022" cy="138113"/>
          </a:xfrm>
          <a:prstGeom prst="rect">
            <a:avLst/>
          </a:prstGeom>
        </p:spPr>
      </p:pic>
      <p:sp>
        <p:nvSpPr>
          <p:cNvPr id="26" name="文本框 25">
            <a:extLst>
              <a:ext uri="{FF2B5EF4-FFF2-40B4-BE49-F238E27FC236}">
                <a16:creationId xmlns:a16="http://schemas.microsoft.com/office/drawing/2014/main" id="{CC1EBB91-CDFE-B640-B2D6-B8BB71CC595B}"/>
              </a:ext>
            </a:extLst>
          </p:cNvPr>
          <p:cNvSpPr txBox="1"/>
          <p:nvPr/>
        </p:nvSpPr>
        <p:spPr>
          <a:xfrm>
            <a:off x="2744066" y="8745751"/>
            <a:ext cx="4329834" cy="106182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solidFill>
                  <a:srgbClr val="696A6C"/>
                </a:solidFill>
                <a:latin typeface="微软雅黑" panose="020B0503020204020204" pitchFamily="34" charset="-122"/>
                <a:ea typeface="微软雅黑" panose="020B0503020204020204" pitchFamily="34" charset="-122"/>
              </a:rPr>
              <a:t>过程体系</a:t>
            </a:r>
            <a:r>
              <a:rPr lang="en-US" altLang="zh-CN" sz="1050" dirty="0">
                <a:solidFill>
                  <a:srgbClr val="696A6C"/>
                </a:solidFill>
                <a:latin typeface="微软雅黑" panose="020B0503020204020204" pitchFamily="34" charset="-122"/>
                <a:ea typeface="微软雅黑" panose="020B0503020204020204" pitchFamily="34" charset="-122"/>
              </a:rPr>
              <a:t>	</a:t>
            </a:r>
            <a:r>
              <a:rPr lang="en-US" altLang="zh-CN" sz="1050" b="1" dirty="0">
                <a:solidFill>
                  <a:srgbClr val="696A6C"/>
                </a:solidFill>
                <a:latin typeface="微软雅黑" panose="020B0503020204020204" pitchFamily="34" charset="-122"/>
                <a:ea typeface="微软雅黑" panose="020B0503020204020204" pitchFamily="34" charset="-122"/>
              </a:rPr>
              <a:t>VDA</a:t>
            </a:r>
            <a:r>
              <a:rPr lang="zh-CN" altLang="en-US" sz="1050" b="1" dirty="0">
                <a:solidFill>
                  <a:srgbClr val="696A6C"/>
                </a:solidFill>
                <a:latin typeface="微软雅黑" panose="020B0503020204020204" pitchFamily="34" charset="-122"/>
                <a:ea typeface="微软雅黑" panose="020B0503020204020204" pitchFamily="34" charset="-122"/>
              </a:rPr>
              <a:t>认证 </a:t>
            </a:r>
            <a:r>
              <a:rPr lang="en-US" altLang="zh-CN" sz="1050" b="1" dirty="0">
                <a:solidFill>
                  <a:srgbClr val="696A6C"/>
                </a:solidFill>
                <a:latin typeface="微软雅黑" panose="020B0503020204020204" pitchFamily="34" charset="-122"/>
                <a:ea typeface="微软雅黑" panose="020B0503020204020204" pitchFamily="34" charset="-122"/>
              </a:rPr>
              <a:t>VDA6.3</a:t>
            </a:r>
            <a:r>
              <a:rPr lang="zh-CN" altLang="en-US" sz="1050" b="1" dirty="0">
                <a:solidFill>
                  <a:srgbClr val="696A6C"/>
                </a:solidFill>
                <a:latin typeface="微软雅黑" panose="020B0503020204020204" pitchFamily="34" charset="-122"/>
                <a:ea typeface="微软雅黑" panose="020B0503020204020204" pitchFamily="34" charset="-122"/>
              </a:rPr>
              <a:t>过程审核员</a:t>
            </a:r>
            <a:endParaRPr lang="en-US" altLang="zh-CN" sz="1050" b="1" dirty="0">
              <a:solidFill>
                <a:srgbClr val="696A6C"/>
              </a:solidFill>
              <a:latin typeface="微软雅黑" panose="020B0503020204020204" pitchFamily="34" charset="-122"/>
              <a:ea typeface="微软雅黑" panose="020B0503020204020204" pitchFamily="34" charset="-122"/>
            </a:endParaRPr>
          </a:p>
          <a:p>
            <a:pPr>
              <a:lnSpc>
                <a:spcPct val="150000"/>
              </a:lnSpc>
            </a:pPr>
            <a:r>
              <a:rPr lang="en-US" altLang="zh-CN" sz="1050" dirty="0">
                <a:solidFill>
                  <a:srgbClr val="696A6C"/>
                </a:solidFill>
                <a:latin typeface="微软雅黑" panose="020B0503020204020204" pitchFamily="34" charset="-122"/>
                <a:ea typeface="微软雅黑" panose="020B0503020204020204" pitchFamily="34" charset="-122"/>
              </a:rPr>
              <a:t>                       </a:t>
            </a:r>
            <a:r>
              <a:rPr lang="zh-CN" altLang="zh-CN" sz="1050" dirty="0">
                <a:solidFill>
                  <a:srgbClr val="696A6C"/>
                </a:solidFill>
                <a:latin typeface="微软雅黑" panose="020B0503020204020204" pitchFamily="34" charset="-122"/>
                <a:ea typeface="微软雅黑" panose="020B0503020204020204" pitchFamily="34" charset="-122"/>
              </a:rPr>
              <a:t>证书编号：</a:t>
            </a:r>
            <a:r>
              <a:rPr lang="en-US" altLang="zh-CN" sz="1050" dirty="0">
                <a:solidFill>
                  <a:srgbClr val="696A6C"/>
                </a:solidFill>
                <a:latin typeface="微软雅黑" panose="020B0503020204020204" pitchFamily="34" charset="-122"/>
                <a:ea typeface="微软雅黑" panose="020B0503020204020204" pitchFamily="34" charset="-122"/>
              </a:rPr>
              <a:t>CN/6.3/1011016</a:t>
            </a:r>
          </a:p>
          <a:p>
            <a:pPr marL="171450" indent="-171450">
              <a:lnSpc>
                <a:spcPct val="150000"/>
              </a:lnSpc>
              <a:buFont typeface="Arial" panose="020B0604020202020204" pitchFamily="34" charset="0"/>
              <a:buChar char="•"/>
            </a:pPr>
            <a:r>
              <a:rPr lang="zh-CN" altLang="en-US"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讲师</a:t>
            </a:r>
            <a:r>
              <a:rPr lang="en-US" altLang="zh-CN"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050" b="1"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上汽集团 外聘讲师</a:t>
            </a:r>
            <a:endParaRPr lang="en-US" altLang="zh-CN" sz="1050" b="1"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r>
              <a:rPr lang="en-US" altLang="zh-CN"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	2020</a:t>
            </a:r>
            <a:r>
              <a:rPr lang="zh-CN" altLang="en-US"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年度受聘</a:t>
            </a:r>
            <a:r>
              <a:rPr lang="en-US" altLang="zh-CN"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	</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p:txBody>
      </p:sp>
    </p:spTree>
    <p:extLst>
      <p:ext uri="{BB962C8B-B14F-4D97-AF65-F5344CB8AC3E}">
        <p14:creationId xmlns:p14="http://schemas.microsoft.com/office/powerpoint/2010/main" val="3511022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1EBB91-CDFE-B640-B2D6-B8BB71CC595B}"/>
              </a:ext>
            </a:extLst>
          </p:cNvPr>
          <p:cNvSpPr txBox="1"/>
          <p:nvPr/>
        </p:nvSpPr>
        <p:spPr>
          <a:xfrm>
            <a:off x="314326" y="424394"/>
            <a:ext cx="6258752" cy="7363554"/>
          </a:xfrm>
          <a:prstGeom prst="rect">
            <a:avLst/>
          </a:prstGeom>
          <a:noFill/>
        </p:spPr>
        <p:txBody>
          <a:bodyPr wrap="square" rtlCol="0">
            <a:spAutoFit/>
          </a:bodyPr>
          <a:lstStyle/>
          <a:p>
            <a:pPr marL="0" lvl="1">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供应商物流过程（审核）支持</a:t>
            </a:r>
            <a:r>
              <a:rPr lang="en-US" altLang="zh-CN" sz="1050" b="1" dirty="0">
                <a:solidFill>
                  <a:srgbClr val="696A6C"/>
                </a:solidFill>
                <a:latin typeface="微软雅黑" panose="020B0503020204020204" pitchFamily="34" charset="-122"/>
                <a:ea typeface="微软雅黑" panose="020B0503020204020204" pitchFamily="34" charset="-122"/>
              </a:rPr>
              <a:t>&amp;</a:t>
            </a:r>
            <a:r>
              <a:rPr lang="zh-CN" altLang="en-US" sz="1050" b="1" dirty="0">
                <a:solidFill>
                  <a:srgbClr val="696A6C"/>
                </a:solidFill>
                <a:latin typeface="微软雅黑" panose="020B0503020204020204" pitchFamily="34" charset="-122"/>
                <a:ea typeface="微软雅黑" panose="020B0503020204020204" pitchFamily="34" charset="-122"/>
              </a:rPr>
              <a:t>辅导（</a:t>
            </a:r>
            <a:r>
              <a:rPr lang="en-US" altLang="zh-CN" sz="1050" b="1" dirty="0">
                <a:solidFill>
                  <a:srgbClr val="696A6C"/>
                </a:solidFill>
                <a:latin typeface="微软雅黑" panose="020B0503020204020204" pitchFamily="34" charset="-122"/>
                <a:ea typeface="微软雅黑" panose="020B0503020204020204" pitchFamily="34" charset="-122"/>
              </a:rPr>
              <a:t>2021</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本人作为供应链管理辅导专家（两位负责人之一），全程参与辅导过程。</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应对该需求首先组建支持辅导团队：供应链管理负责人 </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&amp; </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大众物流审核（</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VW</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集团内审）负责人。基于大众集团审核要求，分别对供应商从供应链管理与体系化物流运作两个角度进行辅导。</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通过辅导，帮助</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2</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家供应商顺利通过</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VW</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集团（奥迪）的供应商物流过程审核，拿到新项目。</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供应链芯片相关深入管理（</a:t>
            </a:r>
            <a:r>
              <a:rPr lang="en-US" altLang="zh-CN" sz="1050" b="1" dirty="0">
                <a:solidFill>
                  <a:srgbClr val="696A6C"/>
                </a:solidFill>
                <a:latin typeface="微软雅黑" panose="020B0503020204020204" pitchFamily="34" charset="-122"/>
                <a:ea typeface="微软雅黑" panose="020B0503020204020204" pitchFamily="34" charset="-122"/>
              </a:rPr>
              <a:t>2021</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项目负责人，主导项目团队完成全程工作。并对收集整理后的数据进行归档。</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全球芯片短缺，</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VW</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中国</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2020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年全年损失整车产量大于</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50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万台。反观芯片供应问题的蔓延也映射了传统汽车制造业供应链管理的漏洞。</a:t>
            </a: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基于以上，组建项目团队包括：开发、采购、物流、质量。对</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EA211</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所辖供应商进行</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的排查，在</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489</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个批量零部件中找出了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个涉及芯片零件，将其进行产地（对应地区疫情波动）</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&amp;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类型（对应紧缺层级差异）分类，同时制定管理规则进行滚动跟踪管理。</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保障</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EA211</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无芯片因素影响生产，并将此管理办法向整个大众集团推广。</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zh-CN" sz="1050" b="1" dirty="0">
                <a:solidFill>
                  <a:srgbClr val="696A6C"/>
                </a:solidFill>
                <a:latin typeface="微软雅黑" panose="020B0503020204020204" pitchFamily="34" charset="-122"/>
                <a:ea typeface="微软雅黑" panose="020B0503020204020204" pitchFamily="34" charset="-122"/>
              </a:rPr>
              <a:t>供应链环保风险评估项目（</a:t>
            </a:r>
            <a:r>
              <a:rPr lang="en-US" altLang="zh-CN" sz="1050" b="1" dirty="0">
                <a:solidFill>
                  <a:srgbClr val="696A6C"/>
                </a:solidFill>
                <a:latin typeface="微软雅黑" panose="020B0503020204020204" pitchFamily="34" charset="-122"/>
                <a:ea typeface="微软雅黑" panose="020B0503020204020204" pitchFamily="34" charset="-122"/>
              </a:rPr>
              <a:t>2017-2018</a:t>
            </a:r>
            <a:r>
              <a:rPr lang="zh-CN" altLang="zh-CN"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项目负责人，主导</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项目全程运作</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在项目结束后，将实战经验梳理总结成工作流程及</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评估工具</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该项目团队为跨部门团队，由</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BKM</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团队牵头协调</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采购、质保，</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HSE</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等部门同步开展工作，内容包括：供应商生产工艺筛选分级、生产现场核查、环保评分及</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信息</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存档等</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项目成果：在确保下级供应商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无环保因素影响供货的同时，也丰富了大众供应链</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管理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的维度，该工作流程及评估工具正</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向整个大众集团推广。</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en-US" altLang="zh-CN" sz="1050" b="1" dirty="0">
                <a:solidFill>
                  <a:srgbClr val="696A6C"/>
                </a:solidFill>
                <a:latin typeface="微软雅黑" panose="020B0503020204020204" pitchFamily="34" charset="-122"/>
                <a:ea typeface="微软雅黑" panose="020B0503020204020204" pitchFamily="34" charset="-122"/>
              </a:rPr>
              <a:t>SRS</a:t>
            </a:r>
            <a:r>
              <a:rPr lang="zh-CN" altLang="zh-CN" sz="1050" b="1" dirty="0">
                <a:solidFill>
                  <a:srgbClr val="696A6C"/>
                </a:solidFill>
                <a:latin typeface="微软雅黑" panose="020B0503020204020204" pitchFamily="34" charset="-122"/>
                <a:ea typeface="微软雅黑" panose="020B0503020204020204" pitchFamily="34" charset="-122"/>
              </a:rPr>
              <a:t>供应商考评系统</a:t>
            </a:r>
            <a:r>
              <a:rPr lang="zh-CN" altLang="en-US" sz="1050" b="1" dirty="0">
                <a:solidFill>
                  <a:srgbClr val="696A6C"/>
                </a:solidFill>
                <a:latin typeface="微软雅黑" panose="020B0503020204020204" pitchFamily="34" charset="-122"/>
                <a:ea typeface="微软雅黑" panose="020B0503020204020204" pitchFamily="34" charset="-122"/>
              </a:rPr>
              <a:t>上线</a:t>
            </a:r>
            <a:r>
              <a:rPr lang="zh-CN" altLang="zh-CN" sz="1050" b="1" dirty="0">
                <a:solidFill>
                  <a:srgbClr val="696A6C"/>
                </a:solidFill>
                <a:latin typeface="微软雅黑" panose="020B0503020204020204" pitchFamily="34" charset="-122"/>
                <a:ea typeface="微软雅黑" panose="020B0503020204020204" pitchFamily="34" charset="-122"/>
              </a:rPr>
              <a:t>项目（</a:t>
            </a:r>
            <a:r>
              <a:rPr lang="en-US" altLang="zh-CN" sz="1050" b="1" dirty="0">
                <a:solidFill>
                  <a:srgbClr val="696A6C"/>
                </a:solidFill>
                <a:latin typeface="微软雅黑" panose="020B0503020204020204" pitchFamily="34" charset="-122"/>
                <a:ea typeface="微软雅黑" panose="020B0503020204020204" pitchFamily="34" charset="-122"/>
              </a:rPr>
              <a:t>2016</a:t>
            </a:r>
            <a:r>
              <a:rPr lang="zh-CN" altLang="zh-CN"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作为公司</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Key user</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参与大众中国的系统上线工作，同时参与</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制定供应商物流的考评规则和系统开发</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该</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项目确保</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系统准时上线，极大帮助和完善了供应商物流运作的</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KPI</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体系</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。最</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终</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通过合理的考评体系</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使</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供应商的</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物流运作</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水平提高。系统上线一年，从上线初期的</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130+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家供应商平均分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87</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 B</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级）</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提升至</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平均</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92</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 A</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级）。</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 该系统考评结果为大众新项目定点条件指标之一。</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p:txBody>
      </p:sp>
    </p:spTree>
    <p:extLst>
      <p:ext uri="{BB962C8B-B14F-4D97-AF65-F5344CB8AC3E}">
        <p14:creationId xmlns:p14="http://schemas.microsoft.com/office/powerpoint/2010/main" val="2940391755"/>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1337</TotalTime>
  <Words>1119</Words>
  <Application>Microsoft Macintosh PowerPoint</Application>
  <PresentationFormat>A4 纸张(210x297 毫米)</PresentationFormat>
  <Paragraphs>55</Paragraphs>
  <Slides>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vt:i4>
      </vt:variant>
    </vt:vector>
  </HeadingPairs>
  <TitlesOfParts>
    <vt:vector size="7" baseType="lpstr">
      <vt:lpstr>Microsoft YaHei</vt:lpstr>
      <vt:lpstr>Microsoft YaHei</vt:lpstr>
      <vt:lpstr>Arial</vt:lpstr>
      <vt:lpstr>Calibri</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Microsoft Office User</cp:lastModifiedBy>
  <cp:revision>176</cp:revision>
  <dcterms:created xsi:type="dcterms:W3CDTF">2021-08-12T03:08:11Z</dcterms:created>
  <dcterms:modified xsi:type="dcterms:W3CDTF">2021-12-01T16:53:18Z</dcterms:modified>
</cp:coreProperties>
</file>