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6C"/>
    <a:srgbClr val="9EA1A2"/>
    <a:srgbClr val="0070C0"/>
    <a:srgbClr val="EEEEEE"/>
    <a:srgbClr val="F7F7F7"/>
    <a:srgbClr val="EAEAEA"/>
    <a:srgbClr val="CCEC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02" autoAdjust="0"/>
    <p:restoredTop sz="94709"/>
  </p:normalViewPr>
  <p:slideViewPr>
    <p:cSldViewPr snapToGrid="0">
      <p:cViewPr>
        <p:scale>
          <a:sx n="78" d="100"/>
          <a:sy n="78" d="100"/>
        </p:scale>
        <p:origin x="203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历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" y="0"/>
            <a:ext cx="2621279" cy="990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EDF5B1-D673-9B4B-93F2-3CDD63DBBE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849720" y="485630"/>
            <a:ext cx="3184702" cy="8067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B557D0-0A9A-E342-8F9B-46D4E7435A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49720" y="1462154"/>
            <a:ext cx="3428998" cy="7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3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项目经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4602056" y="46871"/>
            <a:ext cx="14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</a:p>
        </p:txBody>
      </p:sp>
    </p:spTree>
    <p:extLst>
      <p:ext uri="{BB962C8B-B14F-4D97-AF65-F5344CB8AC3E}">
        <p14:creationId xmlns:p14="http://schemas.microsoft.com/office/powerpoint/2010/main" val="423871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53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D01A2-074E-4206-B488-A455663873B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6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tif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" t="4781" r="1835" b="9635"/>
          <a:stretch/>
        </p:blipFill>
        <p:spPr>
          <a:xfrm>
            <a:off x="789700" y="485630"/>
            <a:ext cx="1072932" cy="143057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67993" y="2135442"/>
            <a:ext cx="2538737" cy="199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李嘉俊</a:t>
            </a:r>
            <a:endParaRPr lang="en-US" altLang="zh-CN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</a:t>
            </a:r>
            <a:endParaRPr lang="en-US" altLang="zh-CN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出生年月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1983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户籍：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</a:t>
            </a:r>
            <a:endParaRPr lang="en-US" altLang="zh-CN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婚姻状况：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联系电话：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13761058893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lijiajun_vwpt@163.com</a:t>
            </a:r>
            <a:endParaRPr lang="zh-CN" altLang="en-US" sz="1200" dirty="0">
              <a:solidFill>
                <a:srgbClr val="6A6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B146D0-5DFD-5D41-89AE-37B0ABE4A595}"/>
              </a:ext>
            </a:extLst>
          </p:cNvPr>
          <p:cNvGrpSpPr/>
          <p:nvPr/>
        </p:nvGrpSpPr>
        <p:grpSpPr>
          <a:xfrm>
            <a:off x="67994" y="4361846"/>
            <a:ext cx="2538738" cy="3665391"/>
            <a:chOff x="67994" y="4709789"/>
            <a:chExt cx="2538738" cy="366539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758DFB5-5F3D-9D48-8569-03E4709B2F74}"/>
                </a:ext>
              </a:extLst>
            </p:cNvPr>
            <p:cNvSpPr txBox="1"/>
            <p:nvPr/>
          </p:nvSpPr>
          <p:spPr>
            <a:xfrm>
              <a:off x="797058" y="4709789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技能特长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28BBE5-BD67-4242-90DC-5145D59E3704}"/>
                </a:ext>
              </a:extLst>
            </p:cNvPr>
            <p:cNvSpPr txBox="1"/>
            <p:nvPr/>
          </p:nvSpPr>
          <p:spPr>
            <a:xfrm>
              <a:off x="67994" y="5033688"/>
              <a:ext cx="2538738" cy="3341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供应链架构与风险管控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供应链管理体系搭建、供应链风险预判与处理、供应链保障策略制定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供应商管理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供应商产能及交付能力提升、供应商</a:t>
              </a:r>
              <a:r>
                <a:rPr lang="en-US" altLang="zh-CN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KPI</a:t>
              </a: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考核及优化、供应商起步支持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讲师</a:t>
              </a: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知识整理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将工作重点转化成课题</a:t>
              </a:r>
              <a:r>
                <a:rPr lang="en-US" altLang="zh-CN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课件，并进行有效传授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ts val="1740"/>
                </a:lnSpc>
                <a:buFontTx/>
                <a:buChar char="-"/>
              </a:pP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与产能管理实战结合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产能管理的核心是信息与数据转化能力，</a:t>
              </a:r>
              <a:r>
                <a:rPr lang="en-US" altLang="zh-CN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是最基本的工具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3B972F6-0FC7-DC44-BD17-3153F90DA886}"/>
              </a:ext>
            </a:extLst>
          </p:cNvPr>
          <p:cNvGrpSpPr/>
          <p:nvPr/>
        </p:nvGrpSpPr>
        <p:grpSpPr>
          <a:xfrm>
            <a:off x="3434576" y="-5968359"/>
            <a:ext cx="3171097" cy="5659051"/>
            <a:chOff x="-3504091" y="-34810"/>
            <a:chExt cx="3171097" cy="565905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61D3A77-F33B-2649-BE1F-C33AE8AA10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35" b="24874"/>
            <a:stretch/>
          </p:blipFill>
          <p:spPr>
            <a:xfrm>
              <a:off x="-3504091" y="-34810"/>
              <a:ext cx="3171097" cy="2265751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B5D9AC3-4010-FC4D-A42E-9668D8FCB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04091" y="2230941"/>
              <a:ext cx="2282765" cy="3393300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FA47A53D-943A-484C-8168-940DA4F06A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3" b="24875"/>
          <a:stretch/>
        </p:blipFill>
        <p:spPr>
          <a:xfrm>
            <a:off x="0" y="-5972363"/>
            <a:ext cx="3171097" cy="2273757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DB46994E-A9BF-CE41-9B93-C7450ED7A724}"/>
              </a:ext>
            </a:extLst>
          </p:cNvPr>
          <p:cNvGrpSpPr/>
          <p:nvPr/>
        </p:nvGrpSpPr>
        <p:grpSpPr>
          <a:xfrm>
            <a:off x="2645366" y="1894962"/>
            <a:ext cx="3960307" cy="6980460"/>
            <a:chOff x="2645366" y="2083993"/>
            <a:chExt cx="3960307" cy="6356342"/>
          </a:xfrm>
        </p:grpSpPr>
        <p:sp>
          <p:nvSpPr>
            <p:cNvPr id="9" name="平行四边形 8"/>
            <p:cNvSpPr/>
            <p:nvPr/>
          </p:nvSpPr>
          <p:spPr>
            <a:xfrm>
              <a:off x="2686869" y="2083993"/>
              <a:ext cx="1244600" cy="220134"/>
            </a:xfrm>
            <a:prstGeom prst="parallelogram">
              <a:avLst/>
            </a:prstGeom>
            <a:solidFill>
              <a:srgbClr val="9EA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工作经验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C1EBB91-CDFE-B640-B2D6-B8BB71CC595B}"/>
                </a:ext>
              </a:extLst>
            </p:cNvPr>
            <p:cNvSpPr txBox="1"/>
            <p:nvPr/>
          </p:nvSpPr>
          <p:spPr>
            <a:xfrm>
              <a:off x="2645366" y="2287494"/>
              <a:ext cx="3960307" cy="615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2006.02</a:t>
              </a:r>
              <a:r>
                <a:rPr lang="zh-CN" altLang="en-US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zh-CN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上海大众动力总成有限公司</a:t>
              </a:r>
            </a:p>
            <a:p>
              <a:pPr>
                <a:lnSpc>
                  <a:spcPts val="1740"/>
                </a:lnSpc>
              </a:pPr>
              <a:endPara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2016/Feb.~</a:t>
              </a:r>
              <a:r>
                <a:rPr lang="zh-CN" altLang="en-US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</a:t>
              </a:r>
              <a:r>
                <a:rPr lang="en-US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</a:t>
              </a:r>
              <a:r>
                <a:rPr lang="zh-CN" altLang="en-US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供应链能力管理</a:t>
              </a:r>
              <a:r>
                <a:rPr lang="en-US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(BKM)</a:t>
              </a:r>
              <a:r>
                <a:rPr lang="zh-CN" altLang="en-US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sz="12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专家</a:t>
              </a:r>
              <a:endParaRPr lang="en-US" altLang="zh-CN" sz="12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带领并管理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</a:t>
              </a:r>
              <a:r>
                <a:rPr lang="zh-CN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完成年度目标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根据大众集团与公司战略预测，规划供应商生产能力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代表公司参与大众中国区资源及产能分配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管理供应商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KPI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（涵盖供应商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130+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家，零件总量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500+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个），并协调优化方案。考核内容涵盖：产能状况、交付准确率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&amp;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及时率、包装状况，等。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对批量供应商进行物流评审，决定其新项目定点资格。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预判、分析并汇总零部件供应风险，并制定解决措施，保障批量生产。已连续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5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年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+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确保无供应链问题影响公司生产运营。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给予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S&amp;OP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提供供应端相关意见，决定未来月度排产。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协助供应商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Launch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阶段的产能起步。曾支持多家全国排名前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10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的铸造企业建厂及产能起步。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与大众中国、一汽大众、上汽大众等（集团层面）跨部门合作，以及与采购、物流筹措、工程、质量等部门（公司层面）跨部门合作，共同解决供应链风险。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对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BKM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团队员工带教与内训，同时为上汽集团培训中心外聘讲师。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endPara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2006/Jul.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2016/Jan	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</a:t>
              </a:r>
              <a:r>
                <a:rPr lang="zh-CN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件筹措</a:t>
              </a: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物料计划 专员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运作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SAP MRP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模块，制作零件物料计划并经由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WEB-EDI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发布。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维护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MRP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相关参数，控制交付期、最小起订量、安全库存等。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推动供应商的物流运作质量提升，协助包装</a:t>
              </a:r>
              <a:r>
                <a:rPr lang="en-US" altLang="zh-CN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&amp;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运输工程师降低物流成本。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跟踪零部件到货，如有必要进行催货。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基于物料供应状况，协助生产计划员进行有效排产。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A13B67-3BA1-E34D-9F2D-EF7B8086C05D}"/>
              </a:ext>
            </a:extLst>
          </p:cNvPr>
          <p:cNvGrpSpPr/>
          <p:nvPr/>
        </p:nvGrpSpPr>
        <p:grpSpPr>
          <a:xfrm>
            <a:off x="2645365" y="1332828"/>
            <a:ext cx="4208483" cy="503220"/>
            <a:chOff x="2645365" y="1300179"/>
            <a:chExt cx="4208483" cy="503220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69D46CF-96A9-8240-9F33-59697F6991D1}"/>
                </a:ext>
              </a:extLst>
            </p:cNvPr>
            <p:cNvSpPr/>
            <p:nvPr/>
          </p:nvSpPr>
          <p:spPr>
            <a:xfrm>
              <a:off x="2686869" y="1300179"/>
              <a:ext cx="1244600" cy="220134"/>
            </a:xfrm>
            <a:prstGeom prst="parallelogram">
              <a:avLst/>
            </a:prstGeom>
            <a:solidFill>
              <a:srgbClr val="9EA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教育背景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4B4FE99-F560-2646-87D4-C46458AD6C7B}"/>
                </a:ext>
              </a:extLst>
            </p:cNvPr>
            <p:cNvSpPr/>
            <p:nvPr/>
          </p:nvSpPr>
          <p:spPr>
            <a:xfrm>
              <a:off x="2645365" y="1510947"/>
              <a:ext cx="4208483" cy="2924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2002/Sep.</a:t>
              </a:r>
              <a:r>
                <a:rPr lang="zh-CN" altLang="en-US" sz="12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～</a:t>
              </a:r>
              <a:r>
                <a:rPr lang="en-US" altLang="zh-CN" sz="12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2006/Jul</a:t>
              </a:r>
              <a:r>
                <a:rPr lang="zh-CN" altLang="en-US" sz="120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   </a:t>
              </a:r>
              <a:r>
                <a:rPr lang="zh-CN" altLang="zh-CN" sz="12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上海海事大学</a:t>
              </a:r>
              <a:r>
                <a:rPr lang="zh-CN" altLang="en-US" sz="12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</a:t>
              </a:r>
              <a:r>
                <a:rPr lang="zh-CN" altLang="en-US" sz="120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轮机工程（本科）</a:t>
              </a:r>
              <a:endParaRPr lang="en-US" altLang="zh-CN" sz="120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56DACA8-60D1-8A44-BF3F-CDC64E553C50}"/>
              </a:ext>
            </a:extLst>
          </p:cNvPr>
          <p:cNvGrpSpPr/>
          <p:nvPr/>
        </p:nvGrpSpPr>
        <p:grpSpPr>
          <a:xfrm>
            <a:off x="72477" y="8144950"/>
            <a:ext cx="2538738" cy="1506812"/>
            <a:chOff x="67994" y="4736683"/>
            <a:chExt cx="2538738" cy="150681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74E4F0B-CC67-FA4B-8F74-AA06BB21F82C}"/>
                </a:ext>
              </a:extLst>
            </p:cNvPr>
            <p:cNvSpPr txBox="1"/>
            <p:nvPr/>
          </p:nvSpPr>
          <p:spPr>
            <a:xfrm>
              <a:off x="797058" y="4736683"/>
              <a:ext cx="1072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所获证书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425A402-A123-ED43-8AD0-CE8C21955BB8}"/>
                </a:ext>
              </a:extLst>
            </p:cNvPr>
            <p:cNvSpPr txBox="1"/>
            <p:nvPr/>
          </p:nvSpPr>
          <p:spPr>
            <a:xfrm>
              <a:off x="67994" y="5061120"/>
              <a:ext cx="2538738" cy="1182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740"/>
                </a:lnSpc>
              </a:pP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大学英语</a:t>
              </a: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CET4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</a:t>
              </a:r>
              <a:endParaRPr lang="en-US" altLang="zh-CN" sz="11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2004</a:t>
              </a: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en-US" altLang="zh-CN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VDA6.3</a:t>
              </a:r>
              <a:r>
                <a:rPr lang="zh-CN" altLang="en-US" sz="1200" dirty="0">
                  <a:solidFill>
                    <a:srgbClr val="9EA1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审核员（外审） </a:t>
              </a:r>
              <a:endParaRPr lang="en-US" altLang="zh-CN" sz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740"/>
                </a:lnSpc>
              </a:pP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获证时间：</a:t>
              </a:r>
              <a:r>
                <a:rPr lang="en-US" altLang="zh-CN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2011</a:t>
              </a:r>
              <a:r>
                <a:rPr lang="zh-CN" altLang="en-US" sz="1100" dirty="0">
                  <a:solidFill>
                    <a:srgbClr val="6A696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endParaRPr lang="en-US" altLang="zh-CN" sz="1100" dirty="0">
                <a:solidFill>
                  <a:srgbClr val="6A696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645364" y="511388"/>
            <a:ext cx="3960309" cy="749296"/>
            <a:chOff x="2645364" y="511388"/>
            <a:chExt cx="4104907" cy="749296"/>
          </a:xfrm>
        </p:grpSpPr>
        <p:sp>
          <p:nvSpPr>
            <p:cNvPr id="5" name="平行四边形 4"/>
            <p:cNvSpPr/>
            <p:nvPr/>
          </p:nvSpPr>
          <p:spPr>
            <a:xfrm>
              <a:off x="2686869" y="511388"/>
              <a:ext cx="1244600" cy="220134"/>
            </a:xfrm>
            <a:prstGeom prst="parallelogram">
              <a:avLst/>
            </a:prstGeom>
            <a:solidFill>
              <a:srgbClr val="9EA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自我评价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4B4FE99-F560-2646-87D4-C46458AD6C7B}"/>
                </a:ext>
              </a:extLst>
            </p:cNvPr>
            <p:cNvSpPr/>
            <p:nvPr/>
          </p:nvSpPr>
          <p:spPr>
            <a:xfrm>
              <a:off x="2645364" y="712136"/>
              <a:ext cx="4104907" cy="5485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       </a:t>
              </a:r>
              <a:r>
                <a:rPr lang="zh-CN" altLang="en-US" sz="1050" kern="100" dirty="0">
                  <a:solidFill>
                    <a:srgbClr val="6A696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分析能力与逻辑思维强，善于寻找问题源头并以最优方案解决问题。</a:t>
              </a:r>
              <a:endParaRPr lang="en-US" altLang="zh-CN" sz="1050" kern="100" dirty="0">
                <a:solidFill>
                  <a:srgbClr val="6A69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4D517D12-DAE3-254F-903C-CDE850A3C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49720" y="2559360"/>
            <a:ext cx="3184702" cy="806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72FCA0-6864-8547-A26E-95DB39B61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849720" y="3535884"/>
            <a:ext cx="3428998" cy="7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6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1EBB91-CDFE-B640-B2D6-B8BB71CC595B}"/>
              </a:ext>
            </a:extLst>
          </p:cNvPr>
          <p:cNvSpPr txBox="1"/>
          <p:nvPr/>
        </p:nvSpPr>
        <p:spPr>
          <a:xfrm>
            <a:off x="314326" y="462494"/>
            <a:ext cx="5943599" cy="9337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大众动力总成内训师培养项目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全程参与该项目，并作为公司唯一代表参加上汽集团讲师比赛，最终入围决赛。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项目成果：凭借优异的表现获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上汽集团“金话筒”好讲师称号，并被聘为上汽集团培训中心外聘讲师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供应链环保风险评估项目（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2017-2018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项目负责人，主导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项目全程运作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在项目结束后，将实战经验梳理总结成工作流程及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评估工具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该项目团队为跨部门团队，由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BKM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团队牵头协调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采购、质保，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HSE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等部门同步开展工作，内容包括：供应商生产工艺筛选分级、生产现场核查、环保评分及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信息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存档等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项目成果：在确保下级供应商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100%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无环保因素影响供货的同时，也丰富了大众供应链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管理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的维度，该工作流程及评估工具正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向整个大众集团推广。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050" kern="1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供应商考评系统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项目负责人，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作为公司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Key user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参与大众中国的系统上线工作，同时参与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制定供应商物流的考评规则和系统开发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项目确保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系统准时上线，极大帮助和完善了供应商物流运作的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KPI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体系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。最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终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通过合理的考评体系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使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供应商的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物流运作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水平提高。系统上线一年，从上线初期的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130+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家供应商平均分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87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B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级）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提升至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平均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92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A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级）。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* 该系统考评结果为大众新项目定点条件指标之一。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050" kern="1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凸轮国产化攻关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项目核心成员，计算并制定项目节点，参与项目全程。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该项目起始前，大众中国的凸轮毛坯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100%CKD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零件。具有传统的进口件“三高”特性：价格高，运输等附加成本也高，后期的管理难度高。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该项目为首个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EA211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发动机凸轮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国产化项目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，解决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了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大众中国区凸轮毛坯产能不足的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长期供应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问题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最终成功引入国产供应商江苏森威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* 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该项目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同时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获得了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2016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年的上海市重点产品质量成果奖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二等奖 证书编号：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2016010043</a:t>
            </a:r>
          </a:p>
          <a:p>
            <a:pPr marL="0" lvl="1">
              <a:lnSpc>
                <a:spcPct val="150000"/>
              </a:lnSpc>
            </a:pPr>
            <a:endParaRPr lang="en-US" altLang="zh-CN" sz="1050" kern="1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 MRP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&amp;Web-EDI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上线项目（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项目核心成员，全程参与项目，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MRP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Web-EDI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Key user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该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项目完成前，物料计划工作方式为：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Excel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制作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邮件手工发布。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项目成果：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lvl="1" indent="-228600">
              <a:lnSpc>
                <a:spcPct val="150000"/>
              </a:lnSpc>
              <a:buAutoNum type="arabicPeriod"/>
            </a:pP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完成了物料计划系统化、自动化的要求。助力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VWPT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从年产十万量级的工厂向年产百万量级工厂升级。</a:t>
            </a:r>
            <a:endParaRPr lang="en-US" altLang="zh-CN" sz="105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228600" lvl="1" indent="-228600">
              <a:lnSpc>
                <a:spcPct val="150000"/>
              </a:lnSpc>
              <a:buAutoNum type="arabicPeriod"/>
            </a:pP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引入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的“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时间窗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的概念有效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提升仓库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收货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口效率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，降低了物流成本。同时，也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公司的物流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体系获德国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大众</a:t>
            </a:r>
            <a:r>
              <a:rPr lang="en-US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VDA6.3 A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级工厂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要求</a:t>
            </a:r>
            <a:r>
              <a:rPr lang="zh-CN" altLang="en-US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提供了必要条件</a:t>
            </a:r>
            <a:r>
              <a:rPr lang="zh-CN" altLang="zh-CN" sz="105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403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2484</TotalTime>
  <Words>1034</Words>
  <Application>Microsoft Macintosh PowerPoint</Application>
  <PresentationFormat>A4 纸张(210x297 毫米)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Microsoft YaHei</vt:lpstr>
      <vt:lpstr>Arial</vt:lpstr>
      <vt:lpstr>Calibri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Li, Jiajun (VWPT)</dc:creator>
  <cp:lastModifiedBy>Microsoft Office User</cp:lastModifiedBy>
  <cp:revision>121</cp:revision>
  <dcterms:created xsi:type="dcterms:W3CDTF">2021-08-12T03:08:11Z</dcterms:created>
  <dcterms:modified xsi:type="dcterms:W3CDTF">2021-11-16T16:41:50Z</dcterms:modified>
</cp:coreProperties>
</file>