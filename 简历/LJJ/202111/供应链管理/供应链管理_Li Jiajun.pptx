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8" r:id="rId2"/>
    <p:sldId id="257" r:id="rId3"/>
  </p:sldIdLst>
  <p:sldSz cx="6858000" cy="9906000" type="A4"/>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6A6C"/>
    <a:srgbClr val="9EA1A2"/>
    <a:srgbClr val="9C9FA0"/>
    <a:srgbClr val="FFFFFF"/>
    <a:srgbClr val="9B9EA0"/>
    <a:srgbClr val="979A9B"/>
    <a:srgbClr val="9DA0A1"/>
    <a:srgbClr val="D3D4D5"/>
    <a:srgbClr val="E6E6E6"/>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63" autoAdjust="0"/>
    <p:restoredTop sz="94709"/>
  </p:normalViewPr>
  <p:slideViewPr>
    <p:cSldViewPr snapToGrid="0">
      <p:cViewPr>
        <p:scale>
          <a:sx n="130" d="100"/>
          <a:sy n="130" d="100"/>
        </p:scale>
        <p:origin x="-584" y="-16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简历模板">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个人简历</a:t>
            </a:r>
          </a:p>
        </p:txBody>
      </p:sp>
    </p:spTree>
    <p:extLst>
      <p:ext uri="{BB962C8B-B14F-4D97-AF65-F5344CB8AC3E}">
        <p14:creationId xmlns:p14="http://schemas.microsoft.com/office/powerpoint/2010/main" val="1886732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项目经历">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项目经历</a:t>
            </a:r>
          </a:p>
        </p:txBody>
      </p:sp>
    </p:spTree>
    <p:extLst>
      <p:ext uri="{BB962C8B-B14F-4D97-AF65-F5344CB8AC3E}">
        <p14:creationId xmlns:p14="http://schemas.microsoft.com/office/powerpoint/2010/main" val="42387131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2026/3/1</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Tree>
    <p:extLst>
      <p:ext uri="{BB962C8B-B14F-4D97-AF65-F5344CB8AC3E}">
        <p14:creationId xmlns:p14="http://schemas.microsoft.com/office/powerpoint/2010/main" val="1121166063"/>
      </p:ext>
    </p:extLst>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85153" y="1149881"/>
            <a:ext cx="6545845" cy="1064191"/>
            <a:chOff x="185153" y="1175281"/>
            <a:chExt cx="6545845" cy="1064191"/>
          </a:xfrm>
        </p:grpSpPr>
        <p:sp>
          <p:nvSpPr>
            <p:cNvPr id="5" name="文本框 4">
              <a:extLst>
                <a:ext uri="{FF2B5EF4-FFF2-40B4-BE49-F238E27FC236}">
                  <a16:creationId xmlns:a16="http://schemas.microsoft.com/office/drawing/2014/main" id="{6328BBE5-BD67-4242-90DC-5145D59E3704}"/>
                </a:ext>
              </a:extLst>
            </p:cNvPr>
            <p:cNvSpPr txBox="1"/>
            <p:nvPr/>
          </p:nvSpPr>
          <p:spPr>
            <a:xfrm>
              <a:off x="185153" y="1175281"/>
              <a:ext cx="796876" cy="334707"/>
            </a:xfrm>
            <a:prstGeom prst="rect">
              <a:avLst/>
            </a:prstGeom>
            <a:noFill/>
          </p:spPr>
          <p:txBody>
            <a:bodyPr wrap="square" rtlCol="0">
              <a:spAutoFit/>
            </a:bodyPr>
            <a:lstStyle/>
            <a:p>
              <a:pPr>
                <a:lnSpc>
                  <a:spcPct val="150000"/>
                </a:lnSpc>
              </a:pPr>
              <a:r>
                <a:rPr lang="zh-CN" altLang="en-US" sz="1050" b="1" u="sng" dirty="0">
                  <a:solidFill>
                    <a:srgbClr val="696A6C"/>
                  </a:solidFill>
                  <a:latin typeface="微软雅黑" panose="020B0503020204020204" pitchFamily="34" charset="-122"/>
                  <a:ea typeface="微软雅黑" panose="020B0503020204020204" pitchFamily="34" charset="-122"/>
                </a:rPr>
                <a:t>求职目标</a:t>
              </a:r>
              <a:endParaRPr lang="en-US" altLang="zh-CN" sz="1050" b="1" u="sng" dirty="0">
                <a:solidFill>
                  <a:srgbClr val="696A6C"/>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CC1EBB91-CDFE-B640-B2D6-B8BB71CC595B}"/>
                </a:ext>
              </a:extLst>
            </p:cNvPr>
            <p:cNvSpPr txBox="1"/>
            <p:nvPr/>
          </p:nvSpPr>
          <p:spPr>
            <a:xfrm>
              <a:off x="858675" y="1177643"/>
              <a:ext cx="5872323" cy="1061829"/>
            </a:xfrm>
            <a:prstGeom prst="rect">
              <a:avLst/>
            </a:prstGeom>
            <a:noFill/>
          </p:spPr>
          <p:txBody>
            <a:bodyPr wrap="square" rtlCol="0">
              <a:spAutoFit/>
            </a:bodyPr>
            <a:lstStyle/>
            <a:p>
              <a:pPr>
                <a:lnSpc>
                  <a:spcPct val="150000"/>
                </a:lnSpc>
              </a:pPr>
              <a:r>
                <a:rPr lang="zh-CN" altLang="en-US" sz="1050" b="1" dirty="0">
                  <a:solidFill>
                    <a:srgbClr val="696A6C"/>
                  </a:solidFill>
                  <a:latin typeface="微软雅黑" panose="020B0503020204020204" pitchFamily="34" charset="-122"/>
                  <a:ea typeface="微软雅黑" panose="020B0503020204020204" pitchFamily="34" charset="-122"/>
                </a:rPr>
                <a:t>供应链管理</a:t>
              </a:r>
              <a:r>
                <a:rPr lang="en-US" altLang="zh-CN" sz="1050" b="1" dirty="0">
                  <a:solidFill>
                    <a:srgbClr val="696A6C"/>
                  </a:solidFill>
                  <a:latin typeface="微软雅黑" panose="020B0503020204020204" pitchFamily="34" charset="-122"/>
                  <a:ea typeface="微软雅黑" panose="020B0503020204020204" pitchFamily="34" charset="-122"/>
                </a:rPr>
                <a:t>  </a:t>
              </a:r>
              <a:r>
                <a:rPr lang="zh-CN" altLang="en-US" sz="1050" b="1" dirty="0">
                  <a:solidFill>
                    <a:srgbClr val="696A6C"/>
                  </a:solidFill>
                  <a:latin typeface="微软雅黑" panose="020B0503020204020204" pitchFamily="34" charset="-122"/>
                  <a:ea typeface="微软雅黑" panose="020B0503020204020204" pitchFamily="34" charset="-122"/>
                </a:rPr>
                <a:t>经理</a:t>
              </a:r>
              <a:endParaRPr lang="en-US" altLang="zh-CN" sz="1050" b="1" dirty="0">
                <a:solidFill>
                  <a:srgbClr val="696A6C"/>
                </a:solidFill>
                <a:latin typeface="微软雅黑" panose="020B0503020204020204" pitchFamily="34" charset="-122"/>
                <a:ea typeface="微软雅黑" panose="020B0503020204020204" pitchFamily="34" charset="-122"/>
              </a:endParaRPr>
            </a:p>
            <a:p>
              <a:pPr>
                <a:lnSpc>
                  <a:spcPct val="150000"/>
                </a:lnSpc>
              </a:pPr>
              <a:r>
                <a:rPr lang="zh-CN" altLang="en-US" sz="1050" dirty="0">
                  <a:solidFill>
                    <a:srgbClr val="696A6C"/>
                  </a:solidFill>
                  <a:latin typeface="微软雅黑" panose="020B0503020204020204" pitchFamily="34" charset="-122"/>
                  <a:ea typeface="微软雅黑" panose="020B0503020204020204" pitchFamily="34" charset="-122"/>
                </a:rPr>
                <a:t>在大众汽车集团积累了</a:t>
              </a:r>
              <a:r>
                <a:rPr lang="en-US" altLang="zh-CN" sz="1050" dirty="0">
                  <a:solidFill>
                    <a:srgbClr val="696A6C"/>
                  </a:solidFill>
                  <a:latin typeface="微软雅黑" panose="020B0503020204020204" pitchFamily="34" charset="-122"/>
                  <a:ea typeface="微软雅黑" panose="020B0503020204020204" pitchFamily="34" charset="-122"/>
                </a:rPr>
                <a:t>15</a:t>
              </a:r>
              <a:r>
                <a:rPr lang="zh-CN" altLang="en-US" sz="1050" dirty="0">
                  <a:solidFill>
                    <a:srgbClr val="696A6C"/>
                  </a:solidFill>
                  <a:latin typeface="微软雅黑" panose="020B0503020204020204" pitchFamily="34" charset="-122"/>
                  <a:ea typeface="微软雅黑" panose="020B0503020204020204" pitchFamily="34" charset="-122"/>
                </a:rPr>
                <a:t>年供应链风险管理工作经验，擅长体系化管理汽车零部件供应商，沟通谈判能力强。</a:t>
              </a:r>
              <a:endParaRPr lang="en-US" altLang="zh-CN" sz="1050" dirty="0">
                <a:solidFill>
                  <a:srgbClr val="696A6C"/>
                </a:solidFill>
                <a:latin typeface="微软雅黑" panose="020B0503020204020204" pitchFamily="34" charset="-122"/>
                <a:ea typeface="微软雅黑" panose="020B0503020204020204" pitchFamily="34" charset="-122"/>
              </a:endParaRPr>
            </a:p>
            <a:p>
              <a:pPr>
                <a:lnSpc>
                  <a:spcPct val="150000"/>
                </a:lnSpc>
              </a:pPr>
              <a:r>
                <a:rPr lang="zh-CN" altLang="en-US" sz="1050" dirty="0">
                  <a:solidFill>
                    <a:srgbClr val="696A6C"/>
                  </a:solidFill>
                  <a:latin typeface="微软雅黑" panose="020B0503020204020204" pitchFamily="34" charset="-122"/>
                  <a:ea typeface="微软雅黑" panose="020B0503020204020204" pitchFamily="34" charset="-122"/>
                </a:rPr>
                <a:t>上汽集团认证讲师，带教能力强。</a:t>
              </a:r>
              <a:endParaRPr lang="en-US" altLang="zh-CN" sz="1050" dirty="0">
                <a:solidFill>
                  <a:srgbClr val="696A6C"/>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130669" y="374781"/>
            <a:ext cx="4091437" cy="808983"/>
            <a:chOff x="130669" y="387481"/>
            <a:chExt cx="4091437" cy="808983"/>
          </a:xfrm>
        </p:grpSpPr>
        <p:sp>
          <p:nvSpPr>
            <p:cNvPr id="4" name="文本框 3"/>
            <p:cNvSpPr txBox="1"/>
            <p:nvPr/>
          </p:nvSpPr>
          <p:spPr>
            <a:xfrm>
              <a:off x="178048" y="619383"/>
              <a:ext cx="2234514" cy="577081"/>
            </a:xfrm>
            <a:prstGeom prst="rect">
              <a:avLst/>
            </a:prstGeom>
            <a:noFill/>
          </p:spPr>
          <p:txBody>
            <a:bodyPr wrap="square" rtlCol="0">
              <a:spAutoFit/>
            </a:bodyPr>
            <a:lstStyle/>
            <a:p>
              <a:pPr>
                <a:lnSpc>
                  <a:spcPct val="150000"/>
                </a:lnSpc>
              </a:pPr>
              <a:r>
                <a:rPr lang="zh-CN" altLang="en-US" sz="1050" dirty="0">
                  <a:solidFill>
                    <a:srgbClr val="696A6C"/>
                  </a:solidFill>
                  <a:latin typeface="微软雅黑" panose="020B0503020204020204" pitchFamily="34" charset="-122"/>
                  <a:ea typeface="微软雅黑" panose="020B0503020204020204" pitchFamily="34" charset="-122"/>
                </a:rPr>
                <a:t>性别：男 </a:t>
              </a:r>
              <a:endParaRPr lang="en-US" altLang="zh-CN" sz="1050" dirty="0">
                <a:solidFill>
                  <a:srgbClr val="696A6C"/>
                </a:solidFill>
                <a:latin typeface="微软雅黑" panose="020B0503020204020204" pitchFamily="34" charset="-122"/>
                <a:ea typeface="微软雅黑" panose="020B0503020204020204" pitchFamily="34" charset="-122"/>
              </a:endParaRPr>
            </a:p>
            <a:p>
              <a:pPr>
                <a:lnSpc>
                  <a:spcPct val="150000"/>
                </a:lnSpc>
              </a:pPr>
              <a:r>
                <a:rPr lang="zh-CN" altLang="en-US" sz="1050" dirty="0">
                  <a:solidFill>
                    <a:srgbClr val="696A6C"/>
                  </a:solidFill>
                  <a:latin typeface="微软雅黑" panose="020B0503020204020204" pitchFamily="34" charset="-122"/>
                  <a:ea typeface="微软雅黑" panose="020B0503020204020204" pitchFamily="34" charset="-122"/>
                </a:rPr>
                <a:t>联系电话：</a:t>
              </a:r>
              <a:r>
                <a:rPr lang="en-US" altLang="zh-CN" sz="1050" dirty="0">
                  <a:solidFill>
                    <a:srgbClr val="696A6C"/>
                  </a:solidFill>
                  <a:latin typeface="微软雅黑" panose="020B0503020204020204" pitchFamily="34" charset="-122"/>
                  <a:ea typeface="微软雅黑" panose="020B0503020204020204" pitchFamily="34" charset="-122"/>
                </a:rPr>
                <a:t>13761058893</a:t>
              </a:r>
            </a:p>
          </p:txBody>
        </p:sp>
        <p:sp>
          <p:nvSpPr>
            <p:cNvPr id="10" name="文本框 9"/>
            <p:cNvSpPr txBox="1"/>
            <p:nvPr/>
          </p:nvSpPr>
          <p:spPr>
            <a:xfrm>
              <a:off x="1987592" y="609426"/>
              <a:ext cx="2234514" cy="548548"/>
            </a:xfrm>
            <a:prstGeom prst="rect">
              <a:avLst/>
            </a:prstGeom>
            <a:noFill/>
          </p:spPr>
          <p:txBody>
            <a:bodyPr wrap="square" rtlCol="0">
              <a:spAutoFit/>
            </a:bodyPr>
            <a:lstStyle/>
            <a:p>
              <a:pPr>
                <a:lnSpc>
                  <a:spcPct val="150000"/>
                </a:lnSpc>
              </a:pPr>
              <a:r>
                <a:rPr lang="zh-CN" altLang="en-US" sz="1050" dirty="0">
                  <a:solidFill>
                    <a:srgbClr val="696A6C"/>
                  </a:solidFill>
                  <a:latin typeface="微软雅黑" panose="020B0503020204020204" pitchFamily="34" charset="-122"/>
                  <a:ea typeface="微软雅黑" panose="020B0503020204020204" pitchFamily="34" charset="-122"/>
                </a:rPr>
                <a:t>出生年月</a:t>
              </a:r>
              <a:r>
                <a:rPr lang="en-US" altLang="zh-CN" sz="1050" dirty="0">
                  <a:solidFill>
                    <a:srgbClr val="696A6C"/>
                  </a:solidFill>
                  <a:latin typeface="微软雅黑" panose="020B0503020204020204" pitchFamily="34" charset="-122"/>
                  <a:ea typeface="微软雅黑" panose="020B0503020204020204" pitchFamily="34" charset="-122"/>
                </a:rPr>
                <a:t>:   1983</a:t>
              </a:r>
              <a:r>
                <a:rPr lang="zh-CN" altLang="en-US" sz="1050" dirty="0">
                  <a:solidFill>
                    <a:srgbClr val="696A6C"/>
                  </a:solidFill>
                  <a:latin typeface="微软雅黑" panose="020B0503020204020204" pitchFamily="34" charset="-122"/>
                  <a:ea typeface="微软雅黑" panose="020B0503020204020204" pitchFamily="34" charset="-122"/>
                </a:rPr>
                <a:t>年</a:t>
              </a:r>
              <a:r>
                <a:rPr lang="en-US" altLang="zh-CN" sz="1050" dirty="0">
                  <a:solidFill>
                    <a:srgbClr val="696A6C"/>
                  </a:solidFill>
                  <a:latin typeface="微软雅黑" panose="020B0503020204020204" pitchFamily="34" charset="-122"/>
                  <a:ea typeface="微软雅黑" panose="020B0503020204020204" pitchFamily="34" charset="-122"/>
                </a:rPr>
                <a:t>12</a:t>
              </a:r>
              <a:r>
                <a:rPr lang="zh-CN" altLang="en-US" sz="1050" dirty="0">
                  <a:solidFill>
                    <a:srgbClr val="696A6C"/>
                  </a:solidFill>
                  <a:latin typeface="微软雅黑" panose="020B0503020204020204" pitchFamily="34" charset="-122"/>
                  <a:ea typeface="微软雅黑" panose="020B0503020204020204" pitchFamily="34" charset="-122"/>
                </a:rPr>
                <a:t>月</a:t>
              </a:r>
              <a:endParaRPr lang="en-US" altLang="zh-CN" sz="1050" dirty="0">
                <a:solidFill>
                  <a:srgbClr val="696A6C"/>
                </a:solidFill>
                <a:latin typeface="微软雅黑" panose="020B0503020204020204" pitchFamily="34" charset="-122"/>
                <a:ea typeface="微软雅黑" panose="020B0503020204020204" pitchFamily="34" charset="-122"/>
              </a:endParaRPr>
            </a:p>
            <a:p>
              <a:pPr>
                <a:lnSpc>
                  <a:spcPct val="150000"/>
                </a:lnSpc>
              </a:pPr>
              <a:r>
                <a:rPr lang="zh-CN" altLang="en-US" sz="1050" dirty="0">
                  <a:solidFill>
                    <a:srgbClr val="696A6C"/>
                  </a:solidFill>
                  <a:latin typeface="微软雅黑" panose="020B0503020204020204" pitchFamily="34" charset="-122"/>
                  <a:ea typeface="微软雅黑" panose="020B0503020204020204" pitchFamily="34" charset="-122"/>
                </a:rPr>
                <a:t>邮箱：</a:t>
              </a:r>
              <a:r>
                <a:rPr lang="en-US" altLang="zh-CN" sz="1050" dirty="0">
                  <a:solidFill>
                    <a:srgbClr val="696A6C"/>
                  </a:solidFill>
                  <a:latin typeface="微软雅黑" panose="020B0503020204020204" pitchFamily="34" charset="-122"/>
                  <a:ea typeface="微软雅黑" panose="020B0503020204020204" pitchFamily="34" charset="-122"/>
                </a:rPr>
                <a:t>   lijiajun_vwpt@163.com</a:t>
              </a:r>
              <a:endParaRPr lang="zh-CN" altLang="en-US" sz="1050" dirty="0">
                <a:solidFill>
                  <a:srgbClr val="696A6C"/>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30669" y="387481"/>
              <a:ext cx="757080" cy="276999"/>
            </a:xfrm>
            <a:prstGeom prst="rect">
              <a:avLst/>
            </a:prstGeom>
            <a:noFill/>
          </p:spPr>
          <p:txBody>
            <a:bodyPr wrap="square" rtlCol="0">
              <a:spAutoFit/>
            </a:bodyPr>
            <a:lstStyle/>
            <a:p>
              <a:pPr algn="ctr"/>
              <a:r>
                <a:rPr lang="zh-CN" altLang="en-US" sz="1200" dirty="0">
                  <a:solidFill>
                    <a:srgbClr val="696A6C"/>
                  </a:solidFill>
                  <a:latin typeface="微软雅黑" panose="020B0503020204020204" pitchFamily="34" charset="-122"/>
                  <a:ea typeface="微软雅黑" panose="020B0503020204020204" pitchFamily="34" charset="-122"/>
                </a:rPr>
                <a:t>李嘉俊</a:t>
              </a:r>
            </a:p>
          </p:txBody>
        </p:sp>
      </p:grpSp>
      <p:grpSp>
        <p:nvGrpSpPr>
          <p:cNvPr id="16" name="组合 15"/>
          <p:cNvGrpSpPr/>
          <p:nvPr/>
        </p:nvGrpSpPr>
        <p:grpSpPr>
          <a:xfrm>
            <a:off x="185153" y="2150641"/>
            <a:ext cx="6545846" cy="337069"/>
            <a:chOff x="185153" y="1175281"/>
            <a:chExt cx="6545846" cy="337069"/>
          </a:xfrm>
        </p:grpSpPr>
        <p:sp>
          <p:nvSpPr>
            <p:cNvPr id="17" name="文本框 16">
              <a:extLst>
                <a:ext uri="{FF2B5EF4-FFF2-40B4-BE49-F238E27FC236}">
                  <a16:creationId xmlns:a16="http://schemas.microsoft.com/office/drawing/2014/main" id="{6328BBE5-BD67-4242-90DC-5145D59E3704}"/>
                </a:ext>
              </a:extLst>
            </p:cNvPr>
            <p:cNvSpPr txBox="1"/>
            <p:nvPr/>
          </p:nvSpPr>
          <p:spPr>
            <a:xfrm>
              <a:off x="185153" y="1175281"/>
              <a:ext cx="796876" cy="334707"/>
            </a:xfrm>
            <a:prstGeom prst="rect">
              <a:avLst/>
            </a:prstGeom>
            <a:noFill/>
          </p:spPr>
          <p:txBody>
            <a:bodyPr wrap="square" rtlCol="0">
              <a:spAutoFit/>
            </a:bodyPr>
            <a:lstStyle/>
            <a:p>
              <a:pPr>
                <a:lnSpc>
                  <a:spcPct val="150000"/>
                </a:lnSpc>
              </a:pPr>
              <a:r>
                <a:rPr lang="zh-CN" altLang="en-US" sz="1050" b="1" u="sng" dirty="0">
                  <a:solidFill>
                    <a:srgbClr val="696A6C"/>
                  </a:solidFill>
                  <a:latin typeface="微软雅黑" panose="020B0503020204020204" pitchFamily="34" charset="-122"/>
                  <a:ea typeface="微软雅黑" panose="020B0503020204020204" pitchFamily="34" charset="-122"/>
                </a:rPr>
                <a:t>教育背景</a:t>
              </a:r>
              <a:endParaRPr lang="en-US" altLang="zh-CN" sz="1050" b="1" u="sng" dirty="0">
                <a:solidFill>
                  <a:srgbClr val="696A6C"/>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CC1EBB91-CDFE-B640-B2D6-B8BB71CC595B}"/>
                </a:ext>
              </a:extLst>
            </p:cNvPr>
            <p:cNvSpPr txBox="1"/>
            <p:nvPr/>
          </p:nvSpPr>
          <p:spPr>
            <a:xfrm>
              <a:off x="878997" y="1177643"/>
              <a:ext cx="5852002" cy="334707"/>
            </a:xfrm>
            <a:prstGeom prst="rect">
              <a:avLst/>
            </a:prstGeom>
            <a:noFill/>
          </p:spPr>
          <p:txBody>
            <a:bodyPr wrap="square" rtlCol="0">
              <a:spAutoFit/>
            </a:bodyPr>
            <a:lstStyle/>
            <a:p>
              <a:pPr>
                <a:lnSpc>
                  <a:spcPct val="150000"/>
                </a:lnSpc>
              </a:pPr>
              <a:r>
                <a:rPr lang="en-US" altLang="zh-CN" sz="1050" dirty="0">
                  <a:solidFill>
                    <a:srgbClr val="696A6C"/>
                  </a:solidFill>
                  <a:latin typeface="微软雅黑" panose="020B0503020204020204" pitchFamily="34" charset="-122"/>
                  <a:ea typeface="微软雅黑" panose="020B0503020204020204" pitchFamily="34" charset="-122"/>
                </a:rPr>
                <a:t>2002/Sep</a:t>
              </a:r>
              <a:r>
                <a:rPr lang="zh-CN" altLang="en-US" sz="1050" dirty="0">
                  <a:solidFill>
                    <a:srgbClr val="696A6C"/>
                  </a:solidFill>
                  <a:latin typeface="微软雅黑" panose="020B0503020204020204" pitchFamily="34" charset="-122"/>
                  <a:ea typeface="微软雅黑" panose="020B0503020204020204" pitchFamily="34" charset="-122"/>
                </a:rPr>
                <a:t>～</a:t>
              </a:r>
              <a:r>
                <a:rPr lang="en-US" altLang="zh-CN" sz="1050" dirty="0">
                  <a:solidFill>
                    <a:srgbClr val="696A6C"/>
                  </a:solidFill>
                  <a:latin typeface="微软雅黑" panose="020B0503020204020204" pitchFamily="34" charset="-122"/>
                  <a:ea typeface="微软雅黑" panose="020B0503020204020204" pitchFamily="34" charset="-122"/>
                </a:rPr>
                <a:t>2006/Jul	</a:t>
              </a:r>
              <a:r>
                <a:rPr lang="zh-CN" altLang="en-US" sz="1050" dirty="0">
                  <a:solidFill>
                    <a:srgbClr val="696A6C"/>
                  </a:solidFill>
                  <a:latin typeface="微软雅黑" panose="020B0503020204020204" pitchFamily="34" charset="-122"/>
                  <a:ea typeface="微软雅黑" panose="020B0503020204020204" pitchFamily="34" charset="-122"/>
                </a:rPr>
                <a:t>上海海事大学</a:t>
              </a:r>
              <a:r>
                <a:rPr lang="en-US" altLang="zh-CN" sz="1050" dirty="0">
                  <a:solidFill>
                    <a:srgbClr val="696A6C"/>
                  </a:solidFill>
                  <a:latin typeface="微软雅黑" panose="020B0503020204020204" pitchFamily="34" charset="-122"/>
                  <a:ea typeface="微软雅黑" panose="020B0503020204020204" pitchFamily="34" charset="-122"/>
                </a:rPr>
                <a:t>	</a:t>
              </a:r>
              <a:r>
                <a:rPr lang="zh-CN" altLang="en-US" sz="1050" dirty="0">
                  <a:solidFill>
                    <a:srgbClr val="696A6C"/>
                  </a:solidFill>
                  <a:latin typeface="微软雅黑" panose="020B0503020204020204" pitchFamily="34" charset="-122"/>
                  <a:ea typeface="微软雅黑" panose="020B0503020204020204" pitchFamily="34" charset="-122"/>
                </a:rPr>
                <a:t>轮机工程专业</a:t>
              </a:r>
              <a:r>
                <a:rPr lang="en-US" altLang="zh-CN" sz="1050" dirty="0">
                  <a:solidFill>
                    <a:srgbClr val="696A6C"/>
                  </a:solidFill>
                  <a:latin typeface="微软雅黑" panose="020B0503020204020204" pitchFamily="34" charset="-122"/>
                  <a:ea typeface="微软雅黑" panose="020B0503020204020204" pitchFamily="34" charset="-122"/>
                </a:rPr>
                <a:t>	</a:t>
              </a:r>
              <a:r>
                <a:rPr lang="zh-CN" altLang="en-US" sz="1050" dirty="0">
                  <a:solidFill>
                    <a:srgbClr val="696A6C"/>
                  </a:solidFill>
                  <a:latin typeface="微软雅黑" panose="020B0503020204020204" pitchFamily="34" charset="-122"/>
                  <a:ea typeface="微软雅黑" panose="020B0503020204020204" pitchFamily="34" charset="-122"/>
                </a:rPr>
                <a:t>本科（工学学士）</a:t>
              </a:r>
              <a:endParaRPr lang="en-US" altLang="zh-CN" sz="1050" dirty="0">
                <a:solidFill>
                  <a:srgbClr val="696A6C"/>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190233" y="2457981"/>
            <a:ext cx="6540766" cy="6396420"/>
            <a:chOff x="185153" y="1175281"/>
            <a:chExt cx="6540766" cy="6396420"/>
          </a:xfrm>
        </p:grpSpPr>
        <p:sp>
          <p:nvSpPr>
            <p:cNvPr id="20" name="文本框 19">
              <a:extLst>
                <a:ext uri="{FF2B5EF4-FFF2-40B4-BE49-F238E27FC236}">
                  <a16:creationId xmlns:a16="http://schemas.microsoft.com/office/drawing/2014/main" id="{6328BBE5-BD67-4242-90DC-5145D59E3704}"/>
                </a:ext>
              </a:extLst>
            </p:cNvPr>
            <p:cNvSpPr txBox="1"/>
            <p:nvPr/>
          </p:nvSpPr>
          <p:spPr>
            <a:xfrm>
              <a:off x="185153" y="1175281"/>
              <a:ext cx="796876" cy="334707"/>
            </a:xfrm>
            <a:prstGeom prst="rect">
              <a:avLst/>
            </a:prstGeom>
            <a:noFill/>
          </p:spPr>
          <p:txBody>
            <a:bodyPr wrap="square" rtlCol="0">
              <a:spAutoFit/>
            </a:bodyPr>
            <a:lstStyle/>
            <a:p>
              <a:pPr>
                <a:lnSpc>
                  <a:spcPct val="150000"/>
                </a:lnSpc>
              </a:pPr>
              <a:r>
                <a:rPr lang="zh-CN" altLang="en-US" sz="1050" b="1" u="sng" dirty="0">
                  <a:solidFill>
                    <a:srgbClr val="696A6C"/>
                  </a:solidFill>
                  <a:latin typeface="微软雅黑" panose="020B0503020204020204" pitchFamily="34" charset="-122"/>
                  <a:ea typeface="微软雅黑" panose="020B0503020204020204" pitchFamily="34" charset="-122"/>
                </a:rPr>
                <a:t>工作经历</a:t>
              </a:r>
              <a:endParaRPr lang="en-US" altLang="zh-CN" sz="1050" b="1" u="sng" dirty="0">
                <a:solidFill>
                  <a:srgbClr val="696A6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CC1EBB91-CDFE-B640-B2D6-B8BB71CC595B}"/>
                </a:ext>
              </a:extLst>
            </p:cNvPr>
            <p:cNvSpPr txBox="1"/>
            <p:nvPr/>
          </p:nvSpPr>
          <p:spPr>
            <a:xfrm>
              <a:off x="873916" y="1177643"/>
              <a:ext cx="5852003" cy="6394058"/>
            </a:xfrm>
            <a:prstGeom prst="rect">
              <a:avLst/>
            </a:prstGeom>
            <a:noFill/>
          </p:spPr>
          <p:txBody>
            <a:bodyPr wrap="square" rtlCol="0">
              <a:spAutoFit/>
            </a:bodyPr>
            <a:lstStyle/>
            <a:p>
              <a:pPr>
                <a:lnSpc>
                  <a:spcPct val="150000"/>
                </a:lnSpc>
              </a:pPr>
              <a:r>
                <a:rPr lang="en-US" altLang="zh-CN" sz="1050">
                  <a:solidFill>
                    <a:srgbClr val="696A6C"/>
                  </a:solidFill>
                  <a:latin typeface="微软雅黑" panose="020B0503020204020204" pitchFamily="34" charset="-122"/>
                  <a:ea typeface="微软雅黑" panose="020B0503020204020204" pitchFamily="34" charset="-122"/>
                </a:rPr>
                <a:t>2006.07</a:t>
              </a:r>
              <a:r>
                <a:rPr lang="zh-CN" altLang="en-US" sz="1050">
                  <a:solidFill>
                    <a:srgbClr val="696A6C"/>
                  </a:solidFill>
                  <a:latin typeface="微软雅黑" panose="020B0503020204020204" pitchFamily="34" charset="-122"/>
                  <a:ea typeface="微软雅黑" panose="020B0503020204020204" pitchFamily="34" charset="-122"/>
                </a:rPr>
                <a:t>～</a:t>
              </a:r>
              <a:r>
                <a:rPr lang="zh-CN" altLang="zh-CN" sz="1050" dirty="0">
                  <a:solidFill>
                    <a:srgbClr val="696A6C"/>
                  </a:solidFill>
                  <a:latin typeface="微软雅黑" panose="020B0503020204020204" pitchFamily="34" charset="-122"/>
                  <a:ea typeface="微软雅黑" panose="020B0503020204020204" pitchFamily="34" charset="-122"/>
                </a:rPr>
                <a:t>至今</a:t>
              </a:r>
              <a:r>
                <a:rPr lang="en-US" altLang="zh-CN" sz="1050" dirty="0">
                  <a:solidFill>
                    <a:srgbClr val="696A6C"/>
                  </a:solidFill>
                  <a:latin typeface="微软雅黑" panose="020B0503020204020204" pitchFamily="34" charset="-122"/>
                  <a:ea typeface="微软雅黑" panose="020B0503020204020204" pitchFamily="34" charset="-122"/>
                </a:rPr>
                <a:t>		</a:t>
              </a:r>
              <a:r>
                <a:rPr lang="en-US" altLang="zh-CN" sz="1050" b="1" dirty="0">
                  <a:solidFill>
                    <a:srgbClr val="696A6C"/>
                  </a:solidFill>
                  <a:latin typeface="微软雅黑" panose="020B0503020204020204" pitchFamily="34" charset="-122"/>
                  <a:ea typeface="微软雅黑" panose="020B0503020204020204" pitchFamily="34" charset="-122"/>
                </a:rPr>
                <a:t>    </a:t>
              </a:r>
              <a:r>
                <a:rPr lang="zh-CN" altLang="zh-CN" sz="1050" b="1" dirty="0">
                  <a:solidFill>
                    <a:srgbClr val="696A6C"/>
                  </a:solidFill>
                  <a:latin typeface="微软雅黑" panose="020B0503020204020204" pitchFamily="34" charset="-122"/>
                  <a:ea typeface="微软雅黑" panose="020B0503020204020204" pitchFamily="34" charset="-122"/>
                </a:rPr>
                <a:t>上海大众动力总成有限公司</a:t>
              </a:r>
              <a:r>
                <a:rPr lang="zh-CN" altLang="en-US" sz="1050" dirty="0">
                  <a:solidFill>
                    <a:srgbClr val="696A6C"/>
                  </a:solidFill>
                  <a:latin typeface="微软雅黑" panose="020B0503020204020204" pitchFamily="34" charset="-122"/>
                  <a:ea typeface="微软雅黑" panose="020B0503020204020204" pitchFamily="34" charset="-122"/>
                </a:rPr>
                <a:t>（亚太第一，累计产量过万千台）</a:t>
              </a:r>
              <a:endParaRPr lang="en-US" altLang="zh-CN" sz="1050" dirty="0">
                <a:solidFill>
                  <a:srgbClr val="696A6C"/>
                </a:solidFill>
                <a:latin typeface="微软雅黑" panose="020B0503020204020204" pitchFamily="34" charset="-122"/>
                <a:ea typeface="微软雅黑" panose="020B0503020204020204" pitchFamily="34" charset="-122"/>
              </a:endParaRPr>
            </a:p>
            <a:p>
              <a:pPr>
                <a:lnSpc>
                  <a:spcPct val="150000"/>
                </a:lnSpc>
              </a:pPr>
              <a:r>
                <a:rPr lang="en-US" altLang="zh-CN" sz="1050" b="1" dirty="0">
                  <a:solidFill>
                    <a:srgbClr val="696A6C"/>
                  </a:solidFill>
                  <a:latin typeface="微软雅黑" panose="020B0503020204020204" pitchFamily="34" charset="-122"/>
                  <a:ea typeface="微软雅黑" panose="020B0503020204020204" pitchFamily="34" charset="-122"/>
                </a:rPr>
                <a:t>2010/07.~</a:t>
              </a:r>
              <a:r>
                <a:rPr lang="zh-CN" altLang="en-US" sz="1050" b="1" dirty="0">
                  <a:solidFill>
                    <a:srgbClr val="696A6C"/>
                  </a:solidFill>
                  <a:latin typeface="微软雅黑" panose="020B0503020204020204" pitchFamily="34" charset="-122"/>
                  <a:ea typeface="微软雅黑" panose="020B0503020204020204" pitchFamily="34" charset="-122"/>
                </a:rPr>
                <a:t>至今</a:t>
              </a:r>
              <a:r>
                <a:rPr lang="en-US" altLang="zh-CN" sz="1050" b="1" dirty="0">
                  <a:solidFill>
                    <a:srgbClr val="696A6C"/>
                  </a:solidFill>
                  <a:latin typeface="微软雅黑" panose="020B0503020204020204" pitchFamily="34" charset="-122"/>
                  <a:ea typeface="微软雅黑" panose="020B0503020204020204" pitchFamily="34" charset="-122"/>
                </a:rPr>
                <a:t>	</a:t>
              </a:r>
              <a:r>
                <a:rPr lang="zh-CN" altLang="en-US" sz="1050" b="1" dirty="0">
                  <a:solidFill>
                    <a:srgbClr val="696A6C"/>
                  </a:solidFill>
                  <a:latin typeface="微软雅黑" panose="020B0503020204020204" pitchFamily="34" charset="-122"/>
                  <a:ea typeface="微软雅黑" panose="020B0503020204020204" pitchFamily="34" charset="-122"/>
                </a:rPr>
                <a:t>供应链管理</a:t>
              </a:r>
              <a:r>
                <a:rPr lang="zh-CN" altLang="zh-CN" sz="1050" b="1" dirty="0">
                  <a:solidFill>
                    <a:srgbClr val="696A6C"/>
                  </a:solidFill>
                  <a:latin typeface="微软雅黑" panose="020B0503020204020204" pitchFamily="34" charset="-122"/>
                  <a:ea typeface="微软雅黑" panose="020B0503020204020204" pitchFamily="34" charset="-122"/>
                </a:rPr>
                <a:t>专家</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171450" indent="-171450">
                <a:lnSpc>
                  <a:spcPct val="150000"/>
                </a:lnSpc>
                <a:buSzPct val="100000"/>
                <a:buFont typeface="Microsoft YaHei" panose="020B0503020204020204" pitchFamily="34" charset="-122"/>
                <a:buChar char="•"/>
              </a:pP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负责管理公司供应链管理团队，协同大众中国与南北大众开展工作</a:t>
              </a:r>
              <a:endPar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SzPct val="100000"/>
                <a:buFont typeface="Microsoft YaHei" panose="020B0503020204020204" pitchFamily="34" charset="-122"/>
                <a:buChar char="•"/>
              </a:pP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给予</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S&amp;OP</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提供供应端相关意见，决定未来月度排产。</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作为</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EA211</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供应链管理负责人，参与集团层级（中国区）</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&amp;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公司层级的</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S&amp;OP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会议。汇总成月度紧缺资源，并在会上进行展示。对未来月度的紧缺供应资源进行预警，避免紧缺资源与后续月度排产撞车而造成资源不足停线。</a:t>
              </a:r>
              <a:endPar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SzPct val="100000"/>
                <a:buFont typeface="Microsoft YaHei" panose="020B0503020204020204" pitchFamily="34" charset="-122"/>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根据大众集团与公司战略预测，跟踪供应商产能状况。</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负责管理约</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150+</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个材料组（约</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500</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个零件，其中</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35</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个涉芯片零件）的产能。</a:t>
              </a:r>
              <a:endPar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SzPct val="100000"/>
                <a:buFont typeface="Microsoft YaHei" panose="020B0503020204020204" pitchFamily="34" charset="-122"/>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预判、分析并汇总零部件供应风险，并制定解决措施。中国区</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EA211</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供应链团队的建立者之一，中国区供应链管理核心成员。参与中国区供应资源讨论会，给予供应风险解决意见。同时参与整个供应风险解决的过程，直至警报解除。</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负责处理过不下百起供应风险，将工作经验整理成</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课程</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，并以此进入集团</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2019</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年度讲师大赛</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12</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强（参与者</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400+</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），同时受聘为</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SAIC</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培训中心外聘讲师。</a:t>
              </a:r>
              <a:endPar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SzPct val="100000"/>
                <a:buFont typeface="Microsoft YaHei" panose="020B0503020204020204" pitchFamily="34" charset="-122"/>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跨部门协作，解决供应风险。</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为保障大众中国区峰值</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350</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万台</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年产量，组建大众</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Task force</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团队开展工作，</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涵盖但不限于采购、质量、开发等职能。引领团队解决供应问题的同时，帮助供应商的供应链团队形成持续战力，</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其中已有多家供应商成为行业的头部（行业前</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10</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）企业。</a:t>
              </a:r>
              <a:endPar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SzPct val="100000"/>
                <a:buFont typeface="Microsoft YaHei" panose="020B0503020204020204" pitchFamily="34" charset="-122"/>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代表公司参与大众集团的资源及产能分配。</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SzPct val="100000"/>
                <a:buFont typeface="Microsoft YaHei" panose="020B0503020204020204" pitchFamily="34" charset="-122"/>
                <a:buChar char="•"/>
              </a:pP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管理下辖供应商的供应</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KPI</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负责通过</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VW</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集团系统对供应商进行月度考核，考核内容：产能状况、交付准确率</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&amp;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及时率、包装状况，等。</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并基于</a:t>
              </a:r>
              <a:r>
                <a:rPr lang="en-US" altLang="zh-CN"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KPI</a:t>
              </a:r>
              <a:r>
                <a:rPr lang="zh-CN" altLang="en-US" sz="1050" b="1"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结果推动供应商进行优化与改进。</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自</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2016</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年系统上线以来，已有效提升供应商运作水平。（均分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78</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提升至均分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90+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lang="en-US" altLang="zh-CN" sz="1050" b="1" dirty="0">
                  <a:solidFill>
                    <a:srgbClr val="696A6C"/>
                  </a:solidFill>
                  <a:latin typeface="微软雅黑" panose="020B0503020204020204" pitchFamily="34" charset="-122"/>
                  <a:ea typeface="微软雅黑" panose="020B0503020204020204" pitchFamily="34" charset="-122"/>
                </a:rPr>
                <a:t>2006/07</a:t>
              </a:r>
              <a:r>
                <a:rPr lang="zh-CN" altLang="en-US" sz="1050" b="1" dirty="0">
                  <a:solidFill>
                    <a:srgbClr val="696A6C"/>
                  </a:solidFill>
                  <a:latin typeface="微软雅黑" panose="020B0503020204020204" pitchFamily="34" charset="-122"/>
                  <a:ea typeface="微软雅黑" panose="020B0503020204020204" pitchFamily="34" charset="-122"/>
                </a:rPr>
                <a:t>～</a:t>
              </a:r>
              <a:r>
                <a:rPr lang="en-US" altLang="zh-CN" sz="1050" b="1" dirty="0">
                  <a:solidFill>
                    <a:srgbClr val="696A6C"/>
                  </a:solidFill>
                  <a:latin typeface="微软雅黑" panose="020B0503020204020204" pitchFamily="34" charset="-122"/>
                  <a:ea typeface="微软雅黑" panose="020B0503020204020204" pitchFamily="34" charset="-122"/>
                </a:rPr>
                <a:t>2010/06	</a:t>
              </a:r>
              <a:r>
                <a:rPr lang="zh-CN" altLang="en-US" sz="1050" b="1" dirty="0">
                  <a:solidFill>
                    <a:srgbClr val="696A6C"/>
                  </a:solidFill>
                  <a:latin typeface="微软雅黑" panose="020B0503020204020204" pitchFamily="34" charset="-122"/>
                  <a:ea typeface="微软雅黑" panose="020B0503020204020204" pitchFamily="34" charset="-122"/>
                </a:rPr>
                <a:t>零</a:t>
              </a:r>
              <a:r>
                <a:rPr lang="zh-CN" altLang="zh-CN" sz="1050" b="1" dirty="0">
                  <a:solidFill>
                    <a:srgbClr val="696A6C"/>
                  </a:solidFill>
                  <a:latin typeface="微软雅黑" panose="020B0503020204020204" pitchFamily="34" charset="-122"/>
                  <a:ea typeface="微软雅黑" panose="020B0503020204020204" pitchFamily="34" charset="-122"/>
                </a:rPr>
                <a:t>件筹措</a:t>
              </a:r>
              <a:r>
                <a:rPr lang="en-US" altLang="zh-CN" sz="1050" b="1" dirty="0">
                  <a:solidFill>
                    <a:srgbClr val="696A6C"/>
                  </a:solidFill>
                  <a:latin typeface="微软雅黑" panose="020B0503020204020204" pitchFamily="34" charset="-122"/>
                  <a:ea typeface="微软雅黑" panose="020B0503020204020204" pitchFamily="34" charset="-122"/>
                </a:rPr>
                <a:t>&amp;</a:t>
              </a:r>
              <a:r>
                <a:rPr lang="zh-CN" altLang="en-US" sz="1050" b="1" dirty="0">
                  <a:solidFill>
                    <a:srgbClr val="696A6C"/>
                  </a:solidFill>
                  <a:latin typeface="微软雅黑" panose="020B0503020204020204" pitchFamily="34" charset="-122"/>
                  <a:ea typeface="微软雅黑" panose="020B0503020204020204" pitchFamily="34" charset="-122"/>
                </a:rPr>
                <a:t>物料计划 专员</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运作</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SAP MRP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模块，制作零件物料计划并经由</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WEB-EDI</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发布。</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Font typeface="Arial" panose="020B0604020202020204" pitchFamily="34" charset="0"/>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维护</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MRP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相关参数，控制交付期、最小起订量、安全库存等。</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Font typeface="Arial" panose="020B0604020202020204" pitchFamily="34" charset="0"/>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推动供应商的物流运作质量提升，协助包装</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&amp;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运输工程师降低物流成本。</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Font typeface="Arial" panose="020B0604020202020204" pitchFamily="34" charset="0"/>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跟踪零部件到货，如有必要进行催货。</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Font typeface="Arial" panose="020B0604020202020204" pitchFamily="34" charset="0"/>
                <a:buChar char="•"/>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基于物料供应状况，协助生产计划员进行有效排产。</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p:txBody>
        </p:sp>
      </p:gr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6251" y="2569632"/>
            <a:ext cx="139022" cy="138113"/>
          </a:xfrm>
          <a:prstGeom prst="rect">
            <a:avLst/>
          </a:prstGeom>
        </p:spPr>
      </p:pic>
      <p:grpSp>
        <p:nvGrpSpPr>
          <p:cNvPr id="3" name="组合 2"/>
          <p:cNvGrpSpPr/>
          <p:nvPr/>
        </p:nvGrpSpPr>
        <p:grpSpPr>
          <a:xfrm>
            <a:off x="190233" y="8771145"/>
            <a:ext cx="6883667" cy="1061829"/>
            <a:chOff x="190233" y="9241051"/>
            <a:chExt cx="6883667" cy="1061829"/>
          </a:xfrm>
        </p:grpSpPr>
        <p:sp>
          <p:nvSpPr>
            <p:cNvPr id="24" name="文本框 23">
              <a:extLst>
                <a:ext uri="{FF2B5EF4-FFF2-40B4-BE49-F238E27FC236}">
                  <a16:creationId xmlns:a16="http://schemas.microsoft.com/office/drawing/2014/main" id="{6328BBE5-BD67-4242-90DC-5145D59E3704}"/>
                </a:ext>
              </a:extLst>
            </p:cNvPr>
            <p:cNvSpPr txBox="1"/>
            <p:nvPr/>
          </p:nvSpPr>
          <p:spPr>
            <a:xfrm>
              <a:off x="190233" y="9241051"/>
              <a:ext cx="796876" cy="334707"/>
            </a:xfrm>
            <a:prstGeom prst="rect">
              <a:avLst/>
            </a:prstGeom>
            <a:noFill/>
          </p:spPr>
          <p:txBody>
            <a:bodyPr wrap="square" rtlCol="0">
              <a:spAutoFit/>
            </a:bodyPr>
            <a:lstStyle/>
            <a:p>
              <a:pPr>
                <a:lnSpc>
                  <a:spcPct val="150000"/>
                </a:lnSpc>
              </a:pPr>
              <a:r>
                <a:rPr lang="zh-CN" altLang="en-US" sz="1050" b="1" u="sng" dirty="0">
                  <a:solidFill>
                    <a:srgbClr val="696A6C"/>
                  </a:solidFill>
                  <a:latin typeface="微软雅黑" panose="020B0503020204020204" pitchFamily="34" charset="-122"/>
                  <a:ea typeface="微软雅黑" panose="020B0503020204020204" pitchFamily="34" charset="-122"/>
                </a:rPr>
                <a:t>相关技能</a:t>
              </a:r>
              <a:endParaRPr lang="en-US" altLang="zh-CN" sz="1050" b="1" u="sng" dirty="0">
                <a:solidFill>
                  <a:srgbClr val="696A6C"/>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CC1EBB91-CDFE-B640-B2D6-B8BB71CC595B}"/>
                </a:ext>
              </a:extLst>
            </p:cNvPr>
            <p:cNvSpPr txBox="1"/>
            <p:nvPr/>
          </p:nvSpPr>
          <p:spPr>
            <a:xfrm>
              <a:off x="878997" y="9243413"/>
              <a:ext cx="1865069" cy="819455"/>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solidFill>
                    <a:srgbClr val="696A6C"/>
                  </a:solidFill>
                  <a:latin typeface="微软雅黑" panose="020B0503020204020204" pitchFamily="34" charset="-122"/>
                  <a:ea typeface="微软雅黑" panose="020B0503020204020204" pitchFamily="34" charset="-122"/>
                </a:rPr>
                <a:t>英语</a:t>
              </a:r>
              <a:r>
                <a:rPr lang="en-US" altLang="zh-CN" sz="1050" dirty="0">
                  <a:solidFill>
                    <a:srgbClr val="696A6C"/>
                  </a:solidFill>
                  <a:latin typeface="微软雅黑" panose="020B0503020204020204" pitchFamily="34" charset="-122"/>
                  <a:ea typeface="微软雅黑" panose="020B0503020204020204" pitchFamily="34" charset="-122"/>
                </a:rPr>
                <a:t>	CET-4</a:t>
              </a:r>
            </a:p>
            <a:p>
              <a:pPr marL="171450" indent="-171450">
                <a:lnSpc>
                  <a:spcPct val="150000"/>
                </a:lnSpc>
                <a:buFont typeface="Arial" panose="020B0604020202020204" pitchFamily="34" charset="0"/>
                <a:buChar char="•"/>
              </a:pPr>
              <a:r>
                <a:rPr lang="zh-CN" altLang="en-US" sz="1050"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计算机</a:t>
              </a:r>
              <a:r>
                <a:rPr lang="en-US" altLang="zh-CN" sz="1050"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	MS-Office                     	SAP, ERP</a:t>
              </a:r>
            </a:p>
          </p:txBody>
        </p:sp>
        <p:sp>
          <p:nvSpPr>
            <p:cNvPr id="26" name="文本框 25">
              <a:extLst>
                <a:ext uri="{FF2B5EF4-FFF2-40B4-BE49-F238E27FC236}">
                  <a16:creationId xmlns:a16="http://schemas.microsoft.com/office/drawing/2014/main" id="{CC1EBB91-CDFE-B640-B2D6-B8BB71CC595B}"/>
                </a:ext>
              </a:extLst>
            </p:cNvPr>
            <p:cNvSpPr txBox="1"/>
            <p:nvPr/>
          </p:nvSpPr>
          <p:spPr>
            <a:xfrm>
              <a:off x="2744066" y="9241051"/>
              <a:ext cx="4329834" cy="106182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solidFill>
                    <a:srgbClr val="696A6C"/>
                  </a:solidFill>
                  <a:latin typeface="微软雅黑" panose="020B0503020204020204" pitchFamily="34" charset="-122"/>
                  <a:ea typeface="微软雅黑" panose="020B0503020204020204" pitchFamily="34" charset="-122"/>
                </a:rPr>
                <a:t>过程体系</a:t>
              </a:r>
              <a:r>
                <a:rPr lang="en-US" altLang="zh-CN" sz="1050" dirty="0">
                  <a:solidFill>
                    <a:srgbClr val="696A6C"/>
                  </a:solidFill>
                  <a:latin typeface="微软雅黑" panose="020B0503020204020204" pitchFamily="34" charset="-122"/>
                  <a:ea typeface="微软雅黑" panose="020B0503020204020204" pitchFamily="34" charset="-122"/>
                </a:rPr>
                <a:t>	</a:t>
              </a:r>
              <a:r>
                <a:rPr lang="en-US" altLang="zh-CN" sz="1050" b="1" dirty="0">
                  <a:solidFill>
                    <a:srgbClr val="696A6C"/>
                  </a:solidFill>
                  <a:latin typeface="微软雅黑" panose="020B0503020204020204" pitchFamily="34" charset="-122"/>
                  <a:ea typeface="微软雅黑" panose="020B0503020204020204" pitchFamily="34" charset="-122"/>
                </a:rPr>
                <a:t>VDA</a:t>
              </a:r>
              <a:r>
                <a:rPr lang="zh-CN" altLang="en-US" sz="1050" b="1" dirty="0">
                  <a:solidFill>
                    <a:srgbClr val="696A6C"/>
                  </a:solidFill>
                  <a:latin typeface="微软雅黑" panose="020B0503020204020204" pitchFamily="34" charset="-122"/>
                  <a:ea typeface="微软雅黑" panose="020B0503020204020204" pitchFamily="34" charset="-122"/>
                </a:rPr>
                <a:t>认证 </a:t>
              </a:r>
              <a:r>
                <a:rPr lang="en-US" altLang="zh-CN" sz="1050" b="1" dirty="0">
                  <a:solidFill>
                    <a:srgbClr val="696A6C"/>
                  </a:solidFill>
                  <a:latin typeface="微软雅黑" panose="020B0503020204020204" pitchFamily="34" charset="-122"/>
                  <a:ea typeface="微软雅黑" panose="020B0503020204020204" pitchFamily="34" charset="-122"/>
                </a:rPr>
                <a:t>VDA6.3</a:t>
              </a:r>
              <a:r>
                <a:rPr lang="zh-CN" altLang="en-US" sz="1050" b="1" dirty="0">
                  <a:solidFill>
                    <a:srgbClr val="696A6C"/>
                  </a:solidFill>
                  <a:latin typeface="微软雅黑" panose="020B0503020204020204" pitchFamily="34" charset="-122"/>
                  <a:ea typeface="微软雅黑" panose="020B0503020204020204" pitchFamily="34" charset="-122"/>
                </a:rPr>
                <a:t>过程审核员</a:t>
              </a:r>
              <a:endParaRPr lang="en-US" altLang="zh-CN" sz="1050" b="1" dirty="0">
                <a:solidFill>
                  <a:srgbClr val="696A6C"/>
                </a:solidFill>
                <a:latin typeface="微软雅黑" panose="020B0503020204020204" pitchFamily="34" charset="-122"/>
                <a:ea typeface="微软雅黑" panose="020B0503020204020204" pitchFamily="34" charset="-122"/>
              </a:endParaRPr>
            </a:p>
            <a:p>
              <a:pPr>
                <a:lnSpc>
                  <a:spcPct val="150000"/>
                </a:lnSpc>
              </a:pPr>
              <a:r>
                <a:rPr lang="en-US" altLang="zh-CN" sz="1050" dirty="0">
                  <a:solidFill>
                    <a:srgbClr val="696A6C"/>
                  </a:solidFill>
                  <a:latin typeface="微软雅黑" panose="020B0503020204020204" pitchFamily="34" charset="-122"/>
                  <a:ea typeface="微软雅黑" panose="020B0503020204020204" pitchFamily="34" charset="-122"/>
                </a:rPr>
                <a:t>                       </a:t>
              </a:r>
              <a:r>
                <a:rPr lang="zh-CN" altLang="zh-CN" sz="1050" dirty="0">
                  <a:solidFill>
                    <a:srgbClr val="696A6C"/>
                  </a:solidFill>
                  <a:latin typeface="微软雅黑" panose="020B0503020204020204" pitchFamily="34" charset="-122"/>
                  <a:ea typeface="微软雅黑" panose="020B0503020204020204" pitchFamily="34" charset="-122"/>
                </a:rPr>
                <a:t>证书编号：</a:t>
              </a:r>
              <a:r>
                <a:rPr lang="en-US" altLang="zh-CN" sz="1050" dirty="0">
                  <a:solidFill>
                    <a:srgbClr val="696A6C"/>
                  </a:solidFill>
                  <a:latin typeface="微软雅黑" panose="020B0503020204020204" pitchFamily="34" charset="-122"/>
                  <a:ea typeface="微软雅黑" panose="020B0503020204020204" pitchFamily="34" charset="-122"/>
                </a:rPr>
                <a:t>CN/6.3/1011016</a:t>
              </a:r>
            </a:p>
            <a:p>
              <a:pPr marL="171450" indent="-171450">
                <a:lnSpc>
                  <a:spcPct val="150000"/>
                </a:lnSpc>
                <a:buFont typeface="Arial" panose="020B0604020202020204" pitchFamily="34" charset="0"/>
                <a:buChar char="•"/>
              </a:pPr>
              <a:r>
                <a:rPr lang="zh-CN" altLang="en-US" sz="1050"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讲师</a:t>
              </a:r>
              <a:r>
                <a:rPr lang="en-US" altLang="zh-CN" sz="1050"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1050" b="1"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上汽集团 外聘讲师</a:t>
              </a:r>
              <a:endParaRPr lang="en-US" altLang="zh-CN" sz="1050" b="1"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endParaRPr>
            </a:p>
            <a:p>
              <a:pPr>
                <a:lnSpc>
                  <a:spcPct val="150000"/>
                </a:lnSpc>
              </a:pPr>
              <a:r>
                <a:rPr lang="en-US" altLang="zh-CN" sz="1050"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	2020</a:t>
              </a:r>
              <a:r>
                <a:rPr lang="zh-CN" altLang="en-US" sz="1050"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年度受聘</a:t>
              </a:r>
              <a:r>
                <a:rPr lang="en-US" altLang="zh-CN" sz="1050" kern="100" dirty="0">
                  <a:solidFill>
                    <a:srgbClr val="696A6C"/>
                  </a:solidFill>
                  <a:latin typeface="微软雅黑" panose="020B0503020204020204" pitchFamily="34" charset="-122"/>
                  <a:ea typeface="微软雅黑" panose="020B0503020204020204" pitchFamily="34" charset="-122"/>
                  <a:cs typeface="Arial" panose="020B0604020202020204" pitchFamily="34" charset="0"/>
                </a:rPr>
                <a:t>	</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p:txBody>
        </p:sp>
      </p:grpSp>
    </p:spTree>
    <p:extLst>
      <p:ext uri="{BB962C8B-B14F-4D97-AF65-F5344CB8AC3E}">
        <p14:creationId xmlns:p14="http://schemas.microsoft.com/office/powerpoint/2010/main" val="3511022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1EBB91-CDFE-B640-B2D6-B8BB71CC595B}"/>
              </a:ext>
            </a:extLst>
          </p:cNvPr>
          <p:cNvSpPr txBox="1"/>
          <p:nvPr/>
        </p:nvSpPr>
        <p:spPr>
          <a:xfrm>
            <a:off x="314326" y="328144"/>
            <a:ext cx="6258752" cy="9787295"/>
          </a:xfrm>
          <a:prstGeom prst="rect">
            <a:avLst/>
          </a:prstGeom>
          <a:noFill/>
        </p:spPr>
        <p:txBody>
          <a:bodyPr wrap="square" rtlCol="0">
            <a:spAutoFit/>
          </a:bodyPr>
          <a:lstStyle/>
          <a:p>
            <a:pPr marL="0" lvl="1">
              <a:lnSpc>
                <a:spcPct val="150000"/>
              </a:lnSpc>
            </a:pPr>
            <a:r>
              <a:rPr lang="zh-CN" altLang="en-US" sz="1050" b="1" dirty="0">
                <a:solidFill>
                  <a:srgbClr val="696A6C"/>
                </a:solidFill>
                <a:latin typeface="微软雅黑" panose="020B0503020204020204" pitchFamily="34" charset="-122"/>
                <a:ea typeface="微软雅黑" panose="020B0503020204020204" pitchFamily="34" charset="-122"/>
              </a:rPr>
              <a:t>供应链芯片相关深入管理（</a:t>
            </a:r>
            <a:r>
              <a:rPr lang="en-US" altLang="zh-CN" sz="1050" b="1" dirty="0">
                <a:solidFill>
                  <a:srgbClr val="696A6C"/>
                </a:solidFill>
                <a:latin typeface="微软雅黑" panose="020B0503020204020204" pitchFamily="34" charset="-122"/>
                <a:ea typeface="微软雅黑" panose="020B0503020204020204" pitchFamily="34" charset="-122"/>
              </a:rPr>
              <a:t>2021</a:t>
            </a:r>
            <a:r>
              <a:rPr lang="zh-CN" altLang="en-US"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项目负责人，主导项目团队完成全程工作。并对收集整理后的数据进行归档。</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全球芯片短缺，</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VW</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中国</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2020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年全年损失整车产量大于</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50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万台。反观芯片供应问题的蔓延也映射了传统汽车制造业供应链管理的漏洞。</a:t>
            </a: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基于以上，组建项目团队包括：开发、采购、物流、质量。对</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EA211</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所辖供应商进行</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100%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的排查，在</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489</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个批量零部件中找出了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35</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个涉及芯片零件，将其进行产地（对应地区疫情波动）</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&amp;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类型（对应紧缺层级差异）分类。</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通过关键供应链环节库存滚动通报，将芯片相关断点前移至少</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8</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周，为生产节奏调整争取时间。</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en-US" altLang="zh-CN" sz="1050" b="1" dirty="0">
                <a:solidFill>
                  <a:srgbClr val="696A6C"/>
                </a:solidFill>
                <a:latin typeface="微软雅黑" panose="020B0503020204020204" pitchFamily="34" charset="-122"/>
                <a:ea typeface="微软雅黑" panose="020B0503020204020204" pitchFamily="34" charset="-122"/>
              </a:rPr>
              <a:t>1.5T</a:t>
            </a:r>
            <a:r>
              <a:rPr lang="zh-CN" altLang="en-US" sz="1050" b="1" dirty="0">
                <a:solidFill>
                  <a:srgbClr val="696A6C"/>
                </a:solidFill>
                <a:latin typeface="微软雅黑" panose="020B0503020204020204" pitchFamily="34" charset="-122"/>
                <a:ea typeface="微软雅黑" panose="020B0503020204020204" pitchFamily="34" charset="-122"/>
              </a:rPr>
              <a:t>新项目产能深入管理（</a:t>
            </a:r>
            <a:r>
              <a:rPr lang="en-US" altLang="zh-CN" sz="1050" b="1" dirty="0">
                <a:solidFill>
                  <a:srgbClr val="696A6C"/>
                </a:solidFill>
                <a:latin typeface="微软雅黑" panose="020B0503020204020204" pitchFamily="34" charset="-122"/>
                <a:ea typeface="微软雅黑" panose="020B0503020204020204" pitchFamily="34" charset="-122"/>
              </a:rPr>
              <a:t>2020-2021</a:t>
            </a:r>
            <a:r>
              <a:rPr lang="zh-CN" altLang="en-US"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项目负责人，对于过往紧缺资源的问题源进行分析，分类并寻找规律。发现约</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1/5</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的供应问题来自于定点策略与认可策略不一致。</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组建中国区</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Task force</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，针对</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1.5T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项目，对标点供应商进行征询，要求其同步评估供应链状况与自身状况。对无法满足定点产能要求的供应商（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15</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家，占比</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37.5%</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）开展</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one by one</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接洽商谈。</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成果：最终确保</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1.5T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项目材料组保障完整。同时升级原有的管理办法，在提升聚焦风险范围精准度的同时，也将发现问题的时间（之前经常在</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SOP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才出现问题）前移至少</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年，为问题的实际解决留出了充足的时间。</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b="1" dirty="0">
                <a:solidFill>
                  <a:srgbClr val="696A6C"/>
                </a:solidFill>
                <a:latin typeface="微软雅黑" panose="020B0503020204020204" pitchFamily="34" charset="-122"/>
                <a:ea typeface="微软雅黑" panose="020B0503020204020204" pitchFamily="34" charset="-122"/>
              </a:rPr>
              <a:t>疫情背景供应链保障（</a:t>
            </a:r>
            <a:r>
              <a:rPr lang="en-US" altLang="zh-CN" sz="1050" b="1" dirty="0">
                <a:solidFill>
                  <a:srgbClr val="696A6C"/>
                </a:solidFill>
                <a:latin typeface="微软雅黑" panose="020B0503020204020204" pitchFamily="34" charset="-122"/>
                <a:ea typeface="微软雅黑" panose="020B0503020204020204" pitchFamily="34" charset="-122"/>
              </a:rPr>
              <a:t>2020</a:t>
            </a:r>
            <a:r>
              <a:rPr lang="zh-CN" altLang="en-US"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项目负责人，带领团队在疫情背景下保障批量供应。</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基于疫情的特性，定义联动聚焦的信息收集，包括：疫情变化、运输、生产班次、人员。</a:t>
            </a: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分析各地区的供应链受限因素，以及各零件所在材料组的特性。最后针对受限因素开展方案与行动。</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成果：首先确保了首波疫情环境下的供应。然后通过整理对应首波疫情的经验，形成疫情背景的供应链保障工作流程。完善供应链保障体系，并向大众集团推广。</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zh-CN" altLang="zh-CN" sz="1050" b="1" dirty="0">
                <a:solidFill>
                  <a:srgbClr val="696A6C"/>
                </a:solidFill>
                <a:latin typeface="微软雅黑" panose="020B0503020204020204" pitchFamily="34" charset="-122"/>
                <a:ea typeface="微软雅黑" panose="020B0503020204020204" pitchFamily="34" charset="-122"/>
              </a:rPr>
              <a:t>供应链环保风险评估项目（</a:t>
            </a:r>
            <a:r>
              <a:rPr lang="en-US" altLang="zh-CN" sz="1050" b="1" dirty="0">
                <a:solidFill>
                  <a:srgbClr val="696A6C"/>
                </a:solidFill>
                <a:latin typeface="微软雅黑" panose="020B0503020204020204" pitchFamily="34" charset="-122"/>
                <a:ea typeface="微软雅黑" panose="020B0503020204020204" pitchFamily="34" charset="-122"/>
              </a:rPr>
              <a:t>2017-2018</a:t>
            </a:r>
            <a:r>
              <a:rPr lang="zh-CN" altLang="zh-CN"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a:lnSpc>
                <a:spcPct val="150000"/>
              </a:lnSpc>
            </a:pP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项目负责人，主导</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项目全程运作</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在项目结束后，将实战经验梳理总结成工作流程及</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评估工具</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endPar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该项目团队为跨部门团队，由</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BKM</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团队牵头协调</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采购、质保，</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HSE</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等部门同步开展工作，内容包括：供应商生产工艺筛选分级、生产现场核查、环保评分及</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信息</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存档等</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项目成果：在确保下级供应商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100%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无环保因素影响供货的同时，也丰富了大众供应链</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管理</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的维度，该工作流程及评估工具正</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向整个大众集团推广。</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lang="zh-CN" altLang="zh-CN" sz="1050" b="1" dirty="0">
                <a:solidFill>
                  <a:srgbClr val="696A6C"/>
                </a:solidFill>
                <a:latin typeface="微软雅黑" panose="020B0503020204020204" pitchFamily="34" charset="-122"/>
                <a:ea typeface="微软雅黑" panose="020B0503020204020204" pitchFamily="34" charset="-122"/>
              </a:rPr>
              <a:t>供应商</a:t>
            </a:r>
            <a:r>
              <a:rPr lang="en-US" altLang="zh-CN" sz="1050" b="1" dirty="0">
                <a:solidFill>
                  <a:srgbClr val="696A6C"/>
                </a:solidFill>
                <a:latin typeface="微软雅黑" panose="020B0503020204020204" pitchFamily="34" charset="-122"/>
                <a:ea typeface="微软雅黑" panose="020B0503020204020204" pitchFamily="34" charset="-122"/>
              </a:rPr>
              <a:t>KPI</a:t>
            </a:r>
            <a:r>
              <a:rPr lang="zh-CN" altLang="zh-CN" sz="1050" b="1" dirty="0">
                <a:solidFill>
                  <a:srgbClr val="696A6C"/>
                </a:solidFill>
                <a:latin typeface="微软雅黑" panose="020B0503020204020204" pitchFamily="34" charset="-122"/>
                <a:ea typeface="微软雅黑" panose="020B0503020204020204" pitchFamily="34" charset="-122"/>
              </a:rPr>
              <a:t>考评系统</a:t>
            </a:r>
            <a:r>
              <a:rPr lang="zh-CN" altLang="en-US" sz="1050" b="1" dirty="0">
                <a:solidFill>
                  <a:srgbClr val="696A6C"/>
                </a:solidFill>
                <a:latin typeface="微软雅黑" panose="020B0503020204020204" pitchFamily="34" charset="-122"/>
                <a:ea typeface="微软雅黑" panose="020B0503020204020204" pitchFamily="34" charset="-122"/>
              </a:rPr>
              <a:t>上线</a:t>
            </a:r>
            <a:r>
              <a:rPr lang="zh-CN" altLang="zh-CN" sz="1050" b="1" dirty="0">
                <a:solidFill>
                  <a:srgbClr val="696A6C"/>
                </a:solidFill>
                <a:latin typeface="微软雅黑" panose="020B0503020204020204" pitchFamily="34" charset="-122"/>
                <a:ea typeface="微软雅黑" panose="020B0503020204020204" pitchFamily="34" charset="-122"/>
              </a:rPr>
              <a:t>项目（</a:t>
            </a:r>
            <a:r>
              <a:rPr lang="en-US" altLang="zh-CN" sz="1050" b="1" dirty="0">
                <a:solidFill>
                  <a:srgbClr val="696A6C"/>
                </a:solidFill>
                <a:latin typeface="微软雅黑" panose="020B0503020204020204" pitchFamily="34" charset="-122"/>
                <a:ea typeface="微软雅黑" panose="020B0503020204020204" pitchFamily="34" charset="-122"/>
              </a:rPr>
              <a:t>2016</a:t>
            </a:r>
            <a:r>
              <a:rPr lang="zh-CN" altLang="zh-CN"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项目负责人，</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作为公司</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Key user</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参与大众中国的系统上线工作，同时参与</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制定供应商物流的考评规则和系统开发</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该</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项目确保</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系统准时上线，极大帮助和完善了供应商物流运作的</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KPI</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体系</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。最</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终</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通过合理的考评体系</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使</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供应商的</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物流运作</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水平提高。系统上线一年，从上线初期的</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130+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家供应商平均分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87</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分</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 B</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级）</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提升至</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平均</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92</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分</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 A</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级）。</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 该系统考评结果为大众新项目定点条件指标之一。</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p:txBody>
      </p:sp>
    </p:spTree>
    <p:extLst>
      <p:ext uri="{BB962C8B-B14F-4D97-AF65-F5344CB8AC3E}">
        <p14:creationId xmlns:p14="http://schemas.microsoft.com/office/powerpoint/2010/main" val="2940391755"/>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1912</TotalTime>
  <Words>1272</Words>
  <Application>Microsoft Macintosh PowerPoint</Application>
  <PresentationFormat>A4 纸张(210x297 毫米)</PresentationFormat>
  <Paragraphs>60</Paragraphs>
  <Slides>2</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vt:i4>
      </vt:variant>
    </vt:vector>
  </HeadingPairs>
  <TitlesOfParts>
    <vt:vector size="7" baseType="lpstr">
      <vt:lpstr>微软雅黑</vt:lpstr>
      <vt:lpstr>微软雅黑</vt:lpstr>
      <vt:lpstr>Arial</vt:lpstr>
      <vt:lpstr>Calibri</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Jiajun (VWPT)</dc:creator>
  <cp:lastModifiedBy>Li Jiajun</cp:lastModifiedBy>
  <cp:revision>204</cp:revision>
  <dcterms:created xsi:type="dcterms:W3CDTF">2021-08-12T03:08:11Z</dcterms:created>
  <dcterms:modified xsi:type="dcterms:W3CDTF">2026-03-01T09:40:18Z</dcterms:modified>
</cp:coreProperties>
</file>