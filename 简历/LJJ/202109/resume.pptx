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8" r:id="rId2"/>
    <p:sldId id="259" r:id="rId3"/>
  </p:sldIdLst>
  <p:sldSz cx="6858000" cy="9906000" type="A4"/>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6D514B75-6518-4389-9D4F-77D274F41257}">
          <p14:sldIdLst>
            <p14:sldId id="258"/>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C0"/>
    <a:srgbClr val="EEEEEE"/>
    <a:srgbClr val="F7F7F7"/>
    <a:srgbClr val="EAEAEA"/>
    <a:srgbClr val="CCECFF"/>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588" autoAdjust="0"/>
    <p:restoredTop sz="93993" autoAdjust="0"/>
  </p:normalViewPr>
  <p:slideViewPr>
    <p:cSldViewPr snapToGrid="0">
      <p:cViewPr>
        <p:scale>
          <a:sx n="187" d="100"/>
          <a:sy n="187" d="100"/>
        </p:scale>
        <p:origin x="744" y="-65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简历模板">
    <p:spTree>
      <p:nvGrpSpPr>
        <p:cNvPr id="1" name=""/>
        <p:cNvGrpSpPr/>
        <p:nvPr/>
      </p:nvGrpSpPr>
      <p:grpSpPr>
        <a:xfrm>
          <a:off x="0" y="0"/>
          <a:ext cx="0" cy="0"/>
          <a:chOff x="0" y="0"/>
          <a:chExt cx="0" cy="0"/>
        </a:xfrm>
      </p:grpSpPr>
      <p:sp>
        <p:nvSpPr>
          <p:cNvPr id="6" name="矩形 5"/>
          <p:cNvSpPr/>
          <p:nvPr userDrawn="1"/>
        </p:nvSpPr>
        <p:spPr>
          <a:xfrm>
            <a:off x="1" y="0"/>
            <a:ext cx="2621279" cy="990600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64344" y="221253"/>
            <a:ext cx="4483944"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1" name="矩形 10"/>
          <p:cNvSpPr/>
          <p:nvPr userDrawn="1"/>
        </p:nvSpPr>
        <p:spPr>
          <a:xfrm>
            <a:off x="6172197" y="221253"/>
            <a:ext cx="720000"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2" name="文本框 11"/>
          <p:cNvSpPr txBox="1"/>
          <p:nvPr userDrawn="1"/>
        </p:nvSpPr>
        <p:spPr>
          <a:xfrm>
            <a:off x="4602056" y="46871"/>
            <a:ext cx="1421552" cy="369332"/>
          </a:xfrm>
          <a:prstGeom prst="rect">
            <a:avLst/>
          </a:prstGeom>
          <a:noFill/>
        </p:spPr>
        <p:txBody>
          <a:bodyPr wrap="square" rtlCol="0">
            <a:spAutoFit/>
          </a:bodyPr>
          <a:lstStyle/>
          <a:p>
            <a:pPr algn="dist"/>
            <a:r>
              <a:rPr lang="zh-CN" altLang="en-US" b="1" dirty="0">
                <a:solidFill>
                  <a:srgbClr val="0070C0"/>
                </a:solidFill>
                <a:latin typeface="微软雅黑" panose="020B0503020204020204" pitchFamily="34" charset="-122"/>
                <a:ea typeface="微软雅黑" panose="020B0503020204020204" pitchFamily="34" charset="-122"/>
              </a:rPr>
              <a:t>个人简历</a:t>
            </a:r>
          </a:p>
        </p:txBody>
      </p:sp>
    </p:spTree>
    <p:extLst>
      <p:ext uri="{BB962C8B-B14F-4D97-AF65-F5344CB8AC3E}">
        <p14:creationId xmlns:p14="http://schemas.microsoft.com/office/powerpoint/2010/main" val="1886732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项目经历">
    <p:spTree>
      <p:nvGrpSpPr>
        <p:cNvPr id="1" name=""/>
        <p:cNvGrpSpPr/>
        <p:nvPr/>
      </p:nvGrpSpPr>
      <p:grpSpPr>
        <a:xfrm>
          <a:off x="0" y="0"/>
          <a:ext cx="0" cy="0"/>
          <a:chOff x="0" y="0"/>
          <a:chExt cx="0" cy="0"/>
        </a:xfrm>
      </p:grpSpPr>
      <p:sp>
        <p:nvSpPr>
          <p:cNvPr id="7" name="矩形 6"/>
          <p:cNvSpPr/>
          <p:nvPr userDrawn="1"/>
        </p:nvSpPr>
        <p:spPr>
          <a:xfrm>
            <a:off x="-64344" y="221253"/>
            <a:ext cx="4483944"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8" name="矩形 7"/>
          <p:cNvSpPr/>
          <p:nvPr userDrawn="1"/>
        </p:nvSpPr>
        <p:spPr>
          <a:xfrm>
            <a:off x="6172197" y="221253"/>
            <a:ext cx="720000"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9" name="文本框 8"/>
          <p:cNvSpPr txBox="1"/>
          <p:nvPr userDrawn="1"/>
        </p:nvSpPr>
        <p:spPr>
          <a:xfrm>
            <a:off x="4602056" y="46871"/>
            <a:ext cx="1421552" cy="369332"/>
          </a:xfrm>
          <a:prstGeom prst="rect">
            <a:avLst/>
          </a:prstGeom>
          <a:noFill/>
        </p:spPr>
        <p:txBody>
          <a:bodyPr wrap="square" rtlCol="0">
            <a:spAutoFit/>
          </a:bodyPr>
          <a:lstStyle/>
          <a:p>
            <a:pPr algn="dist"/>
            <a:r>
              <a:rPr lang="zh-CN" altLang="en-US" b="1" dirty="0">
                <a:solidFill>
                  <a:srgbClr val="0070C0"/>
                </a:solidFill>
                <a:latin typeface="微软雅黑" panose="020B0503020204020204" pitchFamily="34" charset="-122"/>
                <a:ea typeface="微软雅黑" panose="020B0503020204020204" pitchFamily="34" charset="-122"/>
              </a:rPr>
              <a:t>项目经历</a:t>
            </a:r>
          </a:p>
        </p:txBody>
      </p:sp>
    </p:spTree>
    <p:extLst>
      <p:ext uri="{BB962C8B-B14F-4D97-AF65-F5344CB8AC3E}">
        <p14:creationId xmlns:p14="http://schemas.microsoft.com/office/powerpoint/2010/main" val="4238713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简历模板">
    <p:spTree>
      <p:nvGrpSpPr>
        <p:cNvPr id="1" name=""/>
        <p:cNvGrpSpPr/>
        <p:nvPr/>
      </p:nvGrpSpPr>
      <p:grpSpPr>
        <a:xfrm>
          <a:off x="0" y="0"/>
          <a:ext cx="0" cy="0"/>
          <a:chOff x="0" y="0"/>
          <a:chExt cx="0" cy="0"/>
        </a:xfrm>
      </p:grpSpPr>
      <p:sp>
        <p:nvSpPr>
          <p:cNvPr id="6" name="矩形 5"/>
          <p:cNvSpPr/>
          <p:nvPr userDrawn="1"/>
        </p:nvSpPr>
        <p:spPr>
          <a:xfrm>
            <a:off x="1" y="0"/>
            <a:ext cx="2621279" cy="990600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64344" y="221253"/>
            <a:ext cx="4483944"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1" name="矩形 10"/>
          <p:cNvSpPr/>
          <p:nvPr userDrawn="1"/>
        </p:nvSpPr>
        <p:spPr>
          <a:xfrm>
            <a:off x="6172197" y="221253"/>
            <a:ext cx="720000"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2" name="文本框 11"/>
          <p:cNvSpPr txBox="1"/>
          <p:nvPr userDrawn="1"/>
        </p:nvSpPr>
        <p:spPr>
          <a:xfrm>
            <a:off x="4602056" y="60123"/>
            <a:ext cx="1421552" cy="369332"/>
          </a:xfrm>
          <a:prstGeom prst="rect">
            <a:avLst/>
          </a:prstGeom>
          <a:noFill/>
        </p:spPr>
        <p:txBody>
          <a:bodyPr wrap="square" rtlCol="0">
            <a:spAutoFit/>
          </a:bodyPr>
          <a:lstStyle/>
          <a:p>
            <a:pPr algn="ctr"/>
            <a:r>
              <a:rPr lang="en-US" altLang="zh-CN" b="1" dirty="0">
                <a:solidFill>
                  <a:srgbClr val="0070C0"/>
                </a:solidFill>
                <a:latin typeface="微软雅黑" panose="020B0503020204020204" pitchFamily="34" charset="-122"/>
                <a:ea typeface="微软雅黑" panose="020B0503020204020204" pitchFamily="34" charset="-122"/>
              </a:rPr>
              <a:t>Resume</a:t>
            </a:r>
            <a:endParaRPr lang="zh-CN" altLang="en-US" b="1"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67182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项目经历">
    <p:spTree>
      <p:nvGrpSpPr>
        <p:cNvPr id="1" name=""/>
        <p:cNvGrpSpPr/>
        <p:nvPr/>
      </p:nvGrpSpPr>
      <p:grpSpPr>
        <a:xfrm>
          <a:off x="0" y="0"/>
          <a:ext cx="0" cy="0"/>
          <a:chOff x="0" y="0"/>
          <a:chExt cx="0" cy="0"/>
        </a:xfrm>
      </p:grpSpPr>
      <p:sp>
        <p:nvSpPr>
          <p:cNvPr id="7" name="矩形 6"/>
          <p:cNvSpPr/>
          <p:nvPr userDrawn="1"/>
        </p:nvSpPr>
        <p:spPr>
          <a:xfrm>
            <a:off x="-64344" y="221253"/>
            <a:ext cx="4483944"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8" name="矩形 7"/>
          <p:cNvSpPr/>
          <p:nvPr userDrawn="1"/>
        </p:nvSpPr>
        <p:spPr>
          <a:xfrm>
            <a:off x="6172197" y="221253"/>
            <a:ext cx="720000"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9" name="文本框 8"/>
          <p:cNvSpPr txBox="1"/>
          <p:nvPr userDrawn="1"/>
        </p:nvSpPr>
        <p:spPr>
          <a:xfrm>
            <a:off x="4439714" y="0"/>
            <a:ext cx="1732483" cy="646331"/>
          </a:xfrm>
          <a:prstGeom prst="rect">
            <a:avLst/>
          </a:prstGeom>
          <a:noFill/>
        </p:spPr>
        <p:txBody>
          <a:bodyPr wrap="square" rtlCol="0">
            <a:spAutoFit/>
          </a:bodyPr>
          <a:lstStyle/>
          <a:p>
            <a:pPr algn="ctr"/>
            <a:r>
              <a:rPr lang="en-US" altLang="zh-CN" b="1" dirty="0">
                <a:solidFill>
                  <a:srgbClr val="0070C0"/>
                </a:solidFill>
                <a:latin typeface="微软雅黑" panose="020B0503020204020204" pitchFamily="34" charset="-122"/>
                <a:ea typeface="微软雅黑" panose="020B0503020204020204" pitchFamily="34" charset="-122"/>
              </a:rPr>
              <a:t>Project</a:t>
            </a:r>
            <a:r>
              <a:rPr lang="en-US" altLang="zh-CN" b="1" baseline="0" dirty="0">
                <a:solidFill>
                  <a:srgbClr val="0070C0"/>
                </a:solidFill>
                <a:latin typeface="微软雅黑" panose="020B0503020204020204" pitchFamily="34" charset="-122"/>
                <a:ea typeface="微软雅黑" panose="020B0503020204020204" pitchFamily="34" charset="-122"/>
              </a:rPr>
              <a:t> Experience</a:t>
            </a:r>
            <a:endParaRPr lang="zh-CN" altLang="en-US" b="1"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9470089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E7CD01A2-074E-4206-B488-A455663873BA}" type="datetimeFigureOut">
              <a:rPr lang="zh-CN" altLang="en-US" smtClean="0"/>
              <a:t>2021/9/8</a:t>
            </a:fld>
            <a:endParaRPr lang="zh-CN" alt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C8C20162-27D8-449D-A1F7-0EF87D2A24B3}" type="slidenum">
              <a:rPr lang="zh-CN" altLang="en-US" smtClean="0"/>
              <a:t>‹#›</a:t>
            </a:fld>
            <a:endParaRPr lang="zh-CN" altLang="en-US"/>
          </a:p>
        </p:txBody>
      </p:sp>
    </p:spTree>
    <p:extLst>
      <p:ext uri="{BB962C8B-B14F-4D97-AF65-F5344CB8AC3E}">
        <p14:creationId xmlns:p14="http://schemas.microsoft.com/office/powerpoint/2010/main" val="112116606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96" r:id="rId3"/>
    <p:sldLayoutId id="2147483697" r:id="rId4"/>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cstate="print">
            <a:extLst>
              <a:ext uri="{28A0092B-C50C-407E-A947-70E740481C1C}">
                <a14:useLocalDpi xmlns:a14="http://schemas.microsoft.com/office/drawing/2010/main" val="0"/>
              </a:ext>
            </a:extLst>
          </a:blip>
          <a:srcRect l="1835" t="4781" r="1835" b="9635"/>
          <a:stretch/>
        </p:blipFill>
        <p:spPr>
          <a:xfrm>
            <a:off x="789700" y="460230"/>
            <a:ext cx="1072932" cy="1430576"/>
          </a:xfrm>
          <a:prstGeom prst="rect">
            <a:avLst/>
          </a:prstGeom>
          <a:ln w="25400">
            <a:solidFill>
              <a:schemeClr val="bg1"/>
            </a:solidFill>
          </a:ln>
        </p:spPr>
      </p:pic>
      <p:sp>
        <p:nvSpPr>
          <p:cNvPr id="10" name="文本框 9"/>
          <p:cNvSpPr txBox="1"/>
          <p:nvPr/>
        </p:nvSpPr>
        <p:spPr>
          <a:xfrm>
            <a:off x="67993" y="2094695"/>
            <a:ext cx="2538737" cy="1708160"/>
          </a:xfrm>
          <a:prstGeom prst="rect">
            <a:avLst/>
          </a:prstGeom>
          <a:noFill/>
        </p:spPr>
        <p:txBody>
          <a:bodyPr wrap="square" rtlCol="0">
            <a:spAutoFit/>
          </a:bodyPr>
          <a:lstStyle/>
          <a:p>
            <a:pPr>
              <a:lnSpc>
                <a:spcPct val="150000"/>
              </a:lnSpc>
            </a:pPr>
            <a:r>
              <a:rPr lang="en-US" altLang="zh-CN" sz="1000" dirty="0">
                <a:latin typeface="微软雅黑" panose="020B0503020204020204" pitchFamily="34" charset="-122"/>
                <a:ea typeface="微软雅黑" panose="020B0503020204020204" pitchFamily="34" charset="-122"/>
              </a:rPr>
              <a:t>Name</a:t>
            </a:r>
            <a:r>
              <a:rPr lang="zh-CN" altLang="en-US" sz="1000" dirty="0">
                <a:latin typeface="微软雅黑" panose="020B0503020204020204" pitchFamily="34" charset="-122"/>
                <a:ea typeface="微软雅黑" panose="020B0503020204020204" pitchFamily="34" charset="-122"/>
              </a:rPr>
              <a:t>：</a:t>
            </a:r>
            <a:r>
              <a:rPr lang="en-US" altLang="zh-CN" sz="1000" dirty="0">
                <a:latin typeface="微软雅黑" panose="020B0503020204020204" pitchFamily="34" charset="-122"/>
                <a:ea typeface="微软雅黑" panose="020B0503020204020204" pitchFamily="34" charset="-122"/>
              </a:rPr>
              <a:t>   	Li Jiajun</a:t>
            </a:r>
          </a:p>
          <a:p>
            <a:pPr>
              <a:lnSpc>
                <a:spcPct val="150000"/>
              </a:lnSpc>
            </a:pPr>
            <a:r>
              <a:rPr lang="en-US" altLang="zh-CN" sz="1000" dirty="0">
                <a:latin typeface="微软雅黑" panose="020B0503020204020204" pitchFamily="34" charset="-122"/>
                <a:ea typeface="微软雅黑" panose="020B0503020204020204" pitchFamily="34" charset="-122"/>
              </a:rPr>
              <a:t>Gender</a:t>
            </a:r>
            <a:r>
              <a:rPr lang="zh-CN" altLang="en-US" sz="1000" dirty="0">
                <a:latin typeface="微软雅黑" panose="020B0503020204020204" pitchFamily="34" charset="-122"/>
                <a:ea typeface="微软雅黑" panose="020B0503020204020204" pitchFamily="34" charset="-122"/>
              </a:rPr>
              <a:t>：</a:t>
            </a:r>
            <a:r>
              <a:rPr lang="en-US" altLang="zh-CN" sz="1000" dirty="0">
                <a:latin typeface="微软雅黑" panose="020B0503020204020204" pitchFamily="34" charset="-122"/>
                <a:ea typeface="微软雅黑" panose="020B0503020204020204" pitchFamily="34" charset="-122"/>
              </a:rPr>
              <a:t> 	Male</a:t>
            </a:r>
          </a:p>
          <a:p>
            <a:pPr>
              <a:lnSpc>
                <a:spcPct val="150000"/>
              </a:lnSpc>
            </a:pPr>
            <a:r>
              <a:rPr lang="en-US" altLang="zh-CN" sz="1000" dirty="0">
                <a:latin typeface="微软雅黑" panose="020B0503020204020204" pitchFamily="34" charset="-122"/>
                <a:ea typeface="微软雅黑" panose="020B0503020204020204" pitchFamily="34" charset="-122"/>
              </a:rPr>
              <a:t>Birthday:  	Dec.1983 </a:t>
            </a:r>
          </a:p>
          <a:p>
            <a:pPr>
              <a:lnSpc>
                <a:spcPct val="150000"/>
              </a:lnSpc>
            </a:pPr>
            <a:r>
              <a:rPr lang="en-US" altLang="zh-CN" sz="1000" dirty="0">
                <a:latin typeface="微软雅黑" panose="020B0503020204020204" pitchFamily="34" charset="-122"/>
                <a:ea typeface="微软雅黑" panose="020B0503020204020204" pitchFamily="34" charset="-122"/>
              </a:rPr>
              <a:t>Location</a:t>
            </a:r>
            <a:r>
              <a:rPr lang="zh-CN" altLang="en-US" sz="1000" dirty="0">
                <a:latin typeface="微软雅黑" panose="020B0503020204020204" pitchFamily="34" charset="-122"/>
                <a:ea typeface="微软雅黑" panose="020B0503020204020204" pitchFamily="34" charset="-122"/>
              </a:rPr>
              <a:t>：</a:t>
            </a:r>
            <a:r>
              <a:rPr lang="en-US" altLang="zh-CN" sz="1000" dirty="0">
                <a:latin typeface="微软雅黑" panose="020B0503020204020204" pitchFamily="34" charset="-122"/>
                <a:ea typeface="微软雅黑" panose="020B0503020204020204" pitchFamily="34" charset="-122"/>
              </a:rPr>
              <a:t>   	Shanghai</a:t>
            </a:r>
          </a:p>
          <a:p>
            <a:pPr>
              <a:lnSpc>
                <a:spcPct val="150000"/>
              </a:lnSpc>
            </a:pPr>
            <a:r>
              <a:rPr lang="en-US" altLang="zh-CN" sz="1000" dirty="0">
                <a:latin typeface="微软雅黑" panose="020B0503020204020204" pitchFamily="34" charset="-122"/>
                <a:ea typeface="微软雅黑" panose="020B0503020204020204" pitchFamily="34" charset="-122"/>
              </a:rPr>
              <a:t>Status</a:t>
            </a:r>
            <a:r>
              <a:rPr lang="zh-CN" altLang="en-US" sz="1000" dirty="0">
                <a:latin typeface="微软雅黑" panose="020B0503020204020204" pitchFamily="34" charset="-122"/>
                <a:ea typeface="微软雅黑" panose="020B0503020204020204" pitchFamily="34" charset="-122"/>
              </a:rPr>
              <a:t>：</a:t>
            </a:r>
            <a:r>
              <a:rPr lang="en-US" altLang="zh-CN" sz="1000" dirty="0">
                <a:latin typeface="微软雅黑" panose="020B0503020204020204" pitchFamily="34" charset="-122"/>
                <a:ea typeface="微软雅黑" panose="020B0503020204020204" pitchFamily="34" charset="-122"/>
              </a:rPr>
              <a:t>  	Married</a:t>
            </a:r>
          </a:p>
          <a:p>
            <a:pPr>
              <a:lnSpc>
                <a:spcPct val="150000"/>
              </a:lnSpc>
            </a:pPr>
            <a:r>
              <a:rPr lang="en-US" altLang="zh-CN" sz="1000" dirty="0">
                <a:latin typeface="微软雅黑" panose="020B0503020204020204" pitchFamily="34" charset="-122"/>
                <a:ea typeface="微软雅黑" panose="020B0503020204020204" pitchFamily="34" charset="-122"/>
              </a:rPr>
              <a:t>Telephone</a:t>
            </a:r>
            <a:r>
              <a:rPr lang="zh-CN" altLang="en-US" sz="1000" dirty="0">
                <a:latin typeface="微软雅黑" panose="020B0503020204020204" pitchFamily="34" charset="-122"/>
                <a:ea typeface="微软雅黑" panose="020B0503020204020204" pitchFamily="34" charset="-122"/>
              </a:rPr>
              <a:t>：</a:t>
            </a:r>
            <a:r>
              <a:rPr lang="en-US" altLang="zh-CN" sz="1000" dirty="0">
                <a:latin typeface="微软雅黑" panose="020B0503020204020204" pitchFamily="34" charset="-122"/>
                <a:ea typeface="微软雅黑" panose="020B0503020204020204" pitchFamily="34" charset="-122"/>
              </a:rPr>
              <a:t>	13761058893</a:t>
            </a:r>
          </a:p>
          <a:p>
            <a:pPr>
              <a:lnSpc>
                <a:spcPct val="150000"/>
              </a:lnSpc>
            </a:pPr>
            <a:r>
              <a:rPr lang="en-US" altLang="zh-CN" sz="1000" dirty="0">
                <a:latin typeface="微软雅黑" panose="020B0503020204020204" pitchFamily="34" charset="-122"/>
                <a:ea typeface="微软雅黑" panose="020B0503020204020204" pitchFamily="34" charset="-122"/>
              </a:rPr>
              <a:t>Mail</a:t>
            </a:r>
            <a:r>
              <a:rPr lang="zh-CN" altLang="en-US" sz="1000" dirty="0">
                <a:latin typeface="微软雅黑" panose="020B0503020204020204" pitchFamily="34" charset="-122"/>
                <a:ea typeface="微软雅黑" panose="020B0503020204020204" pitchFamily="34" charset="-122"/>
              </a:rPr>
              <a:t>：</a:t>
            </a:r>
            <a:r>
              <a:rPr lang="en-US" altLang="zh-CN" sz="1000" dirty="0">
                <a:latin typeface="微软雅黑" panose="020B0503020204020204" pitchFamily="34" charset="-122"/>
                <a:ea typeface="微软雅黑" panose="020B0503020204020204" pitchFamily="34" charset="-122"/>
              </a:rPr>
              <a:t> 	lijiajun_vwpt@163.com</a:t>
            </a:r>
            <a:endParaRPr lang="zh-CN" altLang="en-US" sz="1000" dirty="0">
              <a:latin typeface="微软雅黑" panose="020B0503020204020204" pitchFamily="34" charset="-122"/>
              <a:ea typeface="微软雅黑" panose="020B0503020204020204" pitchFamily="34" charset="-122"/>
            </a:endParaRPr>
          </a:p>
        </p:txBody>
      </p:sp>
      <p:grpSp>
        <p:nvGrpSpPr>
          <p:cNvPr id="17" name="Skills"/>
          <p:cNvGrpSpPr/>
          <p:nvPr/>
        </p:nvGrpSpPr>
        <p:grpSpPr>
          <a:xfrm>
            <a:off x="67994" y="4026152"/>
            <a:ext cx="2538738" cy="3939426"/>
            <a:chOff x="67994" y="4259516"/>
            <a:chExt cx="2538738" cy="3939426"/>
          </a:xfrm>
        </p:grpSpPr>
        <p:sp>
          <p:nvSpPr>
            <p:cNvPr id="13" name="文本框 12">
              <a:extLst>
                <a:ext uri="{FF2B5EF4-FFF2-40B4-BE49-F238E27FC236}">
                  <a16:creationId xmlns:a16="http://schemas.microsoft.com/office/drawing/2014/main" id="{0758DFB5-5F3D-9D48-8569-03E4709B2F74}"/>
                </a:ext>
              </a:extLst>
            </p:cNvPr>
            <p:cNvSpPr txBox="1"/>
            <p:nvPr/>
          </p:nvSpPr>
          <p:spPr>
            <a:xfrm>
              <a:off x="805380" y="4259516"/>
              <a:ext cx="1072932" cy="261610"/>
            </a:xfrm>
            <a:prstGeom prst="rect">
              <a:avLst/>
            </a:prstGeom>
            <a:noFill/>
          </p:spPr>
          <p:txBody>
            <a:bodyPr wrap="square" rtlCol="0" anchor="ctr">
              <a:spAutoFit/>
            </a:bodyPr>
            <a:lstStyle/>
            <a:p>
              <a:pPr algn="ctr"/>
              <a:r>
                <a:rPr lang="en-US" altLang="zh-CN" sz="1100" b="1" dirty="0">
                  <a:solidFill>
                    <a:srgbClr val="0070C0"/>
                  </a:solidFill>
                  <a:latin typeface="微软雅黑" panose="020B0503020204020204" pitchFamily="34" charset="-122"/>
                  <a:ea typeface="微软雅黑" panose="020B0503020204020204" pitchFamily="34" charset="-122"/>
                </a:rPr>
                <a:t>Skills</a:t>
              </a:r>
              <a:endParaRPr lang="zh-CN" altLang="en-US" sz="1100" b="1" dirty="0">
                <a:solidFill>
                  <a:srgbClr val="0070C0"/>
                </a:solidFill>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6328BBE5-BD67-4242-90DC-5145D59E3704}"/>
                </a:ext>
              </a:extLst>
            </p:cNvPr>
            <p:cNvSpPr txBox="1"/>
            <p:nvPr/>
          </p:nvSpPr>
          <p:spPr>
            <a:xfrm>
              <a:off x="67994" y="4515882"/>
              <a:ext cx="2538738" cy="3683060"/>
            </a:xfrm>
            <a:prstGeom prst="rect">
              <a:avLst/>
            </a:prstGeom>
            <a:noFill/>
          </p:spPr>
          <p:txBody>
            <a:bodyPr wrap="square" rtlCol="0">
              <a:spAutoFit/>
            </a:bodyPr>
            <a:lstStyle/>
            <a:p>
              <a:pPr marL="171450" indent="-171450">
                <a:lnSpc>
                  <a:spcPts val="1400"/>
                </a:lnSpc>
                <a:buFontTx/>
                <a:buChar char="-"/>
              </a:pPr>
              <a:r>
                <a:rPr lang="en-US" altLang="zh-CN" sz="1000" dirty="0">
                  <a:solidFill>
                    <a:srgbClr val="0070C0"/>
                  </a:solidFill>
                  <a:latin typeface="微软雅黑" panose="020B0503020204020204" pitchFamily="34" charset="-122"/>
                  <a:ea typeface="微软雅黑" panose="020B0503020204020204" pitchFamily="34" charset="-122"/>
                </a:rPr>
                <a:t>Structure the supply chain</a:t>
              </a:r>
              <a:r>
                <a:rPr lang="zh-CN" altLang="en-US" sz="1000" dirty="0">
                  <a:solidFill>
                    <a:srgbClr val="0070C0"/>
                  </a:solidFill>
                  <a:latin typeface="微软雅黑" panose="020B0503020204020204" pitchFamily="34" charset="-122"/>
                  <a:ea typeface="微软雅黑" panose="020B0503020204020204" pitchFamily="34" charset="-122"/>
                </a:rPr>
                <a:t> </a:t>
              </a:r>
              <a:r>
                <a:rPr lang="en-US" altLang="zh-CN" sz="1000" dirty="0">
                  <a:solidFill>
                    <a:srgbClr val="0070C0"/>
                  </a:solidFill>
                  <a:latin typeface="微软雅黑" panose="020B0503020204020204" pitchFamily="34" charset="-122"/>
                  <a:ea typeface="微软雅黑" panose="020B0503020204020204" pitchFamily="34" charset="-122"/>
                </a:rPr>
                <a:t>&amp; Risk management</a:t>
              </a:r>
            </a:p>
            <a:p>
              <a:pPr>
                <a:lnSpc>
                  <a:spcPts val="1400"/>
                </a:lnSpc>
              </a:pPr>
              <a:r>
                <a:rPr lang="en-US" altLang="zh-CN" sz="800" dirty="0">
                  <a:latin typeface="微软雅黑" panose="020B0503020204020204" pitchFamily="34" charset="-122"/>
                  <a:ea typeface="微软雅黑" panose="020B0503020204020204" pitchFamily="34" charset="-122"/>
                </a:rPr>
                <a:t>Establish SCM system, Supply chain risk prevention and handling, Supply chain security strategy</a:t>
              </a:r>
            </a:p>
            <a:p>
              <a:pPr>
                <a:lnSpc>
                  <a:spcPts val="1400"/>
                </a:lnSpc>
              </a:pPr>
              <a:endParaRPr lang="en-US" altLang="zh-CN" sz="1000" dirty="0">
                <a:latin typeface="微软雅黑" panose="020B0503020204020204" pitchFamily="34" charset="-122"/>
                <a:ea typeface="微软雅黑" panose="020B0503020204020204" pitchFamily="34" charset="-122"/>
              </a:endParaRPr>
            </a:p>
            <a:p>
              <a:pPr marL="171450" indent="-171450">
                <a:lnSpc>
                  <a:spcPts val="1400"/>
                </a:lnSpc>
                <a:buFontTx/>
                <a:buChar char="-"/>
              </a:pPr>
              <a:r>
                <a:rPr lang="en-US" altLang="zh-CN" sz="1000" dirty="0">
                  <a:solidFill>
                    <a:srgbClr val="0070C0"/>
                  </a:solidFill>
                  <a:latin typeface="微软雅黑" panose="020B0503020204020204" pitchFamily="34" charset="-122"/>
                  <a:ea typeface="微软雅黑" panose="020B0503020204020204" pitchFamily="34" charset="-122"/>
                </a:rPr>
                <a:t>Supplier management</a:t>
              </a:r>
            </a:p>
            <a:p>
              <a:pPr>
                <a:lnSpc>
                  <a:spcPts val="1400"/>
                </a:lnSpc>
              </a:pPr>
              <a:r>
                <a:rPr lang="en-US" altLang="zh-CN" sz="800" dirty="0">
                  <a:latin typeface="微软雅黑" panose="020B0503020204020204" pitchFamily="34" charset="-122"/>
                  <a:ea typeface="微软雅黑" panose="020B0503020204020204" pitchFamily="34" charset="-122"/>
                </a:rPr>
                <a:t>Improve production &amp; delivery capacity,</a:t>
              </a:r>
              <a:r>
                <a:rPr lang="zh-CN" altLang="en-US" sz="800" dirty="0">
                  <a:latin typeface="微软雅黑" panose="020B0503020204020204" pitchFamily="34" charset="-122"/>
                  <a:ea typeface="微软雅黑" panose="020B0503020204020204" pitchFamily="34" charset="-122"/>
                </a:rPr>
                <a:t> </a:t>
              </a:r>
              <a:r>
                <a:rPr lang="en-US" altLang="zh-CN" sz="800" dirty="0">
                  <a:latin typeface="微软雅黑" panose="020B0503020204020204" pitchFamily="34" charset="-122"/>
                  <a:ea typeface="微软雅黑" panose="020B0503020204020204" pitchFamily="34" charset="-122"/>
                </a:rPr>
                <a:t>Supplier KPI assessment, Support supplier to launch</a:t>
              </a:r>
            </a:p>
            <a:p>
              <a:pPr>
                <a:lnSpc>
                  <a:spcPts val="1400"/>
                </a:lnSpc>
              </a:pPr>
              <a:endParaRPr lang="en-US" altLang="zh-CN" sz="900" dirty="0">
                <a:latin typeface="微软雅黑" panose="020B0503020204020204" pitchFamily="34" charset="-122"/>
                <a:ea typeface="微软雅黑" panose="020B0503020204020204" pitchFamily="34" charset="-122"/>
              </a:endParaRPr>
            </a:p>
            <a:p>
              <a:pPr marL="171450" indent="-171450">
                <a:lnSpc>
                  <a:spcPts val="1400"/>
                </a:lnSpc>
                <a:buFontTx/>
                <a:buChar char="-"/>
              </a:pPr>
              <a:r>
                <a:rPr lang="en-US" altLang="zh-CN" sz="1000" dirty="0">
                  <a:solidFill>
                    <a:srgbClr val="0070C0"/>
                  </a:solidFill>
                  <a:latin typeface="微软雅黑" panose="020B0503020204020204" pitchFamily="34" charset="-122"/>
                  <a:ea typeface="微软雅黑" panose="020B0503020204020204" pitchFamily="34" charset="-122"/>
                </a:rPr>
                <a:t>Lecturer &amp; Knowledge management</a:t>
              </a:r>
            </a:p>
            <a:p>
              <a:pPr>
                <a:lnSpc>
                  <a:spcPts val="1400"/>
                </a:lnSpc>
              </a:pPr>
              <a:r>
                <a:rPr lang="en-US" altLang="zh-CN" sz="800" dirty="0">
                  <a:latin typeface="微软雅黑" panose="020B0503020204020204" pitchFamily="34" charset="-122"/>
                  <a:ea typeface="微软雅黑" panose="020B0503020204020204" pitchFamily="34" charset="-122"/>
                </a:rPr>
                <a:t>Make the focus of work into courseware and train trainees</a:t>
              </a:r>
            </a:p>
            <a:p>
              <a:pPr>
                <a:lnSpc>
                  <a:spcPts val="1400"/>
                </a:lnSpc>
              </a:pPr>
              <a:endParaRPr lang="en-US" altLang="zh-CN" sz="1000" dirty="0">
                <a:latin typeface="微软雅黑" panose="020B0503020204020204" pitchFamily="34" charset="-122"/>
                <a:ea typeface="微软雅黑" panose="020B0503020204020204" pitchFamily="34" charset="-122"/>
              </a:endParaRPr>
            </a:p>
            <a:p>
              <a:pPr marL="171450" indent="-171450">
                <a:lnSpc>
                  <a:spcPts val="1400"/>
                </a:lnSpc>
                <a:buFontTx/>
                <a:buChar char="-"/>
              </a:pPr>
              <a:r>
                <a:rPr lang="en-US" altLang="zh-CN" sz="1000" dirty="0">
                  <a:solidFill>
                    <a:srgbClr val="0070C0"/>
                  </a:solidFill>
                  <a:latin typeface="微软雅黑" panose="020B0503020204020204" pitchFamily="34" charset="-122"/>
                  <a:ea typeface="微软雅黑" panose="020B0503020204020204" pitchFamily="34" charset="-122"/>
                </a:rPr>
                <a:t>Capacity management with Excel</a:t>
              </a:r>
            </a:p>
            <a:p>
              <a:pPr>
                <a:lnSpc>
                  <a:spcPts val="1400"/>
                </a:lnSpc>
              </a:pPr>
              <a:r>
                <a:rPr lang="en-US" altLang="zh-CN" sz="800" dirty="0">
                  <a:latin typeface="微软雅黑" panose="020B0503020204020204" pitchFamily="34" charset="-122"/>
                  <a:ea typeface="微软雅黑" panose="020B0503020204020204" pitchFamily="34" charset="-122"/>
                </a:rPr>
                <a:t>The core of the capacity management is the ability of switch of info &amp; data, Excel is the essential ability. </a:t>
              </a:r>
            </a:p>
          </p:txBody>
        </p:sp>
      </p:grpSp>
      <p:grpSp>
        <p:nvGrpSpPr>
          <p:cNvPr id="29" name="Working experience">
            <a:extLst>
              <a:ext uri="{FF2B5EF4-FFF2-40B4-BE49-F238E27FC236}">
                <a16:creationId xmlns:a16="http://schemas.microsoft.com/office/drawing/2014/main" id="{DB46994E-A9BF-CE41-9B93-C7450ED7A724}"/>
              </a:ext>
            </a:extLst>
          </p:cNvPr>
          <p:cNvGrpSpPr/>
          <p:nvPr/>
        </p:nvGrpSpPr>
        <p:grpSpPr>
          <a:xfrm>
            <a:off x="2645366" y="2764008"/>
            <a:ext cx="4044192" cy="7027909"/>
            <a:chOff x="2645366" y="2083993"/>
            <a:chExt cx="4044192" cy="6399542"/>
          </a:xfrm>
        </p:grpSpPr>
        <p:sp>
          <p:nvSpPr>
            <p:cNvPr id="9" name="平行四边形 8"/>
            <p:cNvSpPr/>
            <p:nvPr/>
          </p:nvSpPr>
          <p:spPr>
            <a:xfrm>
              <a:off x="2686869" y="2083993"/>
              <a:ext cx="2184851" cy="220134"/>
            </a:xfrm>
            <a:prstGeom prst="parallelogram">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latin typeface="微软雅黑" panose="020B0503020204020204" pitchFamily="34" charset="-122"/>
                  <a:ea typeface="微软雅黑" panose="020B0503020204020204" pitchFamily="34" charset="-122"/>
                  <a:cs typeface="arial" panose="020B0604020202020204" pitchFamily="34" charset="0"/>
                </a:rPr>
                <a:t>Working experience</a:t>
              </a:r>
              <a:endParaRPr lang="zh-CN" altLang="en-US" sz="1100"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20" name="文本框 19">
              <a:extLst>
                <a:ext uri="{FF2B5EF4-FFF2-40B4-BE49-F238E27FC236}">
                  <a16:creationId xmlns:a16="http://schemas.microsoft.com/office/drawing/2014/main" id="{CC1EBB91-CDFE-B640-B2D6-B8BB71CC595B}"/>
                </a:ext>
              </a:extLst>
            </p:cNvPr>
            <p:cNvSpPr txBox="1"/>
            <p:nvPr/>
          </p:nvSpPr>
          <p:spPr>
            <a:xfrm>
              <a:off x="2645366" y="2287494"/>
              <a:ext cx="4044192" cy="6196041"/>
            </a:xfrm>
            <a:prstGeom prst="rect">
              <a:avLst/>
            </a:prstGeom>
            <a:noFill/>
          </p:spPr>
          <p:txBody>
            <a:bodyPr wrap="square" rtlCol="0">
              <a:spAutoFit/>
            </a:bodyPr>
            <a:lstStyle/>
            <a:p>
              <a:pPr>
                <a:lnSpc>
                  <a:spcPts val="1740"/>
                </a:lnSpc>
              </a:pPr>
              <a:r>
                <a:rPr lang="en-US" altLang="zh-CN" sz="1000" b="1" dirty="0">
                  <a:solidFill>
                    <a:srgbClr val="0070C0"/>
                  </a:solidFill>
                  <a:latin typeface="微软雅黑" panose="020B0503020204020204" pitchFamily="34" charset="-122"/>
                  <a:ea typeface="微软雅黑" panose="020B0503020204020204" pitchFamily="34" charset="-122"/>
                </a:rPr>
                <a:t>2006.02</a:t>
              </a:r>
              <a:r>
                <a:rPr lang="zh-CN" altLang="en-US" sz="1000" b="1" dirty="0">
                  <a:solidFill>
                    <a:srgbClr val="0070C0"/>
                  </a:solidFill>
                  <a:latin typeface="微软雅黑" panose="020B0503020204020204" pitchFamily="34" charset="-122"/>
                  <a:ea typeface="微软雅黑" panose="020B0503020204020204" pitchFamily="34" charset="-122"/>
                </a:rPr>
                <a:t>～</a:t>
              </a:r>
              <a:r>
                <a:rPr lang="en-US" altLang="zh-CN" sz="1000" b="1" dirty="0">
                  <a:solidFill>
                    <a:srgbClr val="0070C0"/>
                  </a:solidFill>
                  <a:latin typeface="微软雅黑" panose="020B0503020204020204" pitchFamily="34" charset="-122"/>
                  <a:ea typeface="微软雅黑" panose="020B0503020204020204" pitchFamily="34" charset="-122"/>
                </a:rPr>
                <a:t>Now  Shanghai Volkswagen powertrain </a:t>
              </a:r>
              <a:r>
                <a:rPr lang="en-US" altLang="zh-CN" sz="1000" b="1" dirty="0" err="1">
                  <a:solidFill>
                    <a:srgbClr val="0070C0"/>
                  </a:solidFill>
                  <a:latin typeface="微软雅黑" panose="020B0503020204020204" pitchFamily="34" charset="-122"/>
                  <a:ea typeface="微软雅黑" panose="020B0503020204020204" pitchFamily="34" charset="-122"/>
                </a:rPr>
                <a:t>Co.,Ltd</a:t>
              </a:r>
              <a:endParaRPr lang="en-US" altLang="zh-CN" sz="1000" dirty="0">
                <a:solidFill>
                  <a:srgbClr val="0070C0"/>
                </a:solidFill>
                <a:latin typeface="微软雅黑" panose="020B0503020204020204" pitchFamily="34" charset="-122"/>
                <a:ea typeface="微软雅黑" panose="020B0503020204020204" pitchFamily="34" charset="-122"/>
              </a:endParaRPr>
            </a:p>
            <a:p>
              <a:pPr>
                <a:lnSpc>
                  <a:spcPts val="1740"/>
                </a:lnSpc>
              </a:pPr>
              <a:r>
                <a:rPr lang="en-US" altLang="zh-CN" sz="1000" dirty="0">
                  <a:solidFill>
                    <a:srgbClr val="0070C0"/>
                  </a:solidFill>
                  <a:latin typeface="微软雅黑" panose="020B0503020204020204" pitchFamily="34" charset="-122"/>
                  <a:ea typeface="微软雅黑" panose="020B0503020204020204" pitchFamily="34" charset="-122"/>
                </a:rPr>
                <a:t>2016/Feb.~ Now              </a:t>
              </a:r>
              <a:r>
                <a:rPr lang="en-US" altLang="zh-CN" sz="1000" i="1" dirty="0">
                  <a:solidFill>
                    <a:srgbClr val="0070C0"/>
                  </a:solidFill>
                  <a:latin typeface="微软雅黑" panose="020B0503020204020204" pitchFamily="34" charset="-122"/>
                  <a:ea typeface="微软雅黑" panose="020B0503020204020204" pitchFamily="34" charset="-122"/>
                </a:rPr>
                <a:t>Export of SCM(BKM)</a:t>
              </a:r>
            </a:p>
            <a:p>
              <a:pPr marL="171450" indent="-171450">
                <a:lnSpc>
                  <a:spcPct val="150000"/>
                </a:lnSpc>
                <a:buFontTx/>
                <a:buChar char="-"/>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Lead the BKM team to complete the annual goal</a:t>
              </a:r>
            </a:p>
            <a:p>
              <a:pPr marL="171450" indent="-171450">
                <a:lnSpc>
                  <a:spcPct val="150000"/>
                </a:lnSpc>
                <a:buFontTx/>
                <a:buChar char="-"/>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Planning the production capacity of the supplier based on the strategic of the Volkswagen Group</a:t>
              </a:r>
            </a:p>
            <a:p>
              <a:pPr marL="171450" indent="-171450">
                <a:lnSpc>
                  <a:spcPct val="150000"/>
                </a:lnSpc>
                <a:buFontTx/>
                <a:buChar char="-"/>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Representing the company in the resources allocation of Volkswagen China</a:t>
              </a:r>
            </a:p>
            <a:p>
              <a:pPr marL="171450" indent="-171450">
                <a:lnSpc>
                  <a:spcPct val="150000"/>
                </a:lnSpc>
                <a:buFontTx/>
                <a:buChar char="-"/>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Manage supplier’s KPI (covering 130+ suppliers and 500+ parts in total), and coordinate the optimal solutions. The assessment content covers: capacity status, delivery accuracy &amp; timely rate, packaging status, etc.</a:t>
              </a:r>
            </a:p>
            <a:p>
              <a:pPr marL="171450" indent="-171450">
                <a:lnSpc>
                  <a:spcPct val="150000"/>
                </a:lnSpc>
                <a:buFontTx/>
                <a:buChar char="-"/>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Carry out logistics audit on batch suppliers and determine their nominations for new projects.</a:t>
              </a:r>
            </a:p>
            <a:p>
              <a:pPr marL="171450" indent="-171450">
                <a:lnSpc>
                  <a:spcPct val="150000"/>
                </a:lnSpc>
                <a:buFontTx/>
                <a:buChar char="-"/>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Foresee, analysis and summarize the supply risks, and formulate solutions to ensure series production. It has been for 5+ continually years to ensure that no supply chain issues affect the series production.</a:t>
              </a:r>
            </a:p>
            <a:p>
              <a:pPr marL="171450" indent="-171450">
                <a:lnSpc>
                  <a:spcPct val="150000"/>
                </a:lnSpc>
                <a:buFontTx/>
                <a:buChar char="-"/>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Provide relevant advice of supply status to S&amp;OP, and guide future monthly production plan.</a:t>
              </a:r>
            </a:p>
            <a:p>
              <a:pPr marL="171450" indent="-171450">
                <a:lnSpc>
                  <a:spcPct val="150000"/>
                </a:lnSpc>
                <a:buFontTx/>
                <a:buChar char="-"/>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Assist the supplier’s production launch of new projects. Supported some factories ramp-up of a number of top 10 foundry companies in China.</a:t>
              </a:r>
            </a:p>
            <a:p>
              <a:pPr marL="171450" indent="-171450">
                <a:lnSpc>
                  <a:spcPct val="150000"/>
                </a:lnSpc>
                <a:buFontTx/>
                <a:buChar char="-"/>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Cooperation with VGC, FAW-VW, SVW (Group level), as well as purchase, logistics, financing, engineering, quality and other departments (Corporate level) be the cross-function cooperation, jointly solve supply chain risk.</a:t>
              </a:r>
            </a:p>
            <a:p>
              <a:pPr marL="171450" indent="-171450">
                <a:lnSpc>
                  <a:spcPct val="150000"/>
                </a:lnSpc>
                <a:buFontTx/>
                <a:buChar char="-"/>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Teaching and in-house training for the employees of the BKM team and hired by SAIC training center be the external lecturer.</a:t>
              </a:r>
            </a:p>
            <a:p>
              <a:pPr>
                <a:lnSpc>
                  <a:spcPts val="1740"/>
                </a:lnSpc>
              </a:pPr>
              <a:r>
                <a:rPr lang="en-US" altLang="zh-CN" sz="1000" dirty="0">
                  <a:solidFill>
                    <a:srgbClr val="0070C0"/>
                  </a:solidFill>
                  <a:latin typeface="微软雅黑" panose="020B0503020204020204" pitchFamily="34" charset="-122"/>
                  <a:ea typeface="微软雅黑" panose="020B0503020204020204" pitchFamily="34" charset="-122"/>
                </a:rPr>
                <a:t>2006/Jul.</a:t>
              </a:r>
              <a:r>
                <a:rPr lang="zh-CN" altLang="en-US" sz="1000" dirty="0">
                  <a:solidFill>
                    <a:srgbClr val="0070C0"/>
                  </a:solidFill>
                  <a:latin typeface="微软雅黑" panose="020B0503020204020204" pitchFamily="34" charset="-122"/>
                  <a:ea typeface="微软雅黑" panose="020B0503020204020204" pitchFamily="34" charset="-122"/>
                </a:rPr>
                <a:t>～</a:t>
              </a:r>
              <a:r>
                <a:rPr lang="en-US" altLang="zh-CN" sz="1000" dirty="0">
                  <a:solidFill>
                    <a:srgbClr val="0070C0"/>
                  </a:solidFill>
                  <a:latin typeface="微软雅黑" panose="020B0503020204020204" pitchFamily="34" charset="-122"/>
                  <a:ea typeface="微软雅黑" panose="020B0503020204020204" pitchFamily="34" charset="-122"/>
                </a:rPr>
                <a:t>2016/Jan  </a:t>
              </a:r>
              <a:r>
                <a:rPr lang="en-US" altLang="zh-CN" sz="1000" i="1" dirty="0">
                  <a:solidFill>
                    <a:srgbClr val="0070C0"/>
                  </a:solidFill>
                  <a:latin typeface="微软雅黑" panose="020B0503020204020204" pitchFamily="34" charset="-122"/>
                  <a:ea typeface="微软雅黑" panose="020B0503020204020204" pitchFamily="34" charset="-122"/>
                </a:rPr>
                <a:t>Disposition &amp; Material planning Specialist</a:t>
              </a:r>
            </a:p>
            <a:p>
              <a:pPr marL="171450" indent="-171450">
                <a:lnSpc>
                  <a:spcPts val="1740"/>
                </a:lnSpc>
                <a:buFontTx/>
                <a:buChar char="-"/>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Operate the SAP MRP module, make a part material plan and publish it via WEB-EDI</a:t>
              </a:r>
            </a:p>
            <a:p>
              <a:pPr marL="171450" indent="-171450">
                <a:lnSpc>
                  <a:spcPts val="1740"/>
                </a:lnSpc>
                <a:buFontTx/>
                <a:buChar char="-"/>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Maintain MRP related data, control delivery cycle, minimum order batch, safety stock, etc.</a:t>
              </a:r>
            </a:p>
            <a:p>
              <a:pPr marL="171450" indent="-171450">
                <a:lnSpc>
                  <a:spcPts val="1740"/>
                </a:lnSpc>
                <a:buFontTx/>
                <a:buChar char="-"/>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Promote the improvement of the logistics operation quality of suppliers, and assist packaging &amp; transportation engineers to reduce logistics costs.</a:t>
              </a:r>
            </a:p>
            <a:p>
              <a:pPr marL="171450" indent="-171450">
                <a:lnSpc>
                  <a:spcPts val="1740"/>
                </a:lnSpc>
                <a:buFontTx/>
                <a:buChar char="-"/>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Tracking parts arrive, if necessary expediting.</a:t>
              </a:r>
            </a:p>
            <a:p>
              <a:pPr marL="171450" indent="-171450">
                <a:lnSpc>
                  <a:spcPts val="1740"/>
                </a:lnSpc>
                <a:buFontTx/>
                <a:buChar char="-"/>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Based on materials supply situation, assist in the production planner for effective planning.</a:t>
              </a:r>
            </a:p>
          </p:txBody>
        </p:sp>
      </p:grpSp>
      <p:grpSp>
        <p:nvGrpSpPr>
          <p:cNvPr id="28" name="Education">
            <a:extLst>
              <a:ext uri="{FF2B5EF4-FFF2-40B4-BE49-F238E27FC236}">
                <a16:creationId xmlns:a16="http://schemas.microsoft.com/office/drawing/2014/main" id="{F3A13B67-3BA1-E34D-9F2D-EF7B8086C05D}"/>
              </a:ext>
            </a:extLst>
          </p:cNvPr>
          <p:cNvGrpSpPr/>
          <p:nvPr/>
        </p:nvGrpSpPr>
        <p:grpSpPr>
          <a:xfrm>
            <a:off x="2645365" y="1998679"/>
            <a:ext cx="4208483" cy="739118"/>
            <a:chOff x="2645365" y="1300179"/>
            <a:chExt cx="4208483" cy="739118"/>
          </a:xfrm>
        </p:grpSpPr>
        <p:sp>
          <p:nvSpPr>
            <p:cNvPr id="11" name="平行四边形 10">
              <a:extLst>
                <a:ext uri="{FF2B5EF4-FFF2-40B4-BE49-F238E27FC236}">
                  <a16:creationId xmlns:a16="http://schemas.microsoft.com/office/drawing/2014/main" id="{B69D46CF-96A9-8240-9F33-59697F6991D1}"/>
                </a:ext>
              </a:extLst>
            </p:cNvPr>
            <p:cNvSpPr/>
            <p:nvPr/>
          </p:nvSpPr>
          <p:spPr>
            <a:xfrm>
              <a:off x="2686868" y="1300179"/>
              <a:ext cx="2184851" cy="220134"/>
            </a:xfrm>
            <a:prstGeom prst="parallelogram">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latin typeface="微软雅黑" panose="020B0503020204020204" pitchFamily="34" charset="-122"/>
                  <a:ea typeface="微软雅黑" panose="020B0503020204020204" pitchFamily="34" charset="-122"/>
                </a:rPr>
                <a:t>Education</a:t>
              </a:r>
              <a:endParaRPr lang="zh-CN" altLang="en-US" sz="1100" dirty="0">
                <a:latin typeface="微软雅黑" panose="020B0503020204020204" pitchFamily="34" charset="-122"/>
                <a:ea typeface="微软雅黑" panose="020B0503020204020204" pitchFamily="34" charset="-122"/>
              </a:endParaRPr>
            </a:p>
          </p:txBody>
        </p:sp>
        <p:sp>
          <p:nvSpPr>
            <p:cNvPr id="27" name="矩形 26">
              <a:extLst>
                <a:ext uri="{FF2B5EF4-FFF2-40B4-BE49-F238E27FC236}">
                  <a16:creationId xmlns:a16="http://schemas.microsoft.com/office/drawing/2014/main" id="{04B4FE99-F560-2646-87D4-C46458AD6C7B}"/>
                </a:ext>
              </a:extLst>
            </p:cNvPr>
            <p:cNvSpPr/>
            <p:nvPr/>
          </p:nvSpPr>
          <p:spPr>
            <a:xfrm>
              <a:off x="2645365" y="1510947"/>
              <a:ext cx="4208483" cy="528350"/>
            </a:xfrm>
            <a:prstGeom prst="rect">
              <a:avLst/>
            </a:prstGeom>
          </p:spPr>
          <p:txBody>
            <a:bodyPr wrap="square">
              <a:spAutoFit/>
            </a:bodyPr>
            <a:lstStyle/>
            <a:p>
              <a:pPr>
                <a:lnSpc>
                  <a:spcPts val="1740"/>
                </a:lnSpc>
              </a:pPr>
              <a:r>
                <a:rPr lang="en-US" altLang="zh-CN" sz="1000" b="1" dirty="0">
                  <a:solidFill>
                    <a:srgbClr val="0070C0"/>
                  </a:solidFill>
                  <a:latin typeface="Microsoft YaHei" panose="020B0503020204020204" pitchFamily="34" charset="-122"/>
                  <a:ea typeface="Microsoft YaHei" panose="020B0503020204020204" pitchFamily="34" charset="-122"/>
                </a:rPr>
                <a:t>2002/Sep.</a:t>
              </a:r>
              <a:r>
                <a:rPr lang="zh-CN" altLang="en-US" sz="1000" b="1" dirty="0">
                  <a:solidFill>
                    <a:srgbClr val="0070C0"/>
                  </a:solidFill>
                  <a:latin typeface="Microsoft YaHei" panose="020B0503020204020204" pitchFamily="34" charset="-122"/>
                  <a:ea typeface="Microsoft YaHei" panose="020B0503020204020204" pitchFamily="34" charset="-122"/>
                </a:rPr>
                <a:t>～</a:t>
              </a:r>
              <a:r>
                <a:rPr lang="en-US" altLang="zh-CN" sz="1000" b="1" dirty="0">
                  <a:solidFill>
                    <a:srgbClr val="0070C0"/>
                  </a:solidFill>
                  <a:latin typeface="Microsoft YaHei" panose="020B0503020204020204" pitchFamily="34" charset="-122"/>
                  <a:ea typeface="Microsoft YaHei" panose="020B0503020204020204" pitchFamily="34" charset="-122"/>
                </a:rPr>
                <a:t>2006/Jul</a:t>
              </a:r>
              <a:r>
                <a:rPr lang="en-US" altLang="zh-CN" sz="1000" b="1" kern="100" dirty="0">
                  <a:solidFill>
                    <a:srgbClr val="0070C0"/>
                  </a:solidFill>
                  <a:latin typeface="Microsoft YaHei" panose="020B0503020204020204" pitchFamily="34" charset="-122"/>
                  <a:ea typeface="Microsoft YaHei" panose="020B0503020204020204" pitchFamily="34" charset="-122"/>
                  <a:cs typeface="Arial" panose="020B0604020202020204" pitchFamily="34" charset="0"/>
                </a:rPr>
                <a:t>	</a:t>
              </a:r>
              <a:r>
                <a:rPr lang="en-US" altLang="zh-CN" sz="1000" b="1" dirty="0">
                  <a:solidFill>
                    <a:srgbClr val="0070C0"/>
                  </a:solidFill>
                  <a:latin typeface="Microsoft YaHei" panose="020B0503020204020204" pitchFamily="34" charset="-122"/>
                  <a:ea typeface="Microsoft YaHei" panose="020B0503020204020204" pitchFamily="34" charset="-122"/>
                </a:rPr>
                <a:t>Shanghai Maritime University</a:t>
              </a:r>
              <a:r>
                <a:rPr lang="zh-CN" altLang="en-US" sz="1000" b="1" dirty="0">
                  <a:solidFill>
                    <a:srgbClr val="0070C0"/>
                  </a:solidFill>
                  <a:latin typeface="Microsoft YaHei" panose="020B0503020204020204" pitchFamily="34" charset="-122"/>
                  <a:ea typeface="Microsoft YaHei" panose="020B0503020204020204" pitchFamily="34" charset="-122"/>
                </a:rPr>
                <a:t>   </a:t>
              </a:r>
              <a:r>
                <a:rPr lang="en-US" altLang="zh-CN" sz="1000" dirty="0">
                  <a:solidFill>
                    <a:srgbClr val="0070C0"/>
                  </a:solidFill>
                  <a:latin typeface="Microsoft YaHei" panose="020B0503020204020204" pitchFamily="34" charset="-122"/>
                  <a:ea typeface="Microsoft YaHei" panose="020B0503020204020204" pitchFamily="34" charset="-122"/>
                </a:rPr>
                <a:t>Marine engineering	Bachelor in Engineering</a:t>
              </a:r>
              <a:endParaRPr lang="en-US" altLang="zh-CN" sz="1000" kern="100" dirty="0">
                <a:solidFill>
                  <a:srgbClr val="0070C0"/>
                </a:solidFill>
                <a:latin typeface="Microsoft YaHei" panose="020B0503020204020204" pitchFamily="34" charset="-122"/>
                <a:ea typeface="Microsoft YaHei" panose="020B0503020204020204" pitchFamily="34" charset="-122"/>
                <a:cs typeface="Arial" panose="020B0604020202020204" pitchFamily="34" charset="0"/>
              </a:endParaRPr>
            </a:p>
          </p:txBody>
        </p:sp>
      </p:grpSp>
      <p:grpSp>
        <p:nvGrpSpPr>
          <p:cNvPr id="18" name="Certification"/>
          <p:cNvGrpSpPr/>
          <p:nvPr/>
        </p:nvGrpSpPr>
        <p:grpSpPr>
          <a:xfrm>
            <a:off x="97877" y="8121995"/>
            <a:ext cx="2538738" cy="1456297"/>
            <a:chOff x="97877" y="8380759"/>
            <a:chExt cx="2538738" cy="1456297"/>
          </a:xfrm>
        </p:grpSpPr>
        <p:sp>
          <p:nvSpPr>
            <p:cNvPr id="34" name="文本框 33">
              <a:extLst>
                <a:ext uri="{FF2B5EF4-FFF2-40B4-BE49-F238E27FC236}">
                  <a16:creationId xmlns:a16="http://schemas.microsoft.com/office/drawing/2014/main" id="{774E4F0B-CC67-FA4B-8F74-AA06BB21F82C}"/>
                </a:ext>
              </a:extLst>
            </p:cNvPr>
            <p:cNvSpPr txBox="1"/>
            <p:nvPr/>
          </p:nvSpPr>
          <p:spPr>
            <a:xfrm>
              <a:off x="681446" y="8380759"/>
              <a:ext cx="1320800" cy="261610"/>
            </a:xfrm>
            <a:prstGeom prst="rect">
              <a:avLst/>
            </a:prstGeom>
            <a:noFill/>
          </p:spPr>
          <p:txBody>
            <a:bodyPr wrap="square" rtlCol="0" anchor="ctr">
              <a:spAutoFit/>
            </a:bodyPr>
            <a:lstStyle/>
            <a:p>
              <a:pPr algn="ctr"/>
              <a:r>
                <a:rPr lang="en-US" altLang="zh-CN" sz="1100" b="1" dirty="0">
                  <a:solidFill>
                    <a:srgbClr val="0070C0"/>
                  </a:solidFill>
                  <a:latin typeface="微软雅黑" panose="020B0503020204020204" pitchFamily="34" charset="-122"/>
                  <a:ea typeface="微软雅黑" panose="020B0503020204020204" pitchFamily="34" charset="-122"/>
                </a:rPr>
                <a:t>Certification</a:t>
              </a:r>
              <a:endParaRPr lang="zh-CN" altLang="en-US" sz="1100" b="1" dirty="0">
                <a:solidFill>
                  <a:srgbClr val="0070C0"/>
                </a:solidFill>
                <a:latin typeface="微软雅黑" panose="020B0503020204020204" pitchFamily="34" charset="-122"/>
                <a:ea typeface="微软雅黑" panose="020B0503020204020204" pitchFamily="34" charset="-122"/>
              </a:endParaRPr>
            </a:p>
          </p:txBody>
        </p:sp>
        <p:sp>
          <p:nvSpPr>
            <p:cNvPr id="35" name="文本框 34">
              <a:extLst>
                <a:ext uri="{FF2B5EF4-FFF2-40B4-BE49-F238E27FC236}">
                  <a16:creationId xmlns:a16="http://schemas.microsoft.com/office/drawing/2014/main" id="{A425A402-A123-ED43-8AD0-CE8C21955BB8}"/>
                </a:ext>
              </a:extLst>
            </p:cNvPr>
            <p:cNvSpPr txBox="1"/>
            <p:nvPr/>
          </p:nvSpPr>
          <p:spPr>
            <a:xfrm>
              <a:off x="97877" y="8654681"/>
              <a:ext cx="2538738" cy="1182375"/>
            </a:xfrm>
            <a:prstGeom prst="rect">
              <a:avLst/>
            </a:prstGeom>
            <a:noFill/>
          </p:spPr>
          <p:txBody>
            <a:bodyPr wrap="square" rtlCol="0">
              <a:spAutoFit/>
            </a:bodyPr>
            <a:lstStyle/>
            <a:p>
              <a:pPr>
                <a:lnSpc>
                  <a:spcPts val="1740"/>
                </a:lnSpc>
              </a:pPr>
              <a:r>
                <a:rPr lang="en-US" altLang="zh-CN" sz="1000" dirty="0">
                  <a:solidFill>
                    <a:srgbClr val="0070C0"/>
                  </a:solidFill>
                  <a:latin typeface="微软雅黑" panose="020B0503020204020204" pitchFamily="34" charset="-122"/>
                  <a:ea typeface="微软雅黑" panose="020B0503020204020204" pitchFamily="34" charset="-122"/>
                </a:rPr>
                <a:t>English level CET4</a:t>
              </a:r>
              <a:endParaRPr lang="en-US" altLang="zh-CN" sz="900" dirty="0">
                <a:solidFill>
                  <a:srgbClr val="0070C0"/>
                </a:solidFill>
                <a:latin typeface="微软雅黑" panose="020B0503020204020204" pitchFamily="34" charset="-122"/>
                <a:ea typeface="微软雅黑" panose="020B0503020204020204" pitchFamily="34" charset="-122"/>
              </a:endParaRPr>
            </a:p>
            <a:p>
              <a:pPr>
                <a:lnSpc>
                  <a:spcPts val="1740"/>
                </a:lnSpc>
              </a:pPr>
              <a:r>
                <a:rPr lang="en-US" altLang="zh-CN" sz="800" dirty="0">
                  <a:latin typeface="微软雅黑" panose="020B0503020204020204" pitchFamily="34" charset="-122"/>
                  <a:ea typeface="微软雅黑" panose="020B0503020204020204" pitchFamily="34" charset="-122"/>
                </a:rPr>
                <a:t>Certified Time: 2004</a:t>
              </a:r>
            </a:p>
            <a:p>
              <a:pPr>
                <a:lnSpc>
                  <a:spcPts val="1740"/>
                </a:lnSpc>
              </a:pPr>
              <a:endParaRPr lang="en-US" altLang="zh-CN" sz="900" dirty="0">
                <a:latin typeface="微软雅黑" panose="020B0503020204020204" pitchFamily="34" charset="-122"/>
                <a:ea typeface="微软雅黑" panose="020B0503020204020204" pitchFamily="34" charset="-122"/>
              </a:endParaRPr>
            </a:p>
            <a:p>
              <a:pPr>
                <a:lnSpc>
                  <a:spcPts val="1740"/>
                </a:lnSpc>
              </a:pPr>
              <a:r>
                <a:rPr lang="en-US" altLang="zh-CN" sz="1000" dirty="0">
                  <a:solidFill>
                    <a:srgbClr val="0070C0"/>
                  </a:solidFill>
                  <a:latin typeface="微软雅黑" panose="020B0503020204020204" pitchFamily="34" charset="-122"/>
                  <a:ea typeface="微软雅黑" panose="020B0503020204020204" pitchFamily="34" charset="-122"/>
                </a:rPr>
                <a:t>Process-Auditor to VDA6.3</a:t>
              </a:r>
              <a:r>
                <a:rPr lang="zh-CN" altLang="en-US" sz="1000" dirty="0">
                  <a:solidFill>
                    <a:srgbClr val="0070C0"/>
                  </a:solidFill>
                  <a:latin typeface="微软雅黑" panose="020B0503020204020204" pitchFamily="34" charset="-122"/>
                  <a:ea typeface="微软雅黑" panose="020B0503020204020204" pitchFamily="34" charset="-122"/>
                </a:rPr>
                <a:t> </a:t>
              </a:r>
              <a:endParaRPr lang="en-US" altLang="zh-CN" sz="1000" dirty="0">
                <a:solidFill>
                  <a:srgbClr val="0070C0"/>
                </a:solidFill>
                <a:latin typeface="微软雅黑" panose="020B0503020204020204" pitchFamily="34" charset="-122"/>
                <a:ea typeface="微软雅黑" panose="020B0503020204020204" pitchFamily="34" charset="-122"/>
              </a:endParaRPr>
            </a:p>
            <a:p>
              <a:pPr>
                <a:lnSpc>
                  <a:spcPts val="1740"/>
                </a:lnSpc>
              </a:pPr>
              <a:r>
                <a:rPr lang="en-US" altLang="zh-CN" sz="800" dirty="0">
                  <a:latin typeface="微软雅黑" panose="020B0503020204020204" pitchFamily="34" charset="-122"/>
                  <a:ea typeface="微软雅黑" panose="020B0503020204020204" pitchFamily="34" charset="-122"/>
                </a:rPr>
                <a:t>Certified Time: 2011</a:t>
              </a:r>
            </a:p>
          </p:txBody>
        </p:sp>
      </p:grpSp>
      <p:grpSp>
        <p:nvGrpSpPr>
          <p:cNvPr id="6" name="Self-Evaluation"/>
          <p:cNvGrpSpPr/>
          <p:nvPr/>
        </p:nvGrpSpPr>
        <p:grpSpPr>
          <a:xfrm>
            <a:off x="2645364" y="409788"/>
            <a:ext cx="3960309" cy="1585743"/>
            <a:chOff x="2645364" y="511388"/>
            <a:chExt cx="4104907" cy="1585743"/>
          </a:xfrm>
        </p:grpSpPr>
        <p:sp>
          <p:nvSpPr>
            <p:cNvPr id="5" name="平行四边形 4"/>
            <p:cNvSpPr/>
            <p:nvPr/>
          </p:nvSpPr>
          <p:spPr>
            <a:xfrm>
              <a:off x="2686869" y="511388"/>
              <a:ext cx="2266139" cy="220134"/>
            </a:xfrm>
            <a:prstGeom prst="parallelogram">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latin typeface="微软雅黑" panose="020B0503020204020204" pitchFamily="34" charset="-122"/>
                  <a:ea typeface="微软雅黑" panose="020B0503020204020204" pitchFamily="34" charset="-122"/>
                </a:rPr>
                <a:t>Self-Evaluation</a:t>
              </a:r>
              <a:endParaRPr lang="zh-CN" altLang="en-US" sz="1100" dirty="0">
                <a:latin typeface="微软雅黑" panose="020B0503020204020204" pitchFamily="34" charset="-122"/>
                <a:ea typeface="微软雅黑" panose="020B0503020204020204" pitchFamily="34" charset="-122"/>
              </a:endParaRPr>
            </a:p>
          </p:txBody>
        </p:sp>
        <p:sp>
          <p:nvSpPr>
            <p:cNvPr id="36" name="矩形 35">
              <a:extLst>
                <a:ext uri="{FF2B5EF4-FFF2-40B4-BE49-F238E27FC236}">
                  <a16:creationId xmlns:a16="http://schemas.microsoft.com/office/drawing/2014/main" id="{04B4FE99-F560-2646-87D4-C46458AD6C7B}"/>
                </a:ext>
              </a:extLst>
            </p:cNvPr>
            <p:cNvSpPr/>
            <p:nvPr/>
          </p:nvSpPr>
          <p:spPr>
            <a:xfrm>
              <a:off x="2645364" y="712136"/>
              <a:ext cx="4104907" cy="1384995"/>
            </a:xfrm>
            <a:prstGeom prst="rect">
              <a:avLst/>
            </a:prstGeom>
          </p:spPr>
          <p:txBody>
            <a:bodyPr wrap="square">
              <a:spAutoFit/>
            </a:bodyPr>
            <a:lstStyle/>
            <a:p>
              <a:pPr marL="171450" indent="-171450">
                <a:lnSpc>
                  <a:spcPct val="150000"/>
                </a:lnSpc>
                <a:buFontTx/>
                <a:buChar char="-"/>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Strong analysis and logic, skilled in finding the reasons of the problem and solving the problem with the best solutions</a:t>
              </a:r>
            </a:p>
            <a:p>
              <a:pPr marL="171450" indent="-171450">
                <a:lnSpc>
                  <a:spcPct val="150000"/>
                </a:lnSpc>
                <a:buFontTx/>
                <a:buChar char="-"/>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Good at summarizing and forward-looking, be the conditions for process description, reporting, courseware production and training.</a:t>
              </a:r>
            </a:p>
            <a:p>
              <a:pPr marL="171450" indent="-171450">
                <a:lnSpc>
                  <a:spcPct val="150000"/>
                </a:lnSpc>
                <a:buFontTx/>
                <a:buChar char="-"/>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Good at communication &amp; team work. Can enjoy the multi-angle environment of the group company, internal leaders and colleagues, suppliers and customers at the same time.</a:t>
              </a:r>
            </a:p>
          </p:txBody>
        </p:sp>
      </p:grpSp>
    </p:spTree>
    <p:extLst>
      <p:ext uri="{BB962C8B-B14F-4D97-AF65-F5344CB8AC3E}">
        <p14:creationId xmlns:p14="http://schemas.microsoft.com/office/powerpoint/2010/main" val="3140870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C1EBB91-CDFE-B640-B2D6-B8BB71CC595B}"/>
              </a:ext>
            </a:extLst>
          </p:cNvPr>
          <p:cNvSpPr txBox="1"/>
          <p:nvPr/>
        </p:nvSpPr>
        <p:spPr>
          <a:xfrm>
            <a:off x="314326" y="640294"/>
            <a:ext cx="5943599" cy="8644674"/>
          </a:xfrm>
          <a:prstGeom prst="rect">
            <a:avLst/>
          </a:prstGeom>
          <a:noFill/>
        </p:spPr>
        <p:txBody>
          <a:bodyPr wrap="square" rtlCol="0">
            <a:spAutoFit/>
          </a:bodyPr>
          <a:lstStyle/>
          <a:p>
            <a:pPr marL="0" lvl="1">
              <a:lnSpc>
                <a:spcPct val="150000"/>
              </a:lnSpc>
            </a:pPr>
            <a:r>
              <a:rPr lang="en-US" altLang="zh-CN" sz="1000" dirty="0">
                <a:solidFill>
                  <a:srgbClr val="0070C0"/>
                </a:solidFill>
                <a:latin typeface="微软雅黑" panose="020B0503020204020204" pitchFamily="34" charset="-122"/>
                <a:ea typeface="微软雅黑" panose="020B0503020204020204" pitchFamily="34" charset="-122"/>
              </a:rPr>
              <a:t>Volkswagen Powertrain internal trainer development project</a:t>
            </a:r>
            <a:r>
              <a:rPr lang="zh-CN" altLang="zh-CN" sz="1000" dirty="0">
                <a:solidFill>
                  <a:srgbClr val="0070C0"/>
                </a:solidFill>
                <a:latin typeface="微软雅黑" panose="020B0503020204020204" pitchFamily="34" charset="-122"/>
                <a:ea typeface="微软雅黑" panose="020B0503020204020204" pitchFamily="34" charset="-122"/>
              </a:rPr>
              <a:t>（</a:t>
            </a:r>
            <a:r>
              <a:rPr lang="en-US" altLang="zh-CN" sz="1000" dirty="0">
                <a:solidFill>
                  <a:srgbClr val="0070C0"/>
                </a:solidFill>
                <a:latin typeface="微软雅黑" panose="020B0503020204020204" pitchFamily="34" charset="-122"/>
                <a:ea typeface="微软雅黑" panose="020B0503020204020204" pitchFamily="34" charset="-122"/>
              </a:rPr>
              <a:t>2020</a:t>
            </a:r>
            <a:r>
              <a:rPr lang="zh-CN" altLang="zh-CN" sz="1000" dirty="0">
                <a:solidFill>
                  <a:srgbClr val="0070C0"/>
                </a:solidFill>
                <a:latin typeface="微软雅黑" panose="020B0503020204020204" pitchFamily="34" charset="-122"/>
                <a:ea typeface="微软雅黑" panose="020B0503020204020204" pitchFamily="34" charset="-122"/>
              </a:rPr>
              <a:t>）</a:t>
            </a:r>
            <a:endParaRPr lang="en-US" altLang="zh-CN" sz="1000" dirty="0">
              <a:solidFill>
                <a:srgbClr val="0070C0"/>
              </a:solidFill>
              <a:latin typeface="微软雅黑" panose="020B0503020204020204" pitchFamily="34" charset="-122"/>
              <a:ea typeface="微软雅黑" panose="020B0503020204020204" pitchFamily="34" charset="-122"/>
            </a:endParaRPr>
          </a:p>
          <a:p>
            <a:pPr marL="0" lvl="1">
              <a:lnSpc>
                <a:spcPct val="150000"/>
              </a:lnSpc>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End to end participated in the project, and was selected as the company's only lecturer to participate in the “SAIC Group Lecturer Competition”, and finally entered the finals. </a:t>
            </a:r>
          </a:p>
          <a:p>
            <a:pPr marL="0" lvl="1">
              <a:lnSpc>
                <a:spcPct val="150000"/>
              </a:lnSpc>
            </a:pPr>
            <a:r>
              <a:rPr lang="en-US" altLang="zh-CN" sz="800" b="1" kern="100" dirty="0">
                <a:latin typeface="Microsoft YaHei" panose="020B0503020204020204" pitchFamily="34" charset="-122"/>
                <a:ea typeface="Microsoft YaHei" panose="020B0503020204020204" pitchFamily="34" charset="-122"/>
                <a:cs typeface="Arial" panose="020B0604020202020204" pitchFamily="34" charset="0"/>
              </a:rPr>
              <a:t>Achievement: </a:t>
            </a: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With the outstanding performance, I was awarded the title of "Golden Microphone" Good Lecturer of SAIC, and was hired as an external lecturer of SAIC Training Center.</a:t>
            </a:r>
          </a:p>
          <a:p>
            <a:pPr marL="0" lvl="1">
              <a:lnSpc>
                <a:spcPct val="150000"/>
              </a:lnSpc>
            </a:pPr>
            <a:endParaRPr lang="en-US" altLang="zh-CN" sz="1050" kern="100" dirty="0">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r>
              <a:rPr lang="en-US" altLang="zh-CN" sz="1000" dirty="0">
                <a:solidFill>
                  <a:srgbClr val="0070C0"/>
                </a:solidFill>
                <a:latin typeface="微软雅黑" panose="020B0503020204020204" pitchFamily="34" charset="-122"/>
                <a:ea typeface="微软雅黑" panose="020B0503020204020204" pitchFamily="34" charset="-122"/>
              </a:rPr>
              <a:t>Supply chain environmental protection risk assessment project (2017-2018)</a:t>
            </a:r>
          </a:p>
          <a:p>
            <a:pPr marL="0" lvl="1">
              <a:lnSpc>
                <a:spcPct val="150000"/>
              </a:lnSpc>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Project leader, led the entire operation of the project. At the end of the project, summed up the practical experience to sort out the workflow and assessment tools.</a:t>
            </a:r>
          </a:p>
          <a:p>
            <a:pPr marL="0" lvl="1">
              <a:lnSpc>
                <a:spcPct val="150000"/>
              </a:lnSpc>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The project team is a cross-departmental team, led by the BKM team to coordinate Purchaser, SQE, HSE and other departments to carry out the work together. The content includes: Production process screening &amp; classification, Production site inspection, Environmental protection inspection and information archiving, etc.</a:t>
            </a:r>
          </a:p>
          <a:p>
            <a:pPr marL="0" lvl="1">
              <a:lnSpc>
                <a:spcPct val="150000"/>
              </a:lnSpc>
            </a:pPr>
            <a:r>
              <a:rPr lang="en-US" altLang="zh-CN" sz="800" b="1" kern="100" dirty="0">
                <a:latin typeface="Microsoft YaHei" panose="020B0503020204020204" pitchFamily="34" charset="-122"/>
                <a:ea typeface="Microsoft YaHei" panose="020B0503020204020204" pitchFamily="34" charset="-122"/>
                <a:cs typeface="Arial" panose="020B0604020202020204" pitchFamily="34" charset="0"/>
              </a:rPr>
              <a:t>Achievement: </a:t>
            </a: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Ensuring supplier (and lower) 100% of the no environmental protection risk that affect delivery but also enriches the dimensions of Volkswagen's SCM. The workflow and evaluation tools are being promoted to the entire Volkswagen Group.</a:t>
            </a:r>
          </a:p>
          <a:p>
            <a:pPr marL="0" lvl="1">
              <a:lnSpc>
                <a:spcPct val="150000"/>
              </a:lnSpc>
            </a:pPr>
            <a:endParaRPr lang="en-US" altLang="zh-CN" sz="800" kern="100" dirty="0">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r>
              <a:rPr lang="en-US" altLang="zh-CN" sz="1000" dirty="0">
                <a:solidFill>
                  <a:srgbClr val="0070C0"/>
                </a:solidFill>
                <a:latin typeface="微软雅黑" panose="020B0503020204020204" pitchFamily="34" charset="-122"/>
                <a:ea typeface="微软雅黑" panose="020B0503020204020204" pitchFamily="34" charset="-122"/>
              </a:rPr>
              <a:t>SRS-supplier rating system online project (2016)</a:t>
            </a:r>
          </a:p>
          <a:p>
            <a:pPr marL="0" lvl="1">
              <a:lnSpc>
                <a:spcPct val="150000"/>
              </a:lnSpc>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The project leader of VWPT, as the company's Key user, participated in the system launch, and participated in the formulation of supplier logistics evaluation rules and system development.</a:t>
            </a:r>
          </a:p>
          <a:p>
            <a:pPr marL="0" lvl="1">
              <a:lnSpc>
                <a:spcPct val="150000"/>
              </a:lnSpc>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This project ensures that the system goes online on time, which greatly helps and improves the KPI for supplier logistics operations. Finally, the logistics operation level of the supplier is improved through a reasonable evaluation system. </a:t>
            </a:r>
          </a:p>
          <a:p>
            <a:pPr marL="0" lvl="1">
              <a:lnSpc>
                <a:spcPct val="150000"/>
              </a:lnSpc>
            </a:pPr>
            <a:r>
              <a:rPr lang="en-US" altLang="zh-CN" sz="800" b="1" kern="100" dirty="0">
                <a:latin typeface="Microsoft YaHei" panose="020B0503020204020204" pitchFamily="34" charset="-122"/>
                <a:ea typeface="Microsoft YaHei" panose="020B0503020204020204" pitchFamily="34" charset="-122"/>
                <a:cs typeface="Arial" panose="020B0604020202020204" pitchFamily="34" charset="0"/>
              </a:rPr>
              <a:t>Achievement: </a:t>
            </a: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One year after the system started running, the average score of the 130+ suppliers in the initial stage was 87 points (level B) up to an average of 92 points (level A).</a:t>
            </a:r>
          </a:p>
          <a:p>
            <a:pPr marL="171450" lvl="1" indent="-171450">
              <a:lnSpc>
                <a:spcPct val="150000"/>
              </a:lnSpc>
              <a:buFont typeface="Arial" panose="020B0604020202020204" pitchFamily="34" charset="0"/>
              <a:buChar char="•"/>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The evaluation result of this system is one of the condition of supplier to get Volkswagen's new project.</a:t>
            </a:r>
          </a:p>
          <a:p>
            <a:pPr marL="171450" lvl="1" indent="-171450">
              <a:lnSpc>
                <a:spcPct val="150000"/>
              </a:lnSpc>
              <a:buFont typeface="Arial" panose="020B0604020202020204" pitchFamily="34" charset="0"/>
              <a:buChar char="•"/>
            </a:pPr>
            <a:endParaRPr lang="en-US" altLang="zh-CN" sz="800" kern="100" dirty="0">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r>
              <a:rPr lang="en-US" altLang="zh-CN" sz="1000" dirty="0">
                <a:solidFill>
                  <a:srgbClr val="0070C0"/>
                </a:solidFill>
                <a:latin typeface="微软雅黑" panose="020B0503020204020204" pitchFamily="34" charset="-122"/>
                <a:ea typeface="微软雅黑" panose="020B0503020204020204" pitchFamily="34" charset="-122"/>
              </a:rPr>
              <a:t>Cam localization project (2015)</a:t>
            </a:r>
          </a:p>
          <a:p>
            <a:pPr marL="0" lvl="1">
              <a:lnSpc>
                <a:spcPct val="150000"/>
              </a:lnSpc>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The core members of the project, calculated and formulated the project node and participate in the whole process of the project.</a:t>
            </a:r>
          </a:p>
          <a:p>
            <a:pPr marL="0" lvl="1">
              <a:lnSpc>
                <a:spcPct val="150000"/>
              </a:lnSpc>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Before the project, Volkswagen China cam raw part is 100% CKD parts. Traditional three “H” characteristics of imported parts: The High price, the High transportation cost, High difficulty of management.</a:t>
            </a:r>
          </a:p>
          <a:p>
            <a:pPr marL="0" lvl="1">
              <a:lnSpc>
                <a:spcPct val="150000"/>
              </a:lnSpc>
            </a:pPr>
            <a:r>
              <a:rPr lang="en-US" altLang="zh-CN" sz="800" b="1" kern="100" dirty="0">
                <a:latin typeface="Microsoft YaHei" panose="020B0503020204020204" pitchFamily="34" charset="-122"/>
                <a:ea typeface="Microsoft YaHei" panose="020B0503020204020204" pitchFamily="34" charset="-122"/>
                <a:cs typeface="Arial" panose="020B0604020202020204" pitchFamily="34" charset="0"/>
              </a:rPr>
              <a:t>Achievement: </a:t>
            </a: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This project is the first EA211 engine cam localization project, which solved the long-term supply capacity problem of cam raw of Volkswagen China, and finally successfully nominated and made the local supplier into series supplying.</a:t>
            </a:r>
          </a:p>
          <a:p>
            <a:pPr marL="171450" lvl="1" indent="-171450">
              <a:lnSpc>
                <a:spcPct val="150000"/>
              </a:lnSpc>
              <a:buFont typeface="Arial" panose="020B0604020202020204" pitchFamily="34" charset="0"/>
              <a:buChar char="•"/>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The project also won the 2016 “Shanghai Key Product Quality Achievement Award” Certification: 2016010043</a:t>
            </a:r>
          </a:p>
          <a:p>
            <a:pPr marL="171450" lvl="1" indent="-171450">
              <a:lnSpc>
                <a:spcPct val="150000"/>
              </a:lnSpc>
              <a:buFont typeface="Arial" panose="020B0604020202020204" pitchFamily="34" charset="0"/>
              <a:buChar char="•"/>
            </a:pPr>
            <a:endParaRPr lang="en-US" altLang="zh-CN" sz="800" kern="100" dirty="0">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r>
              <a:rPr lang="en-US" altLang="zh-CN" sz="1000" dirty="0">
                <a:solidFill>
                  <a:srgbClr val="0070C0"/>
                </a:solidFill>
                <a:latin typeface="微软雅黑" panose="020B0503020204020204" pitchFamily="34" charset="-122"/>
                <a:ea typeface="微软雅黑" panose="020B0503020204020204" pitchFamily="34" charset="-122"/>
              </a:rPr>
              <a:t>SAP-MRP &amp; Web-EDI start-up project (2009)</a:t>
            </a:r>
          </a:p>
          <a:p>
            <a:pPr marL="0" lvl="1">
              <a:lnSpc>
                <a:spcPct val="150000"/>
              </a:lnSpc>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The core members of the project, participated the entire process in the project, MRP and Web-EDI's Key user.</a:t>
            </a:r>
          </a:p>
          <a:p>
            <a:pPr marL="0" lvl="1">
              <a:lnSpc>
                <a:spcPct val="150000"/>
              </a:lnSpc>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Before the project, material planning’s work is: “Excel” plus “manual E-mail”.</a:t>
            </a:r>
          </a:p>
          <a:p>
            <a:pPr marL="0" lvl="1">
              <a:lnSpc>
                <a:spcPct val="150000"/>
              </a:lnSpc>
            </a:pPr>
            <a:r>
              <a:rPr lang="en-US" altLang="zh-CN" sz="800" b="1" kern="100" dirty="0">
                <a:latin typeface="Microsoft YaHei" panose="020B0503020204020204" pitchFamily="34" charset="-122"/>
                <a:ea typeface="Microsoft YaHei" panose="020B0503020204020204" pitchFamily="34" charset="-122"/>
                <a:cs typeface="Arial" panose="020B0604020202020204" pitchFamily="34" charset="0"/>
              </a:rPr>
              <a:t>Achievement: </a:t>
            </a:r>
          </a:p>
          <a:p>
            <a:pPr marL="228600" lvl="1" indent="-228600">
              <a:lnSpc>
                <a:spcPct val="150000"/>
              </a:lnSpc>
              <a:buAutoNum type="arabicPeriod"/>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Completed the requirements for systematization and automation of material planning. Help VWPT to upgrade from a factory with an annual output of 100,000 units up to 1 million units.</a:t>
            </a:r>
          </a:p>
          <a:p>
            <a:pPr marL="228600" lvl="1" indent="-228600">
              <a:lnSpc>
                <a:spcPct val="150000"/>
              </a:lnSpc>
              <a:buAutoNum type="arabicPeriod"/>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The innovation concept of "time window" to enhance the effective warehouse “Receiving” efficiency and reduce logistics costs. At the same time, it also meet the necessary conditions VWPT’s logistics system to pass the Volkswagen VDA6.3 A-level factory.</a:t>
            </a:r>
          </a:p>
        </p:txBody>
      </p:sp>
    </p:spTree>
    <p:extLst>
      <p:ext uri="{BB962C8B-B14F-4D97-AF65-F5344CB8AC3E}">
        <p14:creationId xmlns:p14="http://schemas.microsoft.com/office/powerpoint/2010/main" val="415023602"/>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1687</TotalTime>
  <Words>1166</Words>
  <Application>Microsoft Macintosh PowerPoint</Application>
  <PresentationFormat>A4 纸张(210x297 毫米)</PresentationFormat>
  <Paragraphs>77</Paragraphs>
  <Slides>2</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vt:i4>
      </vt:variant>
    </vt:vector>
  </HeadingPairs>
  <TitlesOfParts>
    <vt:vector size="7" baseType="lpstr">
      <vt:lpstr>Microsoft YaHei</vt:lpstr>
      <vt:lpstr>Microsoft YaHei</vt:lpstr>
      <vt:lpstr>Arial</vt:lpstr>
      <vt:lpstr>Calibri</vt:lpstr>
      <vt:lpstr>Office 主题​​</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 Jiajun (VWPT)</dc:creator>
  <cp:lastModifiedBy>Microsoft Office User</cp:lastModifiedBy>
  <cp:revision>165</cp:revision>
  <dcterms:created xsi:type="dcterms:W3CDTF">2021-08-12T03:08:11Z</dcterms:created>
  <dcterms:modified xsi:type="dcterms:W3CDTF">2021-09-07T17:12:45Z</dcterms:modified>
</cp:coreProperties>
</file>