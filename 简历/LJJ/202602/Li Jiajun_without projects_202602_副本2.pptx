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687" r:id="rId2"/>
  </p:sldMasterIdLst>
  <p:sldIdLst>
    <p:sldId id="258" r:id="rId3"/>
    <p:sldId id="263" r:id="rId4"/>
    <p:sldId id="264" r:id="rId5"/>
  </p:sldIdLst>
  <p:sldSz cx="6858000" cy="9906000" type="A4"/>
  <p:notesSz cx="7315200" cy="96012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96A6C"/>
    <a:srgbClr val="9EA1A2"/>
    <a:srgbClr val="9C9FA0"/>
    <a:srgbClr val="FFFFFF"/>
    <a:srgbClr val="9B9EA0"/>
    <a:srgbClr val="979A9B"/>
    <a:srgbClr val="9DA0A1"/>
    <a:srgbClr val="D3D4D5"/>
    <a:srgbClr val="E6E6E6"/>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66" autoAdjust="0"/>
    <p:restoredTop sz="94709"/>
  </p:normalViewPr>
  <p:slideViewPr>
    <p:cSldViewPr snapToGrid="0">
      <p:cViewPr>
        <p:scale>
          <a:sx n="180" d="100"/>
          <a:sy n="180" d="100"/>
        </p:scale>
        <p:origin x="1816"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3.xml"/><Relationship Id="rId4" Type="http://schemas.openxmlformats.org/officeDocument/2006/relationships/slide" Target="slides/slide2.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简历模板">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46871"/>
            <a:ext cx="1421552" cy="338554"/>
          </a:xfrm>
          <a:prstGeom prst="rect">
            <a:avLst/>
          </a:prstGeom>
          <a:solidFill>
            <a:schemeClr val="bg1"/>
          </a:solidFill>
        </p:spPr>
        <p:txBody>
          <a:bodyPr wrap="square" rtlCol="0">
            <a:spAutoFit/>
          </a:bodyPr>
          <a:lstStyle/>
          <a:p>
            <a:pPr algn="dist"/>
            <a:r>
              <a:rPr lang="zh-CN" altLang="en-US" sz="1600" b="1" dirty="0">
                <a:solidFill>
                  <a:srgbClr val="9EA1A2"/>
                </a:solidFill>
                <a:latin typeface="微软雅黑" panose="020B0503020204020204" pitchFamily="34" charset="-122"/>
                <a:ea typeface="微软雅黑" panose="020B0503020204020204" pitchFamily="34" charset="-122"/>
              </a:rPr>
              <a:t>个人简历</a:t>
            </a:r>
          </a:p>
        </p:txBody>
      </p:sp>
    </p:spTree>
    <p:extLst>
      <p:ext uri="{BB962C8B-B14F-4D97-AF65-F5344CB8AC3E}">
        <p14:creationId xmlns:p14="http://schemas.microsoft.com/office/powerpoint/2010/main" val="1886732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项目经历">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46871"/>
            <a:ext cx="1421552" cy="338554"/>
          </a:xfrm>
          <a:prstGeom prst="rect">
            <a:avLst/>
          </a:prstGeom>
          <a:solidFill>
            <a:schemeClr val="bg1"/>
          </a:solidFill>
        </p:spPr>
        <p:txBody>
          <a:bodyPr wrap="square" rtlCol="0">
            <a:spAutoFit/>
          </a:bodyPr>
          <a:lstStyle/>
          <a:p>
            <a:pPr algn="dist"/>
            <a:r>
              <a:rPr lang="zh-CN" altLang="en-US" sz="1600" b="1" dirty="0">
                <a:solidFill>
                  <a:srgbClr val="9EA1A2"/>
                </a:solidFill>
                <a:latin typeface="微软雅黑" panose="020B0503020204020204" pitchFamily="34" charset="-122"/>
                <a:ea typeface="微软雅黑" panose="020B0503020204020204" pitchFamily="34" charset="-122"/>
              </a:rPr>
              <a:t>项目经历</a:t>
            </a:r>
          </a:p>
        </p:txBody>
      </p:sp>
    </p:spTree>
    <p:extLst>
      <p:ext uri="{BB962C8B-B14F-4D97-AF65-F5344CB8AC3E}">
        <p14:creationId xmlns:p14="http://schemas.microsoft.com/office/powerpoint/2010/main" val="4238713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Resume">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73375"/>
            <a:ext cx="1421552" cy="338554"/>
          </a:xfrm>
          <a:prstGeom prst="rect">
            <a:avLst/>
          </a:prstGeom>
          <a:solidFill>
            <a:schemeClr val="bg1"/>
          </a:solidFill>
        </p:spPr>
        <p:txBody>
          <a:bodyPr wrap="square" rtlCol="0">
            <a:spAutoFit/>
          </a:bodyPr>
          <a:lstStyle/>
          <a:p>
            <a:pPr marL="0" algn="ctr" defTabSz="914400" rtl="0" eaLnBrk="1" latinLnBrk="0" hangingPunct="1"/>
            <a:r>
              <a:rPr lang="en-US" altLang="zh-CN" sz="1600" b="1" kern="1200" dirty="0">
                <a:solidFill>
                  <a:srgbClr val="9EA1A2"/>
                </a:solidFill>
                <a:latin typeface="微软雅黑" panose="020B0503020204020204" pitchFamily="34" charset="-122"/>
                <a:ea typeface="微软雅黑" panose="020B0503020204020204" pitchFamily="34" charset="-122"/>
                <a:cs typeface="+mn-cs"/>
              </a:rPr>
              <a:t>Resume</a:t>
            </a:r>
            <a:endParaRPr lang="zh-CN" altLang="en-US" sz="1600" b="1" kern="1200" dirty="0">
              <a:solidFill>
                <a:srgbClr val="9EA1A2"/>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742267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oject Experience">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3820094" y="87976"/>
            <a:ext cx="2246087" cy="338554"/>
          </a:xfrm>
          <a:prstGeom prst="rect">
            <a:avLst/>
          </a:prstGeom>
          <a:solidFill>
            <a:schemeClr val="bg1"/>
          </a:solidFill>
        </p:spPr>
        <p:txBody>
          <a:bodyPr wrap="square" rtlCol="0">
            <a:spAutoFit/>
          </a:bodyPr>
          <a:lstStyle/>
          <a:p>
            <a:pPr marL="0" algn="ctr" defTabSz="914400" rtl="0" eaLnBrk="1" latinLnBrk="0" hangingPunct="1"/>
            <a:r>
              <a:rPr lang="en-US" altLang="zh-CN" sz="1600" b="1" kern="1200" dirty="0">
                <a:solidFill>
                  <a:srgbClr val="9EA1A2"/>
                </a:solidFill>
                <a:latin typeface="arial" panose="020B0604020202020204" pitchFamily="34" charset="0"/>
                <a:ea typeface="微软雅黑" panose="020B0503020204020204" pitchFamily="34" charset="-122"/>
                <a:cs typeface="arial" panose="020B0604020202020204" pitchFamily="34" charset="0"/>
              </a:rPr>
              <a:t>Project</a:t>
            </a:r>
            <a:r>
              <a:rPr lang="zh-CN" altLang="en-US" sz="1600" b="1" kern="1200" dirty="0">
                <a:solidFill>
                  <a:srgbClr val="9EA1A2"/>
                </a:solidFill>
                <a:latin typeface="arial" panose="020B0604020202020204" pitchFamily="34" charset="0"/>
                <a:ea typeface="微软雅黑" panose="020B0503020204020204" pitchFamily="34" charset="-122"/>
                <a:cs typeface="arial" panose="020B0604020202020204" pitchFamily="34" charset="0"/>
              </a:rPr>
              <a:t> </a:t>
            </a:r>
            <a:r>
              <a:rPr lang="en-US" altLang="zh-CN" sz="1600" b="1" kern="1200" dirty="0">
                <a:solidFill>
                  <a:srgbClr val="9EA1A2"/>
                </a:solidFill>
                <a:latin typeface="arial" panose="020B0604020202020204" pitchFamily="34" charset="0"/>
                <a:ea typeface="微软雅黑" panose="020B0503020204020204" pitchFamily="34" charset="-122"/>
                <a:cs typeface="arial" panose="020B0604020202020204" pitchFamily="34" charset="0"/>
              </a:rPr>
              <a:t>Experience</a:t>
            </a:r>
            <a:endParaRPr lang="zh-CN" altLang="en-US" sz="1600" b="1" kern="1200" dirty="0">
              <a:solidFill>
                <a:srgbClr val="9EA1A2"/>
              </a:solidFill>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309748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简历模板">
    <p:spTree>
      <p:nvGrpSpPr>
        <p:cNvPr id="1" name=""/>
        <p:cNvGrpSpPr/>
        <p:nvPr/>
      </p:nvGrpSpPr>
      <p:grpSpPr>
        <a:xfrm>
          <a:off x="0" y="0"/>
          <a:ext cx="0" cy="0"/>
          <a:chOff x="0" y="0"/>
          <a:chExt cx="0" cy="0"/>
        </a:xfrm>
      </p:grpSpPr>
      <p:sp>
        <p:nvSpPr>
          <p:cNvPr id="6" name="矩形 5"/>
          <p:cNvSpPr/>
          <p:nvPr userDrawn="1"/>
        </p:nvSpPr>
        <p:spPr>
          <a:xfrm>
            <a:off x="1" y="0"/>
            <a:ext cx="2621279" cy="990600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64344" y="221253"/>
            <a:ext cx="4483944"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1" name="矩形 10"/>
          <p:cNvSpPr/>
          <p:nvPr userDrawn="1"/>
        </p:nvSpPr>
        <p:spPr>
          <a:xfrm>
            <a:off x="6172197" y="221253"/>
            <a:ext cx="720000"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2" name="文本框 11"/>
          <p:cNvSpPr txBox="1"/>
          <p:nvPr userDrawn="1"/>
        </p:nvSpPr>
        <p:spPr>
          <a:xfrm>
            <a:off x="4602056" y="60123"/>
            <a:ext cx="1421552" cy="369332"/>
          </a:xfrm>
          <a:prstGeom prst="rect">
            <a:avLst/>
          </a:prstGeom>
          <a:solidFill>
            <a:schemeClr val="bg1"/>
          </a:solidFill>
        </p:spPr>
        <p:txBody>
          <a:bodyPr wrap="square" rtlCol="0">
            <a:spAutoFit/>
          </a:bodyPr>
          <a:lstStyle/>
          <a:p>
            <a:pPr algn="ctr"/>
            <a:r>
              <a:rPr lang="en-US" altLang="zh-CN" b="1" dirty="0">
                <a:solidFill>
                  <a:srgbClr val="0070C0"/>
                </a:solidFill>
                <a:latin typeface="微软雅黑" panose="020B0503020204020204" pitchFamily="34" charset="-122"/>
                <a:ea typeface="微软雅黑" panose="020B0503020204020204" pitchFamily="34" charset="-122"/>
              </a:rPr>
              <a:t>Resume</a:t>
            </a:r>
            <a:endParaRPr lang="zh-CN" altLang="en-US"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251693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项目经历">
    <p:spTree>
      <p:nvGrpSpPr>
        <p:cNvPr id="1" name=""/>
        <p:cNvGrpSpPr/>
        <p:nvPr/>
      </p:nvGrpSpPr>
      <p:grpSpPr>
        <a:xfrm>
          <a:off x="0" y="0"/>
          <a:ext cx="0" cy="0"/>
          <a:chOff x="0" y="0"/>
          <a:chExt cx="0" cy="0"/>
        </a:xfrm>
      </p:grpSpPr>
      <p:sp>
        <p:nvSpPr>
          <p:cNvPr id="7" name="矩形 6"/>
          <p:cNvSpPr/>
          <p:nvPr userDrawn="1"/>
        </p:nvSpPr>
        <p:spPr>
          <a:xfrm>
            <a:off x="-64344" y="221253"/>
            <a:ext cx="4483944"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8" name="矩形 7"/>
          <p:cNvSpPr/>
          <p:nvPr userDrawn="1"/>
        </p:nvSpPr>
        <p:spPr>
          <a:xfrm>
            <a:off x="6172197" y="221253"/>
            <a:ext cx="720000"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9" name="文本框 8"/>
          <p:cNvSpPr txBox="1"/>
          <p:nvPr userDrawn="1"/>
        </p:nvSpPr>
        <p:spPr>
          <a:xfrm>
            <a:off x="3732551" y="78788"/>
            <a:ext cx="2544577" cy="369332"/>
          </a:xfrm>
          <a:prstGeom prst="rect">
            <a:avLst/>
          </a:prstGeom>
          <a:solidFill>
            <a:schemeClr val="bg1"/>
          </a:solidFill>
        </p:spPr>
        <p:txBody>
          <a:bodyPr wrap="square" rtlCol="0">
            <a:spAutoFit/>
          </a:bodyPr>
          <a:lstStyle/>
          <a:p>
            <a:pPr algn="ctr"/>
            <a:r>
              <a:rPr lang="en-US" altLang="zh-CN" b="1" dirty="0">
                <a:solidFill>
                  <a:srgbClr val="0070C0"/>
                </a:solidFill>
                <a:latin typeface="微软雅黑" panose="020B0503020204020204" pitchFamily="34" charset="-122"/>
                <a:ea typeface="微软雅黑" panose="020B0503020204020204" pitchFamily="34" charset="-122"/>
              </a:rPr>
              <a:t>Project</a:t>
            </a:r>
            <a:r>
              <a:rPr lang="zh-CN" altLang="en-US" b="1" dirty="0">
                <a:solidFill>
                  <a:srgbClr val="0070C0"/>
                </a:solidFill>
                <a:latin typeface="微软雅黑" panose="020B0503020204020204" pitchFamily="34" charset="-122"/>
                <a:ea typeface="微软雅黑" panose="020B0503020204020204" pitchFamily="34" charset="-122"/>
              </a:rPr>
              <a:t> </a:t>
            </a:r>
            <a:r>
              <a:rPr lang="en-US" altLang="zh-CN" b="1" baseline="0" dirty="0">
                <a:solidFill>
                  <a:srgbClr val="0070C0"/>
                </a:solidFill>
                <a:latin typeface="微软雅黑" panose="020B0503020204020204" pitchFamily="34" charset="-122"/>
                <a:ea typeface="微软雅黑" panose="020B0503020204020204" pitchFamily="34" charset="-122"/>
              </a:rPr>
              <a:t>Experience</a:t>
            </a:r>
            <a:endParaRPr lang="zh-CN" altLang="en-US"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303667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theme" Target="../theme/theme2.xml"/><Relationship Id="rId4"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7CD01A2-074E-4206-B488-A455663873BA}" type="datetimeFigureOut">
              <a:rPr lang="zh-CN" altLang="en-US" smtClean="0"/>
              <a:t>2026/8/7</a:t>
            </a:fld>
            <a:endParaRPr lang="zh-CN"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C8C20162-27D8-449D-A1F7-0EF87D2A24B3}" type="slidenum">
              <a:rPr lang="zh-CN" altLang="en-US" smtClean="0"/>
              <a:t>‹#›</a:t>
            </a:fld>
            <a:endParaRPr lang="zh-CN" altLang="en-US"/>
          </a:p>
        </p:txBody>
      </p:sp>
      <p:sp>
        <p:nvSpPr>
          <p:cNvPr id="3" name="文本框 2">
            <a:extLst>
              <a:ext uri="{FF2B5EF4-FFF2-40B4-BE49-F238E27FC236}">
                <a16:creationId xmlns:a16="http://schemas.microsoft.com/office/drawing/2014/main" id="{84CA1742-DF47-A6DB-6E6A-535D7C8F09FD}"/>
              </a:ext>
            </a:extLst>
          </p:cNvPr>
          <p:cNvSpPr txBox="1"/>
          <p:nvPr userDrawn="1">
            <p:extLst>
              <p:ext uri="{1162E1C5-73C7-4A58-AE30-91384D911F3F}">
                <p184:classification xmlns:p184="http://schemas.microsoft.com/office/powerpoint/2018/4/main" val="ftr"/>
              </p:ext>
            </p:extLst>
          </p:nvPr>
        </p:nvSpPr>
        <p:spPr>
          <a:xfrm>
            <a:off x="63500" y="9690100"/>
            <a:ext cx="433388" cy="152400"/>
          </a:xfrm>
          <a:prstGeom prst="rect">
            <a:avLst/>
          </a:prstGeom>
        </p:spPr>
        <p:txBody>
          <a:bodyPr horzOverflow="overflow" lIns="0" tIns="0" rIns="0" bIns="0">
            <a:spAutoFit/>
          </a:bodyPr>
          <a:lstStyle/>
          <a:p>
            <a:pPr algn="l"/>
            <a:r>
              <a:rPr lang="en-US" sz="10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Internal</a:t>
            </a:r>
          </a:p>
        </p:txBody>
      </p:sp>
    </p:spTree>
    <p:extLst>
      <p:ext uri="{BB962C8B-B14F-4D97-AF65-F5344CB8AC3E}">
        <p14:creationId xmlns:p14="http://schemas.microsoft.com/office/powerpoint/2010/main" val="1121166063"/>
      </p:ext>
    </p:extLst>
  </p:cSld>
  <p:clrMap bg1="lt1" tx1="dk1" bg2="lt2" tx2="dk2" accent1="accent1" accent2="accent2" accent3="accent3" accent4="accent4" accent5="accent5" accent6="accent6" hlink="hlink" folHlink="folHlink"/>
  <p:sldLayoutIdLst>
    <p:sldLayoutId id="2147483685" r:id="rId1"/>
    <p:sldLayoutId id="2147483686" r:id="rId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7CD01A2-074E-4206-B488-A455663873BA}" type="datetimeFigureOut">
              <a:rPr lang="zh-CN" altLang="en-US" smtClean="0"/>
              <a:t>2026/8/7</a:t>
            </a:fld>
            <a:endParaRPr lang="zh-CN"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C8C20162-27D8-449D-A1F7-0EF87D2A24B3}" type="slidenum">
              <a:rPr lang="zh-CN" altLang="en-US" smtClean="0"/>
              <a:t>‹#›</a:t>
            </a:fld>
            <a:endParaRPr lang="zh-CN" altLang="en-US"/>
          </a:p>
        </p:txBody>
      </p:sp>
      <p:sp>
        <p:nvSpPr>
          <p:cNvPr id="3" name="文本框 2">
            <a:extLst>
              <a:ext uri="{FF2B5EF4-FFF2-40B4-BE49-F238E27FC236}">
                <a16:creationId xmlns:a16="http://schemas.microsoft.com/office/drawing/2014/main" id="{07507276-F493-DEC7-D12F-9A9063DEC707}"/>
              </a:ext>
            </a:extLst>
          </p:cNvPr>
          <p:cNvSpPr txBox="1"/>
          <p:nvPr userDrawn="1">
            <p:extLst>
              <p:ext uri="{1162E1C5-73C7-4A58-AE30-91384D911F3F}">
                <p184:classification xmlns:p184="http://schemas.microsoft.com/office/powerpoint/2018/4/main" val="ftr"/>
              </p:ext>
            </p:extLst>
          </p:nvPr>
        </p:nvSpPr>
        <p:spPr>
          <a:xfrm>
            <a:off x="63500" y="9690100"/>
            <a:ext cx="433388" cy="152400"/>
          </a:xfrm>
          <a:prstGeom prst="rect">
            <a:avLst/>
          </a:prstGeom>
        </p:spPr>
        <p:txBody>
          <a:bodyPr horzOverflow="overflow" lIns="0" tIns="0" rIns="0" bIns="0">
            <a:spAutoFit/>
          </a:bodyPr>
          <a:lstStyle/>
          <a:p>
            <a:pPr algn="l"/>
            <a:r>
              <a:rPr lang="en-US" sz="10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Internal</a:t>
            </a:r>
          </a:p>
        </p:txBody>
      </p:sp>
    </p:spTree>
    <p:extLst>
      <p:ext uri="{BB962C8B-B14F-4D97-AF65-F5344CB8AC3E}">
        <p14:creationId xmlns:p14="http://schemas.microsoft.com/office/powerpoint/2010/main" val="3497534163"/>
      </p:ext>
    </p:extLst>
  </p:cSld>
  <p:clrMap bg1="lt1" tx1="dk1" bg2="lt2" tx2="dk2" accent1="accent1" accent2="accent2" accent3="accent3" accent4="accent4" accent5="accent5" accent6="accent6" hlink="hlink" folHlink="folHlink"/>
  <p:sldLayoutIdLst>
    <p:sldLayoutId id="2147483692" r:id="rId1"/>
    <p:sldLayoutId id="2147483689" r:id="rId2"/>
    <p:sldLayoutId id="2147483690" r:id="rId3"/>
    <p:sldLayoutId id="2147483691" r:id="rId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185152" y="1044397"/>
            <a:ext cx="6545847" cy="693385"/>
            <a:chOff x="185153" y="1175281"/>
            <a:chExt cx="6367213" cy="693385"/>
          </a:xfrm>
        </p:grpSpPr>
        <p:sp>
          <p:nvSpPr>
            <p:cNvPr id="5" name="文本框 4">
              <a:extLst>
                <a:ext uri="{FF2B5EF4-FFF2-40B4-BE49-F238E27FC236}">
                  <a16:creationId xmlns:a16="http://schemas.microsoft.com/office/drawing/2014/main" id="{6328BBE5-BD67-4242-90DC-5145D59E3704}"/>
                </a:ext>
              </a:extLst>
            </p:cNvPr>
            <p:cNvSpPr txBox="1"/>
            <p:nvPr/>
          </p:nvSpPr>
          <p:spPr>
            <a:xfrm>
              <a:off x="185153" y="1175281"/>
              <a:ext cx="796876" cy="278602"/>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核心简介</a:t>
              </a:r>
              <a:endParaRPr lang="en-US" altLang="zh-CN"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9" name="文本框 8">
              <a:extLst>
                <a:ext uri="{FF2B5EF4-FFF2-40B4-BE49-F238E27FC236}">
                  <a16:creationId xmlns:a16="http://schemas.microsoft.com/office/drawing/2014/main" id="{CC1EBB91-CDFE-B640-B2D6-B8BB71CC595B}"/>
                </a:ext>
              </a:extLst>
            </p:cNvPr>
            <p:cNvSpPr txBox="1"/>
            <p:nvPr/>
          </p:nvSpPr>
          <p:spPr>
            <a:xfrm>
              <a:off x="858676" y="1177643"/>
              <a:ext cx="5693690" cy="691023"/>
            </a:xfrm>
            <a:prstGeom prst="rect">
              <a:avLst/>
            </a:prstGeom>
            <a:noFill/>
          </p:spPr>
          <p:txBody>
            <a:bodyPr wrap="square" rtlCol="0">
              <a:spAutoFit/>
            </a:bodyPr>
            <a:lstStyle/>
            <a:p>
              <a:pPr algn="l">
                <a:lnSpc>
                  <a:spcPct val="150000"/>
                </a:lnSpc>
              </a:pPr>
              <a:r>
                <a:rPr lang="zh-CN" altLang="en-US" sz="900" dirty="0">
                  <a:solidFill>
                    <a:srgbClr val="696A6C"/>
                  </a:solidFill>
                  <a:latin typeface="Audi Type" panose="020B0503040202060203" pitchFamily="34" charset="0"/>
                  <a:ea typeface="微软雅黑" panose="020B0503020204020204" pitchFamily="34" charset="-122"/>
                </a:rPr>
                <a:t>中</a:t>
              </a:r>
              <a:r>
                <a:rPr lang="en-US" altLang="zh-CN" sz="900" dirty="0">
                  <a:solidFill>
                    <a:srgbClr val="696A6C"/>
                  </a:solidFill>
                  <a:latin typeface="Audi Type" panose="020B0503040202060203" pitchFamily="34" charset="0"/>
                  <a:ea typeface="微软雅黑" panose="020B0503020204020204" pitchFamily="34" charset="-122"/>
                </a:rPr>
                <a:t>-</a:t>
              </a:r>
              <a:r>
                <a:rPr lang="zh-CN" altLang="en-US" sz="900" dirty="0">
                  <a:solidFill>
                    <a:srgbClr val="696A6C"/>
                  </a:solidFill>
                  <a:latin typeface="Audi Type" panose="020B0503040202060203" pitchFamily="34" charset="0"/>
                  <a:ea typeface="微软雅黑" panose="020B0503020204020204" pitchFamily="34" charset="-122"/>
                </a:rPr>
                <a:t>欧供应链体系与管理专家，拥有超过</a:t>
              </a:r>
              <a:r>
                <a:rPr lang="en-US" altLang="zh-CN" sz="900" dirty="0">
                  <a:solidFill>
                    <a:srgbClr val="696A6C"/>
                  </a:solidFill>
                  <a:latin typeface="Audi Type" panose="020B0503040202060203" pitchFamily="34" charset="0"/>
                  <a:ea typeface="微软雅黑" panose="020B0503020204020204" pitchFamily="34" charset="-122"/>
                </a:rPr>
                <a:t>20</a:t>
              </a:r>
              <a:r>
                <a:rPr lang="zh-CN" altLang="en-US" sz="900" dirty="0">
                  <a:solidFill>
                    <a:srgbClr val="696A6C"/>
                  </a:solidFill>
                  <a:latin typeface="Audi Type" panose="020B0503040202060203" pitchFamily="34" charset="0"/>
                  <a:ea typeface="微软雅黑" panose="020B0503020204020204" pitchFamily="34" charset="-122"/>
                </a:rPr>
                <a:t>年大众汽车集团（奥迪</a:t>
              </a:r>
              <a:r>
                <a:rPr lang="en-US" altLang="zh-CN" sz="900" dirty="0">
                  <a:solidFill>
                    <a:srgbClr val="696A6C"/>
                  </a:solidFill>
                  <a:latin typeface="Audi Type" panose="020B0503040202060203" pitchFamily="34" charset="0"/>
                  <a:ea typeface="微软雅黑" panose="020B0503020204020204" pitchFamily="34" charset="-122"/>
                </a:rPr>
                <a:t>/</a:t>
              </a:r>
              <a:r>
                <a:rPr lang="zh-CN" altLang="en-US" sz="900" dirty="0">
                  <a:solidFill>
                    <a:srgbClr val="696A6C"/>
                  </a:solidFill>
                  <a:latin typeface="Audi Type" panose="020B0503040202060203" pitchFamily="34" charset="0"/>
                  <a:ea typeface="微软雅黑" panose="020B0503020204020204" pitchFamily="34" charset="-122"/>
                </a:rPr>
                <a:t>大众）供应链管理体系深度工作经验。兼具中国与欧洲供应链标准的双重背景。作为</a:t>
              </a:r>
              <a:r>
                <a:rPr lang="en-US" altLang="zh-CN" sz="900" dirty="0">
                  <a:solidFill>
                    <a:srgbClr val="696A6C"/>
                  </a:solidFill>
                  <a:latin typeface="Audi Type" panose="020B0503040202060203" pitchFamily="34" charset="0"/>
                  <a:ea typeface="微软雅黑" panose="020B0503020204020204" pitchFamily="34" charset="-122"/>
                </a:rPr>
                <a:t>VDA 6.8</a:t>
              </a:r>
              <a:r>
                <a:rPr lang="zh-CN" altLang="en-US" sz="900" dirty="0">
                  <a:solidFill>
                    <a:srgbClr val="696A6C"/>
                  </a:solidFill>
                  <a:latin typeface="Audi Type" panose="020B0503040202060203" pitchFamily="34" charset="0"/>
                  <a:ea typeface="微软雅黑" panose="020B0503020204020204" pitchFamily="34" charset="-122"/>
                </a:rPr>
                <a:t>（供应链过程审核）专家，精通欧洲主机厂对供应链全过程（信息流与实物流）的严苛要求与评估体系。擅长从</a:t>
              </a:r>
              <a:r>
                <a:rPr lang="en-US" altLang="zh-CN" sz="900" dirty="0">
                  <a:solidFill>
                    <a:srgbClr val="696A6C"/>
                  </a:solidFill>
                  <a:latin typeface="Audi Type" panose="020B0503040202060203" pitchFamily="34" charset="0"/>
                  <a:ea typeface="微软雅黑" panose="020B0503020204020204" pitchFamily="34" charset="-122"/>
                </a:rPr>
                <a:t>0</a:t>
              </a:r>
              <a:r>
                <a:rPr lang="zh-CN" altLang="en-US" sz="900" dirty="0">
                  <a:solidFill>
                    <a:srgbClr val="696A6C"/>
                  </a:solidFill>
                  <a:latin typeface="Audi Type" panose="020B0503040202060203" pitchFamily="34" charset="0"/>
                  <a:ea typeface="微软雅黑" panose="020B0503020204020204" pitchFamily="34" charset="-122"/>
                </a:rPr>
                <a:t>到</a:t>
              </a:r>
              <a:r>
                <a:rPr lang="en-US" altLang="zh-CN" sz="900" dirty="0">
                  <a:solidFill>
                    <a:srgbClr val="696A6C"/>
                  </a:solidFill>
                  <a:latin typeface="Audi Type" panose="020B0503040202060203" pitchFamily="34" charset="0"/>
                  <a:ea typeface="微软雅黑" panose="020B0503020204020204" pitchFamily="34" charset="-122"/>
                </a:rPr>
                <a:t>1</a:t>
              </a:r>
              <a:r>
                <a:rPr lang="zh-CN" altLang="en-US" sz="900" dirty="0">
                  <a:solidFill>
                    <a:srgbClr val="696A6C"/>
                  </a:solidFill>
                  <a:latin typeface="Audi Type" panose="020B0503040202060203" pitchFamily="34" charset="0"/>
                  <a:ea typeface="微软雅黑" panose="020B0503020204020204" pitchFamily="34" charset="-122"/>
                </a:rPr>
                <a:t>为企业搭建符合欧洲标准、兼具成本竞争力的供应链体系。</a:t>
              </a:r>
            </a:p>
          </p:txBody>
        </p:sp>
      </p:grpSp>
      <p:grpSp>
        <p:nvGrpSpPr>
          <p:cNvPr id="14" name="组合 13"/>
          <p:cNvGrpSpPr/>
          <p:nvPr/>
        </p:nvGrpSpPr>
        <p:grpSpPr>
          <a:xfrm>
            <a:off x="130669" y="369623"/>
            <a:ext cx="4091437" cy="715176"/>
            <a:chOff x="130669" y="387481"/>
            <a:chExt cx="4091437" cy="715176"/>
          </a:xfrm>
        </p:grpSpPr>
        <p:sp>
          <p:nvSpPr>
            <p:cNvPr id="4" name="文本框 3"/>
            <p:cNvSpPr txBox="1"/>
            <p:nvPr/>
          </p:nvSpPr>
          <p:spPr>
            <a:xfrm>
              <a:off x="178048" y="619383"/>
              <a:ext cx="2234514" cy="483274"/>
            </a:xfrm>
            <a:prstGeom prst="rect">
              <a:avLst/>
            </a:prstGeom>
            <a:noFill/>
          </p:spPr>
          <p:txBody>
            <a:bodyPr wrap="square" rtlCol="0">
              <a:spAutoFit/>
            </a:bodyPr>
            <a:lstStyle/>
            <a:p>
              <a:pPr>
                <a:lnSpc>
                  <a:spcPct val="150000"/>
                </a:lnSpc>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性别：男</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a:lnSpc>
                  <a:spcPct val="150000"/>
                </a:lnSpc>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联系电话：</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13761058893</a:t>
              </a:r>
            </a:p>
          </p:txBody>
        </p:sp>
        <p:sp>
          <p:nvSpPr>
            <p:cNvPr id="10" name="文本框 9"/>
            <p:cNvSpPr txBox="1"/>
            <p:nvPr/>
          </p:nvSpPr>
          <p:spPr>
            <a:xfrm>
              <a:off x="1987592" y="609426"/>
              <a:ext cx="2234514" cy="483274"/>
            </a:xfrm>
            <a:prstGeom prst="rect">
              <a:avLst/>
            </a:prstGeom>
            <a:noFill/>
          </p:spPr>
          <p:txBody>
            <a:bodyPr wrap="square" rtlCol="0">
              <a:spAutoFit/>
            </a:bodyPr>
            <a:lstStyle/>
            <a:p>
              <a:pPr>
                <a:lnSpc>
                  <a:spcPct val="150000"/>
                </a:lnSpc>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出生年月</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:1983</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年</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12</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月</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a:lnSpc>
                  <a:spcPct val="150000"/>
                </a:lnSpc>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邮箱：</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lijiajun_vwpt@163.com</a:t>
              </a:r>
              <a:endPar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11" name="文本框 10"/>
            <p:cNvSpPr txBox="1"/>
            <p:nvPr/>
          </p:nvSpPr>
          <p:spPr>
            <a:xfrm>
              <a:off x="130669" y="387481"/>
              <a:ext cx="757080" cy="261610"/>
            </a:xfrm>
            <a:prstGeom prst="rect">
              <a:avLst/>
            </a:prstGeom>
            <a:noFill/>
          </p:spPr>
          <p:txBody>
            <a:bodyPr wrap="square" rtlCol="0">
              <a:spAutoFit/>
            </a:bodyPr>
            <a:lstStyle/>
            <a:p>
              <a:pPr algn="ctr"/>
              <a:r>
                <a:rPr lang="zh-CN" altLang="en-US" sz="105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李嘉俊</a:t>
              </a:r>
            </a:p>
          </p:txBody>
        </p:sp>
      </p:grpSp>
      <p:grpSp>
        <p:nvGrpSpPr>
          <p:cNvPr id="16" name="组合 15"/>
          <p:cNvGrpSpPr/>
          <p:nvPr/>
        </p:nvGrpSpPr>
        <p:grpSpPr>
          <a:xfrm>
            <a:off x="185152" y="1736554"/>
            <a:ext cx="6444247" cy="280323"/>
            <a:chOff x="185153" y="1175281"/>
            <a:chExt cx="4442026" cy="280323"/>
          </a:xfrm>
        </p:grpSpPr>
        <p:sp>
          <p:nvSpPr>
            <p:cNvPr id="17" name="文本框 16">
              <a:extLst>
                <a:ext uri="{FF2B5EF4-FFF2-40B4-BE49-F238E27FC236}">
                  <a16:creationId xmlns:a16="http://schemas.microsoft.com/office/drawing/2014/main" id="{6328BBE5-BD67-4242-90DC-5145D59E3704}"/>
                </a:ext>
              </a:extLst>
            </p:cNvPr>
            <p:cNvSpPr txBox="1"/>
            <p:nvPr/>
          </p:nvSpPr>
          <p:spPr>
            <a:xfrm>
              <a:off x="185153" y="1175281"/>
              <a:ext cx="796876" cy="275525"/>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教育背景</a:t>
              </a:r>
              <a:endParaRPr lang="en-US" altLang="zh-CN"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18" name="文本框 17">
              <a:extLst>
                <a:ext uri="{FF2B5EF4-FFF2-40B4-BE49-F238E27FC236}">
                  <a16:creationId xmlns:a16="http://schemas.microsoft.com/office/drawing/2014/main" id="{CC1EBB91-CDFE-B640-B2D6-B8BB71CC595B}"/>
                </a:ext>
              </a:extLst>
            </p:cNvPr>
            <p:cNvSpPr txBox="1"/>
            <p:nvPr/>
          </p:nvSpPr>
          <p:spPr>
            <a:xfrm>
              <a:off x="662438" y="1177643"/>
              <a:ext cx="3964741" cy="277961"/>
            </a:xfrm>
            <a:prstGeom prst="rect">
              <a:avLst/>
            </a:prstGeom>
            <a:noFill/>
          </p:spPr>
          <p:txBody>
            <a:bodyPr wrap="square" rtlCol="0">
              <a:spAutoFit/>
            </a:bodyPr>
            <a:lstStyle/>
            <a:p>
              <a:pPr>
                <a:lnSpc>
                  <a:spcPct val="150000"/>
                </a:lnSpc>
              </a:pPr>
              <a:r>
                <a:rPr lang="en-US" altLang="zh-CN" sz="900" b="1" dirty="0">
                  <a:solidFill>
                    <a:srgbClr val="696A6C"/>
                  </a:solidFill>
                  <a:latin typeface="Audi Type" panose="020B0503040202060203" pitchFamily="34" charset="0"/>
                  <a:ea typeface="微软雅黑" panose="020B0503020204020204" pitchFamily="34" charset="-122"/>
                </a:rPr>
                <a:t>2002.09</a:t>
              </a:r>
              <a:r>
                <a:rPr lang="zh-CN" altLang="en-US" sz="900" b="1" dirty="0">
                  <a:solidFill>
                    <a:srgbClr val="696A6C"/>
                  </a:solidFill>
                  <a:latin typeface="Audi Type" panose="020B0503040202060203" pitchFamily="34" charset="0"/>
                  <a:ea typeface="微软雅黑" panose="020B0503020204020204" pitchFamily="34" charset="-122"/>
                </a:rPr>
                <a:t>～</a:t>
              </a:r>
              <a:r>
                <a:rPr lang="en-US" altLang="zh-CN" sz="900" b="1" dirty="0">
                  <a:solidFill>
                    <a:srgbClr val="696A6C"/>
                  </a:solidFill>
                  <a:latin typeface="Audi Type" panose="020B0503040202060203" pitchFamily="34" charset="0"/>
                  <a:ea typeface="微软雅黑" panose="020B0503020204020204" pitchFamily="34" charset="-122"/>
                </a:rPr>
                <a:t>2006.06	|</a:t>
              </a:r>
              <a:r>
                <a:rPr lang="zh-CN" altLang="en-US" sz="900" b="1" dirty="0">
                  <a:solidFill>
                    <a:srgbClr val="696A6C"/>
                  </a:solidFill>
                  <a:latin typeface="Audi Type" panose="020B0503040202060203" pitchFamily="34" charset="0"/>
                  <a:ea typeface="微软雅黑" panose="020B0503020204020204" pitchFamily="34" charset="-122"/>
                </a:rPr>
                <a:t>上海海事大学</a:t>
              </a:r>
              <a:r>
                <a:rPr lang="en-US" altLang="zh-CN" sz="900" b="1" dirty="0">
                  <a:solidFill>
                    <a:srgbClr val="696A6C"/>
                  </a:solidFill>
                  <a:latin typeface="Audi Type" panose="020B0503040202060203" pitchFamily="34" charset="0"/>
                  <a:ea typeface="微软雅黑" panose="020B0503020204020204" pitchFamily="34" charset="-122"/>
                </a:rPr>
                <a:t> | </a:t>
              </a:r>
              <a:r>
                <a:rPr lang="zh-CN" altLang="en-US" sz="900" b="1" dirty="0">
                  <a:solidFill>
                    <a:srgbClr val="696A6C"/>
                  </a:solidFill>
                  <a:latin typeface="Audi Type" panose="020B0503040202060203" pitchFamily="34" charset="0"/>
                  <a:ea typeface="微软雅黑" panose="020B0503020204020204" pitchFamily="34" charset="-122"/>
                </a:rPr>
                <a:t>轮机工程专业</a:t>
              </a:r>
              <a:r>
                <a:rPr lang="en-US" altLang="zh-CN" sz="900" b="1" dirty="0">
                  <a:solidFill>
                    <a:srgbClr val="696A6C"/>
                  </a:solidFill>
                  <a:latin typeface="Audi Type" panose="020B0503040202060203" pitchFamily="34" charset="0"/>
                  <a:ea typeface="微软雅黑" panose="020B0503020204020204" pitchFamily="34" charset="-122"/>
                </a:rPr>
                <a:t> |</a:t>
              </a:r>
              <a:r>
                <a:rPr lang="zh-CN" altLang="en-US" sz="900" b="1" dirty="0">
                  <a:solidFill>
                    <a:srgbClr val="696A6C"/>
                  </a:solidFill>
                  <a:latin typeface="Audi Type" panose="020B0503040202060203" pitchFamily="34" charset="0"/>
                  <a:ea typeface="微软雅黑" panose="020B0503020204020204" pitchFamily="34" charset="-122"/>
                </a:rPr>
                <a:t>本科（工学学士）</a:t>
              </a:r>
              <a:endParaRPr lang="en-US" altLang="zh-CN" sz="900" b="1" dirty="0">
                <a:solidFill>
                  <a:srgbClr val="696A6C"/>
                </a:solidFill>
                <a:latin typeface="Audi Type" panose="020B0503040202060203" pitchFamily="34" charset="0"/>
                <a:ea typeface="微软雅黑" panose="020B0503020204020204" pitchFamily="34" charset="-122"/>
              </a:endParaRPr>
            </a:p>
          </p:txBody>
        </p:sp>
      </p:grpSp>
      <p:grpSp>
        <p:nvGrpSpPr>
          <p:cNvPr id="19" name="组合 18"/>
          <p:cNvGrpSpPr/>
          <p:nvPr/>
        </p:nvGrpSpPr>
        <p:grpSpPr>
          <a:xfrm>
            <a:off x="190233" y="2120186"/>
            <a:ext cx="6477534" cy="6097300"/>
            <a:chOff x="185153" y="1175281"/>
            <a:chExt cx="6477534" cy="6097300"/>
          </a:xfrm>
        </p:grpSpPr>
        <p:sp>
          <p:nvSpPr>
            <p:cNvPr id="20" name="文本框 19">
              <a:extLst>
                <a:ext uri="{FF2B5EF4-FFF2-40B4-BE49-F238E27FC236}">
                  <a16:creationId xmlns:a16="http://schemas.microsoft.com/office/drawing/2014/main" id="{6328BBE5-BD67-4242-90DC-5145D59E3704}"/>
                </a:ext>
              </a:extLst>
            </p:cNvPr>
            <p:cNvSpPr txBox="1"/>
            <p:nvPr/>
          </p:nvSpPr>
          <p:spPr>
            <a:xfrm>
              <a:off x="185153" y="1175281"/>
              <a:ext cx="796876" cy="275525"/>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工作经历</a:t>
              </a:r>
              <a:endParaRPr lang="en-US" altLang="zh-CN"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21" name="文本框 20">
              <a:extLst>
                <a:ext uri="{FF2B5EF4-FFF2-40B4-BE49-F238E27FC236}">
                  <a16:creationId xmlns:a16="http://schemas.microsoft.com/office/drawing/2014/main" id="{CC1EBB91-CDFE-B640-B2D6-B8BB71CC595B}"/>
                </a:ext>
              </a:extLst>
            </p:cNvPr>
            <p:cNvSpPr txBox="1"/>
            <p:nvPr/>
          </p:nvSpPr>
          <p:spPr>
            <a:xfrm>
              <a:off x="873916" y="1177643"/>
              <a:ext cx="5788771" cy="6094938"/>
            </a:xfrm>
            <a:prstGeom prst="rect">
              <a:avLst/>
            </a:prstGeom>
            <a:noFill/>
          </p:spPr>
          <p:txBody>
            <a:bodyPr wrap="square" rtlCol="0">
              <a:spAutoFit/>
            </a:bodyPr>
            <a:lstStyle/>
            <a:p>
              <a:pPr>
                <a:lnSpc>
                  <a:spcPct val="150000"/>
                </a:lnSpc>
              </a:pP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2022</a:t>
              </a:r>
              <a:r>
                <a:rPr lang="en-US" altLang="zh-CN" sz="900" b="1" dirty="0">
                  <a:solidFill>
                    <a:srgbClr val="696A6C"/>
                  </a:solidFill>
                  <a:latin typeface="Audi Type" panose="020B0503040202060203" pitchFamily="34" charset="0"/>
                  <a:ea typeface="微软雅黑" panose="020B0503020204020204" pitchFamily="34" charset="-122"/>
                </a:rPr>
                <a:t>.05 </a:t>
              </a:r>
              <a:r>
                <a:rPr lang="zh-CN" altLang="en-US" sz="900" b="1" dirty="0">
                  <a:solidFill>
                    <a:srgbClr val="696A6C"/>
                  </a:solidFill>
                  <a:latin typeface="Audi Type" panose="020B0503040202060203" pitchFamily="34" charset="0"/>
                  <a:ea typeface="微软雅黑" panose="020B0503020204020204" pitchFamily="34" charset="-122"/>
                </a:rPr>
                <a:t>～ 至今 </a:t>
              </a:r>
              <a:r>
                <a:rPr lang="en-US" altLang="zh-CN" sz="900" b="1" dirty="0">
                  <a:solidFill>
                    <a:srgbClr val="696A6C"/>
                  </a:solidFill>
                  <a:latin typeface="Audi Type" panose="020B0503040202060203" pitchFamily="34" charset="0"/>
                  <a:ea typeface="微软雅黑" panose="020B0503020204020204" pitchFamily="34" charset="-122"/>
                </a:rPr>
                <a:t>| </a:t>
              </a:r>
              <a:r>
                <a:rPr lang="zh-CN" altLang="en-US" sz="900" b="1" dirty="0">
                  <a:solidFill>
                    <a:srgbClr val="696A6C"/>
                  </a:solidFill>
                  <a:latin typeface="Audi Type" panose="020B0503040202060203" pitchFamily="34" charset="0"/>
                  <a:ea typeface="微软雅黑" panose="020B0503020204020204" pitchFamily="34" charset="-122"/>
                </a:rPr>
                <a:t>奥迪（中国）企业管理有限公司 </a:t>
              </a:r>
              <a:r>
                <a:rPr lang="en-US" altLang="zh-CN" sz="900" b="1" dirty="0">
                  <a:solidFill>
                    <a:srgbClr val="696A6C"/>
                  </a:solidFill>
                  <a:latin typeface="Audi Type" panose="020B0503040202060203" pitchFamily="34" charset="0"/>
                  <a:ea typeface="微软雅黑" panose="020B0503020204020204" pitchFamily="34" charset="-122"/>
                </a:rPr>
                <a:t>| </a:t>
              </a:r>
              <a:r>
                <a:rPr lang="zh-CN" altLang="en-US" sz="900" b="1" dirty="0">
                  <a:solidFill>
                    <a:srgbClr val="696A6C"/>
                  </a:solidFill>
                  <a:latin typeface="Audi Type" panose="020B0503040202060203" pitchFamily="34" charset="0"/>
                  <a:ea typeface="微软雅黑" panose="020B0503020204020204" pitchFamily="34" charset="-122"/>
                </a:rPr>
                <a:t>供应链审核与规划员</a:t>
              </a:r>
              <a:endParaRPr lang="en-US" altLang="zh-CN" sz="900" b="1" dirty="0">
                <a:solidFill>
                  <a:srgbClr val="696A6C"/>
                </a:solidFill>
                <a:latin typeface="Audi Type" panose="020B0503040202060203" pitchFamily="34" charset="0"/>
                <a:ea typeface="微软雅黑" panose="020B0503020204020204" pitchFamily="34" charset="-122"/>
              </a:endParaRPr>
            </a:p>
            <a:p>
              <a:pPr marL="171450" indent="-171450">
                <a:lnSpc>
                  <a:spcPct val="150000"/>
                </a:lnSpc>
                <a:buFont typeface="Wingdings" panose="05000000000000000000"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rPr>
                <a:t>大众集团供应链合规审核：</a:t>
              </a:r>
              <a:endParaRPr lang="en-US" altLang="zh-CN" sz="900" b="1" dirty="0">
                <a:solidFill>
                  <a:srgbClr val="696A6C"/>
                </a:solidFill>
                <a:latin typeface="Audi Type" panose="020B0503040202060203" pitchFamily="34" charset="0"/>
                <a:ea typeface="微软雅黑" panose="020B0503020204020204" pitchFamily="34" charset="-122"/>
              </a:endParaRPr>
            </a:p>
            <a:p>
              <a:pPr marL="171450" indent="-171450" algn="l">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作为集团</a:t>
              </a:r>
              <a:r>
                <a:rPr lang="en-US" altLang="zh-CN" sz="900" dirty="0">
                  <a:solidFill>
                    <a:srgbClr val="696A6C"/>
                  </a:solidFill>
                  <a:latin typeface="Audi Type" panose="020B0503040202060203" pitchFamily="34" charset="0"/>
                  <a:ea typeface="微软雅黑" panose="020B0503020204020204" pitchFamily="34" charset="-122"/>
                </a:rPr>
                <a:t>VDA 6.8</a:t>
              </a:r>
              <a:r>
                <a:rPr lang="zh-CN" altLang="en-US" sz="900" dirty="0">
                  <a:solidFill>
                    <a:srgbClr val="696A6C"/>
                  </a:solidFill>
                  <a:latin typeface="Audi Type" panose="020B0503040202060203" pitchFamily="34" charset="0"/>
                  <a:ea typeface="微软雅黑" panose="020B0503020204020204" pitchFamily="34" charset="-122"/>
                </a:rPr>
                <a:t>（供应链过程审核） 的专家，代表奥迪、保时捷、兰博基尼等欧洲顶级品牌，对亚太区超过</a:t>
              </a:r>
              <a:r>
                <a:rPr lang="en-US" altLang="zh-CN" sz="900" dirty="0">
                  <a:solidFill>
                    <a:srgbClr val="696A6C"/>
                  </a:solidFill>
                  <a:latin typeface="Audi Type" panose="020B0503040202060203" pitchFamily="34" charset="0"/>
                  <a:ea typeface="微软雅黑" panose="020B0503020204020204" pitchFamily="34" charset="-122"/>
                </a:rPr>
                <a:t>100</a:t>
              </a:r>
              <a:r>
                <a:rPr lang="zh-CN" altLang="en-US" sz="900" dirty="0">
                  <a:solidFill>
                    <a:srgbClr val="696A6C"/>
                  </a:solidFill>
                  <a:latin typeface="Audi Type" panose="020B0503040202060203" pitchFamily="34" charset="0"/>
                  <a:ea typeface="微软雅黑" panose="020B0503020204020204" pitchFamily="34" charset="-122"/>
                </a:rPr>
                <a:t>家目标供应商的供应链全过程（涵盖计划、采购、生产、物（料）流、发运全链条的信息流与实物流）进行准入审核。审核结论是供应商获得大众集团全球项目定点的强制性前提与关键决策依据，深度掌握欧洲客户对供应链透明性、可靠性及风险控制的核心要求。</a:t>
              </a:r>
            </a:p>
            <a:p>
              <a:pPr marL="171450" indent="-171450">
                <a:lnSpc>
                  <a:spcPct val="150000"/>
                </a:lnSpc>
                <a:buFont typeface="Wingdings" panose="05000000000000000000"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战略供应商赋能与成熟度管理</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en-US" altLang="zh-CN" sz="900" b="1" dirty="0" err="1">
                  <a:solidFill>
                    <a:srgbClr val="696A6C"/>
                  </a:solidFill>
                  <a:latin typeface="Audi Type" panose="020B0503040202060203" pitchFamily="34" charset="0"/>
                  <a:ea typeface="微软雅黑" panose="020B0503020204020204" pitchFamily="34" charset="-122"/>
                  <a:cs typeface="Audi Type" panose="020B0503040202060203" pitchFamily="34" charset="0"/>
                </a:rPr>
                <a:t>QPNi</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在集团供应链成本优化与智能电气化转型战略背景下，重点识别并辅导运营水平较低或跨行业的新进供应商，制定针对性改进方案，成功支持</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13</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家供应商达到大众集团严苛要求，保障了</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6</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个新项目的顺利启动。</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依据大众集团</a:t>
              </a:r>
              <a:r>
                <a:rPr lang="en-US" altLang="zh-CN" sz="900" dirty="0" err="1">
                  <a:solidFill>
                    <a:srgbClr val="696A6C"/>
                  </a:solidFill>
                  <a:latin typeface="Audi Type" panose="020B0503040202060203" pitchFamily="34" charset="0"/>
                  <a:ea typeface="微软雅黑" panose="020B0503020204020204" pitchFamily="34" charset="-122"/>
                  <a:cs typeface="Audi Type" panose="020B0503040202060203" pitchFamily="34" charset="0"/>
                </a:rPr>
                <a:t>QPNi</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成熟度管理要求，支持并管理目标供应商提升供应链成熟度水平。作为</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PPE</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中国项目核心成员，成功管理并支持包括三花集团、敏实集团、蒂森克虏伯、舍弗勒、</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ZF</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，等</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11+</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家关键供应商按期完成供应链业务过程搭建与成熟度达标，确保项目里程碑</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100%</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如期达成。</a:t>
              </a:r>
            </a:p>
            <a:p>
              <a:pPr marL="171450" indent="-171450">
                <a:lnSpc>
                  <a:spcPct val="150000"/>
                </a:lnSpc>
                <a:buFont typeface="Wingdings" panose="05000000000000000000"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供应商产能全生命周期管理</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负责新项目阶段供应商产能规划与提升：通过现场审核与技术指导，优化关键工序节拍（例如：帮助德资卡钳工厂，优化装配线节拍</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35.4s/pcs -&gt; 27.3s/pcs,</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优化了</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22%</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）、提升生产稳定性、改善排产合理性，确保产能满足项目爬坡需求。</a:t>
              </a: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支持批量生产阶段：及时介入并解决供应商产能瓶颈与供应中断问题。</a:t>
              </a:r>
            </a:p>
            <a:p>
              <a:pPr marL="171450" indent="-171450">
                <a:lnSpc>
                  <a:spcPct val="150000"/>
                </a:lnSpc>
                <a:buFont typeface="Wingdings" panose="05000000000000000000"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供应链咨询与体系输出 </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从</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0</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到</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搭建</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从</a:t>
              </a:r>
              <a:r>
                <a:rPr lang="en-US" altLang="zh-CN" sz="900" dirty="0">
                  <a:solidFill>
                    <a:srgbClr val="696A6C"/>
                  </a:solidFill>
                  <a:latin typeface="Audi Type" panose="020B0503040202060203" pitchFamily="34" charset="0"/>
                  <a:ea typeface="微软雅黑" panose="020B0503020204020204" pitchFamily="34" charset="-122"/>
                </a:rPr>
                <a:t>0</a:t>
              </a:r>
              <a:r>
                <a:rPr lang="zh-CN" altLang="en-US" sz="900" dirty="0">
                  <a:solidFill>
                    <a:srgbClr val="696A6C"/>
                  </a:solidFill>
                  <a:latin typeface="Audi Type" panose="020B0503040202060203" pitchFamily="34" charset="0"/>
                  <a:ea typeface="微软雅黑" panose="020B0503020204020204" pitchFamily="34" charset="-122"/>
                </a:rPr>
                <a:t>到</a:t>
              </a:r>
              <a:r>
                <a:rPr lang="en-US" altLang="zh-CN" sz="900" dirty="0">
                  <a:solidFill>
                    <a:srgbClr val="696A6C"/>
                  </a:solidFill>
                  <a:latin typeface="Audi Type" panose="020B0503040202060203" pitchFamily="34" charset="0"/>
                  <a:ea typeface="微软雅黑" panose="020B0503020204020204" pitchFamily="34" charset="-122"/>
                </a:rPr>
                <a:t>1</a:t>
              </a:r>
              <a:r>
                <a:rPr lang="zh-CN" altLang="en-US" sz="900" dirty="0">
                  <a:solidFill>
                    <a:srgbClr val="696A6C"/>
                  </a:solidFill>
                  <a:latin typeface="Audi Type" panose="020B0503040202060203" pitchFamily="34" charset="0"/>
                  <a:ea typeface="微软雅黑" panose="020B0503020204020204" pitchFamily="34" charset="-122"/>
                </a:rPr>
                <a:t>主导搭建奥迪中国对外供应链咨询业务。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（三个月内完成框架设计、流程制定与落地实施）</a:t>
              </a:r>
              <a:r>
                <a:rPr lang="zh-CN" altLang="en-US" sz="900" dirty="0">
                  <a:solidFill>
                    <a:srgbClr val="696A6C"/>
                  </a:solidFill>
                  <a:latin typeface="Audi Type" panose="020B0503040202060203" pitchFamily="34" charset="0"/>
                  <a:ea typeface="微软雅黑" panose="020B0503020204020204" pitchFamily="34" charset="-122"/>
                </a:rPr>
                <a:t>。将</a:t>
              </a:r>
              <a:r>
                <a:rPr lang="en-US" altLang="zh-CN" sz="900" dirty="0">
                  <a:solidFill>
                    <a:srgbClr val="696A6C"/>
                  </a:solidFill>
                  <a:latin typeface="Audi Type" panose="020B0503040202060203" pitchFamily="34" charset="0"/>
                  <a:ea typeface="微软雅黑" panose="020B0503020204020204" pitchFamily="34" charset="-122"/>
                </a:rPr>
                <a:t>VDA6.8</a:t>
              </a:r>
              <a:r>
                <a:rPr lang="zh-CN" altLang="en-US" sz="900" dirty="0">
                  <a:solidFill>
                    <a:srgbClr val="696A6C"/>
                  </a:solidFill>
                  <a:latin typeface="Audi Type" panose="020B0503040202060203" pitchFamily="34" charset="0"/>
                  <a:ea typeface="微软雅黑" panose="020B0503020204020204" pitchFamily="34" charset="-122"/>
                </a:rPr>
                <a:t>严密的供应链过程标准、管理流程与最佳实践方法论，转化为可对外赋能的咨询产品，并成功为外部客户提供解决方案，实现显著降本增效（例如：帮助某德资客户降低全过程与仓储成本约</a:t>
              </a:r>
              <a:r>
                <a:rPr lang="en-US" altLang="zh-CN" sz="900" dirty="0">
                  <a:solidFill>
                    <a:srgbClr val="696A6C"/>
                  </a:solidFill>
                  <a:latin typeface="Audi Type" panose="020B0503040202060203" pitchFamily="34" charset="0"/>
                  <a:ea typeface="微软雅黑" panose="020B0503020204020204" pitchFamily="34" charset="-122"/>
                </a:rPr>
                <a:t>17%</a:t>
              </a:r>
              <a:r>
                <a:rPr lang="zh-CN" altLang="en-US" sz="900" dirty="0">
                  <a:solidFill>
                    <a:srgbClr val="696A6C"/>
                  </a:solidFill>
                  <a:latin typeface="Audi Type" panose="020B0503040202060203" pitchFamily="34" charset="0"/>
                  <a:ea typeface="微软雅黑" panose="020B0503020204020204" pitchFamily="34" charset="-122"/>
                </a:rPr>
                <a:t>）。</a:t>
              </a:r>
              <a:endParaRPr lang="en-US" altLang="zh-CN" sz="900" dirty="0">
                <a:solidFill>
                  <a:srgbClr val="696A6C"/>
                </a:solidFill>
                <a:latin typeface="Audi Type" panose="020B0503040202060203" pitchFamily="34" charset="0"/>
                <a:ea typeface="微软雅黑" panose="020B0503020204020204" pitchFamily="34" charset="-122"/>
              </a:endParaRPr>
            </a:p>
            <a:p>
              <a:pPr>
                <a:lnSpc>
                  <a:spcPct val="150000"/>
                </a:lnSpc>
              </a:pPr>
              <a:r>
                <a:rPr lang="zh-CN" altLang="en-US" sz="900" b="0" i="0" dirty="0">
                  <a:solidFill>
                    <a:srgbClr val="0F1115"/>
                  </a:solidFill>
                  <a:effectLst/>
                  <a:latin typeface="quote-cjk-patch"/>
                </a:rPr>
                <a:t> </a:t>
              </a:r>
              <a:endParaRPr lang="en-US" altLang="zh-CN" sz="900" b="0" i="0" dirty="0">
                <a:solidFill>
                  <a:srgbClr val="0F1115"/>
                </a:solidFill>
                <a:effectLst/>
                <a:latin typeface="quote-cjk-patch"/>
              </a:endParaRPr>
            </a:p>
            <a:p>
              <a:pPr>
                <a:lnSpc>
                  <a:spcPct val="150000"/>
                </a:lnSpc>
              </a:pPr>
              <a:r>
                <a:rPr lang="en-US" altLang="zh-CN" sz="900" b="1" dirty="0">
                  <a:solidFill>
                    <a:srgbClr val="696A6C"/>
                  </a:solidFill>
                  <a:latin typeface="Audi Type" panose="020B0503040202060203" pitchFamily="34" charset="0"/>
                  <a:ea typeface="微软雅黑" panose="020B0503020204020204" pitchFamily="34" charset="-122"/>
                </a:rPr>
                <a:t>2010.07 </a:t>
              </a:r>
              <a:r>
                <a:rPr lang="zh-CN" altLang="en-US" sz="900" b="1" dirty="0">
                  <a:solidFill>
                    <a:srgbClr val="696A6C"/>
                  </a:solidFill>
                  <a:latin typeface="Audi Type" panose="020B0503040202060203" pitchFamily="34" charset="0"/>
                  <a:ea typeface="微软雅黑" panose="020B0503020204020204" pitchFamily="34" charset="-122"/>
                </a:rPr>
                <a:t>～ </a:t>
              </a:r>
              <a:r>
                <a:rPr lang="en-US" altLang="zh-CN" sz="900" b="1" dirty="0">
                  <a:solidFill>
                    <a:srgbClr val="696A6C"/>
                  </a:solidFill>
                  <a:latin typeface="Audi Type" panose="020B0503040202060203" pitchFamily="34" charset="0"/>
                  <a:ea typeface="微软雅黑" panose="020B0503020204020204" pitchFamily="34" charset="-122"/>
                </a:rPr>
                <a:t>2022.05 | </a:t>
              </a:r>
              <a:r>
                <a:rPr lang="zh-CN" altLang="en-US" sz="900" b="1" dirty="0">
                  <a:solidFill>
                    <a:srgbClr val="696A6C"/>
                  </a:solidFill>
                  <a:latin typeface="Audi Type" panose="020B0503040202060203" pitchFamily="34" charset="0"/>
                  <a:ea typeface="微软雅黑" panose="020B0503020204020204" pitchFamily="34" charset="-122"/>
                </a:rPr>
                <a:t>上海大众动力总成有限公司 </a:t>
              </a:r>
              <a:r>
                <a:rPr lang="en-US" altLang="zh-CN" sz="900" b="1" dirty="0">
                  <a:solidFill>
                    <a:srgbClr val="696A6C"/>
                  </a:solidFill>
                  <a:latin typeface="Audi Type" panose="020B0503040202060203" pitchFamily="34" charset="0"/>
                  <a:ea typeface="微软雅黑" panose="020B0503020204020204" pitchFamily="34" charset="-122"/>
                </a:rPr>
                <a:t>/ </a:t>
              </a:r>
              <a:r>
                <a:rPr lang="zh-CN" altLang="en-US" sz="900" b="1" dirty="0">
                  <a:solidFill>
                    <a:srgbClr val="696A6C"/>
                  </a:solidFill>
                  <a:latin typeface="Audi Type" panose="020B0503040202060203" pitchFamily="34" charset="0"/>
                  <a:ea typeface="微软雅黑" panose="020B0503020204020204" pitchFamily="34" charset="-122"/>
                </a:rPr>
                <a:t>上汽大众 </a:t>
              </a:r>
              <a:r>
                <a:rPr lang="en-US" altLang="zh-CN" sz="900" b="1" dirty="0">
                  <a:solidFill>
                    <a:srgbClr val="696A6C"/>
                  </a:solidFill>
                  <a:latin typeface="Audi Type" panose="020B0503040202060203" pitchFamily="34" charset="0"/>
                  <a:ea typeface="微软雅黑" panose="020B0503020204020204" pitchFamily="34" charset="-122"/>
                </a:rPr>
                <a:t>| </a:t>
              </a:r>
              <a:r>
                <a:rPr lang="zh-CN" altLang="en-US" sz="900" b="1" dirty="0">
                  <a:solidFill>
                    <a:srgbClr val="696A6C"/>
                  </a:solidFill>
                  <a:latin typeface="Audi Type" panose="020B0503040202060203" pitchFamily="34" charset="0"/>
                  <a:ea typeface="微软雅黑" panose="020B0503020204020204" pitchFamily="34" charset="-122"/>
                </a:rPr>
                <a:t>供应链管理专家</a:t>
              </a:r>
              <a:endParaRPr lang="en-US" altLang="zh-CN" sz="900" b="1" dirty="0">
                <a:solidFill>
                  <a:srgbClr val="696A6C"/>
                </a:solidFill>
                <a:latin typeface="Audi Type" panose="020B0503040202060203" pitchFamily="34" charset="0"/>
                <a:ea typeface="微软雅黑" panose="020B0503020204020204" pitchFamily="34" charset="-122"/>
              </a:endParaRP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主导供应链风险预判与决策：通过监控</a:t>
              </a:r>
              <a:r>
                <a:rPr lang="en-US" altLang="zh-CN" sz="900" dirty="0">
                  <a:solidFill>
                    <a:srgbClr val="696A6C"/>
                  </a:solidFill>
                  <a:latin typeface="Audi Type" panose="020B0503040202060203" pitchFamily="34" charset="0"/>
                  <a:ea typeface="微软雅黑" panose="020B0503020204020204" pitchFamily="34" charset="-122"/>
                </a:rPr>
                <a:t>150+</a:t>
              </a:r>
              <a:r>
                <a:rPr lang="zh-CN" altLang="en-US" sz="900" dirty="0">
                  <a:solidFill>
                    <a:srgbClr val="696A6C"/>
                  </a:solidFill>
                  <a:latin typeface="Audi Type" panose="020B0503040202060203" pitchFamily="34" charset="0"/>
                  <a:ea typeface="微软雅黑" panose="020B0503020204020204" pitchFamily="34" charset="-122"/>
                </a:rPr>
                <a:t>材料组（覆盖</a:t>
              </a:r>
              <a:r>
                <a:rPr lang="en-US" altLang="zh-CN" sz="900" dirty="0">
                  <a:solidFill>
                    <a:srgbClr val="696A6C"/>
                  </a:solidFill>
                  <a:latin typeface="Audi Type" panose="020B0503040202060203" pitchFamily="34" charset="0"/>
                  <a:ea typeface="微软雅黑" panose="020B0503020204020204" pitchFamily="34" charset="-122"/>
                </a:rPr>
                <a:t>500+</a:t>
              </a:r>
              <a:r>
                <a:rPr lang="zh-CN" altLang="en-US" sz="900" dirty="0">
                  <a:solidFill>
                    <a:srgbClr val="696A6C"/>
                  </a:solidFill>
                  <a:latin typeface="Audi Type" panose="020B0503040202060203" pitchFamily="34" charset="0"/>
                  <a:ea typeface="微软雅黑" panose="020B0503020204020204" pitchFamily="34" charset="-122"/>
                </a:rPr>
                <a:t>关键零部件）的产能、供需及市场动态，预判潜在断点风险（如芯片短缺、产能极限），为</a:t>
              </a:r>
              <a:r>
                <a:rPr lang="en-US" altLang="zh-CN" sz="900" dirty="0">
                  <a:solidFill>
                    <a:srgbClr val="696A6C"/>
                  </a:solidFill>
                  <a:latin typeface="Audi Type" panose="020B0503040202060203" pitchFamily="34" charset="0"/>
                  <a:ea typeface="微软雅黑" panose="020B0503020204020204" pitchFamily="34" charset="-122"/>
                </a:rPr>
                <a:t>S&amp;OP</a:t>
              </a:r>
              <a:r>
                <a:rPr lang="zh-CN" altLang="en-US" sz="900" dirty="0">
                  <a:solidFill>
                    <a:srgbClr val="696A6C"/>
                  </a:solidFill>
                  <a:latin typeface="Audi Type" panose="020B0503040202060203" pitchFamily="34" charset="0"/>
                  <a:ea typeface="微软雅黑" panose="020B0503020204020204" pitchFamily="34" charset="-122"/>
                </a:rPr>
                <a:t>（销售与运营计划）提供关键决策依据，驱动产能调整与排产优化。</a:t>
              </a: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风险解决体系搭建：建立供应链风险分析模型，制定应急预案（如二级供应商开发、安全库存策略），保障生产连续性。</a:t>
              </a:r>
            </a:p>
            <a:p>
              <a:pPr>
                <a:lnSpc>
                  <a:spcPct val="150000"/>
                </a:lnSpc>
                <a:buSzPct val="100000"/>
              </a:pPr>
              <a:r>
                <a:rPr lang="en-US" altLang="zh-CN" sz="900" b="1" dirty="0">
                  <a:solidFill>
                    <a:srgbClr val="696A6C"/>
                  </a:solidFill>
                  <a:latin typeface="Audi Type" panose="020B0503040202060203" pitchFamily="34" charset="0"/>
                  <a:ea typeface="微软雅黑" panose="020B0503020204020204" pitchFamily="34" charset="-122"/>
                </a:rPr>
                <a:t>2006.07 </a:t>
              </a:r>
              <a:r>
                <a:rPr lang="zh-CN" altLang="en-US" sz="900" b="1" dirty="0">
                  <a:solidFill>
                    <a:srgbClr val="696A6C"/>
                  </a:solidFill>
                  <a:latin typeface="Audi Type" panose="020B0503040202060203" pitchFamily="34" charset="0"/>
                  <a:ea typeface="微软雅黑" panose="020B0503020204020204" pitchFamily="34" charset="-122"/>
                </a:rPr>
                <a:t>～ </a:t>
              </a:r>
              <a:r>
                <a:rPr lang="en-US" altLang="zh-CN" sz="900" b="1" dirty="0">
                  <a:solidFill>
                    <a:srgbClr val="696A6C"/>
                  </a:solidFill>
                  <a:latin typeface="Audi Type" panose="020B0503040202060203" pitchFamily="34" charset="0"/>
                  <a:ea typeface="微软雅黑" panose="020B0503020204020204" pitchFamily="34" charset="-122"/>
                </a:rPr>
                <a:t>2010.06 | </a:t>
              </a:r>
              <a:r>
                <a:rPr lang="zh-CN" altLang="en-US" sz="900" b="1" dirty="0">
                  <a:solidFill>
                    <a:srgbClr val="696A6C"/>
                  </a:solidFill>
                  <a:latin typeface="Audi Type" panose="020B0503040202060203" pitchFamily="34" charset="0"/>
                  <a:ea typeface="微软雅黑" panose="020B0503020204020204" pitchFamily="34" charset="-122"/>
                </a:rPr>
                <a:t>上海大众动力总成有限公司 </a:t>
              </a:r>
              <a:r>
                <a:rPr lang="en-US" altLang="zh-CN" sz="900" b="1" dirty="0">
                  <a:solidFill>
                    <a:srgbClr val="696A6C"/>
                  </a:solidFill>
                  <a:latin typeface="Audi Type" panose="020B0503040202060203" pitchFamily="34" charset="0"/>
                  <a:ea typeface="微软雅黑" panose="020B0503020204020204" pitchFamily="34" charset="-122"/>
                </a:rPr>
                <a:t>/ </a:t>
              </a:r>
              <a:r>
                <a:rPr lang="zh-CN" altLang="en-US" sz="900" b="1" dirty="0">
                  <a:solidFill>
                    <a:srgbClr val="696A6C"/>
                  </a:solidFill>
                  <a:latin typeface="Audi Type" panose="020B0503040202060203" pitchFamily="34" charset="0"/>
                  <a:ea typeface="微软雅黑" panose="020B0503020204020204" pitchFamily="34" charset="-122"/>
                </a:rPr>
                <a:t>上汽大众 </a:t>
              </a:r>
              <a:r>
                <a:rPr lang="en-US" altLang="zh-CN" sz="900" b="1" dirty="0">
                  <a:solidFill>
                    <a:srgbClr val="696A6C"/>
                  </a:solidFill>
                  <a:latin typeface="Audi Type" panose="020B0503040202060203" pitchFamily="34" charset="0"/>
                  <a:ea typeface="微软雅黑" panose="020B0503020204020204" pitchFamily="34" charset="-122"/>
                </a:rPr>
                <a:t>| </a:t>
              </a:r>
              <a:r>
                <a:rPr lang="zh-CN" altLang="en-US" sz="900" b="1" dirty="0">
                  <a:solidFill>
                    <a:srgbClr val="696A6C"/>
                  </a:solidFill>
                  <a:latin typeface="Audi Type" panose="020B0503040202060203" pitchFamily="34" charset="0"/>
                  <a:ea typeface="微软雅黑" panose="020B0503020204020204" pitchFamily="34" charset="-122"/>
                </a:rPr>
                <a:t>零</a:t>
              </a:r>
              <a:r>
                <a:rPr lang="zh-CN" altLang="zh-CN" sz="900" b="1" dirty="0">
                  <a:solidFill>
                    <a:srgbClr val="696A6C"/>
                  </a:solidFill>
                  <a:latin typeface="Audi Type" panose="020B0503040202060203" pitchFamily="34" charset="0"/>
                  <a:ea typeface="微软雅黑" panose="020B0503020204020204" pitchFamily="34" charset="-122"/>
                </a:rPr>
                <a:t>件</a:t>
              </a:r>
              <a:r>
                <a:rPr lang="zh-CN"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筹措</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 </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物料计划员</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grpSp>
      <p:grpSp>
        <p:nvGrpSpPr>
          <p:cNvPr id="3" name="组合 2"/>
          <p:cNvGrpSpPr/>
          <p:nvPr/>
        </p:nvGrpSpPr>
        <p:grpSpPr>
          <a:xfrm>
            <a:off x="190233" y="8280735"/>
            <a:ext cx="6540766" cy="693257"/>
            <a:chOff x="190233" y="9241051"/>
            <a:chExt cx="6540766" cy="693257"/>
          </a:xfrm>
        </p:grpSpPr>
        <p:sp>
          <p:nvSpPr>
            <p:cNvPr id="24" name="文本框 23">
              <a:extLst>
                <a:ext uri="{FF2B5EF4-FFF2-40B4-BE49-F238E27FC236}">
                  <a16:creationId xmlns:a16="http://schemas.microsoft.com/office/drawing/2014/main" id="{6328BBE5-BD67-4242-90DC-5145D59E3704}"/>
                </a:ext>
              </a:extLst>
            </p:cNvPr>
            <p:cNvSpPr txBox="1"/>
            <p:nvPr/>
          </p:nvSpPr>
          <p:spPr>
            <a:xfrm>
              <a:off x="190233" y="9241051"/>
              <a:ext cx="796876" cy="275525"/>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相关技能</a:t>
              </a:r>
              <a:endParaRPr lang="en-US" altLang="zh-CN"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25" name="文本框 24">
              <a:extLst>
                <a:ext uri="{FF2B5EF4-FFF2-40B4-BE49-F238E27FC236}">
                  <a16:creationId xmlns:a16="http://schemas.microsoft.com/office/drawing/2014/main" id="{CC1EBB91-CDFE-B640-B2D6-B8BB71CC595B}"/>
                </a:ext>
              </a:extLst>
            </p:cNvPr>
            <p:cNvSpPr txBox="1"/>
            <p:nvPr/>
          </p:nvSpPr>
          <p:spPr>
            <a:xfrm>
              <a:off x="878997" y="9243413"/>
              <a:ext cx="1865069" cy="690895"/>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英语</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CET-4</a:t>
              </a:r>
            </a:p>
            <a:p>
              <a:pPr marL="171450" indent="-171450">
                <a:lnSpc>
                  <a:spcPct val="150000"/>
                </a:lnSpc>
                <a:buFont typeface="Arial" panose="020B0604020202020204" pitchFamily="34" charset="0"/>
                <a:buChar char="•"/>
              </a:pPr>
              <a:r>
                <a:rPr lang="zh-CN" altLang="en-US" sz="900" kern="1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计算机</a:t>
              </a:r>
              <a:r>
                <a:rPr lang="en-US" altLang="zh-CN" sz="900" kern="1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MS-Office	SAP,ERP</a:t>
              </a:r>
            </a:p>
          </p:txBody>
        </p:sp>
        <p:sp>
          <p:nvSpPr>
            <p:cNvPr id="26" name="文本框 25">
              <a:extLst>
                <a:ext uri="{FF2B5EF4-FFF2-40B4-BE49-F238E27FC236}">
                  <a16:creationId xmlns:a16="http://schemas.microsoft.com/office/drawing/2014/main" id="{CC1EBB91-CDFE-B640-B2D6-B8BB71CC595B}"/>
                </a:ext>
              </a:extLst>
            </p:cNvPr>
            <p:cNvSpPr txBox="1"/>
            <p:nvPr/>
          </p:nvSpPr>
          <p:spPr>
            <a:xfrm>
              <a:off x="2744066" y="9241051"/>
              <a:ext cx="3986933" cy="691023"/>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体系证书</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VDA6.3</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质量过程审核</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lvl="2">
                <a:lnSpc>
                  <a:spcPct val="150000"/>
                </a:lnSpc>
              </a:pP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VDA6.8</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供应链过程审核员</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marL="171450" indent="-171450">
                <a:lnSpc>
                  <a:spcPct val="150000"/>
                </a:lnSpc>
                <a:buFont typeface="Arial" panose="020B0604020202020204" pitchFamily="34" charset="0"/>
                <a:buChar char="•"/>
              </a:pPr>
              <a:r>
                <a:rPr lang="zh-CN" altLang="en-US" sz="900" kern="1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讲师</a:t>
              </a:r>
              <a:r>
                <a:rPr lang="en-US" altLang="zh-CN" sz="900" kern="1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zh-CN" altLang="en-US" sz="900" b="1" kern="1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上汽集团外聘讲师</a:t>
              </a:r>
              <a:r>
                <a:rPr lang="en-US" altLang="zh-CN" sz="900" kern="1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2020~2022</a:t>
              </a:r>
              <a:r>
                <a:rPr lang="zh-CN" altLang="en-US" sz="900" kern="1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年</a:t>
              </a:r>
              <a:endParaRPr lang="en-US" altLang="zh-CN" sz="900" kern="100" dirty="0">
                <a:solidFill>
                  <a:srgbClr val="696A6C"/>
                </a:solidFill>
                <a:latin typeface="Audi Type" panose="020B0503040202060203" pitchFamily="34" charset="0"/>
                <a:ea typeface="Microsoft YaHei" panose="020B0503020204020204" pitchFamily="34" charset="-122"/>
                <a:cs typeface="Audi Type" panose="020B0503040202060203" pitchFamily="34" charset="0"/>
              </a:endParaRPr>
            </a:p>
          </p:txBody>
        </p:sp>
      </p:grpSp>
      <p:grpSp>
        <p:nvGrpSpPr>
          <p:cNvPr id="22" name="组合 21">
            <a:extLst>
              <a:ext uri="{FF2B5EF4-FFF2-40B4-BE49-F238E27FC236}">
                <a16:creationId xmlns:a16="http://schemas.microsoft.com/office/drawing/2014/main" id="{A73E490A-866D-55ED-B6BA-97E2392F4636}"/>
              </a:ext>
            </a:extLst>
          </p:cNvPr>
          <p:cNvGrpSpPr/>
          <p:nvPr/>
        </p:nvGrpSpPr>
        <p:grpSpPr>
          <a:xfrm>
            <a:off x="-6717630" y="1044394"/>
            <a:ext cx="6494110" cy="2571705"/>
            <a:chOff x="-118894" y="1175783"/>
            <a:chExt cx="6849892" cy="562647"/>
          </a:xfrm>
        </p:grpSpPr>
        <p:sp>
          <p:nvSpPr>
            <p:cNvPr id="23" name="文本框 22">
              <a:extLst>
                <a:ext uri="{FF2B5EF4-FFF2-40B4-BE49-F238E27FC236}">
                  <a16:creationId xmlns:a16="http://schemas.microsoft.com/office/drawing/2014/main" id="{7D90C2D0-4F78-0B34-0E37-0DF95A634276}"/>
                </a:ext>
              </a:extLst>
            </p:cNvPr>
            <p:cNvSpPr txBox="1"/>
            <p:nvPr/>
          </p:nvSpPr>
          <p:spPr>
            <a:xfrm>
              <a:off x="-118894" y="1175783"/>
              <a:ext cx="1082296" cy="60813"/>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rPr>
                <a:t>核心优势与价值</a:t>
              </a:r>
            </a:p>
          </p:txBody>
        </p:sp>
        <p:sp>
          <p:nvSpPr>
            <p:cNvPr id="27" name="文本框 26">
              <a:extLst>
                <a:ext uri="{FF2B5EF4-FFF2-40B4-BE49-F238E27FC236}">
                  <a16:creationId xmlns:a16="http://schemas.microsoft.com/office/drawing/2014/main" id="{94750D9C-079A-8E23-9319-31350DCB3EF7}"/>
                </a:ext>
              </a:extLst>
            </p:cNvPr>
            <p:cNvSpPr txBox="1"/>
            <p:nvPr/>
          </p:nvSpPr>
          <p:spPr>
            <a:xfrm>
              <a:off x="858675" y="1177643"/>
              <a:ext cx="5872323" cy="560787"/>
            </a:xfrm>
            <a:prstGeom prst="rect">
              <a:avLst/>
            </a:prstGeom>
            <a:noFill/>
          </p:spPr>
          <p:txBody>
            <a:bodyPr wrap="square" rtlCol="0">
              <a:spAutoFit/>
            </a:bodyPr>
            <a:lstStyle/>
            <a:p>
              <a:pPr algn="l">
                <a:lnSpc>
                  <a:spcPct val="150000"/>
                </a:lnSpc>
                <a:buFont typeface="Arial" panose="020B0604020202020204" pitchFamily="34" charset="0"/>
                <a:buChar char="•"/>
              </a:pPr>
              <a:r>
                <a:rPr lang="zh-CN" altLang="en-US" sz="900" b="1" dirty="0">
                  <a:solidFill>
                    <a:srgbClr val="696A6C"/>
                  </a:solidFill>
                  <a:latin typeface="Audi Type" panose="020B0503040202060203" pitchFamily="34" charset="0"/>
                  <a:ea typeface="微软雅黑" panose="020B0503020204020204" pitchFamily="34" charset="-122"/>
                </a:rPr>
                <a:t>欧洲供应链合规的“守门人”与“架构师”</a:t>
              </a:r>
              <a:r>
                <a:rPr lang="zh-CN" altLang="en-US" sz="900" dirty="0">
                  <a:solidFill>
                    <a:srgbClr val="696A6C"/>
                  </a:solidFill>
                  <a:latin typeface="Audi Type" panose="020B0503040202060203" pitchFamily="34" charset="0"/>
                  <a:ea typeface="微软雅黑" panose="020B0503020204020204" pitchFamily="34" charset="-122"/>
                </a:rPr>
                <a:t>：作为大众集团官方认证的</a:t>
              </a:r>
              <a:r>
                <a:rPr lang="en-US" altLang="zh-CN" sz="900" dirty="0">
                  <a:solidFill>
                    <a:srgbClr val="696A6C"/>
                  </a:solidFill>
                  <a:latin typeface="Audi Type" panose="020B0503040202060203" pitchFamily="34" charset="0"/>
                  <a:ea typeface="微软雅黑" panose="020B0503020204020204" pitchFamily="34" charset="-122"/>
                </a:rPr>
                <a:t>VDA 6.8</a:t>
              </a:r>
              <a:r>
                <a:rPr lang="zh-CN" altLang="en-US" sz="900" dirty="0">
                  <a:solidFill>
                    <a:srgbClr val="696A6C"/>
                  </a:solidFill>
                  <a:latin typeface="Audi Type" panose="020B0503040202060203" pitchFamily="34" charset="0"/>
                  <a:ea typeface="微软雅黑" panose="020B0503020204020204" pitchFamily="34" charset="-122"/>
                </a:rPr>
                <a:t>审核专家，深谙欧洲主机厂（尤其是奥迪、保时捷等高端品牌）对供应商供应链全过程（从订单接收到交付回收）的审核逻辑、评估要点及潜在风险点，能系统性地指导企业构建合规体系。</a:t>
              </a:r>
            </a:p>
            <a:p>
              <a:pPr algn="l">
                <a:lnSpc>
                  <a:spcPct val="150000"/>
                </a:lnSpc>
                <a:buFont typeface="Arial" panose="020B0604020202020204" pitchFamily="34" charset="0"/>
                <a:buChar char="•"/>
              </a:pPr>
              <a:r>
                <a:rPr lang="zh-CN" altLang="en-US" sz="900" b="1" dirty="0">
                  <a:solidFill>
                    <a:srgbClr val="696A6C"/>
                  </a:solidFill>
                  <a:latin typeface="Audi Type" panose="020B0503040202060203" pitchFamily="34" charset="0"/>
                  <a:ea typeface="微软雅黑" panose="020B0503020204020204" pitchFamily="34" charset="-122"/>
                </a:rPr>
                <a:t>跨文化供应链整合与领导力</a:t>
              </a:r>
              <a:r>
                <a:rPr lang="zh-CN" altLang="en-US" sz="900" dirty="0">
                  <a:solidFill>
                    <a:srgbClr val="696A6C"/>
                  </a:solidFill>
                  <a:latin typeface="Audi Type" panose="020B0503040202060203" pitchFamily="34" charset="0"/>
                  <a:ea typeface="微软雅黑" panose="020B0503020204020204" pitchFamily="34" charset="-122"/>
                </a:rPr>
                <a:t>：近</a:t>
              </a:r>
              <a:r>
                <a:rPr lang="en-US" altLang="zh-CN" sz="900" dirty="0">
                  <a:solidFill>
                    <a:srgbClr val="696A6C"/>
                  </a:solidFill>
                  <a:latin typeface="Audi Type" panose="020B0503040202060203" pitchFamily="34" charset="0"/>
                  <a:ea typeface="微软雅黑" panose="020B0503020204020204" pitchFamily="34" charset="-122"/>
                </a:rPr>
                <a:t>20</a:t>
              </a:r>
              <a:r>
                <a:rPr lang="zh-CN" altLang="en-US" sz="900" dirty="0">
                  <a:solidFill>
                    <a:srgbClr val="696A6C"/>
                  </a:solidFill>
                  <a:latin typeface="Audi Type" panose="020B0503040202060203" pitchFamily="34" charset="0"/>
                  <a:ea typeface="微软雅黑" panose="020B0503020204020204" pitchFamily="34" charset="-122"/>
                </a:rPr>
                <a:t>年与德国总部及亚太区多元文化供应商（日、德、中等）的协同经验，精通如何在尊重欧洲商业文化与运营习惯的前提下，高效推动流程落地与绩效改进，是中欧团队间不可或缺的沟通桥梁与领导核心。</a:t>
              </a:r>
            </a:p>
            <a:p>
              <a:pPr algn="l">
                <a:lnSpc>
                  <a:spcPct val="150000"/>
                </a:lnSpc>
                <a:buFont typeface="Arial" panose="020B0604020202020204" pitchFamily="34" charset="0"/>
                <a:buChar char="•"/>
              </a:pPr>
              <a:r>
                <a:rPr lang="zh-CN" altLang="en-US" sz="900" b="1" dirty="0">
                  <a:solidFill>
                    <a:srgbClr val="696A6C"/>
                  </a:solidFill>
                  <a:latin typeface="Audi Type" panose="020B0503040202060203" pitchFamily="34" charset="0"/>
                  <a:ea typeface="微软雅黑" panose="020B0503020204020204" pitchFamily="34" charset="-122"/>
                </a:rPr>
                <a:t>从战略准入到卓越运营的全链条能力</a:t>
              </a:r>
              <a:r>
                <a:rPr lang="zh-CN" altLang="en-US" sz="900" dirty="0">
                  <a:solidFill>
                    <a:srgbClr val="696A6C"/>
                  </a:solidFill>
                  <a:latin typeface="Audi Type" panose="020B0503040202060203" pitchFamily="34" charset="0"/>
                  <a:ea typeface="微软雅黑" panose="020B0503020204020204" pitchFamily="34" charset="-122"/>
                </a:rPr>
                <a:t>：能力覆盖供应链战略规划、审核认证、成熟度提升（</a:t>
              </a:r>
              <a:r>
                <a:rPr lang="en-US" altLang="zh-CN" sz="900" dirty="0" err="1">
                  <a:solidFill>
                    <a:srgbClr val="696A6C"/>
                  </a:solidFill>
                  <a:latin typeface="Audi Type" panose="020B0503040202060203" pitchFamily="34" charset="0"/>
                  <a:ea typeface="微软雅黑" panose="020B0503020204020204" pitchFamily="34" charset="-122"/>
                </a:rPr>
                <a:t>QPNi</a:t>
              </a:r>
              <a:r>
                <a:rPr lang="zh-CN" altLang="en-US" sz="900" dirty="0">
                  <a:solidFill>
                    <a:srgbClr val="696A6C"/>
                  </a:solidFill>
                  <a:latin typeface="Audi Type" panose="020B0503040202060203" pitchFamily="34" charset="0"/>
                  <a:ea typeface="微软雅黑" panose="020B0503020204020204" pitchFamily="34" charset="-122"/>
                </a:rPr>
                <a:t>）、产能爬坡直至持续优化。不仅能帮助企业“拿到门票”（通过审核），更能确保其“稳定演出”（实现高效、可靠运营）。</a:t>
              </a:r>
            </a:p>
            <a:p>
              <a:pPr algn="l">
                <a:lnSpc>
                  <a:spcPct val="150000"/>
                </a:lnSpc>
                <a:buFont typeface="Arial" panose="020B0604020202020204" pitchFamily="34" charset="0"/>
                <a:buChar char="•"/>
              </a:pPr>
              <a:r>
                <a:rPr lang="zh-CN" altLang="en-US" sz="900" b="1" dirty="0">
                  <a:solidFill>
                    <a:srgbClr val="696A6C"/>
                  </a:solidFill>
                  <a:latin typeface="Audi Type" panose="020B0503040202060203" pitchFamily="34" charset="0"/>
                  <a:ea typeface="微软雅黑" panose="020B0503020204020204" pitchFamily="34" charset="-122"/>
                </a:rPr>
                <a:t>独特的双边视角与价值转化能力</a:t>
              </a:r>
              <a:r>
                <a:rPr lang="zh-CN" altLang="en-US" sz="900" dirty="0">
                  <a:solidFill>
                    <a:srgbClr val="696A6C"/>
                  </a:solidFill>
                  <a:latin typeface="Audi Type" panose="020B0503040202060203" pitchFamily="34" charset="0"/>
                  <a:ea typeface="微软雅黑" panose="020B0503020204020204" pitchFamily="34" charset="-122"/>
                </a:rPr>
                <a:t>：深刻理解中国企业的成本优势与快速响应能力，同时掌握欧洲市场对质量、流程与可持续性的刚性要求。能精准定位差距，将国际标准转化为可执行、可衡量的本土化改进方案，实现成本与合规的最优平衡。</a:t>
              </a:r>
            </a:p>
          </p:txBody>
        </p:sp>
      </p:grpSp>
    </p:spTree>
    <p:extLst>
      <p:ext uri="{BB962C8B-B14F-4D97-AF65-F5344CB8AC3E}">
        <p14:creationId xmlns:p14="http://schemas.microsoft.com/office/powerpoint/2010/main" val="3511022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318F5-B91E-619B-4E0E-F06D8A2B13F4}"/>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03489C8B-CBE6-5FD4-FE8E-0E0A517A87B7}"/>
              </a:ext>
            </a:extLst>
          </p:cNvPr>
          <p:cNvGrpSpPr/>
          <p:nvPr/>
        </p:nvGrpSpPr>
        <p:grpSpPr>
          <a:xfrm>
            <a:off x="170637" y="350174"/>
            <a:ext cx="6326942" cy="988219"/>
            <a:chOff x="37495" y="337813"/>
            <a:chExt cx="6326942" cy="1030956"/>
          </a:xfrm>
        </p:grpSpPr>
        <p:sp>
          <p:nvSpPr>
            <p:cNvPr id="10" name="文本框 9">
              <a:extLst>
                <a:ext uri="{FF2B5EF4-FFF2-40B4-BE49-F238E27FC236}">
                  <a16:creationId xmlns:a16="http://schemas.microsoft.com/office/drawing/2014/main" id="{9160D1C7-40BD-3AE8-3D23-CC892CB6B0F6}"/>
                </a:ext>
              </a:extLst>
            </p:cNvPr>
            <p:cNvSpPr txBox="1"/>
            <p:nvPr/>
          </p:nvSpPr>
          <p:spPr>
            <a:xfrm>
              <a:off x="37495" y="337813"/>
              <a:ext cx="3089831" cy="1030956"/>
            </a:xfrm>
            <a:prstGeom prst="rect">
              <a:avLst/>
            </a:prstGeom>
            <a:noFill/>
          </p:spPr>
          <p:txBody>
            <a:bodyPr wrap="square" rtlCol="0">
              <a:spAutoFit/>
            </a:bodyPr>
            <a:lstStyle/>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Name</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Li</a:t>
              </a:r>
              <a:r>
                <a:rPr lang="zh-CN" altLang="en-US" sz="1000" dirty="0">
                  <a:latin typeface="Arial" panose="020B0604020202020204" pitchFamily="34" charset="0"/>
                  <a:ea typeface="微软雅黑" panose="020B0503020204020204" pitchFamily="34" charset="-122"/>
                  <a:cs typeface="Arial" panose="020B0604020202020204" pitchFamily="34" charset="0"/>
                </a:rPr>
                <a:t> </a:t>
              </a:r>
              <a:r>
                <a:rPr lang="en-US" altLang="zh-CN" sz="1000" dirty="0" err="1">
                  <a:latin typeface="Arial" panose="020B0604020202020204" pitchFamily="34" charset="0"/>
                  <a:ea typeface="微软雅黑" panose="020B0503020204020204" pitchFamily="34" charset="-122"/>
                  <a:cs typeface="Arial" panose="020B0604020202020204" pitchFamily="34" charset="0"/>
                </a:rPr>
                <a:t>Jiajun</a:t>
              </a:r>
              <a:endParaRPr lang="en-US" altLang="zh-CN" sz="1000" dirty="0">
                <a:latin typeface="Arial" panose="020B0604020202020204" pitchFamily="34" charset="0"/>
                <a:ea typeface="微软雅黑" panose="020B0503020204020204" pitchFamily="34" charset="-122"/>
                <a:cs typeface="Arial" panose="020B0604020202020204" pitchFamily="34" charset="0"/>
              </a:endParaRPr>
            </a:p>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Birthday:	Dec.1983</a:t>
              </a:r>
            </a:p>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Status</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Married</a:t>
              </a:r>
            </a:p>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Mail</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lijiajun_vwpt@163.com</a:t>
              </a:r>
              <a:endParaRPr lang="zh-CN" altLang="en-US" sz="1000" dirty="0">
                <a:latin typeface="Arial" panose="020B0604020202020204" pitchFamily="34" charset="0"/>
                <a:ea typeface="微软雅黑" panose="020B0503020204020204" pitchFamily="34" charset="-122"/>
                <a:cs typeface="Arial" panose="020B0604020202020204" pitchFamily="34" charset="0"/>
              </a:endParaRPr>
            </a:p>
          </p:txBody>
        </p:sp>
        <p:sp>
          <p:nvSpPr>
            <p:cNvPr id="19" name="文本框 18">
              <a:extLst>
                <a:ext uri="{FF2B5EF4-FFF2-40B4-BE49-F238E27FC236}">
                  <a16:creationId xmlns:a16="http://schemas.microsoft.com/office/drawing/2014/main" id="{E8CED473-158F-AFE3-0FA2-6581BD95E2D9}"/>
                </a:ext>
              </a:extLst>
            </p:cNvPr>
            <p:cNvSpPr txBox="1"/>
            <p:nvPr/>
          </p:nvSpPr>
          <p:spPr>
            <a:xfrm>
              <a:off x="3208353" y="337813"/>
              <a:ext cx="3156084" cy="790141"/>
            </a:xfrm>
            <a:prstGeom prst="rect">
              <a:avLst/>
            </a:prstGeom>
            <a:noFill/>
          </p:spPr>
          <p:txBody>
            <a:bodyPr wrap="square" rtlCol="0">
              <a:spAutoFit/>
            </a:bodyPr>
            <a:lstStyle/>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Gender</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Male</a:t>
              </a:r>
            </a:p>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Location</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Shanghai, China</a:t>
              </a:r>
            </a:p>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Telephone</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+86-13761058893</a:t>
              </a:r>
            </a:p>
          </p:txBody>
        </p:sp>
      </p:grpSp>
      <p:grpSp>
        <p:nvGrpSpPr>
          <p:cNvPr id="4" name="组合 3">
            <a:extLst>
              <a:ext uri="{FF2B5EF4-FFF2-40B4-BE49-F238E27FC236}">
                <a16:creationId xmlns:a16="http://schemas.microsoft.com/office/drawing/2014/main" id="{D0CF933D-8DED-371F-C5CC-234E22C9E351}"/>
              </a:ext>
            </a:extLst>
          </p:cNvPr>
          <p:cNvGrpSpPr/>
          <p:nvPr/>
        </p:nvGrpSpPr>
        <p:grpSpPr>
          <a:xfrm>
            <a:off x="170637" y="2801242"/>
            <a:ext cx="6457577" cy="6356875"/>
            <a:chOff x="156235" y="2068072"/>
            <a:chExt cx="6457577" cy="5090037"/>
          </a:xfrm>
        </p:grpSpPr>
        <p:sp>
          <p:nvSpPr>
            <p:cNvPr id="20" name="文本框 19">
              <a:extLst>
                <a:ext uri="{FF2B5EF4-FFF2-40B4-BE49-F238E27FC236}">
                  <a16:creationId xmlns:a16="http://schemas.microsoft.com/office/drawing/2014/main" id="{68095A53-EEFC-300B-ACB3-A5EBF9F0CD21}"/>
                </a:ext>
              </a:extLst>
            </p:cNvPr>
            <p:cNvSpPr txBox="1"/>
            <p:nvPr/>
          </p:nvSpPr>
          <p:spPr>
            <a:xfrm>
              <a:off x="167865" y="2172199"/>
              <a:ext cx="6445947" cy="4985910"/>
            </a:xfrm>
            <a:prstGeom prst="rect">
              <a:avLst/>
            </a:prstGeom>
            <a:noFill/>
          </p:spPr>
          <p:txBody>
            <a:bodyPr wrap="square" rtlCol="0">
              <a:spAutoFit/>
            </a:bodyPr>
            <a:lstStyle/>
            <a:p>
              <a:pPr>
                <a:lnSpc>
                  <a:spcPts val="1600"/>
                </a:lnSpc>
              </a:pPr>
              <a:r>
                <a:rPr lang="en-US" altLang="zh-CN"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2022.05 </a:t>
              </a:r>
              <a:r>
                <a:rPr lang="zh-CN" altLang="en-US"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Present	Audi</a:t>
              </a:r>
              <a:r>
                <a:rPr lang="zh-CN" altLang="en-US"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China</a:t>
              </a:r>
              <a:r>
                <a:rPr lang="zh-CN" altLang="en-US"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Supply</a:t>
              </a:r>
              <a:r>
                <a:rPr lang="zh-CN" altLang="en-US"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Chain</a:t>
              </a:r>
              <a:r>
                <a:rPr lang="zh-CN" altLang="en-US"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Great</a:t>
              </a:r>
              <a:r>
                <a:rPr lang="zh-CN" altLang="en-US"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Asia</a:t>
              </a:r>
            </a:p>
            <a:p>
              <a:pPr lvl="2">
                <a:lnSpc>
                  <a:spcPts val="1600"/>
                </a:lnSpc>
              </a:pPr>
              <a:r>
                <a:rPr lang="en-US" altLang="zh-CN"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dirty="0">
                  <a:solidFill>
                    <a:srgbClr val="696A6C"/>
                  </a:solidFill>
                  <a:latin typeface="Arial" panose="020B0604020202020204" pitchFamily="34" charset="0"/>
                  <a:ea typeface="微软雅黑" panose="020B0503020204020204" pitchFamily="34" charset="-122"/>
                  <a:cs typeface="Arial" panose="020B0604020202020204" pitchFamily="34" charset="0"/>
                </a:rPr>
                <a:t>Supply Chain Auditor and Planner</a:t>
              </a:r>
            </a:p>
            <a:p>
              <a:pPr marL="171450" indent="-171450">
                <a:lnSpc>
                  <a:spcPts val="1600"/>
                </a:lnSpc>
                <a:buFont typeface="Arial" panose="020B0604020202020204" pitchFamily="34" charset="0"/>
                <a:buChar char="•"/>
              </a:pPr>
              <a:r>
                <a:rPr lang="en-US" sz="900" b="1" dirty="0">
                  <a:latin typeface="Arial" panose="020B0604020202020204" pitchFamily="34" charset="0"/>
                  <a:ea typeface="微软雅黑" panose="020B0503020204020204" pitchFamily="34" charset="-122"/>
                  <a:cs typeface="Arial" panose="020B0604020202020204" pitchFamily="34" charset="0"/>
                </a:rPr>
                <a:t>Global Supplier Qualification (VDA 6.8): </a:t>
              </a:r>
              <a:r>
                <a:rPr lang="en-US" sz="900" dirty="0">
                  <a:latin typeface="Arial" panose="020B0604020202020204" pitchFamily="34" charset="0"/>
                  <a:ea typeface="微软雅黑" panose="020B0503020204020204" pitchFamily="34" charset="-122"/>
                  <a:cs typeface="Arial" panose="020B0604020202020204" pitchFamily="34" charset="0"/>
                </a:rPr>
                <a:t>Served as Volkswagen Group-certified VDA 6.8 expert, representing premium European brands (Audi, Porsche, Lamborghini) to conduct end-to-end supply chain process audits for over 100 potential suppliers across Asia-Pacific. Audits covered critical info-flow &amp; material-flow (planning, procurement, production, in-house logistics, shipment). Audit conclusions served as mandatory prerequisites for suppliers to secure Volkswagen Group global sourcing projects.</a:t>
              </a:r>
            </a:p>
            <a:p>
              <a:pPr marL="171450" indent="-171450">
                <a:lnSpc>
                  <a:spcPts val="1600"/>
                </a:lnSpc>
                <a:buFont typeface="Arial" panose="020B0604020202020204" pitchFamily="34" charset="0"/>
                <a:buChar char="•"/>
              </a:pPr>
              <a:r>
                <a:rPr lang="en-US" sz="900" b="1" dirty="0">
                  <a:latin typeface="Arial" panose="020B0604020202020204" pitchFamily="34" charset="0"/>
                  <a:ea typeface="微软雅黑" panose="020B0503020204020204" pitchFamily="34" charset="-122"/>
                  <a:cs typeface="Arial" panose="020B0604020202020204" pitchFamily="34" charset="0"/>
                </a:rPr>
                <a:t>Strategic Supplier Development &amp; Maturity (</a:t>
              </a:r>
              <a:r>
                <a:rPr lang="en-US" sz="900" b="1" dirty="0" err="1">
                  <a:latin typeface="Arial" panose="020B0604020202020204" pitchFamily="34" charset="0"/>
                  <a:ea typeface="微软雅黑" panose="020B0503020204020204" pitchFamily="34" charset="-122"/>
                  <a:cs typeface="Arial" panose="020B0604020202020204" pitchFamily="34" charset="0"/>
                </a:rPr>
                <a:t>QPNi</a:t>
              </a:r>
              <a:r>
                <a:rPr lang="en-US" sz="900" b="1" dirty="0">
                  <a:latin typeface="Arial" panose="020B0604020202020204" pitchFamily="34" charset="0"/>
                  <a:ea typeface="微软雅黑" panose="020B0503020204020204" pitchFamily="34" charset="-122"/>
                  <a:cs typeface="Arial" panose="020B0604020202020204" pitchFamily="34" charset="0"/>
                </a:rPr>
                <a:t>): </a:t>
              </a:r>
              <a:r>
                <a:rPr lang="en-US" sz="900" dirty="0">
                  <a:latin typeface="Arial" panose="020B0604020202020204" pitchFamily="34" charset="0"/>
                  <a:ea typeface="微软雅黑" panose="020B0503020204020204" pitchFamily="34" charset="-122"/>
                  <a:cs typeface="Arial" panose="020B0604020202020204" pitchFamily="34" charset="0"/>
                </a:rPr>
                <a:t>Spearheaded customized coaching programs for underperforming and cross-industry suppliers, enabling 13 suppliers to meet Volkswagen standards and supporting successful launch of 6 new projects. As PPE CN Project core member, drove 11+ key suppliers to achieve supply chain maturity targets per </a:t>
              </a:r>
              <a:r>
                <a:rPr lang="en-US" sz="900" dirty="0" err="1">
                  <a:latin typeface="Arial" panose="020B0604020202020204" pitchFamily="34" charset="0"/>
                  <a:ea typeface="微软雅黑" panose="020B0503020204020204" pitchFamily="34" charset="-122"/>
                  <a:cs typeface="Arial" panose="020B0604020202020204" pitchFamily="34" charset="0"/>
                </a:rPr>
                <a:t>QPNi</a:t>
              </a:r>
              <a:r>
                <a:rPr lang="en-US" sz="900" dirty="0">
                  <a:latin typeface="Arial" panose="020B0604020202020204" pitchFamily="34" charset="0"/>
                  <a:ea typeface="微软雅黑" panose="020B0503020204020204" pitchFamily="34" charset="-122"/>
                  <a:cs typeface="Arial" panose="020B0604020202020204" pitchFamily="34" charset="0"/>
                </a:rPr>
                <a:t> framework, ensuring timely project milestones.</a:t>
              </a:r>
            </a:p>
            <a:p>
              <a:pPr marL="171450" indent="-171450">
                <a:lnSpc>
                  <a:spcPts val="1600"/>
                </a:lnSpc>
                <a:buFont typeface="Arial" panose="020B0604020202020204" pitchFamily="34" charset="0"/>
                <a:buChar char="•"/>
              </a:pPr>
              <a:r>
                <a:rPr lang="en-US" sz="900" b="1" dirty="0">
                  <a:latin typeface="Arial" panose="020B0604020202020204" pitchFamily="34" charset="0"/>
                  <a:ea typeface="微软雅黑" panose="020B0503020204020204" pitchFamily="34" charset="-122"/>
                  <a:cs typeface="Arial" panose="020B0604020202020204" pitchFamily="34" charset="0"/>
                </a:rPr>
                <a:t>Supplier Capacity Optimization:</a:t>
              </a:r>
              <a:r>
                <a:rPr lang="en-US" sz="900" dirty="0">
                  <a:latin typeface="Arial" panose="020B0604020202020204" pitchFamily="34" charset="0"/>
                  <a:ea typeface="微软雅黑" panose="020B0503020204020204" pitchFamily="34" charset="-122"/>
                  <a:cs typeface="Arial" panose="020B0604020202020204" pitchFamily="34" charset="0"/>
                </a:rPr>
                <a:t> Led capacity planning and ramp-up for new projects, conducting on-site reviews and providing technical guidance to optimize critical processes. Achieved significant improvements (e.g., reduced assembly cycle time at German brake caliper plant by 22%, from 35.4s to 27.3s/pcs), enhancing stability and meeting ramp-up demands. Proactively resolved capacity bottlenecks and supply disruptions during mass production.</a:t>
              </a:r>
            </a:p>
            <a:p>
              <a:pPr marL="171450" indent="-171450">
                <a:lnSpc>
                  <a:spcPts val="1600"/>
                </a:lnSpc>
                <a:buFont typeface="Arial" panose="020B0604020202020204" pitchFamily="34" charset="0"/>
                <a:buChar char="•"/>
              </a:pPr>
              <a:r>
                <a:rPr lang="en-US" sz="900" b="1" dirty="0">
                  <a:latin typeface="Arial" panose="020B0604020202020204" pitchFamily="34" charset="0"/>
                  <a:ea typeface="微软雅黑" panose="020B0503020204020204" pitchFamily="34" charset="-122"/>
                  <a:cs typeface="Arial" panose="020B0604020202020204" pitchFamily="34" charset="0"/>
                </a:rPr>
                <a:t>Supply Chain Consulting Business Build:</a:t>
              </a:r>
              <a:r>
                <a:rPr lang="en-US" sz="900" dirty="0">
                  <a:latin typeface="Arial" panose="020B0604020202020204" pitchFamily="34" charset="0"/>
                  <a:ea typeface="微软雅黑" panose="020B0503020204020204" pitchFamily="34" charset="-122"/>
                  <a:cs typeface="Arial" panose="020B0604020202020204" pitchFamily="34" charset="0"/>
                </a:rPr>
                <a:t> Pioneered and established Audi China's end-to-end external supply chain consulting practice from scratch, completing framework design and implementation within 3 months. Translated rigorous VDA 6.8 standards and best practices into market-ready solutions, delivering significant cost savings for clients (e.g., 17% reduction in warehousing/operations costs for a German enterprise).</a:t>
              </a:r>
              <a:br>
                <a:rPr lang="en-US" altLang="zh-CN" sz="900" dirty="0">
                  <a:solidFill>
                    <a:srgbClr val="81858C"/>
                  </a:solidFill>
                  <a:effectLst/>
                  <a:latin typeface="Arial" panose="020B0604020202020204" pitchFamily="34" charset="0"/>
                  <a:cs typeface="Arial" panose="020B0604020202020204" pitchFamily="34" charset="0"/>
                </a:rPr>
              </a:br>
              <a:endParaRPr lang="en-US" altLang="zh-CN" sz="900" dirty="0">
                <a:solidFill>
                  <a:srgbClr val="81858C"/>
                </a:solidFill>
                <a:effectLst/>
                <a:latin typeface="Arial" panose="020B0604020202020204" pitchFamily="34" charset="0"/>
                <a:cs typeface="Arial" panose="020B0604020202020204" pitchFamily="34" charset="0"/>
              </a:endParaRPr>
            </a:p>
            <a:p>
              <a:pPr>
                <a:lnSpc>
                  <a:spcPts val="1600"/>
                </a:lnSpc>
              </a:pPr>
              <a:r>
                <a:rPr lang="en-US" altLang="zh-CN"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2006.07 </a:t>
              </a:r>
              <a:r>
                <a:rPr lang="zh-CN" altLang="en-US"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2022.05	Shanghai Volkswagen Powertrain Co., Ltd. / SAIC Volkswagen</a:t>
              </a:r>
            </a:p>
            <a:p>
              <a:pPr>
                <a:lnSpc>
                  <a:spcPts val="1600"/>
                </a:lnSpc>
              </a:pPr>
              <a:r>
                <a:rPr lang="en-US" altLang="zh-CN" sz="1000" dirty="0">
                  <a:solidFill>
                    <a:srgbClr val="696A6C"/>
                  </a:solidFill>
                  <a:latin typeface="Arial" panose="020B0604020202020204" pitchFamily="34" charset="0"/>
                  <a:ea typeface="微软雅黑" panose="020B0503020204020204" pitchFamily="34" charset="-122"/>
                  <a:cs typeface="Arial" panose="020B0604020202020204" pitchFamily="34" charset="0"/>
                </a:rPr>
                <a:t>2010.07 </a:t>
              </a:r>
              <a:r>
                <a:rPr lang="zh-CN" altLang="en-US" sz="1000"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dirty="0">
                  <a:solidFill>
                    <a:srgbClr val="696A6C"/>
                  </a:solidFill>
                  <a:latin typeface="Arial" panose="020B0604020202020204" pitchFamily="34" charset="0"/>
                  <a:ea typeface="微软雅黑" panose="020B0503020204020204" pitchFamily="34" charset="-122"/>
                  <a:cs typeface="Arial" panose="020B0604020202020204" pitchFamily="34" charset="0"/>
                </a:rPr>
                <a:t>2022.05</a:t>
              </a:r>
              <a:r>
                <a:rPr lang="en-US" altLang="zh-CN" sz="1000" b="1" dirty="0">
                  <a:solidFill>
                    <a:srgbClr val="9EA1A2"/>
                  </a:solidFill>
                  <a:latin typeface="Arial" panose="020B0604020202020204" pitchFamily="34" charset="0"/>
                  <a:ea typeface="微软雅黑" panose="020B0503020204020204" pitchFamily="34" charset="-122"/>
                  <a:cs typeface="Arial" panose="020B0604020202020204" pitchFamily="34" charset="0"/>
                </a:rPr>
                <a:t>	</a:t>
              </a:r>
              <a:r>
                <a:rPr lang="en-US" altLang="zh-CN" sz="1000" dirty="0">
                  <a:solidFill>
                    <a:srgbClr val="696A6C"/>
                  </a:solidFill>
                  <a:latin typeface="Arial" panose="020B0604020202020204" pitchFamily="34" charset="0"/>
                  <a:ea typeface="微软雅黑" panose="020B0503020204020204" pitchFamily="34" charset="-122"/>
                  <a:cs typeface="Arial" panose="020B0604020202020204" pitchFamily="34" charset="0"/>
                </a:rPr>
                <a:t>Expert of supply chain management</a:t>
              </a:r>
            </a:p>
            <a:p>
              <a:pPr marL="171450" indent="-171450">
                <a:lnSpc>
                  <a:spcPts val="1600"/>
                </a:lnSpc>
                <a:buFont typeface="Arial" panose="020B0604020202020204" pitchFamily="34" charset="0"/>
                <a:buChar char="•"/>
              </a:pPr>
              <a:r>
                <a:rPr lang="en-US" sz="900" b="1" dirty="0">
                  <a:latin typeface="Arial" panose="020B0604020202020204" pitchFamily="34" charset="0"/>
                  <a:ea typeface="微软雅黑" panose="020B0503020204020204" pitchFamily="34" charset="-122"/>
                  <a:cs typeface="Arial" panose="020B0604020202020204" pitchFamily="34" charset="0"/>
                </a:rPr>
                <a:t>Supply Chain Risk Prediction &amp; Mitigation: </a:t>
              </a:r>
              <a:r>
                <a:rPr lang="en-US" sz="900" dirty="0">
                  <a:latin typeface="Arial" panose="020B0604020202020204" pitchFamily="34" charset="0"/>
                  <a:ea typeface="微软雅黑" panose="020B0503020204020204" pitchFamily="34" charset="-122"/>
                  <a:cs typeface="Arial" panose="020B0604020202020204" pitchFamily="34" charset="0"/>
                </a:rPr>
                <a:t>Led proactive risk assessment by monitoring capacity, supply-demand, and market dynamics for 150+ material groups (500+ critical components). Anticipated disruption risks (e.g., chip shortages, capacity limits) and provided key inputs to S&amp;OP to drive capacity adjustments and optimize production scheduling.</a:t>
              </a:r>
            </a:p>
            <a:p>
              <a:pPr marL="171450" indent="-171450">
                <a:lnSpc>
                  <a:spcPts val="1600"/>
                </a:lnSpc>
                <a:buFont typeface="Arial" panose="020B0604020202020204" pitchFamily="34" charset="0"/>
                <a:buChar char="•"/>
              </a:pPr>
              <a:r>
                <a:rPr lang="en-US" sz="900" b="1" dirty="0">
                  <a:latin typeface="Arial" panose="020B0604020202020204" pitchFamily="34" charset="0"/>
                  <a:ea typeface="微软雅黑" panose="020B0503020204020204" pitchFamily="34" charset="-122"/>
                  <a:cs typeface="Arial" panose="020B0604020202020204" pitchFamily="34" charset="0"/>
                </a:rPr>
                <a:t>Risk Framework Development: </a:t>
              </a:r>
              <a:r>
                <a:rPr lang="en-US" sz="900" dirty="0">
                  <a:latin typeface="Arial" panose="020B0604020202020204" pitchFamily="34" charset="0"/>
                  <a:ea typeface="微软雅黑" panose="020B0503020204020204" pitchFamily="34" charset="-122"/>
                  <a:cs typeface="Arial" panose="020B0604020202020204" pitchFamily="34" charset="0"/>
                </a:rPr>
                <a:t>Established robust supply chain risk analysis models and developed contingency plans (secondary sourcing qualification, safety stock strategies) to ensure production continuity.</a:t>
              </a:r>
            </a:p>
            <a:p>
              <a:pPr>
                <a:lnSpc>
                  <a:spcPts val="1600"/>
                </a:lnSpc>
              </a:pPr>
              <a:endParaRPr lang="en-US" sz="900" dirty="0">
                <a:latin typeface="Arial" panose="020B0604020202020204" pitchFamily="34" charset="0"/>
                <a:ea typeface="微软雅黑" panose="020B0503020204020204" pitchFamily="34" charset="-122"/>
                <a:cs typeface="Arial" panose="020B0604020202020204" pitchFamily="34" charset="0"/>
              </a:endParaRPr>
            </a:p>
            <a:p>
              <a:pPr>
                <a:lnSpc>
                  <a:spcPts val="1600"/>
                </a:lnSpc>
              </a:pPr>
              <a:r>
                <a:rPr lang="en-US" altLang="zh-CN" sz="1000" dirty="0">
                  <a:solidFill>
                    <a:srgbClr val="696A6C"/>
                  </a:solidFill>
                  <a:latin typeface="Arial" panose="020B0604020202020204" pitchFamily="34" charset="0"/>
                  <a:ea typeface="微软雅黑" panose="020B0503020204020204" pitchFamily="34" charset="-122"/>
                  <a:cs typeface="Arial" panose="020B0604020202020204" pitchFamily="34" charset="0"/>
                </a:rPr>
                <a:t>2006.07 </a:t>
              </a:r>
              <a:r>
                <a:rPr lang="zh-CN" altLang="en-US" sz="1000"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dirty="0">
                  <a:solidFill>
                    <a:srgbClr val="696A6C"/>
                  </a:solidFill>
                  <a:latin typeface="Arial" panose="020B0604020202020204" pitchFamily="34" charset="0"/>
                  <a:ea typeface="微软雅黑" panose="020B0503020204020204" pitchFamily="34" charset="-122"/>
                  <a:cs typeface="Arial" panose="020B0604020202020204" pitchFamily="34" charset="0"/>
                </a:rPr>
                <a:t>2010.06</a:t>
              </a:r>
              <a:r>
                <a:rPr lang="en-US" altLang="zh-CN" sz="1000" b="1" dirty="0">
                  <a:solidFill>
                    <a:srgbClr val="9EA1A2"/>
                  </a:solidFill>
                  <a:latin typeface="Arial" panose="020B0604020202020204" pitchFamily="34" charset="0"/>
                  <a:ea typeface="微软雅黑" panose="020B0503020204020204" pitchFamily="34" charset="-122"/>
                  <a:cs typeface="Arial" panose="020B0604020202020204" pitchFamily="34" charset="0"/>
                </a:rPr>
                <a:t>	</a:t>
              </a:r>
              <a:r>
                <a:rPr lang="en-US" altLang="zh-CN" sz="1000" dirty="0">
                  <a:solidFill>
                    <a:srgbClr val="696A6C"/>
                  </a:solidFill>
                  <a:latin typeface="Arial" panose="020B0604020202020204" pitchFamily="34" charset="0"/>
                  <a:ea typeface="微软雅黑" panose="020B0503020204020204" pitchFamily="34" charset="-122"/>
                  <a:cs typeface="Arial" panose="020B0604020202020204" pitchFamily="34" charset="0"/>
                </a:rPr>
                <a:t>Disposition /</a:t>
              </a:r>
              <a:r>
                <a:rPr lang="zh-CN" altLang="en-US" sz="1000"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dirty="0">
                  <a:solidFill>
                    <a:srgbClr val="696A6C"/>
                  </a:solidFill>
                  <a:latin typeface="Arial" panose="020B0604020202020204" pitchFamily="34" charset="0"/>
                  <a:ea typeface="微软雅黑" panose="020B0503020204020204" pitchFamily="34" charset="-122"/>
                  <a:cs typeface="Arial" panose="020B0604020202020204" pitchFamily="34" charset="0"/>
                </a:rPr>
                <a:t>Material</a:t>
              </a:r>
              <a:r>
                <a:rPr lang="zh-CN" altLang="en-US" sz="1000"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dirty="0">
                  <a:solidFill>
                    <a:srgbClr val="696A6C"/>
                  </a:solidFill>
                  <a:latin typeface="Arial" panose="020B0604020202020204" pitchFamily="34" charset="0"/>
                  <a:ea typeface="微软雅黑" panose="020B0503020204020204" pitchFamily="34" charset="-122"/>
                  <a:cs typeface="Arial" panose="020B0604020202020204" pitchFamily="34" charset="0"/>
                </a:rPr>
                <a:t>planner</a:t>
              </a:r>
              <a:endParaRPr lang="en-US" altLang="zh-CN" sz="1000" b="0" i="0" dirty="0">
                <a:solidFill>
                  <a:srgbClr val="81858C"/>
                </a:solidFill>
                <a:effectLst/>
                <a:latin typeface="Arial" panose="020B0604020202020204" pitchFamily="34" charset="0"/>
                <a:cs typeface="Arial" panose="020B0604020202020204" pitchFamily="34" charset="0"/>
              </a:endParaRPr>
            </a:p>
          </p:txBody>
        </p:sp>
        <p:sp>
          <p:nvSpPr>
            <p:cNvPr id="24" name="文本框 23">
              <a:extLst>
                <a:ext uri="{FF2B5EF4-FFF2-40B4-BE49-F238E27FC236}">
                  <a16:creationId xmlns:a16="http://schemas.microsoft.com/office/drawing/2014/main" id="{A4860F7C-EFC0-016A-3D5C-2F60F448E51B}"/>
                </a:ext>
              </a:extLst>
            </p:cNvPr>
            <p:cNvSpPr txBox="1"/>
            <p:nvPr/>
          </p:nvSpPr>
          <p:spPr>
            <a:xfrm>
              <a:off x="156235" y="2068072"/>
              <a:ext cx="2241486" cy="188718"/>
            </a:xfrm>
            <a:prstGeom prst="rect">
              <a:avLst/>
            </a:prstGeom>
            <a:noFill/>
          </p:spPr>
          <p:txBody>
            <a:bodyPr wrap="square" rtlCol="0" anchor="ctr">
              <a:spAutoFit/>
            </a:bodyPr>
            <a:lstStyle/>
            <a:p>
              <a:r>
                <a:rPr lang="en-US" altLang="zh-CN" sz="1000" b="1" dirty="0">
                  <a:solidFill>
                    <a:srgbClr val="696A6C"/>
                  </a:solidFill>
                  <a:effectLst/>
                  <a:latin typeface="Arial" panose="020B0604020202020204" pitchFamily="34" charset="0"/>
                  <a:cs typeface="Arial" panose="020B0604020202020204" pitchFamily="34" charset="0"/>
                </a:rPr>
                <a:t>Working</a:t>
              </a:r>
              <a:r>
                <a:rPr lang="zh-CN" altLang="en-US" sz="1000" b="1" dirty="0">
                  <a:solidFill>
                    <a:srgbClr val="696A6C"/>
                  </a:solidFill>
                  <a:effectLst/>
                  <a:latin typeface="Arial" panose="020B0604020202020204" pitchFamily="34" charset="0"/>
                  <a:cs typeface="Arial" panose="020B0604020202020204" pitchFamily="34" charset="0"/>
                </a:rPr>
                <a:t> </a:t>
              </a:r>
              <a:r>
                <a:rPr lang="en-US" altLang="zh-CN" sz="1000" b="1" dirty="0">
                  <a:solidFill>
                    <a:srgbClr val="696A6C"/>
                  </a:solidFill>
                  <a:effectLst/>
                  <a:latin typeface="Arial" panose="020B0604020202020204" pitchFamily="34" charset="0"/>
                  <a:cs typeface="Arial" panose="020B0604020202020204" pitchFamily="34" charset="0"/>
                </a:rPr>
                <a:t>experience</a:t>
              </a:r>
            </a:p>
          </p:txBody>
        </p:sp>
      </p:grpSp>
      <p:grpSp>
        <p:nvGrpSpPr>
          <p:cNvPr id="3" name="组合 2">
            <a:extLst>
              <a:ext uri="{FF2B5EF4-FFF2-40B4-BE49-F238E27FC236}">
                <a16:creationId xmlns:a16="http://schemas.microsoft.com/office/drawing/2014/main" id="{B04AD02D-56E2-57A6-8ED9-A2CC90AEF992}"/>
              </a:ext>
            </a:extLst>
          </p:cNvPr>
          <p:cNvGrpSpPr/>
          <p:nvPr/>
        </p:nvGrpSpPr>
        <p:grpSpPr>
          <a:xfrm>
            <a:off x="159007" y="1384913"/>
            <a:ext cx="6390687" cy="1447465"/>
            <a:chOff x="158885" y="1470455"/>
            <a:chExt cx="6457700" cy="1553401"/>
          </a:xfrm>
        </p:grpSpPr>
        <p:sp>
          <p:nvSpPr>
            <p:cNvPr id="36" name="矩形 35">
              <a:extLst>
                <a:ext uri="{FF2B5EF4-FFF2-40B4-BE49-F238E27FC236}">
                  <a16:creationId xmlns:a16="http://schemas.microsoft.com/office/drawing/2014/main" id="{017DBABD-B5BE-E302-2492-D67CE2CC3C01}"/>
                </a:ext>
              </a:extLst>
            </p:cNvPr>
            <p:cNvSpPr/>
            <p:nvPr/>
          </p:nvSpPr>
          <p:spPr>
            <a:xfrm>
              <a:off x="170638" y="1630463"/>
              <a:ext cx="6445947" cy="1393393"/>
            </a:xfrm>
            <a:prstGeom prst="rect">
              <a:avLst/>
            </a:prstGeom>
          </p:spPr>
          <p:txBody>
            <a:bodyPr wrap="square">
              <a:spAutoFit/>
            </a:bodyPr>
            <a:lstStyle/>
            <a:p>
              <a:pPr>
                <a:lnSpc>
                  <a:spcPts val="1600"/>
                </a:lnSpc>
              </a:pPr>
              <a:r>
                <a:rPr lang="en-US" sz="900" dirty="0">
                  <a:latin typeface="Arial" panose="020B0604020202020204" pitchFamily="34" charset="0"/>
                  <a:ea typeface="微软雅黑" panose="020B0503020204020204" pitchFamily="34" charset="-122"/>
                  <a:cs typeface="Arial" panose="020B0604020202020204" pitchFamily="34" charset="0"/>
                </a:rPr>
                <a:t>Highly accomplished Volkswagen Group supply chain executive with 20+ years of dedicated experience, specializing in establishing Europe-quality supply chains from the ground up across Asia-Pacific. Certified expert in VDA 6.8 and </a:t>
              </a:r>
              <a:r>
                <a:rPr lang="en-US" sz="900" dirty="0" err="1">
                  <a:latin typeface="Arial" panose="020B0604020202020204" pitchFamily="34" charset="0"/>
                  <a:ea typeface="微软雅黑" panose="020B0503020204020204" pitchFamily="34" charset="-122"/>
                  <a:cs typeface="Arial" panose="020B0604020202020204" pitchFamily="34" charset="0"/>
                </a:rPr>
                <a:t>QPNi</a:t>
              </a:r>
              <a:r>
                <a:rPr lang="en-US" sz="900" dirty="0">
                  <a:latin typeface="Arial" panose="020B0604020202020204" pitchFamily="34" charset="0"/>
                  <a:ea typeface="微软雅黑" panose="020B0503020204020204" pitchFamily="34" charset="-122"/>
                  <a:cs typeface="Arial" panose="020B0604020202020204" pitchFamily="34" charset="0"/>
                </a:rPr>
                <a:t> maturity management. Proven ability to lead comprehensive supplier qualification audits for VW group (brands: Audi, Porsche, and Lamborghini) drive strategic supplier development and capacity optimization, and build successful supply chain consulting practices. Adept at mitigating risks and ensuring supply continuity in complex, high-volume manufacturing environments.</a:t>
              </a:r>
              <a:endParaRPr lang="en-US" altLang="zh-CN" sz="900" dirty="0">
                <a:latin typeface="Arial" panose="020B0604020202020204" pitchFamily="34" charset="0"/>
                <a:ea typeface="微软雅黑" panose="020B0503020204020204" pitchFamily="34" charset="-122"/>
                <a:cs typeface="Arial" panose="020B0604020202020204" pitchFamily="34" charset="0"/>
              </a:endParaRPr>
            </a:p>
          </p:txBody>
        </p:sp>
        <p:sp>
          <p:nvSpPr>
            <p:cNvPr id="25" name="文本框 24">
              <a:extLst>
                <a:ext uri="{FF2B5EF4-FFF2-40B4-BE49-F238E27FC236}">
                  <a16:creationId xmlns:a16="http://schemas.microsoft.com/office/drawing/2014/main" id="{8D6B2A49-6A18-1BD6-19CF-2B068F5C352F}"/>
                </a:ext>
              </a:extLst>
            </p:cNvPr>
            <p:cNvSpPr txBox="1"/>
            <p:nvPr/>
          </p:nvSpPr>
          <p:spPr>
            <a:xfrm>
              <a:off x="158885" y="1470455"/>
              <a:ext cx="2241486" cy="264241"/>
            </a:xfrm>
            <a:prstGeom prst="rect">
              <a:avLst/>
            </a:prstGeom>
            <a:noFill/>
          </p:spPr>
          <p:txBody>
            <a:bodyPr wrap="square" rtlCol="0" anchor="ctr">
              <a:spAutoFit/>
            </a:bodyPr>
            <a:lstStyle/>
            <a:p>
              <a:r>
                <a:rPr lang="en-US" altLang="zh-CN" sz="1000" b="1" dirty="0">
                  <a:solidFill>
                    <a:srgbClr val="696A6C"/>
                  </a:solidFill>
                  <a:effectLst/>
                  <a:latin typeface="Arial" panose="020B0604020202020204" pitchFamily="34" charset="0"/>
                  <a:cs typeface="Arial" panose="020B0604020202020204" pitchFamily="34" charset="0"/>
                </a:rPr>
                <a:t>Professional</a:t>
              </a:r>
              <a:r>
                <a:rPr lang="zh-CN" altLang="en-US" sz="1000" b="1" dirty="0">
                  <a:solidFill>
                    <a:srgbClr val="696A6C"/>
                  </a:solidFill>
                  <a:effectLst/>
                  <a:latin typeface="Arial" panose="020B0604020202020204" pitchFamily="34" charset="0"/>
                  <a:cs typeface="Arial" panose="020B0604020202020204" pitchFamily="34" charset="0"/>
                </a:rPr>
                <a:t> </a:t>
              </a:r>
              <a:r>
                <a:rPr lang="en-US" altLang="zh-CN" sz="1000" b="1" dirty="0">
                  <a:solidFill>
                    <a:srgbClr val="696A6C"/>
                  </a:solidFill>
                  <a:latin typeface="Arial" panose="020B0604020202020204" pitchFamily="34" charset="0"/>
                  <a:cs typeface="Arial" panose="020B0604020202020204" pitchFamily="34" charset="0"/>
                </a:rPr>
                <a:t>S</a:t>
              </a:r>
              <a:r>
                <a:rPr lang="en-US" altLang="zh-CN" sz="1000" b="1" dirty="0">
                  <a:solidFill>
                    <a:srgbClr val="696A6C"/>
                  </a:solidFill>
                  <a:effectLst/>
                  <a:latin typeface="Arial" panose="020B0604020202020204" pitchFamily="34" charset="0"/>
                  <a:cs typeface="Arial" panose="020B0604020202020204" pitchFamily="34" charset="0"/>
                </a:rPr>
                <a:t>ummary</a:t>
              </a:r>
            </a:p>
          </p:txBody>
        </p:sp>
      </p:grpSp>
    </p:spTree>
    <p:extLst>
      <p:ext uri="{BB962C8B-B14F-4D97-AF65-F5344CB8AC3E}">
        <p14:creationId xmlns:p14="http://schemas.microsoft.com/office/powerpoint/2010/main" val="797032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5CEED-0E28-3B73-13DD-05794CA47030}"/>
            </a:ext>
          </a:extLst>
        </p:cNvPr>
        <p:cNvGrpSpPr/>
        <p:nvPr/>
      </p:nvGrpSpPr>
      <p:grpSpPr>
        <a:xfrm>
          <a:off x="0" y="0"/>
          <a:ext cx="0" cy="0"/>
          <a:chOff x="0" y="0"/>
          <a:chExt cx="0" cy="0"/>
        </a:xfrm>
      </p:grpSpPr>
      <p:grpSp>
        <p:nvGrpSpPr>
          <p:cNvPr id="8" name="组合 7">
            <a:extLst>
              <a:ext uri="{FF2B5EF4-FFF2-40B4-BE49-F238E27FC236}">
                <a16:creationId xmlns:a16="http://schemas.microsoft.com/office/drawing/2014/main" id="{5EEE6980-DDA7-1492-AD6D-E87697601106}"/>
              </a:ext>
            </a:extLst>
          </p:cNvPr>
          <p:cNvGrpSpPr/>
          <p:nvPr/>
        </p:nvGrpSpPr>
        <p:grpSpPr>
          <a:xfrm>
            <a:off x="159007" y="502909"/>
            <a:ext cx="6445947" cy="1302522"/>
            <a:chOff x="170638" y="8879845"/>
            <a:chExt cx="3055891" cy="1302522"/>
          </a:xfrm>
        </p:grpSpPr>
        <p:sp>
          <p:nvSpPr>
            <p:cNvPr id="13" name="文本框 12">
              <a:extLst>
                <a:ext uri="{FF2B5EF4-FFF2-40B4-BE49-F238E27FC236}">
                  <a16:creationId xmlns:a16="http://schemas.microsoft.com/office/drawing/2014/main" id="{3C462648-1EDE-66A3-8CCE-14AB544CB983}"/>
                </a:ext>
              </a:extLst>
            </p:cNvPr>
            <p:cNvSpPr txBox="1"/>
            <p:nvPr/>
          </p:nvSpPr>
          <p:spPr>
            <a:xfrm>
              <a:off x="170638" y="8879845"/>
              <a:ext cx="2241487" cy="246221"/>
            </a:xfrm>
            <a:prstGeom prst="rect">
              <a:avLst/>
            </a:prstGeom>
            <a:noFill/>
          </p:spPr>
          <p:txBody>
            <a:bodyPr wrap="square" rtlCol="0" anchor="ctr">
              <a:spAutoFit/>
            </a:bodyPr>
            <a:lstStyle/>
            <a:p>
              <a:r>
                <a:rPr lang="en-US" altLang="zh-CN" sz="1000" b="1" dirty="0">
                  <a:solidFill>
                    <a:srgbClr val="696A6C"/>
                  </a:solidFill>
                  <a:effectLst/>
                  <a:latin typeface="Arial" panose="020B0604020202020204" pitchFamily="34" charset="0"/>
                  <a:cs typeface="Arial" panose="020B0604020202020204" pitchFamily="34" charset="0"/>
                </a:rPr>
                <a:t>Core Competencies</a:t>
              </a:r>
            </a:p>
          </p:txBody>
        </p:sp>
        <p:sp>
          <p:nvSpPr>
            <p:cNvPr id="14" name="文本框 13">
              <a:extLst>
                <a:ext uri="{FF2B5EF4-FFF2-40B4-BE49-F238E27FC236}">
                  <a16:creationId xmlns:a16="http://schemas.microsoft.com/office/drawing/2014/main" id="{E26DEEF0-949F-0DBF-7C69-E832F80AA747}"/>
                </a:ext>
              </a:extLst>
            </p:cNvPr>
            <p:cNvSpPr txBox="1"/>
            <p:nvPr/>
          </p:nvSpPr>
          <p:spPr>
            <a:xfrm>
              <a:off x="170638" y="9072768"/>
              <a:ext cx="3055891" cy="1109599"/>
            </a:xfrm>
            <a:prstGeom prst="rect">
              <a:avLst/>
            </a:prstGeom>
            <a:noFill/>
          </p:spPr>
          <p:txBody>
            <a:bodyPr wrap="square" rtlCol="0">
              <a:spAutoFit/>
            </a:bodyPr>
            <a:lstStyle/>
            <a:p>
              <a:pPr marL="171450" indent="-171450">
                <a:lnSpc>
                  <a:spcPts val="1600"/>
                </a:lnSpc>
                <a:buFont typeface="Arial" panose="020B0604020202020204" pitchFamily="34" charset="0"/>
                <a:buChar char="•"/>
              </a:pPr>
              <a:r>
                <a:rPr lang="en-US" sz="900" dirty="0">
                  <a:latin typeface="Arial" panose="020B0604020202020204" pitchFamily="34" charset="0"/>
                  <a:ea typeface="微软雅黑" panose="020B0503020204020204" pitchFamily="34" charset="-122"/>
                  <a:cs typeface="Arial" panose="020B0604020202020204" pitchFamily="34" charset="0"/>
                </a:rPr>
                <a:t>Volkswagen Group Supply Chain Expertise (VDA 6.8, </a:t>
              </a:r>
              <a:r>
                <a:rPr lang="en-US" sz="900" dirty="0" err="1">
                  <a:latin typeface="Arial" panose="020B0604020202020204" pitchFamily="34" charset="0"/>
                  <a:ea typeface="微软雅黑" panose="020B0503020204020204" pitchFamily="34" charset="-122"/>
                  <a:cs typeface="Arial" panose="020B0604020202020204" pitchFamily="34" charset="0"/>
                </a:rPr>
                <a:t>QPNi</a:t>
              </a:r>
              <a:r>
                <a:rPr lang="en-US" sz="900" dirty="0">
                  <a:latin typeface="Arial" panose="020B0604020202020204" pitchFamily="34" charset="0"/>
                  <a:ea typeface="微软雅黑" panose="020B0503020204020204" pitchFamily="34" charset="-122"/>
                  <a:cs typeface="Arial" panose="020B0604020202020204" pitchFamily="34" charset="0"/>
                </a:rPr>
                <a:t>) | Strategic Supplier Development &amp; Qualification</a:t>
              </a:r>
            </a:p>
            <a:p>
              <a:pPr marL="171450" indent="-171450">
                <a:lnSpc>
                  <a:spcPts val="1600"/>
                </a:lnSpc>
                <a:buFont typeface="Arial" panose="020B0604020202020204" pitchFamily="34" charset="0"/>
                <a:buChar char="•"/>
              </a:pPr>
              <a:r>
                <a:rPr lang="en-US" sz="900" dirty="0">
                  <a:latin typeface="Arial" panose="020B0604020202020204" pitchFamily="34" charset="0"/>
                  <a:ea typeface="微软雅黑" panose="020B0503020204020204" pitchFamily="34" charset="-122"/>
                  <a:cs typeface="Arial" panose="020B0604020202020204" pitchFamily="34" charset="0"/>
                </a:rPr>
                <a:t>End-to-End Supply Chain Audit &amp; Optimization | Supplier Capacity &amp; Risk Management</a:t>
              </a:r>
            </a:p>
            <a:p>
              <a:pPr marL="171450" indent="-171450">
                <a:lnSpc>
                  <a:spcPts val="1600"/>
                </a:lnSpc>
                <a:buFont typeface="Arial" panose="020B0604020202020204" pitchFamily="34" charset="0"/>
                <a:buChar char="•"/>
              </a:pPr>
              <a:r>
                <a:rPr lang="en-US" sz="900" dirty="0">
                  <a:latin typeface="Arial" panose="020B0604020202020204" pitchFamily="34" charset="0"/>
                  <a:ea typeface="微软雅黑" panose="020B0503020204020204" pitchFamily="34" charset="-122"/>
                  <a:cs typeface="Arial" panose="020B0604020202020204" pitchFamily="34" charset="0"/>
                </a:rPr>
                <a:t>Supply Chain Consulting &amp; System Implementation | Cross-Cultural Team Leadership</a:t>
              </a:r>
            </a:p>
            <a:p>
              <a:pPr marL="171450" indent="-171450">
                <a:lnSpc>
                  <a:spcPts val="1600"/>
                </a:lnSpc>
                <a:buFont typeface="Arial" panose="020B0604020202020204" pitchFamily="34" charset="0"/>
                <a:buChar char="•"/>
              </a:pPr>
              <a:r>
                <a:rPr lang="en-US" sz="900" dirty="0">
                  <a:latin typeface="Arial" panose="020B0604020202020204" pitchFamily="34" charset="0"/>
                  <a:ea typeface="微软雅黑" panose="020B0503020204020204" pitchFamily="34" charset="-122"/>
                  <a:cs typeface="Arial" panose="020B0604020202020204" pitchFamily="34" charset="0"/>
                </a:rPr>
                <a:t>S&amp;OP Integration &amp; Production Planning | Process Improvement &amp; Cost Reduction</a:t>
              </a:r>
            </a:p>
            <a:p>
              <a:pPr marL="171450" indent="-171450">
                <a:lnSpc>
                  <a:spcPts val="1600"/>
                </a:lnSpc>
                <a:buFont typeface="Arial" panose="020B0604020202020204" pitchFamily="34" charset="0"/>
                <a:buChar char="•"/>
              </a:pPr>
              <a:r>
                <a:rPr lang="en-US" sz="900" dirty="0">
                  <a:latin typeface="Arial" panose="020B0604020202020204" pitchFamily="34" charset="0"/>
                  <a:ea typeface="微软雅黑" panose="020B0503020204020204" pitchFamily="34" charset="-122"/>
                  <a:cs typeface="Arial" panose="020B0604020202020204" pitchFamily="34" charset="0"/>
                </a:rPr>
                <a:t>Certified VDA 6.3 &amp; VDA 6.8 Auditor</a:t>
              </a:r>
            </a:p>
          </p:txBody>
        </p:sp>
      </p:grpSp>
      <p:grpSp>
        <p:nvGrpSpPr>
          <p:cNvPr id="7" name="组合 6">
            <a:extLst>
              <a:ext uri="{FF2B5EF4-FFF2-40B4-BE49-F238E27FC236}">
                <a16:creationId xmlns:a16="http://schemas.microsoft.com/office/drawing/2014/main" id="{843E1AAA-DD2F-A435-011A-E1BB9D0EA754}"/>
              </a:ext>
            </a:extLst>
          </p:cNvPr>
          <p:cNvGrpSpPr/>
          <p:nvPr/>
        </p:nvGrpSpPr>
        <p:grpSpPr>
          <a:xfrm>
            <a:off x="159005" y="1933671"/>
            <a:ext cx="6445949" cy="496068"/>
            <a:chOff x="237528" y="8427011"/>
            <a:chExt cx="6379057" cy="496068"/>
          </a:xfrm>
        </p:grpSpPr>
        <p:sp>
          <p:nvSpPr>
            <p:cNvPr id="27" name="矩形 26">
              <a:extLst>
                <a:ext uri="{FF2B5EF4-FFF2-40B4-BE49-F238E27FC236}">
                  <a16:creationId xmlns:a16="http://schemas.microsoft.com/office/drawing/2014/main" id="{39CD52E5-0007-473F-6DC3-C20E5A512846}"/>
                </a:ext>
              </a:extLst>
            </p:cNvPr>
            <p:cNvSpPr/>
            <p:nvPr/>
          </p:nvSpPr>
          <p:spPr>
            <a:xfrm>
              <a:off x="237528" y="8673232"/>
              <a:ext cx="6379057" cy="249847"/>
            </a:xfrm>
            <a:prstGeom prst="rect">
              <a:avLst/>
            </a:prstGeom>
          </p:spPr>
          <p:txBody>
            <a:bodyPr wrap="square">
              <a:spAutoFit/>
            </a:bodyPr>
            <a:lstStyle/>
            <a:p>
              <a:r>
                <a:rPr lang="en-US" altLang="zh-CN" sz="10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2002.09</a:t>
              </a:r>
              <a:r>
                <a:rPr lang="zh-CN" altLang="en-US" sz="10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a:t>
              </a:r>
              <a:r>
                <a:rPr lang="en-US" altLang="zh-CN" sz="10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2006.06	Shanghai</a:t>
              </a:r>
              <a:r>
                <a:rPr lang="zh-CN" altLang="en-US" sz="10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 </a:t>
              </a:r>
              <a:r>
                <a:rPr lang="en-US" altLang="zh-CN" sz="10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Maritime</a:t>
              </a:r>
              <a:r>
                <a:rPr lang="zh-CN" altLang="en-US" sz="10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 </a:t>
              </a:r>
              <a:r>
                <a:rPr lang="en-US" altLang="zh-CN" sz="10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University	</a:t>
              </a:r>
              <a:r>
                <a:rPr lang="en-US" altLang="zh-CN" sz="900" dirty="0">
                  <a:latin typeface="Arial" panose="020B0604020202020204" pitchFamily="34" charset="0"/>
                  <a:ea typeface="Microsoft YaHei" panose="020B0503020204020204" pitchFamily="34" charset="-122"/>
                  <a:cs typeface="Arial" panose="020B0604020202020204" pitchFamily="34" charset="0"/>
                </a:rPr>
                <a:t>Bachelor</a:t>
              </a:r>
              <a:r>
                <a:rPr lang="zh-CN" altLang="en-US" sz="900" dirty="0">
                  <a:latin typeface="Arial" panose="020B0604020202020204" pitchFamily="34" charset="0"/>
                  <a:ea typeface="Microsoft YaHei" panose="020B0503020204020204" pitchFamily="34" charset="-122"/>
                  <a:cs typeface="Arial" panose="020B0604020202020204" pitchFamily="34" charset="0"/>
                </a:rPr>
                <a:t> </a:t>
              </a:r>
              <a:r>
                <a:rPr lang="en-US" altLang="zh-CN" sz="900" dirty="0">
                  <a:latin typeface="Arial" panose="020B0604020202020204" pitchFamily="34" charset="0"/>
                  <a:ea typeface="Microsoft YaHei" panose="020B0503020204020204" pitchFamily="34" charset="-122"/>
                  <a:cs typeface="Arial" panose="020B0604020202020204" pitchFamily="34" charset="0"/>
                </a:rPr>
                <a:t>in</a:t>
              </a:r>
              <a:r>
                <a:rPr lang="zh-CN" altLang="en-US" sz="900" dirty="0">
                  <a:latin typeface="Arial" panose="020B0604020202020204" pitchFamily="34" charset="0"/>
                  <a:ea typeface="Microsoft YaHei" panose="020B0503020204020204" pitchFamily="34" charset="-122"/>
                  <a:cs typeface="Arial" panose="020B0604020202020204" pitchFamily="34" charset="0"/>
                </a:rPr>
                <a:t> </a:t>
              </a:r>
              <a:r>
                <a:rPr lang="en-US" altLang="zh-CN" sz="900" dirty="0">
                  <a:latin typeface="Arial" panose="020B0604020202020204" pitchFamily="34" charset="0"/>
                  <a:ea typeface="Microsoft YaHei" panose="020B0503020204020204" pitchFamily="34" charset="-122"/>
                  <a:cs typeface="Arial" panose="020B0604020202020204" pitchFamily="34" charset="0"/>
                </a:rPr>
                <a:t>Marine</a:t>
              </a:r>
              <a:r>
                <a:rPr lang="zh-CN" altLang="en-US" sz="900" dirty="0">
                  <a:latin typeface="Arial" panose="020B0604020202020204" pitchFamily="34" charset="0"/>
                  <a:ea typeface="Microsoft YaHei" panose="020B0503020204020204" pitchFamily="34" charset="-122"/>
                  <a:cs typeface="Arial" panose="020B0604020202020204" pitchFamily="34" charset="0"/>
                </a:rPr>
                <a:t> </a:t>
              </a:r>
              <a:r>
                <a:rPr lang="en-US" altLang="zh-CN" sz="900" dirty="0">
                  <a:latin typeface="Arial" panose="020B0604020202020204" pitchFamily="34" charset="0"/>
                  <a:ea typeface="Microsoft YaHei" panose="020B0503020204020204" pitchFamily="34" charset="-122"/>
                  <a:cs typeface="Arial" panose="020B0604020202020204" pitchFamily="34" charset="0"/>
                </a:rPr>
                <a:t>engineering</a:t>
              </a:r>
              <a:endParaRPr lang="en-US" altLang="zh-CN" sz="900" kern="100" dirty="0">
                <a:latin typeface="Arial" panose="020B0604020202020204" pitchFamily="34" charset="0"/>
                <a:ea typeface="Microsoft YaHei" panose="020B0503020204020204" pitchFamily="34" charset="-122"/>
                <a:cs typeface="Arial" panose="020B0604020202020204" pitchFamily="34" charset="0"/>
              </a:endParaRPr>
            </a:p>
          </p:txBody>
        </p:sp>
        <p:sp>
          <p:nvSpPr>
            <p:cNvPr id="23" name="文本框 22">
              <a:extLst>
                <a:ext uri="{FF2B5EF4-FFF2-40B4-BE49-F238E27FC236}">
                  <a16:creationId xmlns:a16="http://schemas.microsoft.com/office/drawing/2014/main" id="{4182B9CF-AA81-8704-7234-A56F1DEF321F}"/>
                </a:ext>
              </a:extLst>
            </p:cNvPr>
            <p:cNvSpPr txBox="1"/>
            <p:nvPr/>
          </p:nvSpPr>
          <p:spPr>
            <a:xfrm>
              <a:off x="237528" y="8427011"/>
              <a:ext cx="2241486" cy="246221"/>
            </a:xfrm>
            <a:prstGeom prst="rect">
              <a:avLst/>
            </a:prstGeom>
            <a:noFill/>
          </p:spPr>
          <p:txBody>
            <a:bodyPr wrap="square" rtlCol="0" anchor="ctr">
              <a:spAutoFit/>
            </a:bodyPr>
            <a:lstStyle/>
            <a:p>
              <a:r>
                <a:rPr lang="en-US" altLang="zh-CN" sz="1000" b="1" dirty="0">
                  <a:solidFill>
                    <a:srgbClr val="696A6C"/>
                  </a:solidFill>
                  <a:latin typeface="Arial" panose="020B0604020202020204" pitchFamily="34" charset="0"/>
                  <a:cs typeface="Arial" panose="020B0604020202020204" pitchFamily="34" charset="0"/>
                </a:rPr>
                <a:t>Education</a:t>
              </a:r>
            </a:p>
          </p:txBody>
        </p:sp>
      </p:grpSp>
      <p:grpSp>
        <p:nvGrpSpPr>
          <p:cNvPr id="5" name="组合 4">
            <a:extLst>
              <a:ext uri="{FF2B5EF4-FFF2-40B4-BE49-F238E27FC236}">
                <a16:creationId xmlns:a16="http://schemas.microsoft.com/office/drawing/2014/main" id="{B3D8CE2C-7ABE-E151-2854-83B939D3CC52}"/>
              </a:ext>
            </a:extLst>
          </p:cNvPr>
          <p:cNvGrpSpPr/>
          <p:nvPr/>
        </p:nvGrpSpPr>
        <p:grpSpPr>
          <a:xfrm>
            <a:off x="159005" y="2554353"/>
            <a:ext cx="6445949" cy="1129013"/>
            <a:chOff x="170638" y="8879845"/>
            <a:chExt cx="2241487" cy="1129013"/>
          </a:xfrm>
        </p:grpSpPr>
        <p:sp>
          <p:nvSpPr>
            <p:cNvPr id="6" name="文本框 5">
              <a:extLst>
                <a:ext uri="{FF2B5EF4-FFF2-40B4-BE49-F238E27FC236}">
                  <a16:creationId xmlns:a16="http://schemas.microsoft.com/office/drawing/2014/main" id="{C22625C6-4C69-57B4-B976-07D5B140BEE5}"/>
                </a:ext>
              </a:extLst>
            </p:cNvPr>
            <p:cNvSpPr txBox="1"/>
            <p:nvPr/>
          </p:nvSpPr>
          <p:spPr>
            <a:xfrm>
              <a:off x="170638" y="8879845"/>
              <a:ext cx="2241487" cy="246221"/>
            </a:xfrm>
            <a:prstGeom prst="rect">
              <a:avLst/>
            </a:prstGeom>
            <a:noFill/>
          </p:spPr>
          <p:txBody>
            <a:bodyPr wrap="square" rtlCol="0" anchor="ctr">
              <a:spAutoFit/>
            </a:bodyPr>
            <a:lstStyle/>
            <a:p>
              <a:r>
                <a:rPr lang="en-US" altLang="zh-CN" sz="1000" b="1" dirty="0">
                  <a:solidFill>
                    <a:srgbClr val="696A6C"/>
                  </a:solidFill>
                  <a:latin typeface="Arial" panose="020B0604020202020204" pitchFamily="34" charset="0"/>
                  <a:cs typeface="Arial" panose="020B0604020202020204" pitchFamily="34" charset="0"/>
                </a:rPr>
                <a:t>Certification</a:t>
              </a:r>
              <a:endParaRPr lang="zh-CN" altLang="en-US" sz="1000" b="1" dirty="0">
                <a:solidFill>
                  <a:srgbClr val="696A6C"/>
                </a:solidFill>
                <a:latin typeface="Arial" panose="020B0604020202020204" pitchFamily="34" charset="0"/>
                <a:cs typeface="Arial" panose="020B0604020202020204" pitchFamily="34" charset="0"/>
              </a:endParaRPr>
            </a:p>
          </p:txBody>
        </p:sp>
        <p:sp>
          <p:nvSpPr>
            <p:cNvPr id="9" name="文本框 8">
              <a:extLst>
                <a:ext uri="{FF2B5EF4-FFF2-40B4-BE49-F238E27FC236}">
                  <a16:creationId xmlns:a16="http://schemas.microsoft.com/office/drawing/2014/main" id="{7B5FD0FD-68B0-4DF1-1337-71351B648009}"/>
                </a:ext>
              </a:extLst>
            </p:cNvPr>
            <p:cNvSpPr txBox="1"/>
            <p:nvPr/>
          </p:nvSpPr>
          <p:spPr>
            <a:xfrm>
              <a:off x="170638" y="9072768"/>
              <a:ext cx="1406578" cy="936090"/>
            </a:xfrm>
            <a:prstGeom prst="rect">
              <a:avLst/>
            </a:prstGeom>
            <a:noFill/>
          </p:spPr>
          <p:txBody>
            <a:bodyPr wrap="square" rtlCol="0">
              <a:spAutoFit/>
            </a:bodyPr>
            <a:lstStyle/>
            <a:p>
              <a:pPr marL="171450" indent="-171450">
                <a:lnSpc>
                  <a:spcPts val="1740"/>
                </a:lnSpc>
                <a:buFont typeface="Arial" panose="020B0604020202020204" pitchFamily="34" charset="0"/>
                <a:buChar char="•"/>
              </a:pPr>
              <a:r>
                <a:rPr lang="en-US" altLang="zh-CN" sz="900" b="1" dirty="0">
                  <a:latin typeface="Arial" panose="020B0604020202020204" pitchFamily="34" charset="0"/>
                  <a:ea typeface="微软雅黑" panose="020B0503020204020204" pitchFamily="34" charset="-122"/>
                  <a:cs typeface="Arial" panose="020B0604020202020204" pitchFamily="34" charset="0"/>
                </a:rPr>
                <a:t>English</a:t>
              </a:r>
              <a:r>
                <a:rPr lang="zh-CN" altLang="en-US" sz="900" b="1" dirty="0">
                  <a:latin typeface="Arial" panose="020B0604020202020204" pitchFamily="34" charset="0"/>
                  <a:ea typeface="微软雅黑" panose="020B0503020204020204" pitchFamily="34" charset="-122"/>
                  <a:cs typeface="Arial" panose="020B0604020202020204" pitchFamily="34" charset="0"/>
                </a:rPr>
                <a:t> </a:t>
              </a:r>
              <a:r>
                <a:rPr lang="en-US" altLang="zh-CN" sz="900" b="1" dirty="0">
                  <a:latin typeface="Arial" panose="020B0604020202020204" pitchFamily="34" charset="0"/>
                  <a:ea typeface="微软雅黑" panose="020B0503020204020204" pitchFamily="34" charset="-122"/>
                  <a:cs typeface="Arial" panose="020B0604020202020204" pitchFamily="34" charset="0"/>
                </a:rPr>
                <a:t>level</a:t>
              </a:r>
              <a:r>
                <a:rPr lang="zh-CN" altLang="en-US" sz="900" b="1" dirty="0">
                  <a:latin typeface="Arial" panose="020B0604020202020204" pitchFamily="34" charset="0"/>
                  <a:ea typeface="微软雅黑" panose="020B0503020204020204" pitchFamily="34" charset="-122"/>
                  <a:cs typeface="Arial" panose="020B0604020202020204" pitchFamily="34" charset="0"/>
                </a:rPr>
                <a:t> </a:t>
              </a:r>
              <a:r>
                <a:rPr lang="en-US" altLang="zh-CN" sz="900" b="1" dirty="0">
                  <a:latin typeface="Arial" panose="020B0604020202020204" pitchFamily="34" charset="0"/>
                  <a:ea typeface="微软雅黑" panose="020B0503020204020204" pitchFamily="34" charset="-122"/>
                  <a:cs typeface="Arial" panose="020B0604020202020204" pitchFamily="34" charset="0"/>
                </a:rPr>
                <a:t>CET4</a:t>
              </a:r>
            </a:p>
            <a:p>
              <a:pPr>
                <a:lnSpc>
                  <a:spcPts val="1740"/>
                </a:lnSpc>
              </a:pPr>
              <a:r>
                <a:rPr lang="zh-CN" altLang="en-US" sz="900" dirty="0">
                  <a:latin typeface="Arial" panose="020B0604020202020204" pitchFamily="34" charset="0"/>
                  <a:ea typeface="微软雅黑" panose="020B0503020204020204" pitchFamily="34" charset="-122"/>
                  <a:cs typeface="Arial" panose="020B0604020202020204" pitchFamily="34" charset="0"/>
                </a:rPr>
                <a:t>     </a:t>
              </a:r>
              <a:r>
                <a:rPr lang="en-US" altLang="zh-CN" sz="900" dirty="0">
                  <a:latin typeface="Arial" panose="020B0604020202020204" pitchFamily="34" charset="0"/>
                  <a:ea typeface="微软雅黑" panose="020B0503020204020204" pitchFamily="34" charset="-122"/>
                  <a:cs typeface="Arial" panose="020B0604020202020204" pitchFamily="34" charset="0"/>
                </a:rPr>
                <a:t>CertifiedTime:2004</a:t>
              </a:r>
            </a:p>
            <a:p>
              <a:pPr marL="171450" indent="-171450">
                <a:lnSpc>
                  <a:spcPts val="1740"/>
                </a:lnSpc>
                <a:buFont typeface="Arial" panose="020B0604020202020204" pitchFamily="34" charset="0"/>
                <a:buChar char="•"/>
              </a:pPr>
              <a:r>
                <a:rPr lang="en-US" altLang="zh-CN" sz="900" b="1" dirty="0">
                  <a:latin typeface="Arial" panose="020B0604020202020204" pitchFamily="34" charset="0"/>
                  <a:ea typeface="微软雅黑" panose="020B0503020204020204" pitchFamily="34" charset="-122"/>
                  <a:cs typeface="Arial" panose="020B0604020202020204" pitchFamily="34" charset="0"/>
                </a:rPr>
                <a:t>VDA6.3</a:t>
              </a:r>
              <a:r>
                <a:rPr lang="zh-CN" altLang="en-US" sz="900" b="1" dirty="0">
                  <a:latin typeface="Arial" panose="020B0604020202020204" pitchFamily="34" charset="0"/>
                  <a:ea typeface="微软雅黑" panose="020B0503020204020204" pitchFamily="34" charset="-122"/>
                  <a:cs typeface="Arial" panose="020B0604020202020204" pitchFamily="34" charset="0"/>
                </a:rPr>
                <a:t> </a:t>
              </a:r>
              <a:r>
                <a:rPr lang="en-US" altLang="zh-CN" sz="900" b="1" dirty="0">
                  <a:latin typeface="Arial" panose="020B0604020202020204" pitchFamily="34" charset="0"/>
                  <a:ea typeface="微软雅黑" panose="020B0503020204020204" pitchFamily="34" charset="-122"/>
                  <a:cs typeface="Arial" panose="020B0604020202020204" pitchFamily="34" charset="0"/>
                </a:rPr>
                <a:t>process</a:t>
              </a:r>
              <a:r>
                <a:rPr lang="zh-CN" altLang="en-US" sz="900" b="1" dirty="0">
                  <a:latin typeface="Arial" panose="020B0604020202020204" pitchFamily="34" charset="0"/>
                  <a:ea typeface="微软雅黑" panose="020B0503020204020204" pitchFamily="34" charset="-122"/>
                  <a:cs typeface="Arial" panose="020B0604020202020204" pitchFamily="34" charset="0"/>
                </a:rPr>
                <a:t> </a:t>
              </a:r>
              <a:r>
                <a:rPr lang="en-US" altLang="zh-CN" sz="900" b="1" dirty="0">
                  <a:latin typeface="Arial" panose="020B0604020202020204" pitchFamily="34" charset="0"/>
                  <a:ea typeface="微软雅黑" panose="020B0503020204020204" pitchFamily="34" charset="-122"/>
                  <a:cs typeface="Arial" panose="020B0604020202020204" pitchFamily="34" charset="0"/>
                </a:rPr>
                <a:t>auditor</a:t>
              </a:r>
            </a:p>
            <a:p>
              <a:pPr>
                <a:lnSpc>
                  <a:spcPts val="1740"/>
                </a:lnSpc>
              </a:pPr>
              <a:r>
                <a:rPr lang="zh-CN" altLang="en-US" sz="900" dirty="0">
                  <a:latin typeface="Arial" panose="020B0604020202020204" pitchFamily="34" charset="0"/>
                  <a:ea typeface="微软雅黑" panose="020B0503020204020204" pitchFamily="34" charset="-122"/>
                  <a:cs typeface="Arial" panose="020B0604020202020204" pitchFamily="34" charset="0"/>
                </a:rPr>
                <a:t>     </a:t>
              </a:r>
              <a:r>
                <a:rPr lang="en-US" altLang="zh-CN" sz="900" dirty="0">
                  <a:latin typeface="Arial" panose="020B0604020202020204" pitchFamily="34" charset="0"/>
                  <a:ea typeface="微软雅黑" panose="020B0503020204020204" pitchFamily="34" charset="-122"/>
                  <a:cs typeface="Arial" panose="020B0604020202020204" pitchFamily="34" charset="0"/>
                </a:rPr>
                <a:t>CertifiedTime:2011</a:t>
              </a:r>
            </a:p>
          </p:txBody>
        </p:sp>
      </p:grpSp>
      <p:sp>
        <p:nvSpPr>
          <p:cNvPr id="10" name="文本框 9">
            <a:extLst>
              <a:ext uri="{FF2B5EF4-FFF2-40B4-BE49-F238E27FC236}">
                <a16:creationId xmlns:a16="http://schemas.microsoft.com/office/drawing/2014/main" id="{B200D4FC-D39C-119B-FBAE-CC1038D9DBC5}"/>
              </a:ext>
            </a:extLst>
          </p:cNvPr>
          <p:cNvSpPr txBox="1"/>
          <p:nvPr/>
        </p:nvSpPr>
        <p:spPr>
          <a:xfrm>
            <a:off x="2800679" y="2747276"/>
            <a:ext cx="2966967" cy="496867"/>
          </a:xfrm>
          <a:prstGeom prst="rect">
            <a:avLst/>
          </a:prstGeom>
          <a:noFill/>
        </p:spPr>
        <p:txBody>
          <a:bodyPr wrap="square" rtlCol="0">
            <a:spAutoFit/>
          </a:bodyPr>
          <a:lstStyle/>
          <a:p>
            <a:pPr marL="171450" indent="-171450">
              <a:lnSpc>
                <a:spcPts val="1740"/>
              </a:lnSpc>
              <a:buFont typeface="Arial" panose="020B0604020202020204" pitchFamily="34" charset="0"/>
              <a:buChar char="•"/>
            </a:pPr>
            <a:r>
              <a:rPr lang="en-US" altLang="zh-CN" sz="900" b="1" dirty="0">
                <a:latin typeface="Arial" panose="020B0604020202020204" pitchFamily="34" charset="0"/>
                <a:ea typeface="微软雅黑" panose="020B0503020204020204" pitchFamily="34" charset="-122"/>
                <a:cs typeface="Arial" panose="020B0604020202020204" pitchFamily="34" charset="0"/>
              </a:rPr>
              <a:t>VDA6.8 Supply Chain process</a:t>
            </a:r>
            <a:r>
              <a:rPr lang="zh-CN" altLang="en-US" sz="900" b="1" dirty="0">
                <a:latin typeface="Arial" panose="020B0604020202020204" pitchFamily="34" charset="0"/>
                <a:ea typeface="微软雅黑" panose="020B0503020204020204" pitchFamily="34" charset="-122"/>
                <a:cs typeface="Arial" panose="020B0604020202020204" pitchFamily="34" charset="0"/>
              </a:rPr>
              <a:t> </a:t>
            </a:r>
            <a:r>
              <a:rPr lang="en-US" altLang="zh-CN" sz="900" b="1" dirty="0">
                <a:latin typeface="Arial" panose="020B0604020202020204" pitchFamily="34" charset="0"/>
                <a:ea typeface="微软雅黑" panose="020B0503020204020204" pitchFamily="34" charset="-122"/>
                <a:cs typeface="Arial" panose="020B0604020202020204" pitchFamily="34" charset="0"/>
              </a:rPr>
              <a:t>auditor</a:t>
            </a:r>
          </a:p>
          <a:p>
            <a:pPr>
              <a:lnSpc>
                <a:spcPts val="1740"/>
              </a:lnSpc>
            </a:pPr>
            <a:r>
              <a:rPr lang="zh-CN" altLang="en-US" sz="900" dirty="0">
                <a:latin typeface="Arial" panose="020B0604020202020204" pitchFamily="34" charset="0"/>
                <a:ea typeface="微软雅黑" panose="020B0503020204020204" pitchFamily="34" charset="-122"/>
                <a:cs typeface="Arial" panose="020B0604020202020204" pitchFamily="34" charset="0"/>
              </a:rPr>
              <a:t>     </a:t>
            </a:r>
            <a:r>
              <a:rPr lang="en-US" altLang="zh-CN" sz="900" dirty="0">
                <a:latin typeface="Arial" panose="020B0604020202020204" pitchFamily="34" charset="0"/>
                <a:ea typeface="微软雅黑" panose="020B0503020204020204" pitchFamily="34" charset="-122"/>
                <a:cs typeface="Arial" panose="020B0604020202020204" pitchFamily="34" charset="0"/>
              </a:rPr>
              <a:t>CertifiedTime:2026</a:t>
            </a:r>
            <a:endParaRPr lang="en-US" sz="900" dirty="0">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3502831319"/>
      </p:ext>
    </p:extLst>
  </p:cSld>
  <p:clrMapOvr>
    <a:masterClrMapping/>
  </p:clrMapOvr>
</p:sld>
</file>

<file path=ppt/theme/theme1.xml><?xml version="1.0" encoding="utf-8"?>
<a:theme xmlns:a="http://schemas.openxmlformats.org/drawingml/2006/main" name="简历​​">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su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b0ff92c5-92ff-43fe-a760-6a9303f9073d}" enabled="1" method="Standard" siteId="{1272ef7d-0a4c-4c35-8f4b-416e283c5d59}" contentBits="3" removed="0"/>
</clbl:labelList>
</file>

<file path=docProps/app.xml><?xml version="1.0" encoding="utf-8"?>
<Properties xmlns="http://schemas.openxmlformats.org/officeDocument/2006/extended-properties" xmlns:vt="http://schemas.openxmlformats.org/officeDocument/2006/docPropsVTypes">
  <Template>Office Theme</Template>
  <TotalTime>6</TotalTime>
  <Words>1651</Words>
  <Application>Microsoft Macintosh PowerPoint</Application>
  <PresentationFormat>A4 纸张(210x297 毫米)</PresentationFormat>
  <Paragraphs>74</Paragraphs>
  <Slides>3</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3</vt:i4>
      </vt:variant>
    </vt:vector>
  </HeadingPairs>
  <TitlesOfParts>
    <vt:vector size="12" baseType="lpstr">
      <vt:lpstr>微软雅黑</vt:lpstr>
      <vt:lpstr>Audi Type</vt:lpstr>
      <vt:lpstr>quote-cjk-patch</vt:lpstr>
      <vt:lpstr>Arial</vt:lpstr>
      <vt:lpstr>Arial</vt:lpstr>
      <vt:lpstr>Calibri</vt:lpstr>
      <vt:lpstr>Wingdings</vt:lpstr>
      <vt:lpstr>简历​​</vt:lpstr>
      <vt:lpstr>Resume​​</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 Jiajun (VWPT)</dc:creator>
  <cp:lastModifiedBy>Li Jiajun</cp:lastModifiedBy>
  <cp:revision>359</cp:revision>
  <dcterms:created xsi:type="dcterms:W3CDTF">2021-08-12T03:08:11Z</dcterms:created>
  <dcterms:modified xsi:type="dcterms:W3CDTF">2026-08-07T11:10:23Z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6ea00b-4117-42cd-b507-4f042240423e_Enabled">
    <vt:lpwstr>true</vt:lpwstr>
  </property>
  <property fmtid="{D5CDD505-2E9C-101B-9397-08002B2CF9AE}" pid="3" name="MSIP_Label_126ea00b-4117-42cd-b507-4f042240423e_SetDate">
    <vt:lpwstr>2026-01-24T08:21:47Z</vt:lpwstr>
  </property>
  <property fmtid="{D5CDD505-2E9C-101B-9397-08002B2CF9AE}" pid="4" name="MSIP_Label_126ea00b-4117-42cd-b507-4f042240423e_Method">
    <vt:lpwstr>Standard</vt:lpwstr>
  </property>
  <property fmtid="{D5CDD505-2E9C-101B-9397-08002B2CF9AE}" pid="5" name="MSIP_Label_126ea00b-4117-42cd-b507-4f042240423e_Name">
    <vt:lpwstr>Internal</vt:lpwstr>
  </property>
  <property fmtid="{D5CDD505-2E9C-101B-9397-08002B2CF9AE}" pid="6" name="MSIP_Label_126ea00b-4117-42cd-b507-4f042240423e_SiteId">
    <vt:lpwstr>3d7c7980-9f6d-438d-8e73-5159b3d6b689</vt:lpwstr>
  </property>
  <property fmtid="{D5CDD505-2E9C-101B-9397-08002B2CF9AE}" pid="7" name="MSIP_Label_126ea00b-4117-42cd-b507-4f042240423e_ActionId">
    <vt:lpwstr>0a97def7-e3af-4628-b4d8-c476ffa9d648</vt:lpwstr>
  </property>
  <property fmtid="{D5CDD505-2E9C-101B-9397-08002B2CF9AE}" pid="8" name="MSIP_Label_126ea00b-4117-42cd-b507-4f042240423e_ContentBits">
    <vt:lpwstr>2</vt:lpwstr>
  </property>
  <property fmtid="{D5CDD505-2E9C-101B-9397-08002B2CF9AE}" pid="9" name="MSIP_Label_126ea00b-4117-42cd-b507-4f042240423e_Tag">
    <vt:lpwstr>10, 3, 0, 1</vt:lpwstr>
  </property>
  <property fmtid="{D5CDD505-2E9C-101B-9397-08002B2CF9AE}" pid="10" name="ClassificationContentMarkingFooterLocations">
    <vt:lpwstr>简历​​:3\Resume​​:3</vt:lpwstr>
  </property>
  <property fmtid="{D5CDD505-2E9C-101B-9397-08002B2CF9AE}" pid="11" name="ClassificationContentMarkingFooterText">
    <vt:lpwstr>Internal</vt:lpwstr>
  </property>
</Properties>
</file>