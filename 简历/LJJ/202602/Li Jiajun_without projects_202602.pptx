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63" r:id="rId2"/>
    <p:sldId id="264" r:id="rId3"/>
  </p:sldIdLst>
  <p:sldSz cx="6858000" cy="9906000" type="A4"/>
  <p:notesSz cx="7315200" cy="9601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6A6C"/>
    <a:srgbClr val="9EA1A2"/>
    <a:srgbClr val="9C9FA0"/>
    <a:srgbClr val="FFFFFF"/>
    <a:srgbClr val="9B9EA0"/>
    <a:srgbClr val="979A9B"/>
    <a:srgbClr val="9DA0A1"/>
    <a:srgbClr val="D3D4D5"/>
    <a:srgbClr val="E6E6E6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709"/>
  </p:normalViewPr>
  <p:slideViewPr>
    <p:cSldViewPr snapToGrid="0">
      <p:cViewPr varScale="1">
        <p:scale>
          <a:sx n="84" d="100"/>
          <a:sy n="84" d="100"/>
        </p:scale>
        <p:origin x="38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esu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41672" y="221253"/>
            <a:ext cx="4483944" cy="36000"/>
          </a:xfrm>
          <a:prstGeom prst="rect">
            <a:avLst/>
          </a:prstGeom>
          <a:solidFill>
            <a:srgbClr val="9EA1A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C9FA0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6066181" y="221253"/>
            <a:ext cx="720000" cy="36000"/>
          </a:xfrm>
          <a:prstGeom prst="rect">
            <a:avLst/>
          </a:prstGeom>
          <a:solidFill>
            <a:srgbClr val="9EA1A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C9FA0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602056" y="73375"/>
            <a:ext cx="14215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altLang="zh-CN" sz="1600" b="1" kern="1200" dirty="0">
                <a:solidFill>
                  <a:srgbClr val="9EA1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Resume</a:t>
            </a:r>
            <a:endParaRPr lang="zh-CN" altLang="en-US" sz="1600" b="1" kern="1200" dirty="0">
              <a:solidFill>
                <a:srgbClr val="9EA1A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26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Exper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41672" y="221253"/>
            <a:ext cx="4483944" cy="36000"/>
          </a:xfrm>
          <a:prstGeom prst="rect">
            <a:avLst/>
          </a:prstGeom>
          <a:solidFill>
            <a:srgbClr val="9EA1A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C9FA0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6066181" y="221253"/>
            <a:ext cx="720000" cy="36000"/>
          </a:xfrm>
          <a:prstGeom prst="rect">
            <a:avLst/>
          </a:prstGeom>
          <a:solidFill>
            <a:srgbClr val="9EA1A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C9FA0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3820094" y="87976"/>
            <a:ext cx="224608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altLang="zh-CN" sz="1600" b="1" kern="1200" dirty="0">
                <a:solidFill>
                  <a:srgbClr val="9EA1A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Project</a:t>
            </a:r>
            <a:r>
              <a:rPr lang="zh-CN" altLang="en-US" sz="1600" b="1" kern="1200" dirty="0">
                <a:solidFill>
                  <a:srgbClr val="9EA1A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b="1" kern="1200" dirty="0">
                <a:solidFill>
                  <a:srgbClr val="9EA1A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Experience</a:t>
            </a:r>
            <a:endParaRPr lang="zh-CN" altLang="en-US" sz="1600" b="1" kern="1200" dirty="0">
              <a:solidFill>
                <a:srgbClr val="9EA1A2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74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简历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1" y="0"/>
            <a:ext cx="2621279" cy="990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602056" y="60123"/>
            <a:ext cx="14215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Resume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51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项目经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4344" y="221253"/>
            <a:ext cx="4483944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172197" y="221253"/>
            <a:ext cx="720000" cy="787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732551" y="78788"/>
            <a:ext cx="254457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Project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baseline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Experience</a:t>
            </a:r>
            <a:endParaRPr lang="zh-CN" altLang="en-US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036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CD01A2-074E-4206-B488-A455663873BA}" type="datetimeFigureOut">
              <a:rPr lang="zh-CN" altLang="en-US" smtClean="0"/>
              <a:t>2026/2/25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20162-27D8-449D-A1F7-0EF87D2A24B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507276-F493-DEC7-D12F-9A9063DEC7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9690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49753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9" r:id="rId2"/>
    <p:sldLayoutId id="2147483690" r:id="rId3"/>
    <p:sldLayoutId id="2147483691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318F5-B91E-619B-4E0E-F06D8A2B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489C8B-CBE6-5FD4-FE8E-0E0A517A87B7}"/>
              </a:ext>
            </a:extLst>
          </p:cNvPr>
          <p:cNvGrpSpPr/>
          <p:nvPr/>
        </p:nvGrpSpPr>
        <p:grpSpPr>
          <a:xfrm>
            <a:off x="170637" y="350174"/>
            <a:ext cx="6326942" cy="988219"/>
            <a:chOff x="37495" y="337813"/>
            <a:chExt cx="6326942" cy="1030956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160D1C7-40BD-3AE8-3D23-CC892CB6B0F6}"/>
                </a:ext>
              </a:extLst>
            </p:cNvPr>
            <p:cNvSpPr txBox="1"/>
            <p:nvPr/>
          </p:nvSpPr>
          <p:spPr>
            <a:xfrm>
              <a:off x="37495" y="337813"/>
              <a:ext cx="3089831" cy="10309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Name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Li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Jiajun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Birthday:	Dec.1983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Status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Married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Mail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lijiajun_vwpt@163.com</a:t>
              </a:r>
              <a:endPara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8CED473-158F-AFE3-0FA2-6581BD95E2D9}"/>
                </a:ext>
              </a:extLst>
            </p:cNvPr>
            <p:cNvSpPr txBox="1"/>
            <p:nvPr/>
          </p:nvSpPr>
          <p:spPr>
            <a:xfrm>
              <a:off x="3208353" y="337813"/>
              <a:ext cx="3156084" cy="790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Gender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Male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Location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Shanghai, China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Telephone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：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+86-13761058893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0CF933D-8DED-371F-C5CC-234E22C9E351}"/>
              </a:ext>
            </a:extLst>
          </p:cNvPr>
          <p:cNvGrpSpPr/>
          <p:nvPr/>
        </p:nvGrpSpPr>
        <p:grpSpPr>
          <a:xfrm>
            <a:off x="170637" y="2801242"/>
            <a:ext cx="6457577" cy="6356875"/>
            <a:chOff x="156235" y="2068072"/>
            <a:chExt cx="6457577" cy="5090037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8095A53-EEFC-300B-ACB3-A5EBF9F0CD21}"/>
                </a:ext>
              </a:extLst>
            </p:cNvPr>
            <p:cNvSpPr txBox="1"/>
            <p:nvPr/>
          </p:nvSpPr>
          <p:spPr>
            <a:xfrm>
              <a:off x="167865" y="2172199"/>
              <a:ext cx="6445947" cy="4985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2022.05 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～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Present	Audi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China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Supply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Chain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Great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Asia</a:t>
              </a:r>
            </a:p>
            <a:p>
              <a:pPr lvl="2">
                <a:lnSpc>
                  <a:spcPts val="1600"/>
                </a:lnSpc>
              </a:pP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Supply Chain Auditor and Planner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Global Supplier Qualification (VDA 6.8): 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Served as Volkswagen Group-certified VDA 6.8 expert, representing premium European brands (Audi, Porsche, Lamborghini) to conduct end-to-end supply chain process audits for over 100 potential suppliers across Asia-Pacific. Audits covered critical info-flow &amp; material-flow (planning, procurement, production, in-house logistics, shipment). Audit conclusions served as mandatory prerequisites for suppliers to secure Volkswagen Group global sourcing projects.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Strategic Supplier Development &amp; Maturity (</a:t>
              </a:r>
              <a:r>
                <a:rPr lang="en-US" sz="900" b="1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QPNi</a:t>
              </a:r>
              <a:r>
                <a:rPr lang="en-US" sz="9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): 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Spearheaded customized coaching programs for underperforming and cross-industry suppliers, enabling 13 suppliers to meet Volkswagen standards and supporting successful launch of 6 new projects. As PPE CN Project core member, drove 11+ key suppliers to achieve supply chain maturity targets per </a:t>
              </a:r>
              <a:r>
                <a:rPr lang="en-US" sz="9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QPNi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framework, ensuring timely project milestones.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Supplier Capacity Optimization: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Led capacity planning and ramp-up for new projects, conducting on-site reviews and providing technical guidance to optimize critical processes. Achieved significant improvements (e.g., reduced assembly cycle time at German brake caliper plant by 22%, from 35.4s to 27.3s/pcs), enhancing stability and meeting ramp-up demands. Proactively resolved capacity bottlenecks and supply disruptions during mass production.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Supply Chain Consulting Business Build: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 Pioneered and established Audi China's end-to-end external supply chain consulting practice from scratch, completing framework design and implementation within 3 months. Translated rigorous VDA 6.8 standards and best practices into market-ready solutions, delivering significant cost savings for clients (e.g., 17% reduction in warehousing/operations costs for a German enterprise).</a:t>
              </a:r>
              <a:br>
                <a:rPr lang="en-US" altLang="zh-CN" sz="900" dirty="0">
                  <a:solidFill>
                    <a:srgbClr val="81858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altLang="zh-CN" sz="900" dirty="0">
                <a:solidFill>
                  <a:srgbClr val="81858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2006.07 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～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2022.05	Shanghai Volkswagen Powertrain Co., Ltd. / SAIC Volkswagen</a:t>
              </a:r>
            </a:p>
            <a:p>
              <a:pPr>
                <a:lnSpc>
                  <a:spcPts val="1600"/>
                </a:lnSpc>
              </a:pP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2010.07 </a:t>
              </a:r>
              <a:r>
                <a:rPr lang="zh-CN" altLang="en-US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～ </a:t>
              </a: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2022.05</a:t>
              </a:r>
              <a:r>
                <a:rPr lang="en-US" altLang="zh-CN" sz="1000" b="1" dirty="0">
                  <a:solidFill>
                    <a:srgbClr val="9EA1A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Expert of supply chain management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Supply Chain Risk Prediction &amp; Mitigation: 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Led proactive risk assessment by monitoring capacity, supply-demand, and market dynamics for 150+ material groups (500+ critical components). Anticipated disruption risks (e.g., chip shortages, capacity limits) and provided key inputs to S&amp;OP to drive capacity adjustments and optimize production scheduling.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Risk Framework Development: 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Established robust supply chain risk analysis models and developed contingency plans (secondary sourcing qualification, safety stock strategies) to ensure production continuity.</a:t>
              </a:r>
            </a:p>
            <a:p>
              <a:pPr>
                <a:lnSpc>
                  <a:spcPts val="1600"/>
                </a:lnSpc>
              </a:pPr>
              <a:endParaRPr lang="en-US"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>
                <a:lnSpc>
                  <a:spcPts val="1600"/>
                </a:lnSpc>
              </a:pP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2006.07 </a:t>
              </a:r>
              <a:r>
                <a:rPr lang="zh-CN" altLang="en-US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～ </a:t>
              </a: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2010.06</a:t>
              </a:r>
              <a:r>
                <a:rPr lang="en-US" altLang="zh-CN" sz="1000" b="1" dirty="0">
                  <a:solidFill>
                    <a:srgbClr val="9EA1A2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	</a:t>
              </a: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Disposition /</a:t>
              </a:r>
              <a:r>
                <a:rPr lang="zh-CN" altLang="en-US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Material</a:t>
              </a:r>
              <a:r>
                <a:rPr lang="zh-CN" altLang="en-US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dirty="0">
                  <a:solidFill>
                    <a:srgbClr val="696A6C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planner</a:t>
              </a:r>
              <a:endParaRPr lang="en-US" altLang="zh-CN" sz="1000" b="0" i="0" dirty="0">
                <a:solidFill>
                  <a:srgbClr val="81858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4860F7C-EFC0-016A-3D5C-2F60F448E51B}"/>
                </a:ext>
              </a:extLst>
            </p:cNvPr>
            <p:cNvSpPr txBox="1"/>
            <p:nvPr/>
          </p:nvSpPr>
          <p:spPr>
            <a:xfrm>
              <a:off x="156235" y="2068072"/>
              <a:ext cx="2241486" cy="18871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000" b="1" dirty="0">
                  <a:solidFill>
                    <a:srgbClr val="696A6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Working</a:t>
              </a:r>
              <a:r>
                <a:rPr lang="zh-CN" altLang="en-US" sz="1000" b="1" dirty="0">
                  <a:solidFill>
                    <a:srgbClr val="696A6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experience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04AD02D-56E2-57A6-8ED9-A2CC90AEF992}"/>
              </a:ext>
            </a:extLst>
          </p:cNvPr>
          <p:cNvGrpSpPr/>
          <p:nvPr/>
        </p:nvGrpSpPr>
        <p:grpSpPr>
          <a:xfrm>
            <a:off x="159007" y="1384913"/>
            <a:ext cx="6390687" cy="1447465"/>
            <a:chOff x="158885" y="1470455"/>
            <a:chExt cx="6457700" cy="1553401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017DBABD-B5BE-E302-2492-D67CE2CC3C01}"/>
                </a:ext>
              </a:extLst>
            </p:cNvPr>
            <p:cNvSpPr/>
            <p:nvPr/>
          </p:nvSpPr>
          <p:spPr>
            <a:xfrm>
              <a:off x="170638" y="1630463"/>
              <a:ext cx="6445947" cy="13933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600"/>
                </a:lnSpc>
              </a:pP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Highly accomplished Volkswagen Group supply chain executive with 20+ years of dedicated experience, specializing in establishing Europe-quality supply chains from the ground up across Asia-Pacific. Certified expert in VDA 6.8 and </a:t>
              </a:r>
              <a:r>
                <a:rPr lang="en-US" sz="9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QPNi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maturity management. Proven ability to lead comprehensive supplier qualification audits for VW group (brands: Audi, Porsche, and Lamborghini) drive strategic supplier development and capacity optimization, and build successful supply chain consulting practices. Adept at mitigating risks and ensuring supply continuity in complex, high-volume manufacturing environments.</a:t>
              </a:r>
              <a:endParaRPr lang="en-US" altLang="zh-CN" sz="9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D6B2A49-6A18-1BD6-19CF-2B068F5C352F}"/>
                </a:ext>
              </a:extLst>
            </p:cNvPr>
            <p:cNvSpPr txBox="1"/>
            <p:nvPr/>
          </p:nvSpPr>
          <p:spPr>
            <a:xfrm>
              <a:off x="158885" y="1470455"/>
              <a:ext cx="2241486" cy="26424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000" b="1" dirty="0">
                  <a:solidFill>
                    <a:srgbClr val="696A6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Professional</a:t>
              </a:r>
              <a:r>
                <a:rPr lang="zh-CN" altLang="en-US" sz="1000" b="1" dirty="0">
                  <a:solidFill>
                    <a:srgbClr val="696A6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altLang="zh-CN" sz="1000" b="1" dirty="0">
                  <a:solidFill>
                    <a:srgbClr val="696A6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7032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5CEED-0E28-3B73-13DD-05794CA4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5EEE6980-DDA7-1492-AD6D-E87697601106}"/>
              </a:ext>
            </a:extLst>
          </p:cNvPr>
          <p:cNvGrpSpPr/>
          <p:nvPr/>
        </p:nvGrpSpPr>
        <p:grpSpPr>
          <a:xfrm>
            <a:off x="159007" y="502909"/>
            <a:ext cx="6445947" cy="1302522"/>
            <a:chOff x="170638" y="8879845"/>
            <a:chExt cx="3055891" cy="130252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C462648-1EDE-66A3-8CCE-14AB544CB983}"/>
                </a:ext>
              </a:extLst>
            </p:cNvPr>
            <p:cNvSpPr txBox="1"/>
            <p:nvPr/>
          </p:nvSpPr>
          <p:spPr>
            <a:xfrm>
              <a:off x="170638" y="8879845"/>
              <a:ext cx="2241487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000" b="1" dirty="0">
                  <a:solidFill>
                    <a:srgbClr val="696A6C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Core Competencies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26DEEF0-949F-0DBF-7C69-E832F80AA747}"/>
                </a:ext>
              </a:extLst>
            </p:cNvPr>
            <p:cNvSpPr txBox="1"/>
            <p:nvPr/>
          </p:nvSpPr>
          <p:spPr>
            <a:xfrm>
              <a:off x="170638" y="9072768"/>
              <a:ext cx="3055891" cy="1109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Volkswagen Group Supply Chain Expertise (VDA 6.8, </a:t>
              </a:r>
              <a:r>
                <a:rPr lang="en-US" sz="900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QPNi</a:t>
              </a: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) | Strategic Supplier Development &amp; Qualification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End-to-End Supply Chain Audit &amp; Optimization | Supplier Capacity &amp; Risk Management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Supply Chain Consulting &amp; System Implementation | Cross-Cultural Team Leadership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S&amp;OP Integration &amp; Production Planning | Process Improvement &amp; Cost Reduction</a:t>
              </a:r>
            </a:p>
            <a:p>
              <a:pPr marL="171450" indent="-171450">
                <a:lnSpc>
                  <a:spcPts val="1600"/>
                </a:lnSpc>
                <a:buFont typeface="Arial" panose="020B0604020202020204" pitchFamily="34" charset="0"/>
                <a:buChar char="•"/>
              </a:pPr>
              <a:r>
                <a:rPr lang="en-US" sz="90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Certified VDA 6.3 &amp; VDA 6.8 Auditor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43E1AAA-DD2F-A435-011A-E1BB9D0EA754}"/>
              </a:ext>
            </a:extLst>
          </p:cNvPr>
          <p:cNvGrpSpPr/>
          <p:nvPr/>
        </p:nvGrpSpPr>
        <p:grpSpPr>
          <a:xfrm>
            <a:off x="159005" y="1933671"/>
            <a:ext cx="6445949" cy="496068"/>
            <a:chOff x="237528" y="8427011"/>
            <a:chExt cx="6379057" cy="49606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9CD52E5-0007-473F-6DC3-C20E5A512846}"/>
                </a:ext>
              </a:extLst>
            </p:cNvPr>
            <p:cNvSpPr/>
            <p:nvPr/>
          </p:nvSpPr>
          <p:spPr>
            <a:xfrm>
              <a:off x="237528" y="8673232"/>
              <a:ext cx="6379057" cy="2498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2002.09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～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2006.06	Shanghai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Maritime</a:t>
              </a:r>
              <a:r>
                <a:rPr lang="zh-CN" altLang="en-US" sz="1000" b="1" dirty="0">
                  <a:solidFill>
                    <a:srgbClr val="696A6C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University	</a:t>
              </a:r>
              <a:r>
                <a:rPr lang="en-US" altLang="zh-CN" sz="9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Bachelor</a:t>
              </a:r>
              <a:r>
                <a:rPr lang="zh-CN" altLang="en-US" sz="9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9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in</a:t>
              </a:r>
              <a:r>
                <a:rPr lang="zh-CN" altLang="en-US" sz="9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9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Marine</a:t>
              </a:r>
              <a:r>
                <a:rPr lang="zh-CN" altLang="en-US" sz="9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sz="9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engineering</a:t>
              </a:r>
              <a:endParaRPr lang="en-US" altLang="zh-CN" sz="900" kern="1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182B9CF-AA81-8704-7234-A56F1DEF321F}"/>
                </a:ext>
              </a:extLst>
            </p:cNvPr>
            <p:cNvSpPr txBox="1"/>
            <p:nvPr/>
          </p:nvSpPr>
          <p:spPr>
            <a:xfrm>
              <a:off x="237528" y="8427011"/>
              <a:ext cx="2241486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000" b="1" dirty="0">
                  <a:solidFill>
                    <a:srgbClr val="696A6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Education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2831319"/>
      </p:ext>
    </p:extLst>
  </p:cSld>
  <p:clrMapOvr>
    <a:masterClrMapping/>
  </p:clrMapOvr>
</p:sld>
</file>

<file path=ppt/theme/theme1.xml><?xml version="1.0" encoding="utf-8"?>
<a:theme xmlns:a="http://schemas.openxmlformats.org/drawingml/2006/main" name="Resume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0ff92c5-92ff-43fe-a760-6a9303f9073d}" enabled="1" method="Standard" siteId="{1272ef7d-0a4c-4c35-8f4b-416e283c5d59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618</Words>
  <Application>Microsoft Macintosh PowerPoint</Application>
  <PresentationFormat>A4 纸张(210x297 毫米)</PresentationFormat>
  <Paragraphs>30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微软雅黑</vt:lpstr>
      <vt:lpstr>arial</vt:lpstr>
      <vt:lpstr>arial</vt:lpstr>
      <vt:lpstr>Calibri</vt:lpstr>
      <vt:lpstr>Resume​​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Li, Jiajun (VWPT)</dc:creator>
  <cp:lastModifiedBy>Li Jiajun</cp:lastModifiedBy>
  <cp:revision>358</cp:revision>
  <dcterms:created xsi:type="dcterms:W3CDTF">2021-08-12T03:08:11Z</dcterms:created>
  <dcterms:modified xsi:type="dcterms:W3CDTF">2026-02-25T13:53:49Z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6ea00b-4117-42cd-b507-4f042240423e_Enabled">
    <vt:lpwstr>true</vt:lpwstr>
  </property>
  <property fmtid="{D5CDD505-2E9C-101B-9397-08002B2CF9AE}" pid="3" name="MSIP_Label_126ea00b-4117-42cd-b507-4f042240423e_SetDate">
    <vt:lpwstr>2026-01-24T08:21:47Z</vt:lpwstr>
  </property>
  <property fmtid="{D5CDD505-2E9C-101B-9397-08002B2CF9AE}" pid="4" name="MSIP_Label_126ea00b-4117-42cd-b507-4f042240423e_Method">
    <vt:lpwstr>Standard</vt:lpwstr>
  </property>
  <property fmtid="{D5CDD505-2E9C-101B-9397-08002B2CF9AE}" pid="5" name="MSIP_Label_126ea00b-4117-42cd-b507-4f042240423e_Name">
    <vt:lpwstr>Internal</vt:lpwstr>
  </property>
  <property fmtid="{D5CDD505-2E9C-101B-9397-08002B2CF9AE}" pid="6" name="MSIP_Label_126ea00b-4117-42cd-b507-4f042240423e_SiteId">
    <vt:lpwstr>3d7c7980-9f6d-438d-8e73-5159b3d6b689</vt:lpwstr>
  </property>
  <property fmtid="{D5CDD505-2E9C-101B-9397-08002B2CF9AE}" pid="7" name="MSIP_Label_126ea00b-4117-42cd-b507-4f042240423e_ActionId">
    <vt:lpwstr>0a97def7-e3af-4628-b4d8-c476ffa9d648</vt:lpwstr>
  </property>
  <property fmtid="{D5CDD505-2E9C-101B-9397-08002B2CF9AE}" pid="8" name="MSIP_Label_126ea00b-4117-42cd-b507-4f042240423e_ContentBits">
    <vt:lpwstr>2</vt:lpwstr>
  </property>
  <property fmtid="{D5CDD505-2E9C-101B-9397-08002B2CF9AE}" pid="9" name="MSIP_Label_126ea00b-4117-42cd-b507-4f042240423e_Tag">
    <vt:lpwstr>10, 3, 0, 1</vt:lpwstr>
  </property>
  <property fmtid="{D5CDD505-2E9C-101B-9397-08002B2CF9AE}" pid="10" name="ClassificationContentMarkingFooterLocations">
    <vt:lpwstr>简历​​:3\Resume​​:3</vt:lpwstr>
  </property>
  <property fmtid="{D5CDD505-2E9C-101B-9397-08002B2CF9AE}" pid="11" name="ClassificationContentMarkingFooterText">
    <vt:lpwstr>Internal</vt:lpwstr>
  </property>
</Properties>
</file>