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58" r:id="rId3"/>
    <p:sldId id="257" r:id="rId4"/>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80" autoAdjust="0"/>
    <p:restoredTop sz="94709"/>
  </p:normalViewPr>
  <p:slideViewPr>
    <p:cSldViewPr snapToGrid="0">
      <p:cViewPr varScale="1">
        <p:scale>
          <a:sx n="85" d="100"/>
          <a:sy n="85" d="100"/>
        </p:scale>
        <p:origin x="38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3820094" y="87976"/>
            <a:ext cx="2246087"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Project</a:t>
            </a:r>
            <a:r>
              <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3732551" y="78788"/>
            <a:ext cx="2544577"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Project</a:t>
            </a:r>
            <a:r>
              <a:rPr lang="zh-CN" altLang="en-US" b="1" dirty="0">
                <a:solidFill>
                  <a:srgbClr val="0070C0"/>
                </a:solidFill>
                <a:latin typeface="微软雅黑" panose="020B0503020204020204" pitchFamily="34" charset="-122"/>
                <a:ea typeface="微软雅黑" panose="020B0503020204020204" pitchFamily="34" charset="-122"/>
              </a:rPr>
              <a:t> </a:t>
            </a:r>
            <a:r>
              <a:rPr lang="en-US" altLang="zh-CN" b="1" baseline="0" dirty="0">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2026/5/10</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2026/5/10</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85152" y="1044397"/>
            <a:ext cx="6545847" cy="695822"/>
            <a:chOff x="185153" y="1175281"/>
            <a:chExt cx="6421261" cy="695822"/>
          </a:xfrm>
        </p:grpSpPr>
        <p:sp>
          <p:nvSpPr>
            <p:cNvPr id="5" name="文本框 4">
              <a:extLst>
                <a:ext uri="{FF2B5EF4-FFF2-40B4-BE49-F238E27FC236}">
                  <a16:creationId xmlns:a16="http://schemas.microsoft.com/office/drawing/2014/main" id="{6328BBE5-BD67-4242-90DC-5145D59E3704}"/>
                </a:ext>
              </a:extLst>
            </p:cNvPr>
            <p:cNvSpPr txBox="1"/>
            <p:nvPr/>
          </p:nvSpPr>
          <p:spPr>
            <a:xfrm>
              <a:off x="185153" y="1175281"/>
              <a:ext cx="796876" cy="278602"/>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核心简介</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9" name="文本框 8">
              <a:extLst>
                <a:ext uri="{FF2B5EF4-FFF2-40B4-BE49-F238E27FC236}">
                  <a16:creationId xmlns:a16="http://schemas.microsoft.com/office/drawing/2014/main" id="{CC1EBB91-CDFE-B640-B2D6-B8BB71CC595B}"/>
                </a:ext>
              </a:extLst>
            </p:cNvPr>
            <p:cNvSpPr txBox="1"/>
            <p:nvPr/>
          </p:nvSpPr>
          <p:spPr>
            <a:xfrm>
              <a:off x="858676" y="1177643"/>
              <a:ext cx="5747738" cy="693460"/>
            </a:xfrm>
            <a:prstGeom prst="rect">
              <a:avLst/>
            </a:prstGeom>
            <a:noFill/>
          </p:spPr>
          <p:txBody>
            <a:bodyPr wrap="square" rtlCol="0">
              <a:spAutoFit/>
            </a:bodyPr>
            <a:lstStyle/>
            <a:p>
              <a:pPr algn="l">
                <a:lnSpc>
                  <a:spcPct val="150000"/>
                </a:lnSpc>
              </a:pPr>
              <a:r>
                <a:rPr lang="zh-CN" altLang="en-US" sz="900" dirty="0">
                  <a:solidFill>
                    <a:srgbClr val="696A6C"/>
                  </a:solidFill>
                  <a:latin typeface="Audi Type" panose="020B0503040202060203" pitchFamily="34" charset="0"/>
                  <a:ea typeface="微软雅黑" panose="020B0503020204020204" pitchFamily="34" charset="-122"/>
                </a:rPr>
                <a:t>中欧供应链体系与管理专家，拥有超过</a:t>
              </a:r>
              <a:r>
                <a:rPr lang="en-US" altLang="zh-CN" sz="900" dirty="0">
                  <a:solidFill>
                    <a:srgbClr val="696A6C"/>
                  </a:solidFill>
                  <a:latin typeface="Audi Type" panose="020B0503040202060203" pitchFamily="34" charset="0"/>
                  <a:ea typeface="微软雅黑" panose="020B0503020204020204" pitchFamily="34" charset="-122"/>
                </a:rPr>
                <a:t>20</a:t>
              </a:r>
              <a:r>
                <a:rPr lang="zh-CN" altLang="en-US" sz="900" dirty="0">
                  <a:solidFill>
                    <a:srgbClr val="696A6C"/>
                  </a:solidFill>
                  <a:latin typeface="Audi Type" panose="020B0503040202060203" pitchFamily="34" charset="0"/>
                  <a:ea typeface="微软雅黑" panose="020B0503020204020204" pitchFamily="34" charset="-122"/>
                </a:rPr>
                <a:t>年大众汽车集团（奥迪</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大众）供应链管理体系深度工作经验。兼具中国视野与欧洲供应链标准的双重背景。作为</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（供应链过程审核）专家，精通欧洲主机厂对供应链全过程（信息流与实物流）的严苛要求与评估体系。擅长从</a:t>
              </a:r>
              <a:r>
                <a:rPr lang="en-US" altLang="zh-CN" sz="900" dirty="0">
                  <a:solidFill>
                    <a:srgbClr val="696A6C"/>
                  </a:solidFill>
                  <a:latin typeface="Audi Type" panose="020B0503040202060203" pitchFamily="34" charset="0"/>
                  <a:ea typeface="微软雅黑" panose="020B0503020204020204" pitchFamily="34" charset="-122"/>
                </a:rPr>
                <a:t>0</a:t>
              </a:r>
              <a:r>
                <a:rPr lang="zh-CN" altLang="en-US" sz="900" dirty="0">
                  <a:solidFill>
                    <a:srgbClr val="696A6C"/>
                  </a:solidFill>
                  <a:latin typeface="Audi Type" panose="020B0503040202060203" pitchFamily="34" charset="0"/>
                  <a:ea typeface="微软雅黑" panose="020B0503020204020204" pitchFamily="34" charset="-122"/>
                </a:rPr>
                <a:t>到</a:t>
              </a:r>
              <a:r>
                <a:rPr lang="en-US" altLang="zh-CN" sz="900" dirty="0">
                  <a:solidFill>
                    <a:srgbClr val="696A6C"/>
                  </a:solidFill>
                  <a:latin typeface="Audi Type" panose="020B0503040202060203" pitchFamily="34" charset="0"/>
                  <a:ea typeface="微软雅黑" panose="020B0503020204020204" pitchFamily="34" charset="-122"/>
                </a:rPr>
                <a:t>1</a:t>
              </a:r>
              <a:r>
                <a:rPr lang="zh-CN" altLang="en-US" sz="900" dirty="0">
                  <a:solidFill>
                    <a:srgbClr val="696A6C"/>
                  </a:solidFill>
                  <a:latin typeface="Audi Type" panose="020B0503040202060203" pitchFamily="34" charset="0"/>
                  <a:ea typeface="微软雅黑" panose="020B0503020204020204" pitchFamily="34" charset="-122"/>
                </a:rPr>
                <a:t>为企业搭建符合欧洲标准、兼具成本竞争力的供应链体系。</a:t>
              </a:r>
            </a:p>
          </p:txBody>
        </p:sp>
      </p:grpSp>
      <p:grpSp>
        <p:nvGrpSpPr>
          <p:cNvPr id="14" name="组合 13"/>
          <p:cNvGrpSpPr/>
          <p:nvPr/>
        </p:nvGrpSpPr>
        <p:grpSpPr>
          <a:xfrm>
            <a:off x="130669" y="369623"/>
            <a:ext cx="4091437" cy="715176"/>
            <a:chOff x="130669" y="387481"/>
            <a:chExt cx="4091437" cy="715176"/>
          </a:xfrm>
        </p:grpSpPr>
        <p:sp>
          <p:nvSpPr>
            <p:cNvPr id="4" name="文本框 3"/>
            <p:cNvSpPr txBox="1"/>
            <p:nvPr/>
          </p:nvSpPr>
          <p:spPr>
            <a:xfrm>
              <a:off x="178048" y="619383"/>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性别：男</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联系电话：</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13761058893</a:t>
              </a:r>
            </a:p>
          </p:txBody>
        </p:sp>
        <p:sp>
          <p:nvSpPr>
            <p:cNvPr id="10" name="文本框 9"/>
            <p:cNvSpPr txBox="1"/>
            <p:nvPr/>
          </p:nvSpPr>
          <p:spPr>
            <a:xfrm>
              <a:off x="1987592" y="609426"/>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出生年月</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:1983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月</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邮箱：</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lijiajun_vwpt@163.com</a:t>
              </a:r>
              <a:endPar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1" name="文本框 10"/>
            <p:cNvSpPr txBox="1"/>
            <p:nvPr/>
          </p:nvSpPr>
          <p:spPr>
            <a:xfrm>
              <a:off x="130669" y="387481"/>
              <a:ext cx="757080" cy="261610"/>
            </a:xfrm>
            <a:prstGeom prst="rect">
              <a:avLst/>
            </a:prstGeom>
            <a:noFill/>
          </p:spPr>
          <p:txBody>
            <a:bodyPr wrap="square" rtlCol="0">
              <a:spAutoFit/>
            </a:bodyPr>
            <a:lstStyle/>
            <a:p>
              <a:pPr algn="ctr"/>
              <a:r>
                <a:rPr lang="zh-CN" altLang="en-US" sz="105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李嘉俊</a:t>
              </a:r>
            </a:p>
          </p:txBody>
        </p:sp>
      </p:grpSp>
      <p:grpSp>
        <p:nvGrpSpPr>
          <p:cNvPr id="16" name="组合 15"/>
          <p:cNvGrpSpPr/>
          <p:nvPr/>
        </p:nvGrpSpPr>
        <p:grpSpPr>
          <a:xfrm>
            <a:off x="185153" y="1736554"/>
            <a:ext cx="4442026" cy="280323"/>
            <a:chOff x="185153" y="1175281"/>
            <a:chExt cx="4442026" cy="280323"/>
          </a:xfrm>
        </p:grpSpPr>
        <p:sp>
          <p:nvSpPr>
            <p:cNvPr id="17" name="文本框 16">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教育背景</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8" name="文本框 17">
              <a:extLst>
                <a:ext uri="{FF2B5EF4-FFF2-40B4-BE49-F238E27FC236}">
                  <a16:creationId xmlns:a16="http://schemas.microsoft.com/office/drawing/2014/main" id="{CC1EBB91-CDFE-B640-B2D6-B8BB71CC595B}"/>
                </a:ext>
              </a:extLst>
            </p:cNvPr>
            <p:cNvSpPr txBox="1"/>
            <p:nvPr/>
          </p:nvSpPr>
          <p:spPr>
            <a:xfrm>
              <a:off x="878996" y="1177643"/>
              <a:ext cx="3748183" cy="277961"/>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rPr>
                <a:t>2002.09</a:t>
              </a:r>
              <a:r>
                <a:rPr lang="zh-CN" altLang="en-US" sz="900" b="1" dirty="0">
                  <a:solidFill>
                    <a:srgbClr val="696A6C"/>
                  </a:solidFill>
                  <a:latin typeface="Audi Type" panose="020B0503040202060203" pitchFamily="34" charset="0"/>
                  <a:ea typeface="微软雅黑" panose="020B0503020204020204" pitchFamily="34" charset="-122"/>
                </a:rPr>
                <a:t>～</a:t>
              </a:r>
              <a:r>
                <a:rPr lang="en-US" altLang="zh-CN" sz="900" b="1" dirty="0">
                  <a:solidFill>
                    <a:srgbClr val="696A6C"/>
                  </a:solidFill>
                  <a:latin typeface="Audi Type" panose="020B0503040202060203" pitchFamily="34" charset="0"/>
                  <a:ea typeface="微软雅黑" panose="020B0503020204020204" pitchFamily="34" charset="-122"/>
                </a:rPr>
                <a:t>2006.06	|</a:t>
              </a:r>
              <a:r>
                <a:rPr lang="zh-CN" altLang="en-US" sz="900" b="1" dirty="0">
                  <a:solidFill>
                    <a:srgbClr val="696A6C"/>
                  </a:solidFill>
                  <a:latin typeface="Audi Type" panose="020B0503040202060203" pitchFamily="34" charset="0"/>
                  <a:ea typeface="微软雅黑" panose="020B0503020204020204" pitchFamily="34" charset="-122"/>
                </a:rPr>
                <a:t>上海海事大学</a:t>
              </a:r>
              <a:r>
                <a:rPr lang="en-US" altLang="zh-CN" sz="900" b="1" dirty="0">
                  <a:solidFill>
                    <a:srgbClr val="696A6C"/>
                  </a:solidFill>
                  <a:latin typeface="Audi Type" panose="020B0503040202060203" pitchFamily="34" charset="0"/>
                  <a:ea typeface="微软雅黑" panose="020B0503020204020204" pitchFamily="34" charset="-122"/>
                </a:rPr>
                <a:t> | </a:t>
              </a:r>
              <a:r>
                <a:rPr lang="zh-CN" altLang="en-US" sz="900" b="1" dirty="0">
                  <a:solidFill>
                    <a:srgbClr val="696A6C"/>
                  </a:solidFill>
                  <a:latin typeface="Audi Type" panose="020B0503040202060203" pitchFamily="34" charset="0"/>
                  <a:ea typeface="微软雅黑" panose="020B0503020204020204" pitchFamily="34" charset="-122"/>
                </a:rPr>
                <a:t>轮机工程专业</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本科（工学学士）</a:t>
              </a:r>
              <a:endParaRPr lang="en-US" altLang="zh-CN" sz="900" b="1" dirty="0">
                <a:solidFill>
                  <a:srgbClr val="696A6C"/>
                </a:solidFill>
                <a:latin typeface="Audi Type" panose="020B0503040202060203" pitchFamily="34" charset="0"/>
                <a:ea typeface="微软雅黑" panose="020B0503020204020204" pitchFamily="34" charset="-122"/>
              </a:endParaRPr>
            </a:p>
          </p:txBody>
        </p:sp>
      </p:grpSp>
      <p:grpSp>
        <p:nvGrpSpPr>
          <p:cNvPr id="19" name="组合 18"/>
          <p:cNvGrpSpPr/>
          <p:nvPr/>
        </p:nvGrpSpPr>
        <p:grpSpPr>
          <a:xfrm>
            <a:off x="190233" y="2120186"/>
            <a:ext cx="6477534" cy="6097300"/>
            <a:chOff x="185153" y="1175281"/>
            <a:chExt cx="6477534" cy="6097300"/>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788771" cy="6094938"/>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a:t>
              </a:r>
              <a:r>
                <a:rPr lang="en-US" altLang="zh-CN" sz="900" b="1" dirty="0">
                  <a:solidFill>
                    <a:srgbClr val="696A6C"/>
                  </a:solidFill>
                  <a:latin typeface="Audi Type" panose="020B0503040202060203" pitchFamily="34" charset="0"/>
                  <a:ea typeface="微软雅黑" panose="020B0503020204020204" pitchFamily="34" charset="-122"/>
                </a:rPr>
                <a:t>.05 </a:t>
              </a:r>
              <a:r>
                <a:rPr lang="zh-CN" altLang="en-US" sz="900" b="1" dirty="0">
                  <a:solidFill>
                    <a:srgbClr val="696A6C"/>
                  </a:solidFill>
                  <a:latin typeface="Audi Type" panose="020B0503040202060203" pitchFamily="34" charset="0"/>
                  <a:ea typeface="微软雅黑" panose="020B0503020204020204" pitchFamily="34" charset="-122"/>
                </a:rPr>
                <a:t>～ 至今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奥迪（中国）企业管理有限公司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供应链审核与规划员</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大众集团供应链合规审核：</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作为集团</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（供应链过程审核） 的专家，代表奥迪、保时捷、兰博基尼等欧洲顶级品牌，对亚太区超过</a:t>
              </a:r>
              <a:r>
                <a:rPr lang="en-US" altLang="zh-CN" sz="900" dirty="0">
                  <a:solidFill>
                    <a:srgbClr val="696A6C"/>
                  </a:solidFill>
                  <a:latin typeface="Audi Type" panose="020B0503040202060203" pitchFamily="34" charset="0"/>
                  <a:ea typeface="微软雅黑" panose="020B0503020204020204" pitchFamily="34" charset="-122"/>
                </a:rPr>
                <a:t>100</a:t>
              </a:r>
              <a:r>
                <a:rPr lang="zh-CN" altLang="en-US" sz="900" dirty="0">
                  <a:solidFill>
                    <a:srgbClr val="696A6C"/>
                  </a:solidFill>
                  <a:latin typeface="Audi Type" panose="020B0503040202060203" pitchFamily="34" charset="0"/>
                  <a:ea typeface="微软雅黑" panose="020B0503020204020204" pitchFamily="34" charset="-122"/>
                </a:rPr>
                <a:t>家目标供应商的供应链全过程（涵盖计划、采购、生产、物（料）流、发运全链条的信息流与实物流）进行准入审核。审核结论是供应商获得大众集团全球项目定点的强制性前提与关键决策依据，深度掌握欧洲客户对供应链透明性、可靠性及风险控制的核心要求。</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战略供应商赋能与成熟度管理</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在集团供应链成本优化与智能电气化转型战略背景下，重点识别并辅导运营水平较低或跨行业的新进供应商，制定针对性改进方案，成功支持</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家供应商达到大众集团严苛要求，保障了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6</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个新项目的顺利启动。</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依据大众集团</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成熟度管理要求，支持并管理目标供应商提升供应链成熟度水平。作为</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PPE</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中国项目核心成员，成功管理并支持包括三花集团、敏实集团、蒂森克虏伯、舍弗勒、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ZF</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，等</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家关键供应商按期完成供应链业务过程搭建与成熟度达标，确保项目里程碑如期达成。</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供应商产能全生命周期管理</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负责新项目阶段供应商产能规划与提升：通过现场审核与技术指导，优化关键工序节拍（例如：帮助德资卡钳工厂，优化装配线节拍</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35.4s/pcs -&gt; 27.3s/pcs,</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优化了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）、提升生产稳定性、改善排产合理性，确保产能满足项目爬坡需求。</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支持批量生产阶段：及时介入并解决供应商产能瓶颈与供应中断问题。</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供应链咨询与体系输出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从</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搭建</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从</a:t>
              </a:r>
              <a:r>
                <a:rPr lang="en-US" altLang="zh-CN" sz="900" dirty="0">
                  <a:solidFill>
                    <a:srgbClr val="696A6C"/>
                  </a:solidFill>
                  <a:latin typeface="Audi Type" panose="020B0503040202060203" pitchFamily="34" charset="0"/>
                  <a:ea typeface="微软雅黑" panose="020B0503020204020204" pitchFamily="34" charset="-122"/>
                </a:rPr>
                <a:t>0</a:t>
              </a:r>
              <a:r>
                <a:rPr lang="zh-CN" altLang="en-US" sz="900" dirty="0">
                  <a:solidFill>
                    <a:srgbClr val="696A6C"/>
                  </a:solidFill>
                  <a:latin typeface="Audi Type" panose="020B0503040202060203" pitchFamily="34" charset="0"/>
                  <a:ea typeface="微软雅黑" panose="020B0503020204020204" pitchFamily="34" charset="-122"/>
                </a:rPr>
                <a:t>到</a:t>
              </a:r>
              <a:r>
                <a:rPr lang="en-US" altLang="zh-CN" sz="900" dirty="0">
                  <a:solidFill>
                    <a:srgbClr val="696A6C"/>
                  </a:solidFill>
                  <a:latin typeface="Audi Type" panose="020B0503040202060203" pitchFamily="34" charset="0"/>
                  <a:ea typeface="微软雅黑" panose="020B0503020204020204" pitchFamily="34" charset="-122"/>
                </a:rPr>
                <a:t>1</a:t>
              </a:r>
              <a:r>
                <a:rPr lang="zh-CN" altLang="en-US" sz="900" dirty="0">
                  <a:solidFill>
                    <a:srgbClr val="696A6C"/>
                  </a:solidFill>
                  <a:latin typeface="Audi Type" panose="020B0503040202060203" pitchFamily="34" charset="0"/>
                  <a:ea typeface="微软雅黑" panose="020B0503020204020204" pitchFamily="34" charset="-122"/>
                </a:rPr>
                <a:t>主导搭建奥迪中国对外供应链咨询业务。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（三个月内完成框架设计、流程制定与落地实施）</a:t>
              </a:r>
              <a:r>
                <a:rPr lang="zh-CN" altLang="en-US" sz="900" dirty="0">
                  <a:solidFill>
                    <a:srgbClr val="696A6C"/>
                  </a:solidFill>
                  <a:latin typeface="Audi Type" panose="020B0503040202060203" pitchFamily="34" charset="0"/>
                  <a:ea typeface="微软雅黑" panose="020B0503020204020204" pitchFamily="34" charset="-122"/>
                </a:rPr>
                <a:t>。将</a:t>
              </a:r>
              <a:r>
                <a:rPr lang="en-US" altLang="zh-CN" sz="900" dirty="0">
                  <a:solidFill>
                    <a:srgbClr val="696A6C"/>
                  </a:solidFill>
                  <a:latin typeface="Audi Type" panose="020B0503040202060203" pitchFamily="34" charset="0"/>
                  <a:ea typeface="微软雅黑" panose="020B0503020204020204" pitchFamily="34" charset="-122"/>
                </a:rPr>
                <a:t>VDA6.8</a:t>
              </a:r>
              <a:r>
                <a:rPr lang="zh-CN" altLang="en-US" sz="900" dirty="0">
                  <a:solidFill>
                    <a:srgbClr val="696A6C"/>
                  </a:solidFill>
                  <a:latin typeface="Audi Type" panose="020B0503040202060203" pitchFamily="34" charset="0"/>
                  <a:ea typeface="微软雅黑" panose="020B0503020204020204" pitchFamily="34" charset="-122"/>
                </a:rPr>
                <a:t>严密的供应链过程标准、管理流程与最佳实践方法论，转化为可对外赋能的咨询产品，并成功为外部客户提供解决方案，实现显著降本增效（例如：帮助某德资客户降低全过程与仓储成本约</a:t>
              </a:r>
              <a:r>
                <a:rPr lang="en-US" altLang="zh-CN" sz="900" dirty="0">
                  <a:solidFill>
                    <a:srgbClr val="696A6C"/>
                  </a:solidFill>
                  <a:latin typeface="Audi Type" panose="020B0503040202060203" pitchFamily="34" charset="0"/>
                  <a:ea typeface="微软雅黑" panose="020B0503020204020204" pitchFamily="34" charset="-122"/>
                </a:rPr>
                <a:t>17%</a:t>
              </a:r>
              <a:r>
                <a:rPr lang="zh-CN" altLang="en-US" sz="900" dirty="0">
                  <a:solidFill>
                    <a:srgbClr val="696A6C"/>
                  </a:solidFill>
                  <a:latin typeface="Audi Type" panose="020B0503040202060203" pitchFamily="34" charset="0"/>
                  <a:ea typeface="微软雅黑" panose="020B0503020204020204" pitchFamily="34" charset="-122"/>
                </a:rPr>
                <a:t>）。</a:t>
              </a:r>
              <a:endParaRPr lang="en-US" altLang="zh-CN" sz="900" dirty="0">
                <a:solidFill>
                  <a:srgbClr val="696A6C"/>
                </a:solidFill>
                <a:latin typeface="Audi Type" panose="020B0503040202060203" pitchFamily="34" charset="0"/>
                <a:ea typeface="微软雅黑" panose="020B0503020204020204" pitchFamily="34" charset="-122"/>
              </a:endParaRPr>
            </a:p>
            <a:p>
              <a:pPr>
                <a:lnSpc>
                  <a:spcPct val="150000"/>
                </a:lnSpc>
              </a:pPr>
              <a:r>
                <a:rPr lang="zh-CN" altLang="en-US" sz="900" b="0" i="0" dirty="0">
                  <a:solidFill>
                    <a:srgbClr val="0F1115"/>
                  </a:solidFill>
                  <a:effectLst/>
                  <a:latin typeface="quote-cjk-patch"/>
                </a:rPr>
                <a:t> </a:t>
              </a:r>
              <a:endParaRPr lang="en-US" altLang="zh-CN" sz="900" b="0" i="0" dirty="0">
                <a:solidFill>
                  <a:srgbClr val="0F1115"/>
                </a:solidFill>
                <a:effectLst/>
                <a:latin typeface="quote-cjk-patch"/>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rPr>
                <a:t>2010.07 </a:t>
              </a:r>
              <a:r>
                <a:rPr lang="zh-CN" altLang="en-US" sz="900" b="1" dirty="0">
                  <a:solidFill>
                    <a:srgbClr val="696A6C"/>
                  </a:solidFill>
                  <a:latin typeface="Audi Type" panose="020B0503040202060203" pitchFamily="34" charset="0"/>
                  <a:ea typeface="微软雅黑" panose="020B0503020204020204" pitchFamily="34" charset="-122"/>
                </a:rPr>
                <a:t>～ </a:t>
              </a:r>
              <a:r>
                <a:rPr lang="en-US" altLang="zh-CN" sz="900" b="1" dirty="0">
                  <a:solidFill>
                    <a:srgbClr val="696A6C"/>
                  </a:solidFill>
                  <a:latin typeface="Audi Type" panose="020B0503040202060203" pitchFamily="34" charset="0"/>
                  <a:ea typeface="微软雅黑" panose="020B0503020204020204" pitchFamily="34" charset="-122"/>
                </a:rPr>
                <a:t>2022.05 | </a:t>
              </a:r>
              <a:r>
                <a:rPr lang="zh-CN" altLang="en-US" sz="900" b="1" dirty="0">
                  <a:solidFill>
                    <a:srgbClr val="696A6C"/>
                  </a:solidFill>
                  <a:latin typeface="Audi Type" panose="020B0503040202060203" pitchFamily="34" charset="0"/>
                  <a:ea typeface="微软雅黑" panose="020B0503020204020204" pitchFamily="34" charset="-122"/>
                </a:rPr>
                <a:t>上海大众动力总成有限公司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上汽大众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供应链管理专家</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主导供应链风险预判与决策：通过监控</a:t>
              </a:r>
              <a:r>
                <a:rPr lang="en-US" altLang="zh-CN" sz="900" dirty="0">
                  <a:solidFill>
                    <a:srgbClr val="696A6C"/>
                  </a:solidFill>
                  <a:latin typeface="Audi Type" panose="020B0503040202060203" pitchFamily="34" charset="0"/>
                  <a:ea typeface="微软雅黑" panose="020B0503020204020204" pitchFamily="34" charset="-122"/>
                </a:rPr>
                <a:t>150+</a:t>
              </a:r>
              <a:r>
                <a:rPr lang="zh-CN" altLang="en-US" sz="900" dirty="0">
                  <a:solidFill>
                    <a:srgbClr val="696A6C"/>
                  </a:solidFill>
                  <a:latin typeface="Audi Type" panose="020B0503040202060203" pitchFamily="34" charset="0"/>
                  <a:ea typeface="微软雅黑" panose="020B0503020204020204" pitchFamily="34" charset="-122"/>
                </a:rPr>
                <a:t>材料组（覆盖</a:t>
              </a:r>
              <a:r>
                <a:rPr lang="en-US" altLang="zh-CN" sz="900" dirty="0">
                  <a:solidFill>
                    <a:srgbClr val="696A6C"/>
                  </a:solidFill>
                  <a:latin typeface="Audi Type" panose="020B0503040202060203" pitchFamily="34" charset="0"/>
                  <a:ea typeface="微软雅黑" panose="020B0503020204020204" pitchFamily="34" charset="-122"/>
                </a:rPr>
                <a:t>500+</a:t>
              </a:r>
              <a:r>
                <a:rPr lang="zh-CN" altLang="en-US" sz="900" dirty="0">
                  <a:solidFill>
                    <a:srgbClr val="696A6C"/>
                  </a:solidFill>
                  <a:latin typeface="Audi Type" panose="020B0503040202060203" pitchFamily="34" charset="0"/>
                  <a:ea typeface="微软雅黑" panose="020B0503020204020204" pitchFamily="34" charset="-122"/>
                </a:rPr>
                <a:t>关键零部件）的产能、供需及市场动态，预判潜在断点风险（如芯片短缺、产能极限），为</a:t>
              </a:r>
              <a:r>
                <a:rPr lang="en-US" altLang="zh-CN" sz="900" dirty="0">
                  <a:solidFill>
                    <a:srgbClr val="696A6C"/>
                  </a:solidFill>
                  <a:latin typeface="Audi Type" panose="020B0503040202060203" pitchFamily="34" charset="0"/>
                  <a:ea typeface="微软雅黑" panose="020B0503020204020204" pitchFamily="34" charset="-122"/>
                </a:rPr>
                <a:t>S&amp;OP</a:t>
              </a:r>
              <a:r>
                <a:rPr lang="zh-CN" altLang="en-US" sz="900" dirty="0">
                  <a:solidFill>
                    <a:srgbClr val="696A6C"/>
                  </a:solidFill>
                  <a:latin typeface="Audi Type" panose="020B0503040202060203" pitchFamily="34" charset="0"/>
                  <a:ea typeface="微软雅黑" panose="020B0503020204020204" pitchFamily="34" charset="-122"/>
                </a:rPr>
                <a:t>（销售与运营计划）提供关键决策依据，驱动产能调整与排产优化。</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风险解决体系搭建：建立供应链风险分析模型，制定应急预案（如二级供应商开发、安全库存策略），保障生产连续性。</a:t>
              </a:r>
            </a:p>
            <a:p>
              <a:pPr>
                <a:lnSpc>
                  <a:spcPct val="150000"/>
                </a:lnSpc>
                <a:buSzPct val="100000"/>
              </a:pPr>
              <a:r>
                <a:rPr lang="en-US" altLang="zh-CN" sz="900" b="1" dirty="0">
                  <a:solidFill>
                    <a:srgbClr val="696A6C"/>
                  </a:solidFill>
                  <a:latin typeface="Audi Type" panose="020B0503040202060203" pitchFamily="34" charset="0"/>
                  <a:ea typeface="微软雅黑" panose="020B0503020204020204" pitchFamily="34" charset="-122"/>
                </a:rPr>
                <a:t>2006.07 </a:t>
              </a:r>
              <a:r>
                <a:rPr lang="zh-CN" altLang="en-US" sz="900" b="1" dirty="0">
                  <a:solidFill>
                    <a:srgbClr val="696A6C"/>
                  </a:solidFill>
                  <a:latin typeface="Audi Type" panose="020B0503040202060203" pitchFamily="34" charset="0"/>
                  <a:ea typeface="微软雅黑" panose="020B0503020204020204" pitchFamily="34" charset="-122"/>
                </a:rPr>
                <a:t>～ </a:t>
              </a:r>
              <a:r>
                <a:rPr lang="en-US" altLang="zh-CN" sz="900" b="1" dirty="0">
                  <a:solidFill>
                    <a:srgbClr val="696A6C"/>
                  </a:solidFill>
                  <a:latin typeface="Audi Type" panose="020B0503040202060203" pitchFamily="34" charset="0"/>
                  <a:ea typeface="微软雅黑" panose="020B0503020204020204" pitchFamily="34" charset="-122"/>
                </a:rPr>
                <a:t>2010.06 | </a:t>
              </a:r>
              <a:r>
                <a:rPr lang="zh-CN" altLang="en-US" sz="900" b="1" dirty="0">
                  <a:solidFill>
                    <a:srgbClr val="696A6C"/>
                  </a:solidFill>
                  <a:latin typeface="Audi Type" panose="020B0503040202060203" pitchFamily="34" charset="0"/>
                  <a:ea typeface="微软雅黑" panose="020B0503020204020204" pitchFamily="34" charset="-122"/>
                </a:rPr>
                <a:t>上海大众动力总成有限公司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上汽大众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零</a:t>
              </a:r>
              <a:r>
                <a:rPr lang="zh-CN" altLang="zh-CN" sz="900" b="1" dirty="0">
                  <a:solidFill>
                    <a:srgbClr val="696A6C"/>
                  </a:solidFill>
                  <a:latin typeface="Audi Type" panose="020B0503040202060203" pitchFamily="34" charset="0"/>
                  <a:ea typeface="微软雅黑" panose="020B0503020204020204" pitchFamily="34" charset="-122"/>
                </a:rPr>
                <a:t>件</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筹措</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物料计划员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3" name="组合 2"/>
          <p:cNvGrpSpPr/>
          <p:nvPr/>
        </p:nvGrpSpPr>
        <p:grpSpPr>
          <a:xfrm>
            <a:off x="190233" y="8280735"/>
            <a:ext cx="6540766" cy="693257"/>
            <a:chOff x="190233" y="9241051"/>
            <a:chExt cx="6540766" cy="693257"/>
          </a:xfrm>
        </p:grpSpPr>
        <p:sp>
          <p:nvSpPr>
            <p:cNvPr id="24" name="文本框 23">
              <a:extLst>
                <a:ext uri="{FF2B5EF4-FFF2-40B4-BE49-F238E27FC236}">
                  <a16:creationId xmlns:a16="http://schemas.microsoft.com/office/drawing/2014/main" id="{6328BBE5-BD67-4242-90DC-5145D59E3704}"/>
                </a:ext>
              </a:extLst>
            </p:cNvPr>
            <p:cNvSpPr txBox="1"/>
            <p:nvPr/>
          </p:nvSpPr>
          <p:spPr>
            <a:xfrm>
              <a:off x="190233" y="924105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相关技能</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5" name="文本框 24">
              <a:extLst>
                <a:ext uri="{FF2B5EF4-FFF2-40B4-BE49-F238E27FC236}">
                  <a16:creationId xmlns:a16="http://schemas.microsoft.com/office/drawing/2014/main" id="{CC1EBB91-CDFE-B640-B2D6-B8BB71CC595B}"/>
                </a:ext>
              </a:extLst>
            </p:cNvPr>
            <p:cNvSpPr txBox="1"/>
            <p:nvPr/>
          </p:nvSpPr>
          <p:spPr>
            <a:xfrm>
              <a:off x="878997" y="9243413"/>
              <a:ext cx="1865069" cy="69089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英语</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CET-4</a:t>
              </a: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计算机</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MS-Office	SAP,ERP</a:t>
              </a:r>
            </a:p>
          </p:txBody>
        </p:sp>
        <p:sp>
          <p:nvSpPr>
            <p:cNvPr id="26" name="文本框 25">
              <a:extLst>
                <a:ext uri="{FF2B5EF4-FFF2-40B4-BE49-F238E27FC236}">
                  <a16:creationId xmlns:a16="http://schemas.microsoft.com/office/drawing/2014/main" id="{CC1EBB91-CDFE-B640-B2D6-B8BB71CC595B}"/>
                </a:ext>
              </a:extLst>
            </p:cNvPr>
            <p:cNvSpPr txBox="1"/>
            <p:nvPr/>
          </p:nvSpPr>
          <p:spPr>
            <a:xfrm>
              <a:off x="2744066" y="9241051"/>
              <a:ext cx="3986933" cy="69102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体系证书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VDA6.3</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过程审核员（</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认证）</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2">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供应链过程审核员（</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认证）</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上汽集团外聘讲师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2020~2022</a:t>
              </a: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endParaRPr lang="en-US" altLang="zh-CN" sz="900" kern="100" dirty="0">
                <a:solidFill>
                  <a:srgbClr val="696A6C"/>
                </a:solidFill>
                <a:latin typeface="Audi Type" panose="020B0503040202060203" pitchFamily="34" charset="0"/>
                <a:ea typeface="Microsoft YaHei" panose="020B0503020204020204" pitchFamily="34" charset="-122"/>
                <a:cs typeface="Audi Type" panose="020B0503040202060203" pitchFamily="34" charset="0"/>
              </a:endParaRPr>
            </a:p>
          </p:txBody>
        </p:sp>
      </p:grpSp>
      <p:grpSp>
        <p:nvGrpSpPr>
          <p:cNvPr id="22" name="组合 21">
            <a:extLst>
              <a:ext uri="{FF2B5EF4-FFF2-40B4-BE49-F238E27FC236}">
                <a16:creationId xmlns:a16="http://schemas.microsoft.com/office/drawing/2014/main" id="{A73E490A-866D-55ED-B6BA-97E2392F4636}"/>
              </a:ext>
            </a:extLst>
          </p:cNvPr>
          <p:cNvGrpSpPr/>
          <p:nvPr/>
        </p:nvGrpSpPr>
        <p:grpSpPr>
          <a:xfrm>
            <a:off x="-6717630" y="1044394"/>
            <a:ext cx="6494110" cy="2571705"/>
            <a:chOff x="-118894" y="1175783"/>
            <a:chExt cx="6849892" cy="562647"/>
          </a:xfrm>
        </p:grpSpPr>
        <p:sp>
          <p:nvSpPr>
            <p:cNvPr id="23" name="文本框 22">
              <a:extLst>
                <a:ext uri="{FF2B5EF4-FFF2-40B4-BE49-F238E27FC236}">
                  <a16:creationId xmlns:a16="http://schemas.microsoft.com/office/drawing/2014/main" id="{7D90C2D0-4F78-0B34-0E37-0DF95A634276}"/>
                </a:ext>
              </a:extLst>
            </p:cNvPr>
            <p:cNvSpPr txBox="1"/>
            <p:nvPr/>
          </p:nvSpPr>
          <p:spPr>
            <a:xfrm>
              <a:off x="-118894" y="1175783"/>
              <a:ext cx="1082296" cy="60813"/>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rPr>
                <a:t>核心优势与价值</a:t>
              </a:r>
            </a:p>
          </p:txBody>
        </p:sp>
        <p:sp>
          <p:nvSpPr>
            <p:cNvPr id="27" name="文本框 26">
              <a:extLst>
                <a:ext uri="{FF2B5EF4-FFF2-40B4-BE49-F238E27FC236}">
                  <a16:creationId xmlns:a16="http://schemas.microsoft.com/office/drawing/2014/main" id="{94750D9C-079A-8E23-9319-31350DCB3EF7}"/>
                </a:ext>
              </a:extLst>
            </p:cNvPr>
            <p:cNvSpPr txBox="1"/>
            <p:nvPr/>
          </p:nvSpPr>
          <p:spPr>
            <a:xfrm>
              <a:off x="858675" y="1177643"/>
              <a:ext cx="5872323" cy="560787"/>
            </a:xfrm>
            <a:prstGeom prst="rect">
              <a:avLst/>
            </a:prstGeom>
            <a:noFill/>
          </p:spPr>
          <p:txBody>
            <a:bodyPr wrap="square" rtlCol="0">
              <a:spAutoFit/>
            </a:bodyPr>
            <a:lstStyle/>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欧洲供应链合规的“守门人”与“架构师”</a:t>
              </a:r>
              <a:r>
                <a:rPr lang="zh-CN" altLang="en-US" sz="900" dirty="0">
                  <a:solidFill>
                    <a:srgbClr val="696A6C"/>
                  </a:solidFill>
                  <a:latin typeface="Audi Type" panose="020B0503040202060203" pitchFamily="34" charset="0"/>
                  <a:ea typeface="微软雅黑" panose="020B0503020204020204" pitchFamily="34" charset="-122"/>
                </a:rPr>
                <a:t>：作为大众集团官方认证的</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审核专家，深谙欧洲主机厂（尤其是奥迪、保时捷等高端品牌）对供应商供应链全过程（从订单接收到交付回收）的审核逻辑、评估要点及潜在风险点，能系统性地指导企业构建合规体系。</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跨文化供应链整合与领导力</a:t>
              </a:r>
              <a:r>
                <a:rPr lang="zh-CN" altLang="en-US" sz="900" dirty="0">
                  <a:solidFill>
                    <a:srgbClr val="696A6C"/>
                  </a:solidFill>
                  <a:latin typeface="Audi Type" panose="020B0503040202060203" pitchFamily="34" charset="0"/>
                  <a:ea typeface="微软雅黑" panose="020B0503020204020204" pitchFamily="34" charset="-122"/>
                </a:rPr>
                <a:t>：近</a:t>
              </a:r>
              <a:r>
                <a:rPr lang="en-US" altLang="zh-CN" sz="900" dirty="0">
                  <a:solidFill>
                    <a:srgbClr val="696A6C"/>
                  </a:solidFill>
                  <a:latin typeface="Audi Type" panose="020B0503040202060203" pitchFamily="34" charset="0"/>
                  <a:ea typeface="微软雅黑" panose="020B0503020204020204" pitchFamily="34" charset="-122"/>
                </a:rPr>
                <a:t>20</a:t>
              </a:r>
              <a:r>
                <a:rPr lang="zh-CN" altLang="en-US" sz="900" dirty="0">
                  <a:solidFill>
                    <a:srgbClr val="696A6C"/>
                  </a:solidFill>
                  <a:latin typeface="Audi Type" panose="020B0503040202060203" pitchFamily="34" charset="0"/>
                  <a:ea typeface="微软雅黑" panose="020B0503020204020204" pitchFamily="34" charset="-122"/>
                </a:rPr>
                <a:t>年与德国总部及亚太区多元文化供应商（日、德、中等）的协同经验，精通如何在尊重欧洲商业文化与运营习惯的前提下，高效推动流程落地与绩效改进，是中欧团队间不可或缺的沟通桥梁与领导核心。</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从战略准入到卓越运营的全链条能力</a:t>
              </a:r>
              <a:r>
                <a:rPr lang="zh-CN" altLang="en-US" sz="900" dirty="0">
                  <a:solidFill>
                    <a:srgbClr val="696A6C"/>
                  </a:solidFill>
                  <a:latin typeface="Audi Type" panose="020B0503040202060203" pitchFamily="34" charset="0"/>
                  <a:ea typeface="微软雅黑" panose="020B0503020204020204" pitchFamily="34" charset="-122"/>
                </a:rPr>
                <a:t>：能力覆盖供应链战略规划、审核认证、成熟度提升（</a:t>
              </a:r>
              <a:r>
                <a:rPr lang="en-US" altLang="zh-CN" sz="900" dirty="0" err="1">
                  <a:solidFill>
                    <a:srgbClr val="696A6C"/>
                  </a:solidFill>
                  <a:latin typeface="Audi Type" panose="020B0503040202060203" pitchFamily="34" charset="0"/>
                  <a:ea typeface="微软雅黑" panose="020B0503020204020204" pitchFamily="34" charset="-122"/>
                </a:rPr>
                <a:t>QPNi</a:t>
              </a:r>
              <a:r>
                <a:rPr lang="zh-CN" altLang="en-US" sz="900" dirty="0">
                  <a:solidFill>
                    <a:srgbClr val="696A6C"/>
                  </a:solidFill>
                  <a:latin typeface="Audi Type" panose="020B0503040202060203" pitchFamily="34" charset="0"/>
                  <a:ea typeface="微软雅黑" panose="020B0503020204020204" pitchFamily="34" charset="-122"/>
                </a:rPr>
                <a:t>）、产能爬坡直至持续优化。不仅能帮助企业“拿到门票”（通过审核），更能确保其“稳定演出”（实现高效、可靠运营）。</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独特的双边视角与价值转化能力</a:t>
              </a:r>
              <a:r>
                <a:rPr lang="zh-CN" altLang="en-US" sz="900" dirty="0">
                  <a:solidFill>
                    <a:srgbClr val="696A6C"/>
                  </a:solidFill>
                  <a:latin typeface="Audi Type" panose="020B0503040202060203" pitchFamily="34" charset="0"/>
                  <a:ea typeface="微软雅黑" panose="020B0503020204020204" pitchFamily="34" charset="-122"/>
                </a:rPr>
                <a:t>：深刻理解中国企业的成本优势与快速响应能力，同时掌握欧洲市场对质量、流程与可持续性的刚性要求。能精准定位差距，将国际标准转化为可执行、可衡量的本土化改进方案，实现成本与合规的最优平衡。</a:t>
              </a: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D78BB97-5DD6-2C00-9D1D-4EF08DC680C8}"/>
              </a:ext>
            </a:extLst>
          </p:cNvPr>
          <p:cNvSpPr txBox="1"/>
          <p:nvPr/>
        </p:nvSpPr>
        <p:spPr>
          <a:xfrm>
            <a:off x="7375526" y="110082"/>
            <a:ext cx="6258752" cy="2002728"/>
          </a:xfrm>
          <a:prstGeom prst="rect">
            <a:avLst/>
          </a:prstGeom>
          <a:noFill/>
        </p:spPr>
        <p:txBody>
          <a:bodyPr wrap="square" rtlCol="0">
            <a:spAutoFit/>
          </a:bodyPr>
          <a:lstStyle/>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供应链芯片风险深度管控项目（</a:t>
            </a:r>
            <a:r>
              <a:rPr lang="en-US" altLang="zh-CN" sz="1050" b="1" dirty="0">
                <a:solidFill>
                  <a:srgbClr val="696A6C"/>
                </a:solidFill>
                <a:latin typeface="微软雅黑" panose="020B0503020204020204" pitchFamily="34" charset="-122"/>
                <a:ea typeface="微软雅黑" panose="020B0503020204020204" pitchFamily="34" charset="-122"/>
              </a:rPr>
              <a:t>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gn="l">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作为项目负责人，在全球芯片危机导致大众中国</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2020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年整车产量损失超</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50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万辆的背景下，主导跨部门团队（开发、采购、物流、质量）开展芯片供应链风险系统排查与预案建设。项目团队对</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EA211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发动机项目所有供应商完成</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筛查，从</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489</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个量产零部件中识别出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个含芯片关键件，并基于产地（对应区域疫情风险）与芯片类型（对应紧缺等级）建立分级分类管理模型。</a:t>
            </a:r>
          </a:p>
          <a:p>
            <a:pPr algn="l">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通过建立关键节点库存滚动通报机制，成功将芯片断点预警时间平均提前</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8</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周以上，为生产计划调整与物料调配争取关键窗口，有效缓解芯片短缺对生产连续性的冲击，提升了供应链在结构性短缺环境下的应急响应与协同韧性。</a:t>
            </a:r>
          </a:p>
        </p:txBody>
      </p:sp>
      <p:sp>
        <p:nvSpPr>
          <p:cNvPr id="4" name="文本框 3">
            <a:extLst>
              <a:ext uri="{FF2B5EF4-FFF2-40B4-BE49-F238E27FC236}">
                <a16:creationId xmlns:a16="http://schemas.microsoft.com/office/drawing/2014/main" id="{B39E2D59-AC10-5C5E-A56B-8C2CD04BCAA2}"/>
              </a:ext>
            </a:extLst>
          </p:cNvPr>
          <p:cNvSpPr txBox="1"/>
          <p:nvPr/>
        </p:nvSpPr>
        <p:spPr>
          <a:xfrm>
            <a:off x="7375526" y="2192170"/>
            <a:ext cx="6258752" cy="2002728"/>
          </a:xfrm>
          <a:prstGeom prst="rect">
            <a:avLst/>
          </a:prstGeom>
          <a:noFill/>
        </p:spPr>
        <p:txBody>
          <a:bodyPr wrap="square" rtlCol="0">
            <a:spAutoFit/>
          </a:bodyPr>
          <a:lstStyle/>
          <a:p>
            <a:pPr marL="0" lvl="1">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1.5T</a:t>
            </a:r>
            <a:r>
              <a:rPr lang="zh-CN" altLang="en-US" sz="1050" b="1" dirty="0">
                <a:solidFill>
                  <a:srgbClr val="696A6C"/>
                </a:solidFill>
                <a:latin typeface="微软雅黑" panose="020B0503020204020204" pitchFamily="34" charset="-122"/>
                <a:ea typeface="微软雅黑" panose="020B0503020204020204" pitchFamily="34" charset="-122"/>
              </a:rPr>
              <a:t>新项目产能风险前置管控项目（</a:t>
            </a:r>
            <a:r>
              <a:rPr lang="en-US" altLang="zh-CN" sz="1050" b="1" dirty="0">
                <a:solidFill>
                  <a:srgbClr val="696A6C"/>
                </a:solidFill>
                <a:latin typeface="微软雅黑" panose="020B0503020204020204" pitchFamily="34" charset="-122"/>
                <a:ea typeface="微软雅黑" panose="020B0503020204020204" pitchFamily="34" charset="-122"/>
              </a:rPr>
              <a:t>2020‑2021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作为项目负责人，在系统复盘过往产能风险根源基础上，识别出约</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的供应问题源于供应商定点策略与产能认证标准不一致的结构性矛盾。为此，牵头组建中国区专项工作组，对</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项目所有定点供应商开展供应链与产能状况同步评估。通过逐一对接洽谈，推动其中</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家（占比</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37.5%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）未达产能要求的供应商完成产能提升或方案调整。</a:t>
            </a: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项目最终实现</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项目全材料组供应保障，并推动产能风险管理机制系统升级：在提升风险识别精准度的同时，将产能问题暴露节点从</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SOP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阶段前置至项目启动前期（平均提前≥</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12</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个月），为风险应对预留出有效解决窗口，形成“评估</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识别</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协同</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闭环”的前瞻性产能保障体系。</a:t>
            </a:r>
          </a:p>
        </p:txBody>
      </p:sp>
      <p:sp>
        <p:nvSpPr>
          <p:cNvPr id="5" name="文本框 4">
            <a:extLst>
              <a:ext uri="{FF2B5EF4-FFF2-40B4-BE49-F238E27FC236}">
                <a16:creationId xmlns:a16="http://schemas.microsoft.com/office/drawing/2014/main" id="{60D87A79-6215-A005-BCA2-7D4D0902BA3B}"/>
              </a:ext>
            </a:extLst>
          </p:cNvPr>
          <p:cNvSpPr txBox="1"/>
          <p:nvPr/>
        </p:nvSpPr>
        <p:spPr>
          <a:xfrm>
            <a:off x="7375526" y="4238027"/>
            <a:ext cx="6258752" cy="2002728"/>
          </a:xfrm>
          <a:prstGeom prst="rect">
            <a:avLst/>
          </a:prstGeom>
          <a:noFill/>
        </p:spPr>
        <p:txBody>
          <a:bodyPr wrap="square" rtlCol="0">
            <a:spAutoFit/>
          </a:bodyPr>
          <a:lstStyle/>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突发疫情下供应链韧性体系建设项目（</a:t>
            </a:r>
            <a:r>
              <a:rPr lang="en-US" altLang="zh-CN" sz="1050" b="1" dirty="0">
                <a:solidFill>
                  <a:srgbClr val="696A6C"/>
                </a:solidFill>
                <a:latin typeface="微软雅黑" panose="020B0503020204020204" pitchFamily="34" charset="-122"/>
                <a:ea typeface="微软雅黑" panose="020B0503020204020204" pitchFamily="34" charset="-122"/>
              </a:rPr>
              <a:t>2020</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gn="l">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作为项目负责人，在突发疫情导致全球供应链剧烈波动的背景下，主导构建并实施了一套具有快速响应能力的供应链保障体系。项目团队基于疫情动态，建立了覆盖“区域疫情变化</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物流运输状态</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人员到岗情况”的三维信息联动跟踪机制，系统分析不同地区供应链制约因素与关键材料组特性，并针对性制定分级应对方案。</a:t>
            </a:r>
          </a:p>
          <a:p>
            <a:pPr algn="l">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该体系，团队不仅保障了疫情期间的连续稳定供应，更将应对经验系统沉淀为标准化应急工作流程。该流程随后被纳入集团供应链风险管理体系，并向大众集团推广，实现了从被动响应到主动预防的供应链韧性升级。</a:t>
            </a:r>
          </a:p>
        </p:txBody>
      </p:sp>
      <p:sp>
        <p:nvSpPr>
          <p:cNvPr id="6" name="文本框 5">
            <a:extLst>
              <a:ext uri="{FF2B5EF4-FFF2-40B4-BE49-F238E27FC236}">
                <a16:creationId xmlns:a16="http://schemas.microsoft.com/office/drawing/2014/main" id="{F59294B7-06B4-69B0-7EE5-34360783BD27}"/>
              </a:ext>
            </a:extLst>
          </p:cNvPr>
          <p:cNvSpPr txBox="1"/>
          <p:nvPr/>
        </p:nvSpPr>
        <p:spPr>
          <a:xfrm>
            <a:off x="7375526" y="6283885"/>
            <a:ext cx="6258752" cy="1517980"/>
          </a:xfrm>
          <a:prstGeom prst="rect">
            <a:avLst/>
          </a:prstGeom>
          <a:noFill/>
        </p:spPr>
        <p:txBody>
          <a:bodyPr wrap="square" rtlCol="0">
            <a:spAutoFit/>
          </a:bodyPr>
          <a:lstStyle/>
          <a:p>
            <a:pPr marL="0" lvl="1">
              <a:lnSpc>
                <a:spcPct val="150000"/>
              </a:lnSpc>
            </a:pPr>
            <a:r>
              <a:rPr lang="zh-CN" altLang="zh-CN" sz="1050" b="1" dirty="0">
                <a:solidFill>
                  <a:srgbClr val="696A6C"/>
                </a:solidFill>
                <a:latin typeface="微软雅黑" panose="020B0503020204020204" pitchFamily="34" charset="-122"/>
                <a:ea typeface="微软雅黑" panose="020B0503020204020204" pitchFamily="34" charset="-122"/>
              </a:rPr>
              <a:t>供应链环保风险评估项目（</a:t>
            </a:r>
            <a:r>
              <a:rPr lang="en-US" altLang="zh-CN" sz="1050" b="1" dirty="0">
                <a:solidFill>
                  <a:srgbClr val="696A6C"/>
                </a:solidFill>
                <a:latin typeface="微软雅黑" panose="020B0503020204020204" pitchFamily="34" charset="-122"/>
                <a:ea typeface="微软雅黑" panose="020B0503020204020204" pitchFamily="34" charset="-122"/>
              </a:rPr>
              <a:t>2017-2018</a:t>
            </a:r>
            <a:r>
              <a:rPr lang="zh-CN" altLang="zh-CN"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项目负责人，主导</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项目全程运作</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在项目结束后，将实战经验梳理总结成工作流程及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评估工具</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该项目团队为跨部门团队，由</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BKM</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团队牵头协调</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采购、质保，</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HSE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等部门同步开展工作，内容包括：供应商生产工艺筛选分级、生产现场核查、环保评分及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信息</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存档等</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项目成果：在确保下级供应商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无环保因素影响供货的同时，也丰富了大众供应链</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管理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的维度，该工作流程及评估工具正</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向整个大众集团推广。</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8" name="文本框 7">
            <a:extLst>
              <a:ext uri="{FF2B5EF4-FFF2-40B4-BE49-F238E27FC236}">
                <a16:creationId xmlns:a16="http://schemas.microsoft.com/office/drawing/2014/main" id="{B867B4D8-7051-7683-E682-8387DE9513B2}"/>
              </a:ext>
            </a:extLst>
          </p:cNvPr>
          <p:cNvSpPr txBox="1"/>
          <p:nvPr/>
        </p:nvSpPr>
        <p:spPr>
          <a:xfrm>
            <a:off x="299624" y="431816"/>
            <a:ext cx="6258752" cy="1760354"/>
          </a:xfrm>
          <a:prstGeom prst="rect">
            <a:avLst/>
          </a:prstGeom>
          <a:noFill/>
        </p:spPr>
        <p:txBody>
          <a:bodyPr wrap="square" rtlCol="0">
            <a:spAutoFit/>
          </a:bodyPr>
          <a:lstStyle/>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奥迪中国供应链咨询业务搭建与起步（</a:t>
            </a:r>
            <a:r>
              <a:rPr lang="en-US" altLang="zh-CN" sz="1050" b="1" dirty="0">
                <a:solidFill>
                  <a:srgbClr val="696A6C"/>
                </a:solidFill>
                <a:latin typeface="微软雅黑" panose="020B0503020204020204" pitchFamily="34" charset="-122"/>
                <a:ea typeface="微软雅黑" panose="020B0503020204020204" pitchFamily="34" charset="-122"/>
              </a:rPr>
              <a:t>2025</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gn="l">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项目创始负责人之一，本人主导了奥迪中国首个面向外部的供应链咨询业务单元的从零到一建设。在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个月内完成了整体业务框架设计、流程体系构建与实施路线规划，将大众集团内部成熟的供应链管理标准、运营流程与最佳实践，转化为可对外交付的咨询服务解决方案。</a:t>
            </a:r>
          </a:p>
          <a:p>
            <a:pPr algn="l">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通过该项目，已成功为外部客户提供咨询落地服务，其中包括一家德资制造企业，帮助其实现端到端运营与仓储成本降低近</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17%</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 。该项目不仅为奥迪开辟了新的业务增长路径，也进一步巩固了奥迪在供应链卓越运营领域的区域影响力与专业声誉。</a:t>
            </a:r>
          </a:p>
        </p:txBody>
      </p:sp>
      <p:sp>
        <p:nvSpPr>
          <p:cNvPr id="9" name="文本框 8">
            <a:extLst>
              <a:ext uri="{FF2B5EF4-FFF2-40B4-BE49-F238E27FC236}">
                <a16:creationId xmlns:a16="http://schemas.microsoft.com/office/drawing/2014/main" id="{F7AB4527-80FF-B244-7939-CE8ED551765B}"/>
              </a:ext>
            </a:extLst>
          </p:cNvPr>
          <p:cNvSpPr txBox="1"/>
          <p:nvPr/>
        </p:nvSpPr>
        <p:spPr>
          <a:xfrm>
            <a:off x="299624" y="4377310"/>
            <a:ext cx="6258752" cy="1760418"/>
          </a:xfrm>
          <a:prstGeom prst="rect">
            <a:avLst/>
          </a:prstGeom>
          <a:noFill/>
        </p:spPr>
        <p:txBody>
          <a:bodyPr wrap="square" rtlCol="0">
            <a:spAutoFit/>
          </a:bodyPr>
          <a:lstStyle>
            <a:defPPr>
              <a:defRPr lang="zh-CN"/>
            </a:defPPr>
            <a:lvl1pPr>
              <a:lnSpc>
                <a:spcPct val="150000"/>
              </a:lnSpc>
              <a:defRPr sz="1050" kern="100">
                <a:solidFill>
                  <a:srgbClr val="696A6C"/>
                </a:solidFill>
                <a:latin typeface="Microsoft YaHei" panose="020B0503020204020204" pitchFamily="34" charset="-122"/>
                <a:ea typeface="Microsoft YaHei" panose="020B0503020204020204" pitchFamily="34" charset="-122"/>
                <a:cs typeface="Arial" panose="020B0604020202020204" pitchFamily="34" charset="0"/>
              </a:defRPr>
            </a:lvl1pPr>
            <a:lvl2pPr marL="0" lvl="1">
              <a:lnSpc>
                <a:spcPct val="150000"/>
              </a:lnSpc>
              <a:defRPr sz="1050" b="1">
                <a:solidFill>
                  <a:srgbClr val="696A6C"/>
                </a:solidFill>
                <a:latin typeface="微软雅黑" panose="020B0503020204020204" pitchFamily="34" charset="-122"/>
                <a:ea typeface="微软雅黑" panose="020B0503020204020204" pitchFamily="34" charset="-122"/>
              </a:defRPr>
            </a:lvl2pPr>
          </a:lstStyle>
          <a:p>
            <a:r>
              <a:rPr lang="zh-CN" altLang="en-US" b="1" dirty="0"/>
              <a:t>关键供应商产能数字化优化与闭环管理提升（</a:t>
            </a:r>
            <a:r>
              <a:rPr lang="en-US" altLang="zh-CN" b="1" dirty="0"/>
              <a:t>2023‑2025</a:t>
            </a:r>
            <a:r>
              <a:rPr lang="zh-CN" altLang="en-US" b="1" dirty="0"/>
              <a:t>）</a:t>
            </a:r>
          </a:p>
          <a:p>
            <a:r>
              <a:rPr lang="zh-CN" altLang="en-US" dirty="0"/>
              <a:t>主导构建并实施“规划</a:t>
            </a:r>
            <a:r>
              <a:rPr lang="en-US" altLang="zh-CN" dirty="0"/>
              <a:t>‑</a:t>
            </a:r>
            <a:r>
              <a:rPr lang="zh-CN" altLang="en-US" dirty="0"/>
              <a:t>诊断</a:t>
            </a:r>
            <a:r>
              <a:rPr lang="en-US" altLang="zh-CN" dirty="0"/>
              <a:t>‑</a:t>
            </a:r>
            <a:r>
              <a:rPr lang="zh-CN" altLang="en-US" dirty="0"/>
              <a:t>优化</a:t>
            </a:r>
            <a:r>
              <a:rPr lang="en-US" altLang="zh-CN" dirty="0"/>
              <a:t>‑</a:t>
            </a:r>
            <a:r>
              <a:rPr lang="zh-CN" altLang="en-US" dirty="0"/>
              <a:t>监控”产能闭环管理体系，重点推动生产现场动作向结构化数据转化。通过开发可视化跟踪工具，将设备运行、人员排班、物料流动等现场动作实时映射为</a:t>
            </a:r>
            <a:r>
              <a:rPr lang="en-US" altLang="zh-CN" dirty="0"/>
              <a:t>OEE</a:t>
            </a:r>
            <a:r>
              <a:rPr lang="zh-CN" altLang="en-US" dirty="0"/>
              <a:t>、节拍达成率、异常停机时间等关键参数，实现生产过程的可量化、可分析、可预警。</a:t>
            </a:r>
          </a:p>
          <a:p>
            <a:r>
              <a:rPr lang="zh-CN" altLang="en-US" dirty="0"/>
              <a:t>基于数据洞察，系统化识别瓶颈工序并实施精益改善，显著提升关键产线效率与设备综合效能。该体系已成功支持</a:t>
            </a:r>
            <a:r>
              <a:rPr lang="en-US" altLang="zh-CN" dirty="0"/>
              <a:t>PPE</a:t>
            </a:r>
            <a:r>
              <a:rPr lang="zh-CN" altLang="en-US" dirty="0"/>
              <a:t>项目（含</a:t>
            </a:r>
            <a:r>
              <a:rPr lang="en-US" altLang="zh-CN" dirty="0"/>
              <a:t>Q6</a:t>
            </a:r>
            <a:r>
              <a:rPr lang="zh-CN" altLang="en-US" dirty="0"/>
              <a:t>、</a:t>
            </a:r>
            <a:r>
              <a:rPr lang="en-US" altLang="zh-CN" dirty="0"/>
              <a:t>A6</a:t>
            </a:r>
            <a:r>
              <a:rPr lang="zh-CN" altLang="en-US" dirty="0"/>
              <a:t>等车型）供应商产能按节点爬坡，并为供应链系统集成与智能化管理奠定数据基础，形成可复制的“现场</a:t>
            </a:r>
            <a:r>
              <a:rPr lang="en-US" altLang="zh-CN" dirty="0"/>
              <a:t>‑</a:t>
            </a:r>
            <a:r>
              <a:rPr lang="zh-CN" altLang="en-US" dirty="0"/>
              <a:t>系统</a:t>
            </a:r>
            <a:r>
              <a:rPr lang="en-US" altLang="zh-CN" dirty="0"/>
              <a:t>‑</a:t>
            </a:r>
            <a:r>
              <a:rPr lang="zh-CN" altLang="en-US" dirty="0"/>
              <a:t>管理”并轨推进范式。</a:t>
            </a:r>
          </a:p>
        </p:txBody>
      </p:sp>
      <p:sp>
        <p:nvSpPr>
          <p:cNvPr id="2" name="文本框 1">
            <a:extLst>
              <a:ext uri="{FF2B5EF4-FFF2-40B4-BE49-F238E27FC236}">
                <a16:creationId xmlns:a16="http://schemas.microsoft.com/office/drawing/2014/main" id="{EB1E005D-A650-232B-39B9-8EBB30E85CD8}"/>
              </a:ext>
            </a:extLst>
          </p:cNvPr>
          <p:cNvSpPr txBox="1"/>
          <p:nvPr/>
        </p:nvSpPr>
        <p:spPr>
          <a:xfrm>
            <a:off x="299624" y="2255335"/>
            <a:ext cx="6258752" cy="2005485"/>
          </a:xfrm>
          <a:prstGeom prst="rect">
            <a:avLst/>
          </a:prstGeom>
          <a:noFill/>
        </p:spPr>
        <p:txBody>
          <a:bodyPr wrap="square" rtlCol="0">
            <a:spAutoFit/>
          </a:bodyPr>
          <a:lstStyle>
            <a:defPPr>
              <a:defRPr lang="zh-CN"/>
            </a:defPPr>
            <a:lvl1pPr>
              <a:lnSpc>
                <a:spcPct val="150000"/>
              </a:lnSpc>
              <a:defRPr sz="1050" kern="100">
                <a:solidFill>
                  <a:srgbClr val="696A6C"/>
                </a:solidFill>
                <a:latin typeface="Microsoft YaHei" panose="020B0503020204020204" pitchFamily="34" charset="-122"/>
                <a:ea typeface="Microsoft YaHei" panose="020B0503020204020204" pitchFamily="34" charset="-122"/>
                <a:cs typeface="Arial" panose="020B0604020202020204" pitchFamily="34" charset="0"/>
              </a:defRPr>
            </a:lvl1pPr>
            <a:lvl2pPr marL="0" lvl="1">
              <a:lnSpc>
                <a:spcPct val="150000"/>
              </a:lnSpc>
              <a:defRPr sz="1050" b="1">
                <a:solidFill>
                  <a:srgbClr val="696A6C"/>
                </a:solidFill>
                <a:latin typeface="微软雅黑" panose="020B0503020204020204" pitchFamily="34" charset="-122"/>
                <a:ea typeface="微软雅黑" panose="020B0503020204020204" pitchFamily="34" charset="-122"/>
              </a:defRPr>
            </a:lvl2pPr>
          </a:lstStyle>
          <a:p>
            <a:r>
              <a:rPr lang="en-US" altLang="zh-CN" b="1" dirty="0"/>
              <a:t>PPE</a:t>
            </a:r>
            <a:r>
              <a:rPr lang="zh-CN" altLang="en-US" b="1" dirty="0"/>
              <a:t>项目供应商供应链成熟度体系构建与实施支持（</a:t>
            </a:r>
            <a:r>
              <a:rPr lang="en-US" altLang="zh-CN" b="1" dirty="0"/>
              <a:t>2023‑2025</a:t>
            </a:r>
            <a:r>
              <a:rPr lang="zh-CN" altLang="en-US" b="1" dirty="0"/>
              <a:t>）</a:t>
            </a:r>
            <a:endParaRPr lang="zh-CN" altLang="en-US" dirty="0"/>
          </a:p>
          <a:p>
            <a:r>
              <a:rPr lang="zh-CN" altLang="en-US" dirty="0"/>
              <a:t>作为供应链支持方法论核心设计者，主导</a:t>
            </a:r>
            <a:r>
              <a:rPr lang="en-US" altLang="zh-CN" dirty="0"/>
              <a:t>PPE</a:t>
            </a:r>
            <a:r>
              <a:rPr lang="zh-CN" altLang="en-US" dirty="0"/>
              <a:t>项目关键供应商供应链启动与成熟度管理架构。基于大众集团</a:t>
            </a:r>
            <a:r>
              <a:rPr lang="en-US" altLang="zh-CN" dirty="0" err="1"/>
              <a:t>QPNi</a:t>
            </a:r>
            <a:r>
              <a:rPr lang="zh-CN" altLang="en-US" dirty="0"/>
              <a:t>框架，首创性建立供应商各供应链动作的完成度评价标准与评级机制，开发集成化进度跟踪工具，实现信息录入与成熟度动态评估。依据</a:t>
            </a:r>
            <a:r>
              <a:rPr lang="en-US" altLang="zh-CN" dirty="0"/>
              <a:t>VDA6.8</a:t>
            </a:r>
            <a:r>
              <a:rPr lang="zh-CN" altLang="en-US" dirty="0"/>
              <a:t>标准对供应链流程进行阶梯式解析，形成可操作的分阶段实施指南，并制定跨部门协同职责分工规范。</a:t>
            </a:r>
          </a:p>
          <a:p>
            <a:r>
              <a:rPr lang="zh-CN" altLang="en-US" dirty="0"/>
              <a:t>通过该体系，支持全部关键供应商完成供应链能力建设，确保</a:t>
            </a:r>
            <a:r>
              <a:rPr lang="en-US" altLang="zh-CN" dirty="0"/>
              <a:t>PPE</a:t>
            </a:r>
            <a:r>
              <a:rPr lang="zh-CN" altLang="en-US" dirty="0"/>
              <a:t>项目供应链按期达到量产成熟标准，为高端电动平台项目交付奠定坚实基础。所构建的方法论与工具已形成标准化知识资产，支持后续集团电动化项目供应链管理复用。</a:t>
            </a:r>
          </a:p>
        </p:txBody>
      </p:sp>
      <p:sp>
        <p:nvSpPr>
          <p:cNvPr id="7" name="文本框 6">
            <a:extLst>
              <a:ext uri="{FF2B5EF4-FFF2-40B4-BE49-F238E27FC236}">
                <a16:creationId xmlns:a16="http://schemas.microsoft.com/office/drawing/2014/main" id="{721AF12A-9495-E17C-B1A5-F4DE96BE04FF}"/>
              </a:ext>
            </a:extLst>
          </p:cNvPr>
          <p:cNvSpPr txBox="1"/>
          <p:nvPr/>
        </p:nvSpPr>
        <p:spPr>
          <a:xfrm>
            <a:off x="299624" y="6240755"/>
            <a:ext cx="6258752" cy="1760418"/>
          </a:xfrm>
          <a:prstGeom prst="rect">
            <a:avLst/>
          </a:prstGeom>
          <a:noFill/>
        </p:spPr>
        <p:txBody>
          <a:bodyPr wrap="square" rtlCol="0">
            <a:spAutoFit/>
          </a:bodyPr>
          <a:lstStyle>
            <a:defPPr>
              <a:defRPr lang="zh-CN"/>
            </a:defPPr>
            <a:lvl1pPr>
              <a:lnSpc>
                <a:spcPct val="150000"/>
              </a:lnSpc>
              <a:defRPr sz="1050" kern="100">
                <a:solidFill>
                  <a:srgbClr val="696A6C"/>
                </a:solidFill>
                <a:latin typeface="Microsoft YaHei" panose="020B0503020204020204" pitchFamily="34" charset="-122"/>
                <a:ea typeface="Microsoft YaHei" panose="020B0503020204020204" pitchFamily="34" charset="-122"/>
                <a:cs typeface="Arial" panose="020B0604020202020204" pitchFamily="34" charset="0"/>
              </a:defRPr>
            </a:lvl1pPr>
            <a:lvl2pPr marL="0" lvl="1">
              <a:lnSpc>
                <a:spcPct val="150000"/>
              </a:lnSpc>
              <a:defRPr sz="1050" b="1">
                <a:solidFill>
                  <a:srgbClr val="696A6C"/>
                </a:solidFill>
                <a:latin typeface="微软雅黑" panose="020B0503020204020204" pitchFamily="34" charset="-122"/>
                <a:ea typeface="微软雅黑" panose="020B0503020204020204" pitchFamily="34" charset="-122"/>
              </a:defRPr>
            </a:lvl2pPr>
          </a:lstStyle>
          <a:p>
            <a:r>
              <a:rPr lang="zh-CN" altLang="en-US" b="1" dirty="0"/>
              <a:t>缸盖罩壳总成全球化产能协同与柔性供应体系（</a:t>
            </a:r>
            <a:r>
              <a:rPr lang="en-US" altLang="zh-CN" b="1" dirty="0"/>
              <a:t>2013‑2018</a:t>
            </a:r>
            <a:r>
              <a:rPr lang="zh-CN" altLang="en-US" b="1" dirty="0"/>
              <a:t>）</a:t>
            </a:r>
            <a:endParaRPr lang="zh-CN" altLang="en-US" dirty="0"/>
          </a:p>
          <a:p>
            <a:r>
              <a:rPr lang="zh-CN" altLang="en-US" dirty="0"/>
              <a:t>面对多级供应链的协同挑战，主导构建覆盖全球</a:t>
            </a:r>
            <a:r>
              <a:rPr lang="en-US" altLang="zh-CN" dirty="0"/>
              <a:t>7</a:t>
            </a:r>
            <a:r>
              <a:rPr lang="zh-CN" altLang="en-US" dirty="0"/>
              <a:t>家生产基地的产能联动体系。通过建立“国内多基地协同</a:t>
            </a:r>
            <a:r>
              <a:rPr lang="en-US" altLang="zh-CN" dirty="0"/>
              <a:t>+</a:t>
            </a:r>
            <a:r>
              <a:rPr lang="zh-CN" altLang="en-US" dirty="0"/>
              <a:t>德国蒂森克虏伯资源补充”的双轨机制，在产能爬坡关键期依托德国资源快速填补短期供应缺口，同时以国内零件与总成基地的直联调度优化长期产能布局。</a:t>
            </a:r>
          </a:p>
          <a:p>
            <a:r>
              <a:rPr lang="zh-CN" altLang="en-US" dirty="0"/>
              <a:t>该项目在控制新增投资的前提下，推动年供应能力提升至约</a:t>
            </a:r>
            <a:r>
              <a:rPr lang="en-US" altLang="zh-CN" dirty="0"/>
              <a:t>320</a:t>
            </a:r>
            <a:r>
              <a:rPr lang="zh-CN" altLang="en-US" dirty="0"/>
              <a:t>万件，成功平衡了短期保供压力与长期产能风险，形成兼具成本效率与供应弹性的全球化协同范式，为复杂零部件跨国供应链管理提供了可复制的解决方案。</a:t>
            </a:r>
          </a:p>
        </p:txBody>
      </p:sp>
    </p:spTree>
    <p:extLst>
      <p:ext uri="{BB962C8B-B14F-4D97-AF65-F5344CB8AC3E}">
        <p14:creationId xmlns:p14="http://schemas.microsoft.com/office/powerpoint/2010/main" val="2940391755"/>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870</TotalTime>
  <Words>2226</Words>
  <Application>Microsoft Macintosh PowerPoint</Application>
  <PresentationFormat>A4 纸张(210x297 毫米)</PresentationFormat>
  <Paragraphs>62</Paragraphs>
  <Slides>2</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vt:i4>
      </vt:variant>
    </vt:vector>
  </HeadingPairs>
  <TitlesOfParts>
    <vt:vector size="12" baseType="lpstr">
      <vt:lpstr>Microsoft YaHei</vt:lpstr>
      <vt:lpstr>Microsoft YaHei</vt:lpstr>
      <vt:lpstr>Audi Type</vt:lpstr>
      <vt:lpstr>quote-cjk-patch</vt:lpstr>
      <vt:lpstr>arial</vt:lpstr>
      <vt:lpstr>arial</vt:lpstr>
      <vt:lpstr>Calibri</vt:lpstr>
      <vt:lpstr>Wingdings</vt:lpstr>
      <vt:lpstr>简历​​</vt:lpstr>
      <vt:lpstr>Resume​​</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342</cp:revision>
  <dcterms:created xsi:type="dcterms:W3CDTF">2021-08-12T03:08:11Z</dcterms:created>
  <dcterms:modified xsi:type="dcterms:W3CDTF">2026-05-10T02:43:35Z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简历​​:3\Resume​​:3</vt:lpwstr>
  </property>
  <property fmtid="{D5CDD505-2E9C-101B-9397-08002B2CF9AE}" pid="3" name="ClassificationContentMarkingFooterText">
    <vt:lpwstr>INTERNAL</vt:lpwstr>
  </property>
</Properties>
</file>