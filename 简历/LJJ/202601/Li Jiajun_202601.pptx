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 id="2147483687" r:id="rId2"/>
  </p:sldMasterIdLst>
  <p:sldIdLst>
    <p:sldId id="258" r:id="rId3"/>
    <p:sldId id="263" r:id="rId4"/>
    <p:sldId id="261" r:id="rId5"/>
    <p:sldId id="257" r:id="rId6"/>
    <p:sldId id="262" r:id="rId7"/>
  </p:sldIdLst>
  <p:sldSz cx="6858000" cy="9906000" type="A4"/>
  <p:notesSz cx="7315200" cy="96012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EA1A2"/>
    <a:srgbClr val="696A6C"/>
    <a:srgbClr val="9C9FA0"/>
    <a:srgbClr val="FFFFFF"/>
    <a:srgbClr val="9B9EA0"/>
    <a:srgbClr val="979A9B"/>
    <a:srgbClr val="9DA0A1"/>
    <a:srgbClr val="D3D4D5"/>
    <a:srgbClr val="E6E6E6"/>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862" autoAdjust="0"/>
    <p:restoredTop sz="94709"/>
  </p:normalViewPr>
  <p:slideViewPr>
    <p:cSldViewPr snapToGrid="0">
      <p:cViewPr>
        <p:scale>
          <a:sx n="177" d="100"/>
          <a:sy n="177" d="100"/>
        </p:scale>
        <p:origin x="1840" y="-2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简历模板">
    <p:spTree>
      <p:nvGrpSpPr>
        <p:cNvPr id="1" name=""/>
        <p:cNvGrpSpPr/>
        <p:nvPr/>
      </p:nvGrpSpPr>
      <p:grpSpPr>
        <a:xfrm>
          <a:off x="0" y="0"/>
          <a:ext cx="0" cy="0"/>
          <a:chOff x="0" y="0"/>
          <a:chExt cx="0" cy="0"/>
        </a:xfrm>
      </p:grpSpPr>
      <p:sp>
        <p:nvSpPr>
          <p:cNvPr id="10" name="矩形 9"/>
          <p:cNvSpPr/>
          <p:nvPr userDrawn="1"/>
        </p:nvSpPr>
        <p:spPr>
          <a:xfrm>
            <a:off x="41672" y="221253"/>
            <a:ext cx="4483944"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1" name="矩形 10"/>
          <p:cNvSpPr/>
          <p:nvPr userDrawn="1"/>
        </p:nvSpPr>
        <p:spPr>
          <a:xfrm>
            <a:off x="6066181" y="221253"/>
            <a:ext cx="720000"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2" name="文本框 11"/>
          <p:cNvSpPr txBox="1"/>
          <p:nvPr userDrawn="1"/>
        </p:nvSpPr>
        <p:spPr>
          <a:xfrm>
            <a:off x="4602056" y="46871"/>
            <a:ext cx="1421552" cy="338554"/>
          </a:xfrm>
          <a:prstGeom prst="rect">
            <a:avLst/>
          </a:prstGeom>
          <a:solidFill>
            <a:schemeClr val="bg1"/>
          </a:solidFill>
        </p:spPr>
        <p:txBody>
          <a:bodyPr wrap="square" rtlCol="0">
            <a:spAutoFit/>
          </a:bodyPr>
          <a:lstStyle/>
          <a:p>
            <a:pPr algn="dist"/>
            <a:r>
              <a:rPr lang="zh-CN" altLang="en-US" sz="1600" b="1" dirty="0">
                <a:solidFill>
                  <a:srgbClr val="9EA1A2"/>
                </a:solidFill>
                <a:latin typeface="微软雅黑" panose="020B0503020204020204" pitchFamily="34" charset="-122"/>
                <a:ea typeface="微软雅黑" panose="020B0503020204020204" pitchFamily="34" charset="-122"/>
              </a:rPr>
              <a:t>个人简历</a:t>
            </a:r>
          </a:p>
        </p:txBody>
      </p:sp>
    </p:spTree>
    <p:extLst>
      <p:ext uri="{BB962C8B-B14F-4D97-AF65-F5344CB8AC3E}">
        <p14:creationId xmlns:p14="http://schemas.microsoft.com/office/powerpoint/2010/main" val="1886732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项目经历">
    <p:spTree>
      <p:nvGrpSpPr>
        <p:cNvPr id="1" name=""/>
        <p:cNvGrpSpPr/>
        <p:nvPr/>
      </p:nvGrpSpPr>
      <p:grpSpPr>
        <a:xfrm>
          <a:off x="0" y="0"/>
          <a:ext cx="0" cy="0"/>
          <a:chOff x="0" y="0"/>
          <a:chExt cx="0" cy="0"/>
        </a:xfrm>
      </p:grpSpPr>
      <p:sp>
        <p:nvSpPr>
          <p:cNvPr id="10" name="矩形 9"/>
          <p:cNvSpPr/>
          <p:nvPr userDrawn="1"/>
        </p:nvSpPr>
        <p:spPr>
          <a:xfrm>
            <a:off x="41672" y="221253"/>
            <a:ext cx="4483944"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1" name="矩形 10"/>
          <p:cNvSpPr/>
          <p:nvPr userDrawn="1"/>
        </p:nvSpPr>
        <p:spPr>
          <a:xfrm>
            <a:off x="6066181" y="221253"/>
            <a:ext cx="720000"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2" name="文本框 11"/>
          <p:cNvSpPr txBox="1"/>
          <p:nvPr userDrawn="1"/>
        </p:nvSpPr>
        <p:spPr>
          <a:xfrm>
            <a:off x="4602056" y="46871"/>
            <a:ext cx="1421552" cy="338554"/>
          </a:xfrm>
          <a:prstGeom prst="rect">
            <a:avLst/>
          </a:prstGeom>
          <a:solidFill>
            <a:schemeClr val="bg1"/>
          </a:solidFill>
        </p:spPr>
        <p:txBody>
          <a:bodyPr wrap="square" rtlCol="0">
            <a:spAutoFit/>
          </a:bodyPr>
          <a:lstStyle/>
          <a:p>
            <a:pPr algn="dist"/>
            <a:r>
              <a:rPr lang="zh-CN" altLang="en-US" sz="1600" b="1" dirty="0">
                <a:solidFill>
                  <a:srgbClr val="9EA1A2"/>
                </a:solidFill>
                <a:latin typeface="微软雅黑" panose="020B0503020204020204" pitchFamily="34" charset="-122"/>
                <a:ea typeface="微软雅黑" panose="020B0503020204020204" pitchFamily="34" charset="-122"/>
              </a:rPr>
              <a:t>项目经历</a:t>
            </a:r>
          </a:p>
        </p:txBody>
      </p:sp>
    </p:spTree>
    <p:extLst>
      <p:ext uri="{BB962C8B-B14F-4D97-AF65-F5344CB8AC3E}">
        <p14:creationId xmlns:p14="http://schemas.microsoft.com/office/powerpoint/2010/main" val="4238713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Resume">
    <p:spTree>
      <p:nvGrpSpPr>
        <p:cNvPr id="1" name=""/>
        <p:cNvGrpSpPr/>
        <p:nvPr/>
      </p:nvGrpSpPr>
      <p:grpSpPr>
        <a:xfrm>
          <a:off x="0" y="0"/>
          <a:ext cx="0" cy="0"/>
          <a:chOff x="0" y="0"/>
          <a:chExt cx="0" cy="0"/>
        </a:xfrm>
      </p:grpSpPr>
      <p:sp>
        <p:nvSpPr>
          <p:cNvPr id="10" name="矩形 9"/>
          <p:cNvSpPr/>
          <p:nvPr userDrawn="1"/>
        </p:nvSpPr>
        <p:spPr>
          <a:xfrm>
            <a:off x="41672" y="221253"/>
            <a:ext cx="4483944"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1" name="矩形 10"/>
          <p:cNvSpPr/>
          <p:nvPr userDrawn="1"/>
        </p:nvSpPr>
        <p:spPr>
          <a:xfrm>
            <a:off x="6066181" y="221253"/>
            <a:ext cx="720000"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2" name="文本框 11"/>
          <p:cNvSpPr txBox="1"/>
          <p:nvPr userDrawn="1"/>
        </p:nvSpPr>
        <p:spPr>
          <a:xfrm>
            <a:off x="4602056" y="73375"/>
            <a:ext cx="1421552" cy="338554"/>
          </a:xfrm>
          <a:prstGeom prst="rect">
            <a:avLst/>
          </a:prstGeom>
          <a:solidFill>
            <a:schemeClr val="bg1"/>
          </a:solidFill>
        </p:spPr>
        <p:txBody>
          <a:bodyPr wrap="square" rtlCol="0">
            <a:spAutoFit/>
          </a:bodyPr>
          <a:lstStyle/>
          <a:p>
            <a:pPr marL="0" algn="ctr" defTabSz="914400" rtl="0" eaLnBrk="1" latinLnBrk="0" hangingPunct="1"/>
            <a:r>
              <a:rPr lang="en-US" altLang="zh-CN" sz="1600" b="1" kern="1200" dirty="0">
                <a:solidFill>
                  <a:srgbClr val="9EA1A2"/>
                </a:solidFill>
                <a:latin typeface="微软雅黑" panose="020B0503020204020204" pitchFamily="34" charset="-122"/>
                <a:ea typeface="微软雅黑" panose="020B0503020204020204" pitchFamily="34" charset="-122"/>
                <a:cs typeface="+mn-cs"/>
              </a:rPr>
              <a:t>Resume</a:t>
            </a:r>
            <a:endParaRPr lang="zh-CN" altLang="en-US" sz="1600" b="1" kern="1200" dirty="0">
              <a:solidFill>
                <a:srgbClr val="9EA1A2"/>
              </a:solidFill>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742267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Resume">
    <p:spTree>
      <p:nvGrpSpPr>
        <p:cNvPr id="1" name=""/>
        <p:cNvGrpSpPr/>
        <p:nvPr/>
      </p:nvGrpSpPr>
      <p:grpSpPr>
        <a:xfrm>
          <a:off x="0" y="0"/>
          <a:ext cx="0" cy="0"/>
          <a:chOff x="0" y="0"/>
          <a:chExt cx="0" cy="0"/>
        </a:xfrm>
      </p:grpSpPr>
      <p:sp>
        <p:nvSpPr>
          <p:cNvPr id="10" name="矩形 9"/>
          <p:cNvSpPr/>
          <p:nvPr userDrawn="1"/>
        </p:nvSpPr>
        <p:spPr>
          <a:xfrm>
            <a:off x="41672" y="221253"/>
            <a:ext cx="4483944"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1" name="矩形 10"/>
          <p:cNvSpPr/>
          <p:nvPr userDrawn="1"/>
        </p:nvSpPr>
        <p:spPr>
          <a:xfrm>
            <a:off x="6066181" y="221253"/>
            <a:ext cx="720000"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2" name="文本框 11"/>
          <p:cNvSpPr txBox="1"/>
          <p:nvPr userDrawn="1"/>
        </p:nvSpPr>
        <p:spPr>
          <a:xfrm>
            <a:off x="4602056" y="73375"/>
            <a:ext cx="1421552" cy="338554"/>
          </a:xfrm>
          <a:prstGeom prst="rect">
            <a:avLst/>
          </a:prstGeom>
          <a:solidFill>
            <a:schemeClr val="bg1"/>
          </a:solidFill>
        </p:spPr>
        <p:txBody>
          <a:bodyPr wrap="square" rtlCol="0">
            <a:spAutoFit/>
          </a:bodyPr>
          <a:lstStyle/>
          <a:p>
            <a:pPr marL="0" algn="ctr" defTabSz="914400" rtl="0" eaLnBrk="1" latinLnBrk="0" hangingPunct="1"/>
            <a:r>
              <a:rPr lang="en-US" altLang="zh-CN" sz="1600" b="1" kern="1200" dirty="0">
                <a:solidFill>
                  <a:srgbClr val="9EA1A2"/>
                </a:solidFill>
                <a:latin typeface="微软雅黑" panose="020B0503020204020204" pitchFamily="34" charset="-122"/>
                <a:ea typeface="微软雅黑" panose="020B0503020204020204" pitchFamily="34" charset="-122"/>
                <a:cs typeface="+mn-cs"/>
              </a:rPr>
              <a:t>Resume</a:t>
            </a:r>
            <a:endParaRPr lang="zh-CN" altLang="en-US" sz="1600" b="1" kern="1200" dirty="0">
              <a:solidFill>
                <a:srgbClr val="9EA1A2"/>
              </a:solidFill>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230300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oject Experience">
    <p:spTree>
      <p:nvGrpSpPr>
        <p:cNvPr id="1" name=""/>
        <p:cNvGrpSpPr/>
        <p:nvPr/>
      </p:nvGrpSpPr>
      <p:grpSpPr>
        <a:xfrm>
          <a:off x="0" y="0"/>
          <a:ext cx="0" cy="0"/>
          <a:chOff x="0" y="0"/>
          <a:chExt cx="0" cy="0"/>
        </a:xfrm>
      </p:grpSpPr>
      <p:sp>
        <p:nvSpPr>
          <p:cNvPr id="10" name="矩形 9"/>
          <p:cNvSpPr/>
          <p:nvPr userDrawn="1"/>
        </p:nvSpPr>
        <p:spPr>
          <a:xfrm>
            <a:off x="41672" y="221253"/>
            <a:ext cx="4483944"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1" name="矩形 10"/>
          <p:cNvSpPr/>
          <p:nvPr userDrawn="1"/>
        </p:nvSpPr>
        <p:spPr>
          <a:xfrm>
            <a:off x="6066181" y="221253"/>
            <a:ext cx="720000" cy="36000"/>
          </a:xfrm>
          <a:prstGeom prst="rect">
            <a:avLst/>
          </a:prstGeom>
          <a:solidFill>
            <a:srgbClr val="9EA1A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solidFill>
                <a:srgbClr val="9C9FA0"/>
              </a:solidFill>
            </a:endParaRPr>
          </a:p>
        </p:txBody>
      </p:sp>
      <p:sp>
        <p:nvSpPr>
          <p:cNvPr id="12" name="文本框 11"/>
          <p:cNvSpPr txBox="1"/>
          <p:nvPr userDrawn="1"/>
        </p:nvSpPr>
        <p:spPr>
          <a:xfrm>
            <a:off x="4602056" y="7115"/>
            <a:ext cx="1421552" cy="584775"/>
          </a:xfrm>
          <a:prstGeom prst="rect">
            <a:avLst/>
          </a:prstGeom>
          <a:solidFill>
            <a:schemeClr val="bg1"/>
          </a:solidFill>
        </p:spPr>
        <p:txBody>
          <a:bodyPr wrap="square" rtlCol="0">
            <a:spAutoFit/>
          </a:bodyPr>
          <a:lstStyle/>
          <a:p>
            <a:pPr marL="0" algn="ctr" defTabSz="914400" rtl="0" eaLnBrk="1" latinLnBrk="0" hangingPunct="1"/>
            <a:r>
              <a:rPr lang="en-US" altLang="zh-CN" sz="1600" b="1" kern="1200" dirty="0" err="1">
                <a:solidFill>
                  <a:srgbClr val="9EA1A2"/>
                </a:solidFill>
                <a:latin typeface="arial" panose="020B0604020202020204" pitchFamily="34" charset="0"/>
                <a:ea typeface="微软雅黑" panose="020B0503020204020204" pitchFamily="34" charset="-122"/>
                <a:cs typeface="arial" panose="020B0604020202020204" pitchFamily="34" charset="0"/>
              </a:rPr>
              <a:t>ProjectExperience</a:t>
            </a:r>
            <a:endParaRPr lang="zh-CN" altLang="en-US" sz="1600" b="1" kern="1200" dirty="0">
              <a:solidFill>
                <a:srgbClr val="9EA1A2"/>
              </a:solidFill>
              <a:latin typeface="arial" panose="020B0604020202020204" pitchFamily="34"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2309748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简历模板">
    <p:spTree>
      <p:nvGrpSpPr>
        <p:cNvPr id="1" name=""/>
        <p:cNvGrpSpPr/>
        <p:nvPr/>
      </p:nvGrpSpPr>
      <p:grpSpPr>
        <a:xfrm>
          <a:off x="0" y="0"/>
          <a:ext cx="0" cy="0"/>
          <a:chOff x="0" y="0"/>
          <a:chExt cx="0" cy="0"/>
        </a:xfrm>
      </p:grpSpPr>
      <p:sp>
        <p:nvSpPr>
          <p:cNvPr id="6" name="矩形 5"/>
          <p:cNvSpPr/>
          <p:nvPr userDrawn="1"/>
        </p:nvSpPr>
        <p:spPr>
          <a:xfrm>
            <a:off x="1" y="0"/>
            <a:ext cx="2621279" cy="9906000"/>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64344" y="221253"/>
            <a:ext cx="4483944" cy="78788"/>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1" name="矩形 10"/>
          <p:cNvSpPr/>
          <p:nvPr userDrawn="1"/>
        </p:nvSpPr>
        <p:spPr>
          <a:xfrm>
            <a:off x="6172197" y="221253"/>
            <a:ext cx="720000" cy="78788"/>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2" name="文本框 11"/>
          <p:cNvSpPr txBox="1"/>
          <p:nvPr userDrawn="1"/>
        </p:nvSpPr>
        <p:spPr>
          <a:xfrm>
            <a:off x="4602056" y="60123"/>
            <a:ext cx="1421552" cy="369332"/>
          </a:xfrm>
          <a:prstGeom prst="rect">
            <a:avLst/>
          </a:prstGeom>
          <a:noFill/>
        </p:spPr>
        <p:txBody>
          <a:bodyPr wrap="square" rtlCol="0">
            <a:spAutoFit/>
          </a:bodyPr>
          <a:lstStyle/>
          <a:p>
            <a:pPr algn="ctr"/>
            <a:r>
              <a:rPr lang="en-US" altLang="zh-CN" b="1" dirty="0">
                <a:solidFill>
                  <a:srgbClr val="0070C0"/>
                </a:solidFill>
                <a:latin typeface="微软雅黑" panose="020B0503020204020204" pitchFamily="34" charset="-122"/>
                <a:ea typeface="微软雅黑" panose="020B0503020204020204" pitchFamily="34" charset="-122"/>
              </a:rPr>
              <a:t>Resume</a:t>
            </a:r>
            <a:endParaRPr lang="zh-CN" altLang="en-US" b="1" dirty="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251693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项目经历">
    <p:spTree>
      <p:nvGrpSpPr>
        <p:cNvPr id="1" name=""/>
        <p:cNvGrpSpPr/>
        <p:nvPr/>
      </p:nvGrpSpPr>
      <p:grpSpPr>
        <a:xfrm>
          <a:off x="0" y="0"/>
          <a:ext cx="0" cy="0"/>
          <a:chOff x="0" y="0"/>
          <a:chExt cx="0" cy="0"/>
        </a:xfrm>
      </p:grpSpPr>
      <p:sp>
        <p:nvSpPr>
          <p:cNvPr id="7" name="矩形 6"/>
          <p:cNvSpPr/>
          <p:nvPr userDrawn="1"/>
        </p:nvSpPr>
        <p:spPr>
          <a:xfrm>
            <a:off x="-64344" y="221253"/>
            <a:ext cx="4483944" cy="78788"/>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8" name="矩形 7"/>
          <p:cNvSpPr/>
          <p:nvPr userDrawn="1"/>
        </p:nvSpPr>
        <p:spPr>
          <a:xfrm>
            <a:off x="6172197" y="221253"/>
            <a:ext cx="720000" cy="78788"/>
          </a:xfrm>
          <a:prstGeom prst="rect">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9" name="文本框 8"/>
          <p:cNvSpPr txBox="1"/>
          <p:nvPr userDrawn="1"/>
        </p:nvSpPr>
        <p:spPr>
          <a:xfrm>
            <a:off x="4439714" y="0"/>
            <a:ext cx="1732483" cy="646331"/>
          </a:xfrm>
          <a:prstGeom prst="rect">
            <a:avLst/>
          </a:prstGeom>
          <a:noFill/>
        </p:spPr>
        <p:txBody>
          <a:bodyPr wrap="square" rtlCol="0">
            <a:spAutoFit/>
          </a:bodyPr>
          <a:lstStyle/>
          <a:p>
            <a:pPr algn="ctr"/>
            <a:r>
              <a:rPr lang="en-US" altLang="zh-CN" b="1" dirty="0" err="1">
                <a:solidFill>
                  <a:srgbClr val="0070C0"/>
                </a:solidFill>
                <a:latin typeface="微软雅黑" panose="020B0503020204020204" pitchFamily="34" charset="-122"/>
                <a:ea typeface="微软雅黑" panose="020B0503020204020204" pitchFamily="34" charset="-122"/>
              </a:rPr>
              <a:t>Project</a:t>
            </a:r>
            <a:r>
              <a:rPr lang="en-US" altLang="zh-CN" b="1" baseline="0" dirty="0" err="1">
                <a:solidFill>
                  <a:srgbClr val="0070C0"/>
                </a:solidFill>
                <a:latin typeface="微软雅黑" panose="020B0503020204020204" pitchFamily="34" charset="-122"/>
                <a:ea typeface="微软雅黑" panose="020B0503020204020204" pitchFamily="34" charset="-122"/>
              </a:rPr>
              <a:t>Experience</a:t>
            </a:r>
            <a:endParaRPr lang="zh-CN" altLang="en-US" b="1" dirty="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3036676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5" Type="http://schemas.openxmlformats.org/officeDocument/2006/relationships/theme" Target="../theme/theme2.xml"/><Relationship Id="rId4"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E7CD01A2-074E-4206-B488-A455663873BA}" type="datetimeFigureOut">
              <a:rPr lang="zh-CN" altLang="en-US" smtClean="0"/>
              <a:t>2026/1/17</a:t>
            </a:fld>
            <a:endParaRPr lang="zh-CN" alt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C8C20162-27D8-449D-A1F7-0EF87D2A24B3}" type="slidenum">
              <a:rPr lang="zh-CN" altLang="en-US" smtClean="0"/>
              <a:t>‹#›</a:t>
            </a:fld>
            <a:endParaRPr lang="zh-CN" altLang="en-US"/>
          </a:p>
        </p:txBody>
      </p:sp>
      <p:sp>
        <p:nvSpPr>
          <p:cNvPr id="3" name="文本框 2">
            <a:extLst>
              <a:ext uri="{FF2B5EF4-FFF2-40B4-BE49-F238E27FC236}">
                <a16:creationId xmlns:a16="http://schemas.microsoft.com/office/drawing/2014/main" id="{C4A4C084-D159-6494-6A2C-8FD5CAC73335}"/>
              </a:ext>
            </a:extLst>
          </p:cNvPr>
          <p:cNvSpPr txBox="1"/>
          <p:nvPr userDrawn="1">
            <p:extLst>
              <p:ext uri="{1162E1C5-73C7-4A58-AE30-91384D911F3F}">
                <p184:classification xmlns:p184="http://schemas.microsoft.com/office/powerpoint/2018/4/main" val="ftr"/>
              </p:ext>
            </p:extLst>
          </p:nvPr>
        </p:nvSpPr>
        <p:spPr>
          <a:xfrm>
            <a:off x="63500" y="9690100"/>
            <a:ext cx="544513" cy="152400"/>
          </a:xfrm>
          <a:prstGeom prst="rect">
            <a:avLst/>
          </a:prstGeom>
        </p:spPr>
        <p:txBody>
          <a:bodyPr horzOverflow="overflow" lIns="0" tIns="0" rIns="0" bIns="0">
            <a:spAutoFit/>
          </a:bodyPr>
          <a:lstStyle/>
          <a:p>
            <a:pPr algn="l"/>
            <a:r>
              <a:rPr lang="zh-CN" altLang="en-US" sz="1000">
                <a:solidFill>
                  <a:srgbClr val="000000">
                    <a:alpha val="50000"/>
                  </a:srgbClr>
                </a:solidFill>
                <a:latin typeface="Calibri" panose="020F0502020204030204" pitchFamily="34" charset="0"/>
                <a:cs typeface="Calibri" panose="020F0502020204030204" pitchFamily="34" charset="0"/>
              </a:rPr>
              <a:t>INTERNAL</a:t>
            </a:r>
          </a:p>
        </p:txBody>
      </p:sp>
    </p:spTree>
    <p:extLst>
      <p:ext uri="{BB962C8B-B14F-4D97-AF65-F5344CB8AC3E}">
        <p14:creationId xmlns:p14="http://schemas.microsoft.com/office/powerpoint/2010/main" val="112116606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92" r:id="rId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E7CD01A2-074E-4206-B488-A455663873BA}" type="datetimeFigureOut">
              <a:rPr lang="zh-CN" altLang="en-US" smtClean="0"/>
              <a:t>2026/1/17</a:t>
            </a:fld>
            <a:endParaRPr lang="zh-CN" alt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C8C20162-27D8-449D-A1F7-0EF87D2A24B3}" type="slidenum">
              <a:rPr lang="zh-CN" altLang="en-US" smtClean="0"/>
              <a:t>‹#›</a:t>
            </a:fld>
            <a:endParaRPr lang="zh-CN" altLang="en-US"/>
          </a:p>
        </p:txBody>
      </p:sp>
      <p:sp>
        <p:nvSpPr>
          <p:cNvPr id="3" name="文本框 2">
            <a:extLst>
              <a:ext uri="{FF2B5EF4-FFF2-40B4-BE49-F238E27FC236}">
                <a16:creationId xmlns:a16="http://schemas.microsoft.com/office/drawing/2014/main" id="{D03A1A15-18BF-D8BA-AC03-FD816A7069E5}"/>
              </a:ext>
            </a:extLst>
          </p:cNvPr>
          <p:cNvSpPr txBox="1"/>
          <p:nvPr userDrawn="1">
            <p:extLst>
              <p:ext uri="{1162E1C5-73C7-4A58-AE30-91384D911F3F}">
                <p184:classification xmlns:p184="http://schemas.microsoft.com/office/powerpoint/2018/4/main" val="ftr"/>
              </p:ext>
            </p:extLst>
          </p:nvPr>
        </p:nvSpPr>
        <p:spPr>
          <a:xfrm>
            <a:off x="63500" y="9690100"/>
            <a:ext cx="544513" cy="152400"/>
          </a:xfrm>
          <a:prstGeom prst="rect">
            <a:avLst/>
          </a:prstGeom>
        </p:spPr>
        <p:txBody>
          <a:bodyPr horzOverflow="overflow" lIns="0" tIns="0" rIns="0" bIns="0">
            <a:spAutoFit/>
          </a:bodyPr>
          <a:lstStyle/>
          <a:p>
            <a:pPr algn="l"/>
            <a:r>
              <a:rPr lang="zh-CN" altLang="en-US" sz="1000">
                <a:solidFill>
                  <a:srgbClr val="000000">
                    <a:alpha val="50000"/>
                  </a:srgbClr>
                </a:solidFill>
                <a:latin typeface="Calibri" panose="020F0502020204030204" pitchFamily="34" charset="0"/>
                <a:cs typeface="Calibri" panose="020F0502020204030204" pitchFamily="34" charset="0"/>
              </a:rPr>
              <a:t>INTERNAL</a:t>
            </a:r>
          </a:p>
        </p:txBody>
      </p:sp>
    </p:spTree>
    <p:extLst>
      <p:ext uri="{BB962C8B-B14F-4D97-AF65-F5344CB8AC3E}">
        <p14:creationId xmlns:p14="http://schemas.microsoft.com/office/powerpoint/2010/main" val="3497534163"/>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185153" y="1046161"/>
            <a:ext cx="6545845" cy="693385"/>
            <a:chOff x="185153" y="1175281"/>
            <a:chExt cx="6545845" cy="693385"/>
          </a:xfrm>
        </p:grpSpPr>
        <p:sp>
          <p:nvSpPr>
            <p:cNvPr id="5" name="文本框 4">
              <a:extLst>
                <a:ext uri="{FF2B5EF4-FFF2-40B4-BE49-F238E27FC236}">
                  <a16:creationId xmlns:a16="http://schemas.microsoft.com/office/drawing/2014/main" id="{6328BBE5-BD67-4242-90DC-5145D59E3704}"/>
                </a:ext>
              </a:extLst>
            </p:cNvPr>
            <p:cNvSpPr txBox="1"/>
            <p:nvPr/>
          </p:nvSpPr>
          <p:spPr>
            <a:xfrm>
              <a:off x="185153" y="1175281"/>
              <a:ext cx="796876" cy="275525"/>
            </a:xfrm>
            <a:prstGeom prst="rect">
              <a:avLst/>
            </a:prstGeom>
            <a:noFill/>
          </p:spPr>
          <p:txBody>
            <a:bodyPr wrap="square" rtlCol="0">
              <a:spAutoFit/>
            </a:bodyPr>
            <a:lstStyle/>
            <a:p>
              <a:pPr>
                <a:lnSpc>
                  <a:spcPct val="150000"/>
                </a:lnSpc>
              </a:pPr>
              <a:r>
                <a:rPr lang="zh-CN" altLang="en-US"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求职目标</a:t>
              </a:r>
              <a:endParaRPr lang="en-US" altLang="zh-CN"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sp>
          <p:nvSpPr>
            <p:cNvPr id="9" name="文本框 8">
              <a:extLst>
                <a:ext uri="{FF2B5EF4-FFF2-40B4-BE49-F238E27FC236}">
                  <a16:creationId xmlns:a16="http://schemas.microsoft.com/office/drawing/2014/main" id="{CC1EBB91-CDFE-B640-B2D6-B8BB71CC595B}"/>
                </a:ext>
              </a:extLst>
            </p:cNvPr>
            <p:cNvSpPr txBox="1"/>
            <p:nvPr/>
          </p:nvSpPr>
          <p:spPr>
            <a:xfrm>
              <a:off x="858675" y="1177643"/>
              <a:ext cx="5872323" cy="691023"/>
            </a:xfrm>
            <a:prstGeom prst="rect">
              <a:avLst/>
            </a:prstGeom>
            <a:noFill/>
          </p:spPr>
          <p:txBody>
            <a:bodyPr wrap="square" rtlCol="0">
              <a:spAutoFit/>
            </a:bodyPr>
            <a:lstStyle/>
            <a:p>
              <a:pPr>
                <a:lnSpc>
                  <a:spcPct val="150000"/>
                </a:lnSpc>
              </a:pP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供应链总监</a:t>
              </a:r>
              <a:endPar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a:lnSpc>
                  <a:spcPct val="150000"/>
                </a:lnSpc>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超过</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20</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年大众汽车集团（奥迪与大众品牌）供应链管理工作经历。具备丰富的供应链战略搭建与方案落地的经验，尤为擅长系统化从“</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0</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至</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1</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”建立供应链体系</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包括信息流</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实物流</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endPar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grpSp>
      <p:grpSp>
        <p:nvGrpSpPr>
          <p:cNvPr id="14" name="组合 13"/>
          <p:cNvGrpSpPr/>
          <p:nvPr/>
        </p:nvGrpSpPr>
        <p:grpSpPr>
          <a:xfrm>
            <a:off x="130669" y="290111"/>
            <a:ext cx="4091437" cy="715176"/>
            <a:chOff x="130669" y="387481"/>
            <a:chExt cx="4091437" cy="715176"/>
          </a:xfrm>
        </p:grpSpPr>
        <p:sp>
          <p:nvSpPr>
            <p:cNvPr id="4" name="文本框 3"/>
            <p:cNvSpPr txBox="1"/>
            <p:nvPr/>
          </p:nvSpPr>
          <p:spPr>
            <a:xfrm>
              <a:off x="178048" y="619383"/>
              <a:ext cx="2234514" cy="483274"/>
            </a:xfrm>
            <a:prstGeom prst="rect">
              <a:avLst/>
            </a:prstGeom>
            <a:noFill/>
          </p:spPr>
          <p:txBody>
            <a:bodyPr wrap="square" rtlCol="0">
              <a:spAutoFit/>
            </a:bodyPr>
            <a:lstStyle/>
            <a:p>
              <a:pPr>
                <a:lnSpc>
                  <a:spcPct val="150000"/>
                </a:lnSpc>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性别：男</a:t>
              </a:r>
              <a:endPar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a:lnSpc>
                  <a:spcPct val="150000"/>
                </a:lnSpc>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联系电话：</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13761058893</a:t>
              </a:r>
            </a:p>
          </p:txBody>
        </p:sp>
        <p:sp>
          <p:nvSpPr>
            <p:cNvPr id="10" name="文本框 9"/>
            <p:cNvSpPr txBox="1"/>
            <p:nvPr/>
          </p:nvSpPr>
          <p:spPr>
            <a:xfrm>
              <a:off x="1987592" y="609426"/>
              <a:ext cx="2234514" cy="483274"/>
            </a:xfrm>
            <a:prstGeom prst="rect">
              <a:avLst/>
            </a:prstGeom>
            <a:noFill/>
          </p:spPr>
          <p:txBody>
            <a:bodyPr wrap="square" rtlCol="0">
              <a:spAutoFit/>
            </a:bodyPr>
            <a:lstStyle/>
            <a:p>
              <a:pPr>
                <a:lnSpc>
                  <a:spcPct val="150000"/>
                </a:lnSpc>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出生年月</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:1983</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年</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12</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月</a:t>
              </a:r>
              <a:endPar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a:lnSpc>
                  <a:spcPct val="150000"/>
                </a:lnSpc>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邮箱：</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lijiajun_vwpt@163.com</a:t>
              </a:r>
              <a:endPar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sp>
          <p:nvSpPr>
            <p:cNvPr id="11" name="文本框 10"/>
            <p:cNvSpPr txBox="1"/>
            <p:nvPr/>
          </p:nvSpPr>
          <p:spPr>
            <a:xfrm>
              <a:off x="130669" y="387481"/>
              <a:ext cx="757080" cy="261610"/>
            </a:xfrm>
            <a:prstGeom prst="rect">
              <a:avLst/>
            </a:prstGeom>
            <a:noFill/>
          </p:spPr>
          <p:txBody>
            <a:bodyPr wrap="square" rtlCol="0">
              <a:spAutoFit/>
            </a:bodyPr>
            <a:lstStyle/>
            <a:p>
              <a:pPr algn="ctr"/>
              <a:r>
                <a:rPr lang="zh-CN" altLang="en-US" sz="105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李嘉俊</a:t>
              </a:r>
            </a:p>
          </p:txBody>
        </p:sp>
      </p:grpSp>
      <p:grpSp>
        <p:nvGrpSpPr>
          <p:cNvPr id="16" name="组合 15"/>
          <p:cNvGrpSpPr/>
          <p:nvPr/>
        </p:nvGrpSpPr>
        <p:grpSpPr>
          <a:xfrm>
            <a:off x="185153" y="1728195"/>
            <a:ext cx="6545846" cy="277887"/>
            <a:chOff x="185153" y="1175281"/>
            <a:chExt cx="6545846" cy="277887"/>
          </a:xfrm>
        </p:grpSpPr>
        <p:sp>
          <p:nvSpPr>
            <p:cNvPr id="17" name="文本框 16">
              <a:extLst>
                <a:ext uri="{FF2B5EF4-FFF2-40B4-BE49-F238E27FC236}">
                  <a16:creationId xmlns:a16="http://schemas.microsoft.com/office/drawing/2014/main" id="{6328BBE5-BD67-4242-90DC-5145D59E3704}"/>
                </a:ext>
              </a:extLst>
            </p:cNvPr>
            <p:cNvSpPr txBox="1"/>
            <p:nvPr/>
          </p:nvSpPr>
          <p:spPr>
            <a:xfrm>
              <a:off x="185153" y="1175281"/>
              <a:ext cx="796876" cy="275525"/>
            </a:xfrm>
            <a:prstGeom prst="rect">
              <a:avLst/>
            </a:prstGeom>
            <a:noFill/>
          </p:spPr>
          <p:txBody>
            <a:bodyPr wrap="square" rtlCol="0">
              <a:spAutoFit/>
            </a:bodyPr>
            <a:lstStyle/>
            <a:p>
              <a:pPr>
                <a:lnSpc>
                  <a:spcPct val="150000"/>
                </a:lnSpc>
              </a:pPr>
              <a:r>
                <a:rPr lang="zh-CN" altLang="en-US"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教育背景</a:t>
              </a:r>
              <a:endParaRPr lang="en-US" altLang="zh-CN"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sp>
          <p:nvSpPr>
            <p:cNvPr id="18" name="文本框 17">
              <a:extLst>
                <a:ext uri="{FF2B5EF4-FFF2-40B4-BE49-F238E27FC236}">
                  <a16:creationId xmlns:a16="http://schemas.microsoft.com/office/drawing/2014/main" id="{CC1EBB91-CDFE-B640-B2D6-B8BB71CC595B}"/>
                </a:ext>
              </a:extLst>
            </p:cNvPr>
            <p:cNvSpPr txBox="1"/>
            <p:nvPr/>
          </p:nvSpPr>
          <p:spPr>
            <a:xfrm>
              <a:off x="878997" y="1177643"/>
              <a:ext cx="5852002" cy="275525"/>
            </a:xfrm>
            <a:prstGeom prst="rect">
              <a:avLst/>
            </a:prstGeom>
            <a:noFill/>
          </p:spPr>
          <p:txBody>
            <a:bodyPr wrap="square" rtlCol="0">
              <a:spAutoFit/>
            </a:bodyPr>
            <a:lstStyle/>
            <a:p>
              <a:pPr>
                <a:lnSpc>
                  <a:spcPct val="150000"/>
                </a:lnSpc>
              </a:pP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2002/Sep</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2006/Jul	</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上海海事大学</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轮机工程专业</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本科（工学学士）</a:t>
              </a:r>
              <a:endPar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grpSp>
      <p:grpSp>
        <p:nvGrpSpPr>
          <p:cNvPr id="19" name="组合 18"/>
          <p:cNvGrpSpPr/>
          <p:nvPr/>
        </p:nvGrpSpPr>
        <p:grpSpPr>
          <a:xfrm>
            <a:off x="190233" y="1998157"/>
            <a:ext cx="6540766" cy="6925860"/>
            <a:chOff x="185153" y="1175281"/>
            <a:chExt cx="6540766" cy="6925860"/>
          </a:xfrm>
        </p:grpSpPr>
        <p:sp>
          <p:nvSpPr>
            <p:cNvPr id="20" name="文本框 19">
              <a:extLst>
                <a:ext uri="{FF2B5EF4-FFF2-40B4-BE49-F238E27FC236}">
                  <a16:creationId xmlns:a16="http://schemas.microsoft.com/office/drawing/2014/main" id="{6328BBE5-BD67-4242-90DC-5145D59E3704}"/>
                </a:ext>
              </a:extLst>
            </p:cNvPr>
            <p:cNvSpPr txBox="1"/>
            <p:nvPr/>
          </p:nvSpPr>
          <p:spPr>
            <a:xfrm>
              <a:off x="185153" y="1175281"/>
              <a:ext cx="796876" cy="275525"/>
            </a:xfrm>
            <a:prstGeom prst="rect">
              <a:avLst/>
            </a:prstGeom>
            <a:noFill/>
          </p:spPr>
          <p:txBody>
            <a:bodyPr wrap="square" rtlCol="0">
              <a:spAutoFit/>
            </a:bodyPr>
            <a:lstStyle/>
            <a:p>
              <a:pPr>
                <a:lnSpc>
                  <a:spcPct val="150000"/>
                </a:lnSpc>
              </a:pPr>
              <a:r>
                <a:rPr lang="zh-CN" altLang="en-US"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工作经历</a:t>
              </a:r>
              <a:endParaRPr lang="en-US" altLang="zh-CN"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sp>
          <p:nvSpPr>
            <p:cNvPr id="21" name="文本框 20">
              <a:extLst>
                <a:ext uri="{FF2B5EF4-FFF2-40B4-BE49-F238E27FC236}">
                  <a16:creationId xmlns:a16="http://schemas.microsoft.com/office/drawing/2014/main" id="{CC1EBB91-CDFE-B640-B2D6-B8BB71CC595B}"/>
                </a:ext>
              </a:extLst>
            </p:cNvPr>
            <p:cNvSpPr txBox="1"/>
            <p:nvPr/>
          </p:nvSpPr>
          <p:spPr>
            <a:xfrm>
              <a:off x="873916" y="1177643"/>
              <a:ext cx="5852003" cy="6923498"/>
            </a:xfrm>
            <a:prstGeom prst="rect">
              <a:avLst/>
            </a:prstGeom>
            <a:noFill/>
          </p:spPr>
          <p:txBody>
            <a:bodyPr wrap="square" rtlCol="0">
              <a:spAutoFit/>
            </a:bodyPr>
            <a:lstStyle/>
            <a:p>
              <a:pPr>
                <a:lnSpc>
                  <a:spcPct val="150000"/>
                </a:lnSpc>
              </a:pP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2022.05</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r>
                <a:rPr lang="zh-CN"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至今</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奥迪（中国）企业管理有限公司</a:t>
              </a:r>
              <a:endPar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lvl="4">
                <a:lnSpc>
                  <a:spcPct val="150000"/>
                </a:lnSpc>
              </a:pP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（大中华区）供应链审核与规划员</a:t>
              </a:r>
              <a:endPar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marL="171450" indent="-171450">
                <a:lnSpc>
                  <a:spcPct val="150000"/>
                </a:lnSpc>
                <a:buFont typeface="Wingdings" panose="05000000000000000000" pitchFamily="2" charset="2"/>
                <a:buChar char="Ø"/>
              </a:pP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供应商准入审核</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(VDA6.8</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专家</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p>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依据</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VDA6.8</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标准，执行大众集团（奥迪、保时捷、兰博基尼、</a:t>
              </a:r>
              <a:r>
                <a:rPr lang="en-US" altLang="zh-CN" sz="900" dirty="0" err="1">
                  <a:solidFill>
                    <a:srgbClr val="696A6C"/>
                  </a:solidFill>
                  <a:latin typeface="Audi Type" panose="020B0503040202060203" pitchFamily="34" charset="0"/>
                  <a:ea typeface="微软雅黑" panose="020B0503020204020204" pitchFamily="34" charset="-122"/>
                  <a:cs typeface="Audi Type" panose="020B0503040202060203" pitchFamily="34" charset="0"/>
                </a:rPr>
                <a:t>Power.Co</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等）新项目目标供应商的供应链全过程审核（涵盖信息流与实物流），覆盖亚太区超过</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100</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家汽车零部件供应商。</a:t>
              </a:r>
              <a:endPar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审核对象包括联想、三花等本土企业及大同金属</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日本</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、百乐仕</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日本</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、理研</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日本</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等海外知名企业，具备丰富的跨文化、跨地域审核经验。</a:t>
              </a:r>
              <a:endPar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审核结果是新供应商项目定点</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(Project</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Sourcing)</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的关键决策依据和必要条件，直接影响大众集团高端项目供应链伙伴的选择。</a:t>
              </a:r>
            </a:p>
            <a:p>
              <a:pPr marL="171450" indent="-171450">
                <a:lnSpc>
                  <a:spcPct val="150000"/>
                </a:lnSpc>
                <a:buFont typeface="Wingdings" panose="05000000000000000000" pitchFamily="2" charset="2"/>
                <a:buChar char="Ø"/>
              </a:pP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供应商能力提升与成熟度管理</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r>
                <a:rPr lang="en-US" altLang="zh-CN" sz="900" b="1" dirty="0" err="1">
                  <a:solidFill>
                    <a:srgbClr val="696A6C"/>
                  </a:solidFill>
                  <a:latin typeface="Audi Type" panose="020B0503040202060203" pitchFamily="34" charset="0"/>
                  <a:ea typeface="微软雅黑" panose="020B0503020204020204" pitchFamily="34" charset="-122"/>
                  <a:cs typeface="Audi Type" panose="020B0503040202060203" pitchFamily="34" charset="0"/>
                </a:rPr>
                <a:t>QPNi</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p>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在大众集团供应链成本优化与智能电气化转型战略背景下，重点识别并辅导运营水平较低或跨行业的新进供应商，制定针对性改进方案，成功支持</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13</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家供应商达到大众集团严苛要求，保障了</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6</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个新项目的顺利启动。</a:t>
              </a:r>
              <a:endPar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依据大众集团</a:t>
              </a:r>
              <a:r>
                <a:rPr lang="en-US" altLang="zh-CN" sz="900" dirty="0" err="1">
                  <a:solidFill>
                    <a:srgbClr val="696A6C"/>
                  </a:solidFill>
                  <a:latin typeface="Audi Type" panose="020B0503040202060203" pitchFamily="34" charset="0"/>
                  <a:ea typeface="微软雅黑" panose="020B0503020204020204" pitchFamily="34" charset="-122"/>
                  <a:cs typeface="Audi Type" panose="020B0503040202060203" pitchFamily="34" charset="0"/>
                </a:rPr>
                <a:t>QPNi</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成熟度管理要求，支持并管理目标供应商提升供应链成熟度水平。作为</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PPE</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中国项目核心成员，成功管理并支持三花集团、舍弗勒，等</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11+</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家关键供应商按期完成供应链</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SOP</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搭建与成熟度达标，确保项目里程碑达成。</a:t>
              </a:r>
            </a:p>
            <a:p>
              <a:pPr marL="171450" indent="-171450">
                <a:lnSpc>
                  <a:spcPct val="150000"/>
                </a:lnSpc>
                <a:buFont typeface="Wingdings" panose="05000000000000000000" pitchFamily="2" charset="2"/>
                <a:buChar char="Ø"/>
              </a:pP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供应商产能全生命周期管理</a:t>
              </a:r>
              <a:endPar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负责新项目阶段供应商产能规划与提升：通过现场审核与技术指导，优化关键工序节拍（例如：帮助德资卡钳工厂，优化装配线节拍</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35.4s/pcs -&gt; 27.3s/pcs,</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优化了</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22%</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）、提升生产稳定性、改善排产合理性，确保产能满足项目爬坡需求。</a:t>
              </a:r>
            </a:p>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支持批量生产阶段：及时介入并解决供应商产能瓶颈与供应中断问题。</a:t>
              </a:r>
            </a:p>
            <a:p>
              <a:pPr marL="171450" indent="-171450">
                <a:lnSpc>
                  <a:spcPct val="150000"/>
                </a:lnSpc>
                <a:buFont typeface="Wingdings" panose="05000000000000000000" pitchFamily="2" charset="2"/>
                <a:buChar char="Ø"/>
              </a:pP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供应链咨询服务 </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从</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0</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到</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1</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搭建</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p>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主导奥迪中国对外供应链咨询服务业务体系的从</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0</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到</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1</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搭建（三个月内完成框架设计、流程制定与落地实施）。</a:t>
              </a:r>
            </a:p>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执行具体对外咨询项目，为外部客户提供 供应链优化解决方案，成功帮助客户实现全供应链运作成本降低（某德资客户案例：过程与仓储成本</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17%</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360million-&gt;300million</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）、效率提升及供应链渠道优化搭建。</a:t>
              </a:r>
              <a:endPar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a:lnSpc>
                  <a:spcPct val="150000"/>
                </a:lnSpc>
              </a:pP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2006/Jul.</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2022/May</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r>
                <a:rPr lang="zh-CN"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上海大众动力总成有限公司</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（已并入上汽大众）</a:t>
              </a:r>
              <a:endPar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a:lnSpc>
                  <a:spcPct val="150000"/>
                </a:lnSpc>
              </a:pP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2016/Feb.~2022/May	</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供应链管理</a:t>
              </a:r>
              <a:r>
                <a:rPr lang="zh-CN"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专家</a:t>
              </a:r>
              <a:endPar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主导供应链风险预判与决策：通过监控</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150+</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材料组（覆盖</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500+</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关键零部件）的产能、供需及市场动态，预判潜在断点风险（如芯片短缺、产能极限），为</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S&amp;OP</a:t>
              </a: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（销售与运营计划）提供关键决策依据，驱动产能调整与排产优化。</a:t>
              </a:r>
            </a:p>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风险解决体系搭建：建立供应链风险分析模型，制定应急预案（如二级供应商开发、安全库存策略），保障生产连续性。</a:t>
              </a:r>
            </a:p>
            <a:p>
              <a:pPr>
                <a:lnSpc>
                  <a:spcPct val="150000"/>
                </a:lnSpc>
                <a:buSzPct val="100000"/>
              </a:pP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2006/Jul.</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2016/Jan	</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零</a:t>
              </a:r>
              <a:r>
                <a:rPr lang="zh-CN"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件筹措</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&amp;</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物料计划员</a:t>
              </a:r>
              <a:endPar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grpSp>
      <p:grpSp>
        <p:nvGrpSpPr>
          <p:cNvPr id="3" name="组合 2"/>
          <p:cNvGrpSpPr/>
          <p:nvPr/>
        </p:nvGrpSpPr>
        <p:grpSpPr>
          <a:xfrm>
            <a:off x="190233" y="8687325"/>
            <a:ext cx="6883667" cy="693257"/>
            <a:chOff x="190233" y="9241051"/>
            <a:chExt cx="6883667" cy="693257"/>
          </a:xfrm>
        </p:grpSpPr>
        <p:sp>
          <p:nvSpPr>
            <p:cNvPr id="24" name="文本框 23">
              <a:extLst>
                <a:ext uri="{FF2B5EF4-FFF2-40B4-BE49-F238E27FC236}">
                  <a16:creationId xmlns:a16="http://schemas.microsoft.com/office/drawing/2014/main" id="{6328BBE5-BD67-4242-90DC-5145D59E3704}"/>
                </a:ext>
              </a:extLst>
            </p:cNvPr>
            <p:cNvSpPr txBox="1"/>
            <p:nvPr/>
          </p:nvSpPr>
          <p:spPr>
            <a:xfrm>
              <a:off x="190233" y="9241051"/>
              <a:ext cx="796876" cy="275525"/>
            </a:xfrm>
            <a:prstGeom prst="rect">
              <a:avLst/>
            </a:prstGeom>
            <a:noFill/>
          </p:spPr>
          <p:txBody>
            <a:bodyPr wrap="square" rtlCol="0">
              <a:spAutoFit/>
            </a:bodyPr>
            <a:lstStyle/>
            <a:p>
              <a:pPr>
                <a:lnSpc>
                  <a:spcPct val="150000"/>
                </a:lnSpc>
              </a:pPr>
              <a:r>
                <a:rPr lang="zh-CN" altLang="en-US"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相关技能</a:t>
              </a:r>
              <a:endParaRPr lang="en-US" altLang="zh-CN" sz="900" b="1" u="sng"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p:txBody>
        </p:sp>
        <p:sp>
          <p:nvSpPr>
            <p:cNvPr id="25" name="文本框 24">
              <a:extLst>
                <a:ext uri="{FF2B5EF4-FFF2-40B4-BE49-F238E27FC236}">
                  <a16:creationId xmlns:a16="http://schemas.microsoft.com/office/drawing/2014/main" id="{CC1EBB91-CDFE-B640-B2D6-B8BB71CC595B}"/>
                </a:ext>
              </a:extLst>
            </p:cNvPr>
            <p:cNvSpPr txBox="1"/>
            <p:nvPr/>
          </p:nvSpPr>
          <p:spPr>
            <a:xfrm>
              <a:off x="878997" y="9243413"/>
              <a:ext cx="1865069" cy="690895"/>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英语</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CET-4</a:t>
              </a:r>
            </a:p>
            <a:p>
              <a:pPr marL="171450" indent="-171450">
                <a:lnSpc>
                  <a:spcPct val="150000"/>
                </a:lnSpc>
                <a:buFont typeface="Arial" panose="020B0604020202020204" pitchFamily="34" charset="0"/>
                <a:buChar char="•"/>
              </a:pPr>
              <a:r>
                <a:rPr lang="zh-CN" altLang="en-US" sz="900" kern="1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计算机</a:t>
              </a:r>
              <a:r>
                <a:rPr lang="en-US" altLang="zh-CN" sz="900" kern="1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MS-Office	SAP,ERP</a:t>
              </a:r>
            </a:p>
          </p:txBody>
        </p:sp>
        <p:sp>
          <p:nvSpPr>
            <p:cNvPr id="26" name="文本框 25">
              <a:extLst>
                <a:ext uri="{FF2B5EF4-FFF2-40B4-BE49-F238E27FC236}">
                  <a16:creationId xmlns:a16="http://schemas.microsoft.com/office/drawing/2014/main" id="{CC1EBB91-CDFE-B640-B2D6-B8BB71CC595B}"/>
                </a:ext>
              </a:extLst>
            </p:cNvPr>
            <p:cNvSpPr txBox="1"/>
            <p:nvPr/>
          </p:nvSpPr>
          <p:spPr>
            <a:xfrm>
              <a:off x="2744066" y="9241051"/>
              <a:ext cx="4329834" cy="691023"/>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zh-CN" altLang="en-US"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体系证书</a:t>
              </a:r>
              <a:r>
                <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VDA6.3</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过程审核</a:t>
              </a:r>
              <a:endPar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lvl="2">
                <a:lnSpc>
                  <a:spcPct val="150000"/>
                </a:lnSpc>
              </a:pP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大众集团</a:t>
              </a:r>
              <a:r>
                <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VDA6.8</a:t>
              </a:r>
              <a:r>
                <a:rPr lang="zh-CN" altLang="en-US"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供应链过程审核员</a:t>
              </a:r>
              <a:endParaRPr lang="en-US" altLang="zh-CN" sz="900" b="1"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marL="171450" indent="-171450">
                <a:lnSpc>
                  <a:spcPct val="150000"/>
                </a:lnSpc>
                <a:buFont typeface="Arial" panose="020B0604020202020204" pitchFamily="34" charset="0"/>
                <a:buChar char="•"/>
              </a:pPr>
              <a:r>
                <a:rPr lang="zh-CN" altLang="en-US" sz="900" kern="1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讲师</a:t>
              </a:r>
              <a:r>
                <a:rPr lang="en-US" altLang="zh-CN" sz="900" kern="1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	</a:t>
              </a:r>
              <a:r>
                <a:rPr lang="zh-CN" altLang="en-US" sz="900" b="1" kern="1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上汽集团外聘讲师</a:t>
              </a:r>
              <a:r>
                <a:rPr lang="en-US" altLang="zh-CN" sz="900" kern="1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2020~2022</a:t>
              </a:r>
              <a:r>
                <a:rPr lang="zh-CN" altLang="en-US" sz="900" kern="1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年</a:t>
              </a:r>
              <a:endParaRPr lang="en-US" altLang="zh-CN" sz="900" kern="100" dirty="0">
                <a:solidFill>
                  <a:srgbClr val="696A6C"/>
                </a:solidFill>
                <a:latin typeface="Audi Type" panose="020B0503040202060203" pitchFamily="34" charset="0"/>
                <a:ea typeface="Microsoft YaHei" panose="020B0503020204020204" pitchFamily="34" charset="-122"/>
                <a:cs typeface="Audi Type" panose="020B0503040202060203" pitchFamily="34" charset="0"/>
              </a:endParaRPr>
            </a:p>
          </p:txBody>
        </p:sp>
      </p:grpSp>
    </p:spTree>
    <p:extLst>
      <p:ext uri="{BB962C8B-B14F-4D97-AF65-F5344CB8AC3E}">
        <p14:creationId xmlns:p14="http://schemas.microsoft.com/office/powerpoint/2010/main" val="35110222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318F5-B91E-619B-4E0E-F06D8A2B13F4}"/>
            </a:ext>
          </a:extLst>
        </p:cNvPr>
        <p:cNvGrpSpPr/>
        <p:nvPr/>
      </p:nvGrpSpPr>
      <p:grpSpPr>
        <a:xfrm>
          <a:off x="0" y="0"/>
          <a:ext cx="0" cy="0"/>
          <a:chOff x="0" y="0"/>
          <a:chExt cx="0" cy="0"/>
        </a:xfrm>
      </p:grpSpPr>
      <p:sp>
        <p:nvSpPr>
          <p:cNvPr id="10" name="文本框 9">
            <a:extLst>
              <a:ext uri="{FF2B5EF4-FFF2-40B4-BE49-F238E27FC236}">
                <a16:creationId xmlns:a16="http://schemas.microsoft.com/office/drawing/2014/main" id="{9160D1C7-40BD-3AE8-3D23-CC892CB6B0F6}"/>
              </a:ext>
            </a:extLst>
          </p:cNvPr>
          <p:cNvSpPr txBox="1"/>
          <p:nvPr/>
        </p:nvSpPr>
        <p:spPr>
          <a:xfrm>
            <a:off x="172354" y="337813"/>
            <a:ext cx="2538737" cy="1708160"/>
          </a:xfrm>
          <a:prstGeom prst="rect">
            <a:avLst/>
          </a:prstGeom>
          <a:noFill/>
        </p:spPr>
        <p:txBody>
          <a:bodyPr wrap="square" rtlCol="0">
            <a:spAutoFit/>
          </a:bodyPr>
          <a:lstStyle/>
          <a:p>
            <a:pPr>
              <a:lnSpc>
                <a:spcPct val="150000"/>
              </a:lnSpc>
            </a:pPr>
            <a:r>
              <a:rPr lang="en-US" altLang="zh-CN" sz="1000" dirty="0">
                <a:latin typeface="Audi Type" panose="020B0503040202060203" pitchFamily="34" charset="0"/>
                <a:ea typeface="微软雅黑" panose="020B0503020204020204" pitchFamily="34" charset="-122"/>
                <a:cs typeface="Audi Type" panose="020B0503040202060203" pitchFamily="34" charset="0"/>
              </a:rPr>
              <a:t>Name</a:t>
            </a:r>
            <a:r>
              <a:rPr lang="zh-CN" altLang="en-US" sz="1000" dirty="0">
                <a:latin typeface="Audi Type" panose="020B0503040202060203" pitchFamily="34" charset="0"/>
                <a:ea typeface="微软雅黑" panose="020B0503020204020204" pitchFamily="34" charset="-122"/>
                <a:cs typeface="Audi Type" panose="020B0503040202060203" pitchFamily="34" charset="0"/>
              </a:rPr>
              <a:t>：</a:t>
            </a:r>
            <a:r>
              <a:rPr lang="en-US" altLang="zh-CN" sz="1000" dirty="0">
                <a:latin typeface="Audi Type" panose="020B0503040202060203" pitchFamily="34" charset="0"/>
                <a:ea typeface="微软雅黑" panose="020B0503020204020204" pitchFamily="34" charset="-122"/>
                <a:cs typeface="Audi Type" panose="020B0503040202060203" pitchFamily="34" charset="0"/>
              </a:rPr>
              <a:t>	Li</a:t>
            </a:r>
            <a:r>
              <a:rPr lang="zh-CN" altLang="en-US" sz="1000" dirty="0">
                <a:latin typeface="Audi Type" panose="020B0503040202060203" pitchFamily="34" charset="0"/>
                <a:ea typeface="微软雅黑" panose="020B0503020204020204" pitchFamily="34" charset="-122"/>
                <a:cs typeface="Audi Type" panose="020B0503040202060203" pitchFamily="34" charset="0"/>
              </a:rPr>
              <a:t> </a:t>
            </a:r>
            <a:r>
              <a:rPr lang="en-US" altLang="zh-CN" sz="1000" dirty="0" err="1">
                <a:latin typeface="Audi Type" panose="020B0503040202060203" pitchFamily="34" charset="0"/>
                <a:ea typeface="微软雅黑" panose="020B0503020204020204" pitchFamily="34" charset="-122"/>
                <a:cs typeface="Audi Type" panose="020B0503040202060203" pitchFamily="34" charset="0"/>
              </a:rPr>
              <a:t>Jiajun</a:t>
            </a:r>
            <a:endParaRPr lang="en-US" altLang="zh-CN" sz="1000" dirty="0">
              <a:latin typeface="Audi Type" panose="020B0503040202060203" pitchFamily="34" charset="0"/>
              <a:ea typeface="微软雅黑" panose="020B0503020204020204" pitchFamily="34" charset="-122"/>
              <a:cs typeface="Audi Type" panose="020B0503040202060203" pitchFamily="34" charset="0"/>
            </a:endParaRPr>
          </a:p>
          <a:p>
            <a:pPr>
              <a:lnSpc>
                <a:spcPct val="150000"/>
              </a:lnSpc>
            </a:pPr>
            <a:r>
              <a:rPr lang="en-US" altLang="zh-CN" sz="1000" dirty="0">
                <a:latin typeface="Audi Type" panose="020B0503040202060203" pitchFamily="34" charset="0"/>
                <a:ea typeface="微软雅黑" panose="020B0503020204020204" pitchFamily="34" charset="-122"/>
                <a:cs typeface="Audi Type" panose="020B0503040202060203" pitchFamily="34" charset="0"/>
              </a:rPr>
              <a:t>Gender</a:t>
            </a:r>
            <a:r>
              <a:rPr lang="zh-CN" altLang="en-US" sz="1000" dirty="0">
                <a:latin typeface="Audi Type" panose="020B0503040202060203" pitchFamily="34" charset="0"/>
                <a:ea typeface="微软雅黑" panose="020B0503020204020204" pitchFamily="34" charset="-122"/>
                <a:cs typeface="Audi Type" panose="020B0503040202060203" pitchFamily="34" charset="0"/>
              </a:rPr>
              <a:t>：</a:t>
            </a:r>
            <a:r>
              <a:rPr lang="en-US" altLang="zh-CN" sz="1000" dirty="0">
                <a:latin typeface="Audi Type" panose="020B0503040202060203" pitchFamily="34" charset="0"/>
                <a:ea typeface="微软雅黑" panose="020B0503020204020204" pitchFamily="34" charset="-122"/>
                <a:cs typeface="Audi Type" panose="020B0503040202060203" pitchFamily="34" charset="0"/>
              </a:rPr>
              <a:t>	Male</a:t>
            </a:r>
          </a:p>
          <a:p>
            <a:pPr>
              <a:lnSpc>
                <a:spcPct val="150000"/>
              </a:lnSpc>
            </a:pPr>
            <a:r>
              <a:rPr lang="en-US" altLang="zh-CN" sz="1000" dirty="0">
                <a:latin typeface="Audi Type" panose="020B0503040202060203" pitchFamily="34" charset="0"/>
                <a:ea typeface="微软雅黑" panose="020B0503020204020204" pitchFamily="34" charset="-122"/>
                <a:cs typeface="Audi Type" panose="020B0503040202060203" pitchFamily="34" charset="0"/>
              </a:rPr>
              <a:t>Birthday:	Dec.1983</a:t>
            </a:r>
          </a:p>
          <a:p>
            <a:pPr>
              <a:lnSpc>
                <a:spcPct val="150000"/>
              </a:lnSpc>
            </a:pPr>
            <a:r>
              <a:rPr lang="en-US" altLang="zh-CN" sz="1000" dirty="0">
                <a:latin typeface="Audi Type" panose="020B0503040202060203" pitchFamily="34" charset="0"/>
                <a:ea typeface="微软雅黑" panose="020B0503020204020204" pitchFamily="34" charset="-122"/>
                <a:cs typeface="Audi Type" panose="020B0503040202060203" pitchFamily="34" charset="0"/>
              </a:rPr>
              <a:t>Location</a:t>
            </a:r>
            <a:r>
              <a:rPr lang="zh-CN" altLang="en-US" sz="1000" dirty="0">
                <a:latin typeface="Audi Type" panose="020B0503040202060203" pitchFamily="34" charset="0"/>
                <a:ea typeface="微软雅黑" panose="020B0503020204020204" pitchFamily="34" charset="-122"/>
                <a:cs typeface="Audi Type" panose="020B0503040202060203" pitchFamily="34" charset="0"/>
              </a:rPr>
              <a:t>：</a:t>
            </a:r>
            <a:r>
              <a:rPr lang="en-US" altLang="zh-CN" sz="1000" dirty="0">
                <a:latin typeface="Audi Type" panose="020B0503040202060203" pitchFamily="34" charset="0"/>
                <a:ea typeface="微软雅黑" panose="020B0503020204020204" pitchFamily="34" charset="-122"/>
                <a:cs typeface="Audi Type" panose="020B0503040202060203" pitchFamily="34" charset="0"/>
              </a:rPr>
              <a:t>	Shanghai</a:t>
            </a:r>
          </a:p>
          <a:p>
            <a:pPr>
              <a:lnSpc>
                <a:spcPct val="150000"/>
              </a:lnSpc>
            </a:pPr>
            <a:r>
              <a:rPr lang="en-US" altLang="zh-CN" sz="1000" dirty="0">
                <a:latin typeface="Audi Type" panose="020B0503040202060203" pitchFamily="34" charset="0"/>
                <a:ea typeface="微软雅黑" panose="020B0503020204020204" pitchFamily="34" charset="-122"/>
                <a:cs typeface="Audi Type" panose="020B0503040202060203" pitchFamily="34" charset="0"/>
              </a:rPr>
              <a:t>Status</a:t>
            </a:r>
            <a:r>
              <a:rPr lang="zh-CN" altLang="en-US" sz="1000" dirty="0">
                <a:latin typeface="Audi Type" panose="020B0503040202060203" pitchFamily="34" charset="0"/>
                <a:ea typeface="微软雅黑" panose="020B0503020204020204" pitchFamily="34" charset="-122"/>
                <a:cs typeface="Audi Type" panose="020B0503040202060203" pitchFamily="34" charset="0"/>
              </a:rPr>
              <a:t>：</a:t>
            </a:r>
            <a:r>
              <a:rPr lang="en-US" altLang="zh-CN" sz="1000" dirty="0">
                <a:latin typeface="Audi Type" panose="020B0503040202060203" pitchFamily="34" charset="0"/>
                <a:ea typeface="微软雅黑" panose="020B0503020204020204" pitchFamily="34" charset="-122"/>
                <a:cs typeface="Audi Type" panose="020B0503040202060203" pitchFamily="34" charset="0"/>
              </a:rPr>
              <a:t>	Married</a:t>
            </a:r>
          </a:p>
          <a:p>
            <a:pPr>
              <a:lnSpc>
                <a:spcPct val="150000"/>
              </a:lnSpc>
            </a:pPr>
            <a:r>
              <a:rPr lang="en-US" altLang="zh-CN" sz="1000" dirty="0">
                <a:latin typeface="Audi Type" panose="020B0503040202060203" pitchFamily="34" charset="0"/>
                <a:ea typeface="微软雅黑" panose="020B0503020204020204" pitchFamily="34" charset="-122"/>
                <a:cs typeface="Audi Type" panose="020B0503040202060203" pitchFamily="34" charset="0"/>
              </a:rPr>
              <a:t>Telephone</a:t>
            </a:r>
            <a:r>
              <a:rPr lang="zh-CN" altLang="en-US" sz="1000" dirty="0">
                <a:latin typeface="Audi Type" panose="020B0503040202060203" pitchFamily="34" charset="0"/>
                <a:ea typeface="微软雅黑" panose="020B0503020204020204" pitchFamily="34" charset="-122"/>
                <a:cs typeface="Audi Type" panose="020B0503040202060203" pitchFamily="34" charset="0"/>
              </a:rPr>
              <a:t>：</a:t>
            </a:r>
            <a:r>
              <a:rPr lang="en-US" altLang="zh-CN" sz="1000" dirty="0">
                <a:latin typeface="Audi Type" panose="020B0503040202060203" pitchFamily="34" charset="0"/>
                <a:ea typeface="微软雅黑" panose="020B0503020204020204" pitchFamily="34" charset="-122"/>
                <a:cs typeface="Audi Type" panose="020B0503040202060203" pitchFamily="34" charset="0"/>
              </a:rPr>
              <a:t>	13761058893</a:t>
            </a:r>
          </a:p>
          <a:p>
            <a:pPr>
              <a:lnSpc>
                <a:spcPct val="150000"/>
              </a:lnSpc>
            </a:pPr>
            <a:r>
              <a:rPr lang="en-US" altLang="zh-CN" sz="1000" dirty="0">
                <a:latin typeface="Audi Type" panose="020B0503040202060203" pitchFamily="34" charset="0"/>
                <a:ea typeface="微软雅黑" panose="020B0503020204020204" pitchFamily="34" charset="-122"/>
                <a:cs typeface="Audi Type" panose="020B0503040202060203" pitchFamily="34" charset="0"/>
              </a:rPr>
              <a:t>Mail</a:t>
            </a:r>
            <a:r>
              <a:rPr lang="zh-CN" altLang="en-US" sz="1000" dirty="0">
                <a:latin typeface="Audi Type" panose="020B0503040202060203" pitchFamily="34" charset="0"/>
                <a:ea typeface="微软雅黑" panose="020B0503020204020204" pitchFamily="34" charset="-122"/>
                <a:cs typeface="Audi Type" panose="020B0503040202060203" pitchFamily="34" charset="0"/>
              </a:rPr>
              <a:t>：</a:t>
            </a:r>
            <a:r>
              <a:rPr lang="en-US" altLang="zh-CN" sz="1000" dirty="0">
                <a:latin typeface="Audi Type" panose="020B0503040202060203" pitchFamily="34" charset="0"/>
                <a:ea typeface="微软雅黑" panose="020B0503020204020204" pitchFamily="34" charset="-122"/>
                <a:cs typeface="Audi Type" panose="020B0503040202060203" pitchFamily="34" charset="0"/>
              </a:rPr>
              <a:t>	lijiajun_vwpt@163.com</a:t>
            </a:r>
            <a:endParaRPr lang="zh-CN" altLang="en-US" sz="1000" dirty="0">
              <a:latin typeface="Audi Type" panose="020B0503040202060203" pitchFamily="34" charset="0"/>
              <a:ea typeface="微软雅黑" panose="020B0503020204020204" pitchFamily="34" charset="-122"/>
              <a:cs typeface="Audi Type" panose="020B0503040202060203" pitchFamily="34" charset="0"/>
            </a:endParaRPr>
          </a:p>
        </p:txBody>
      </p:sp>
      <p:grpSp>
        <p:nvGrpSpPr>
          <p:cNvPr id="17" name="Skills">
            <a:extLst>
              <a:ext uri="{FF2B5EF4-FFF2-40B4-BE49-F238E27FC236}">
                <a16:creationId xmlns:a16="http://schemas.microsoft.com/office/drawing/2014/main" id="{22504398-7CB3-A2B4-7165-59130A73F767}"/>
              </a:ext>
            </a:extLst>
          </p:cNvPr>
          <p:cNvGrpSpPr/>
          <p:nvPr/>
        </p:nvGrpSpPr>
        <p:grpSpPr>
          <a:xfrm>
            <a:off x="172354" y="2159188"/>
            <a:ext cx="2538738" cy="2129443"/>
            <a:chOff x="67994" y="4259516"/>
            <a:chExt cx="2538738" cy="2129443"/>
          </a:xfrm>
        </p:grpSpPr>
        <p:sp>
          <p:nvSpPr>
            <p:cNvPr id="13" name="文本框 12">
              <a:extLst>
                <a:ext uri="{FF2B5EF4-FFF2-40B4-BE49-F238E27FC236}">
                  <a16:creationId xmlns:a16="http://schemas.microsoft.com/office/drawing/2014/main" id="{9359063D-5B0B-ACDE-91FA-D32FA06A827E}"/>
                </a:ext>
              </a:extLst>
            </p:cNvPr>
            <p:cNvSpPr txBox="1"/>
            <p:nvPr/>
          </p:nvSpPr>
          <p:spPr>
            <a:xfrm>
              <a:off x="805380" y="4259516"/>
              <a:ext cx="1072932" cy="261610"/>
            </a:xfrm>
            <a:prstGeom prst="rect">
              <a:avLst/>
            </a:prstGeom>
            <a:noFill/>
          </p:spPr>
          <p:txBody>
            <a:bodyPr wrap="square" rtlCol="0" anchor="ctr">
              <a:spAutoFit/>
            </a:bodyPr>
            <a:lstStyle/>
            <a:p>
              <a:pPr algn="ctr"/>
              <a:r>
                <a:rPr lang="en-US" altLang="zh-CN" sz="1100" b="1" dirty="0">
                  <a:solidFill>
                    <a:srgbClr val="9EA1A2"/>
                  </a:solidFill>
                  <a:latin typeface="Audi Type" panose="020B0503040202060203" pitchFamily="34" charset="0"/>
                  <a:ea typeface="微软雅黑" panose="020B0503020204020204" pitchFamily="34" charset="-122"/>
                  <a:cs typeface="Audi Type" panose="020B0503040202060203" pitchFamily="34" charset="0"/>
                </a:rPr>
                <a:t>Skills</a:t>
              </a:r>
              <a:endParaRPr lang="zh-CN" altLang="en-US" sz="1100" b="1" dirty="0">
                <a:solidFill>
                  <a:srgbClr val="9EA1A2"/>
                </a:solidFill>
                <a:latin typeface="Audi Type" panose="020B0503040202060203" pitchFamily="34" charset="0"/>
                <a:ea typeface="微软雅黑" panose="020B0503020204020204" pitchFamily="34" charset="-122"/>
                <a:cs typeface="Audi Type" panose="020B0503040202060203" pitchFamily="34" charset="0"/>
              </a:endParaRPr>
            </a:p>
          </p:txBody>
        </p:sp>
        <p:sp>
          <p:nvSpPr>
            <p:cNvPr id="14" name="文本框 13">
              <a:extLst>
                <a:ext uri="{FF2B5EF4-FFF2-40B4-BE49-F238E27FC236}">
                  <a16:creationId xmlns:a16="http://schemas.microsoft.com/office/drawing/2014/main" id="{B016AE02-ED78-0A8F-CD5F-4E6C5614D76F}"/>
                </a:ext>
              </a:extLst>
            </p:cNvPr>
            <p:cNvSpPr txBox="1"/>
            <p:nvPr/>
          </p:nvSpPr>
          <p:spPr>
            <a:xfrm>
              <a:off x="67994" y="4515882"/>
              <a:ext cx="2538738" cy="1873077"/>
            </a:xfrm>
            <a:prstGeom prst="rect">
              <a:avLst/>
            </a:prstGeom>
            <a:noFill/>
          </p:spPr>
          <p:txBody>
            <a:bodyPr wrap="square" rtlCol="0">
              <a:spAutoFit/>
            </a:bodyPr>
            <a:lstStyle/>
            <a:p>
              <a:pPr marL="171450" indent="-171450">
                <a:lnSpc>
                  <a:spcPts val="1400"/>
                </a:lnSpc>
                <a:buFontTx/>
                <a:buChar char="-"/>
              </a:pPr>
              <a:r>
                <a:rPr lang="en-US" altLang="zh-CN" sz="1000" dirty="0">
                  <a:solidFill>
                    <a:srgbClr val="696A6C"/>
                  </a:solidFill>
                  <a:highlight>
                    <a:srgbClr val="FFFF00"/>
                  </a:highlight>
                  <a:latin typeface="Audi Type" panose="020B0503040202060203" pitchFamily="34" charset="0"/>
                  <a:ea typeface="微软雅黑" panose="020B0503020204020204" pitchFamily="34" charset="-122"/>
                  <a:cs typeface="Audi Type" panose="020B0503040202060203" pitchFamily="34" charset="0"/>
                </a:rPr>
                <a:t>Structurethesupplychainfrom0-1</a:t>
              </a:r>
            </a:p>
            <a:p>
              <a:pPr>
                <a:lnSpc>
                  <a:spcPts val="1400"/>
                </a:lnSpc>
              </a:pPr>
              <a:endParaRPr lang="en-US" altLang="zh-CN" sz="1000" dirty="0">
                <a:solidFill>
                  <a:srgbClr val="696A6C"/>
                </a:solidFill>
                <a:highlight>
                  <a:srgbClr val="FFFF00"/>
                </a:highlight>
                <a:latin typeface="Audi Type" panose="020B0503040202060203" pitchFamily="34" charset="0"/>
                <a:ea typeface="微软雅黑" panose="020B0503020204020204" pitchFamily="34" charset="-122"/>
                <a:cs typeface="Audi Type" panose="020B0503040202060203" pitchFamily="34" charset="0"/>
              </a:endParaRPr>
            </a:p>
            <a:p>
              <a:pPr marL="171450" indent="-171450">
                <a:lnSpc>
                  <a:spcPts val="1400"/>
                </a:lnSpc>
                <a:buFontTx/>
                <a:buChar char="-"/>
              </a:pPr>
              <a:r>
                <a:rPr lang="en-US" altLang="zh-CN" sz="1000" dirty="0" err="1">
                  <a:solidFill>
                    <a:srgbClr val="696A6C"/>
                  </a:solidFill>
                  <a:highlight>
                    <a:srgbClr val="FFFF00"/>
                  </a:highlight>
                  <a:latin typeface="Audi Type" panose="020B0503040202060203" pitchFamily="34" charset="0"/>
                  <a:ea typeface="微软雅黑" panose="020B0503020204020204" pitchFamily="34" charset="-122"/>
                  <a:cs typeface="Audi Type" panose="020B0503040202060203" pitchFamily="34" charset="0"/>
                </a:rPr>
                <a:t>Suppliermanagement</a:t>
              </a:r>
              <a:endParaRPr lang="en-US" altLang="zh-CN" sz="1000" dirty="0">
                <a:solidFill>
                  <a:srgbClr val="696A6C"/>
                </a:solidFill>
                <a:highlight>
                  <a:srgbClr val="FFFF00"/>
                </a:highlight>
                <a:latin typeface="Audi Type" panose="020B0503040202060203" pitchFamily="34" charset="0"/>
                <a:ea typeface="微软雅黑" panose="020B0503020204020204" pitchFamily="34" charset="-122"/>
                <a:cs typeface="Audi Type" panose="020B0503040202060203" pitchFamily="34" charset="0"/>
              </a:endParaRPr>
            </a:p>
            <a:p>
              <a:pPr>
                <a:lnSpc>
                  <a:spcPts val="1400"/>
                </a:lnSpc>
              </a:pPr>
              <a:r>
                <a:rPr lang="en-US" altLang="zh-CN" sz="800" dirty="0">
                  <a:highlight>
                    <a:srgbClr val="FFFF00"/>
                  </a:highlight>
                  <a:latin typeface="Audi Type" panose="020B0503040202060203" pitchFamily="34" charset="0"/>
                  <a:ea typeface="微软雅黑" panose="020B0503020204020204" pitchFamily="34" charset="-122"/>
                  <a:cs typeface="Audi Type" panose="020B0503040202060203" pitchFamily="34" charset="0"/>
                </a:rPr>
                <a:t>Improveproduction&amp;deliverycapacity,SupplierKPIassessment,Supportsuppliertolaunch</a:t>
              </a:r>
            </a:p>
            <a:p>
              <a:pPr>
                <a:lnSpc>
                  <a:spcPts val="1400"/>
                </a:lnSpc>
              </a:pPr>
              <a:endParaRPr lang="en-US" altLang="zh-CN" sz="900" dirty="0">
                <a:solidFill>
                  <a:srgbClr val="696A6C"/>
                </a:solidFill>
                <a:highlight>
                  <a:srgbClr val="FFFF00"/>
                </a:highlight>
                <a:latin typeface="Audi Type" panose="020B0503040202060203" pitchFamily="34" charset="0"/>
                <a:ea typeface="微软雅黑" panose="020B0503020204020204" pitchFamily="34" charset="-122"/>
                <a:cs typeface="Audi Type" panose="020B0503040202060203" pitchFamily="34" charset="0"/>
              </a:endParaRPr>
            </a:p>
            <a:p>
              <a:pPr marL="171450" indent="-171450">
                <a:lnSpc>
                  <a:spcPts val="1400"/>
                </a:lnSpc>
                <a:buFontTx/>
                <a:buChar char="-"/>
              </a:pPr>
              <a:r>
                <a:rPr lang="en-US" altLang="zh-CN" sz="1000" dirty="0" err="1">
                  <a:solidFill>
                    <a:srgbClr val="696A6C"/>
                  </a:solidFill>
                  <a:highlight>
                    <a:srgbClr val="FFFF00"/>
                  </a:highlight>
                  <a:latin typeface="Audi Type" panose="020B0503040202060203" pitchFamily="34" charset="0"/>
                  <a:ea typeface="微软雅黑" panose="020B0503020204020204" pitchFamily="34" charset="-122"/>
                  <a:cs typeface="Audi Type" panose="020B0503040202060203" pitchFamily="34" charset="0"/>
                </a:rPr>
                <a:t>Lecturer&amp;Knowledgemanagement</a:t>
              </a:r>
              <a:endParaRPr lang="en-US" altLang="zh-CN" sz="1000" dirty="0">
                <a:solidFill>
                  <a:srgbClr val="696A6C"/>
                </a:solidFill>
                <a:highlight>
                  <a:srgbClr val="FFFF00"/>
                </a:highlight>
                <a:latin typeface="Audi Type" panose="020B0503040202060203" pitchFamily="34" charset="0"/>
                <a:ea typeface="微软雅黑" panose="020B0503020204020204" pitchFamily="34" charset="-122"/>
                <a:cs typeface="Audi Type" panose="020B0503040202060203" pitchFamily="34" charset="0"/>
              </a:endParaRPr>
            </a:p>
            <a:p>
              <a:pPr>
                <a:lnSpc>
                  <a:spcPts val="1400"/>
                </a:lnSpc>
              </a:pPr>
              <a:r>
                <a:rPr lang="en-US" altLang="zh-CN" sz="800" dirty="0" err="1">
                  <a:highlight>
                    <a:srgbClr val="FFFF00"/>
                  </a:highlight>
                  <a:latin typeface="Audi Type" panose="020B0503040202060203" pitchFamily="34" charset="0"/>
                  <a:ea typeface="微软雅黑" panose="020B0503020204020204" pitchFamily="34" charset="-122"/>
                  <a:cs typeface="Audi Type" panose="020B0503040202060203" pitchFamily="34" charset="0"/>
                </a:rPr>
                <a:t>Makethefocusofworkintocoursewareandtraintrainees</a:t>
              </a:r>
              <a:endParaRPr lang="en-US" altLang="zh-CN" sz="800" dirty="0">
                <a:highlight>
                  <a:srgbClr val="FFFF00"/>
                </a:highlight>
                <a:latin typeface="Audi Type" panose="020B0503040202060203" pitchFamily="34" charset="0"/>
                <a:ea typeface="微软雅黑" panose="020B0503020204020204" pitchFamily="34" charset="-122"/>
                <a:cs typeface="Audi Type" panose="020B0503040202060203" pitchFamily="34" charset="0"/>
              </a:endParaRPr>
            </a:p>
            <a:p>
              <a:pPr>
                <a:lnSpc>
                  <a:spcPts val="1400"/>
                </a:lnSpc>
              </a:pPr>
              <a:endParaRPr lang="en-US" altLang="zh-CN" sz="1000" dirty="0">
                <a:solidFill>
                  <a:srgbClr val="696A6C"/>
                </a:solidFill>
                <a:highlight>
                  <a:srgbClr val="FFFF00"/>
                </a:highlight>
                <a:latin typeface="Audi Type" panose="020B0503040202060203" pitchFamily="34" charset="0"/>
                <a:ea typeface="微软雅黑" panose="020B0503020204020204" pitchFamily="34" charset="-122"/>
                <a:cs typeface="Audi Type" panose="020B0503040202060203" pitchFamily="34" charset="0"/>
              </a:endParaRPr>
            </a:p>
          </p:txBody>
        </p:sp>
      </p:grpSp>
      <p:grpSp>
        <p:nvGrpSpPr>
          <p:cNvPr id="29" name="Working experience">
            <a:extLst>
              <a:ext uri="{FF2B5EF4-FFF2-40B4-BE49-F238E27FC236}">
                <a16:creationId xmlns:a16="http://schemas.microsoft.com/office/drawing/2014/main" id="{923AA6E9-D219-3235-86F4-00231B7ECB13}"/>
              </a:ext>
            </a:extLst>
          </p:cNvPr>
          <p:cNvGrpSpPr/>
          <p:nvPr/>
        </p:nvGrpSpPr>
        <p:grpSpPr>
          <a:xfrm>
            <a:off x="2711091" y="2725298"/>
            <a:ext cx="4044192" cy="7315681"/>
            <a:chOff x="2645366" y="2083993"/>
            <a:chExt cx="4044192" cy="6661585"/>
          </a:xfrm>
        </p:grpSpPr>
        <p:sp>
          <p:nvSpPr>
            <p:cNvPr id="9" name="平行四边形 8">
              <a:extLst>
                <a:ext uri="{FF2B5EF4-FFF2-40B4-BE49-F238E27FC236}">
                  <a16:creationId xmlns:a16="http://schemas.microsoft.com/office/drawing/2014/main" id="{8E5A3D6E-BD0D-3FE7-1698-AB09E8916B10}"/>
                </a:ext>
              </a:extLst>
            </p:cNvPr>
            <p:cNvSpPr/>
            <p:nvPr/>
          </p:nvSpPr>
          <p:spPr>
            <a:xfrm>
              <a:off x="2686869" y="2083993"/>
              <a:ext cx="2184851" cy="220134"/>
            </a:xfrm>
            <a:prstGeom prst="parallelogram">
              <a:avLst/>
            </a:prstGeom>
            <a:solidFill>
              <a:srgbClr val="9EA1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err="1">
                  <a:latin typeface="Audi Type" panose="020B0503040202060203" pitchFamily="34" charset="0"/>
                  <a:ea typeface="微软雅黑" panose="020B0503020204020204" pitchFamily="34" charset="-122"/>
                  <a:cs typeface="Audi Type" panose="020B0503040202060203" pitchFamily="34" charset="0"/>
                </a:rPr>
                <a:t>Workingexperience</a:t>
              </a:r>
              <a:endParaRPr lang="zh-CN" altLang="en-US" sz="1100" dirty="0">
                <a:latin typeface="Audi Type" panose="020B0503040202060203" pitchFamily="34" charset="0"/>
                <a:ea typeface="微软雅黑" panose="020B0503020204020204" pitchFamily="34" charset="-122"/>
                <a:cs typeface="Audi Type" panose="020B0503040202060203" pitchFamily="34" charset="0"/>
              </a:endParaRPr>
            </a:p>
          </p:txBody>
        </p:sp>
        <p:sp>
          <p:nvSpPr>
            <p:cNvPr id="20" name="文本框 19">
              <a:extLst>
                <a:ext uri="{FF2B5EF4-FFF2-40B4-BE49-F238E27FC236}">
                  <a16:creationId xmlns:a16="http://schemas.microsoft.com/office/drawing/2014/main" id="{68095A53-EEFC-300B-ACB3-A5EBF9F0CD21}"/>
                </a:ext>
              </a:extLst>
            </p:cNvPr>
            <p:cNvSpPr txBox="1"/>
            <p:nvPr/>
          </p:nvSpPr>
          <p:spPr>
            <a:xfrm>
              <a:off x="2645366" y="2287494"/>
              <a:ext cx="4044192" cy="6458084"/>
            </a:xfrm>
            <a:prstGeom prst="rect">
              <a:avLst/>
            </a:prstGeom>
            <a:noFill/>
          </p:spPr>
          <p:txBody>
            <a:bodyPr wrap="square" rtlCol="0">
              <a:spAutoFit/>
            </a:bodyPr>
            <a:lstStyle/>
            <a:p>
              <a:pPr>
                <a:lnSpc>
                  <a:spcPts val="1740"/>
                </a:lnSpc>
              </a:pPr>
              <a:r>
                <a:rPr lang="en-US" altLang="zh-CN" sz="1000" b="1" dirty="0">
                  <a:solidFill>
                    <a:srgbClr val="9EA1A2"/>
                  </a:solidFill>
                  <a:highlight>
                    <a:srgbClr val="FFFF00"/>
                  </a:highlight>
                  <a:latin typeface="Audi Type" panose="020B0503040202060203" pitchFamily="34" charset="0"/>
                  <a:ea typeface="微软雅黑" panose="020B0503020204020204" pitchFamily="34" charset="-122"/>
                  <a:cs typeface="Audi Type" panose="020B0503040202060203" pitchFamily="34" charset="0"/>
                </a:rPr>
                <a:t>2022/</a:t>
              </a:r>
              <a:r>
                <a:rPr lang="en-US" altLang="zh-CN" sz="1000" b="1" dirty="0" err="1">
                  <a:solidFill>
                    <a:srgbClr val="9EA1A2"/>
                  </a:solidFill>
                  <a:highlight>
                    <a:srgbClr val="FFFF00"/>
                  </a:highlight>
                  <a:latin typeface="Audi Type" panose="020B0503040202060203" pitchFamily="34" charset="0"/>
                  <a:ea typeface="微软雅黑" panose="020B0503020204020204" pitchFamily="34" charset="-122"/>
                  <a:cs typeface="Audi Type" panose="020B0503040202060203" pitchFamily="34" charset="0"/>
                </a:rPr>
                <a:t>May~NowAudiChinaSupplyChainGreatAsia</a:t>
              </a:r>
              <a:endParaRPr lang="en-US" altLang="zh-CN" sz="1000" b="1" dirty="0">
                <a:solidFill>
                  <a:srgbClr val="9EA1A2"/>
                </a:solidFill>
                <a:highlight>
                  <a:srgbClr val="FFFF00"/>
                </a:highlight>
                <a:latin typeface="Audi Type" panose="020B0503040202060203" pitchFamily="34" charset="0"/>
                <a:ea typeface="微软雅黑" panose="020B0503020204020204" pitchFamily="34" charset="-122"/>
                <a:cs typeface="Audi Type" panose="020B0503040202060203" pitchFamily="34" charset="0"/>
              </a:endParaRPr>
            </a:p>
            <a:p>
              <a:pPr>
                <a:lnSpc>
                  <a:spcPts val="1740"/>
                </a:lnSpc>
              </a:pPr>
              <a:r>
                <a:rPr lang="en-US" altLang="zh-CN" sz="1000" b="1" i="1" dirty="0">
                  <a:solidFill>
                    <a:srgbClr val="9EA1A2"/>
                  </a:solidFill>
                  <a:highlight>
                    <a:srgbClr val="FFFF00"/>
                  </a:highlight>
                  <a:latin typeface="Audi Type" panose="020B0503040202060203" pitchFamily="34" charset="0"/>
                  <a:ea typeface="微软雅黑" panose="020B0503020204020204" pitchFamily="34" charset="-122"/>
                  <a:cs typeface="Audi Type" panose="020B0503040202060203" pitchFamily="34" charset="0"/>
                </a:rPr>
                <a:t>	</a:t>
              </a:r>
              <a:r>
                <a:rPr lang="en-US" altLang="zh-CN" sz="1000" i="1" dirty="0" err="1">
                  <a:solidFill>
                    <a:srgbClr val="696A6C"/>
                  </a:solidFill>
                  <a:highlight>
                    <a:srgbClr val="FFFF00"/>
                  </a:highlight>
                  <a:latin typeface="Audi Type" panose="020B0503040202060203" pitchFamily="34" charset="0"/>
                  <a:ea typeface="微软雅黑" panose="020B0503020204020204" pitchFamily="34" charset="-122"/>
                  <a:cs typeface="Audi Type" panose="020B0503040202060203" pitchFamily="34" charset="0"/>
                </a:rPr>
                <a:t>SupplyChainAuditor</a:t>
              </a:r>
              <a:r>
                <a:rPr lang="en-US" altLang="zh-CN" sz="1000" i="1" dirty="0">
                  <a:solidFill>
                    <a:srgbClr val="696A6C"/>
                  </a:solidFill>
                  <a:highlight>
                    <a:srgbClr val="FFFF00"/>
                  </a:highlight>
                  <a:latin typeface="Audi Type" panose="020B0503040202060203" pitchFamily="34" charset="0"/>
                  <a:ea typeface="微软雅黑" panose="020B0503020204020204" pitchFamily="34" charset="-122"/>
                  <a:cs typeface="Audi Type" panose="020B0503040202060203" pitchFamily="34" charset="0"/>
                </a:rPr>
                <a:t>/Planner</a:t>
              </a:r>
              <a:endParaRPr lang="en-US" altLang="zh-CN" sz="1000" b="1" dirty="0">
                <a:solidFill>
                  <a:srgbClr val="696A6C"/>
                </a:solidFill>
                <a:highlight>
                  <a:srgbClr val="FFFF00"/>
                </a:highlight>
                <a:latin typeface="Audi Type" panose="020B0503040202060203" pitchFamily="34" charset="0"/>
                <a:ea typeface="微软雅黑" panose="020B0503020204020204" pitchFamily="34" charset="-122"/>
                <a:cs typeface="Audi Type" panose="020B0503040202060203" pitchFamily="34" charset="0"/>
              </a:endParaRPr>
            </a:p>
            <a:p>
              <a:pPr marL="171450" indent="-171450">
                <a:lnSpc>
                  <a:spcPct val="150000"/>
                </a:lnSpc>
                <a:buFontTx/>
                <a:buChar char="-"/>
              </a:pPr>
              <a:r>
                <a:rPr lang="en-US" altLang="zh-CN" sz="800" kern="100" dirty="0">
                  <a:highlight>
                    <a:srgbClr val="FFFF00"/>
                  </a:highlight>
                  <a:latin typeface="Audi Type" panose="020B0503040202060203" pitchFamily="34" charset="0"/>
                  <a:ea typeface="Microsoft YaHei" panose="020B0503020204020204" pitchFamily="34" charset="-122"/>
                  <a:cs typeface="Audi Type" panose="020B0503040202060203" pitchFamily="34" charset="0"/>
                </a:rPr>
                <a:t>ConductingSupplyChianprocessauditofpotentialsuppliers.Asanauditor,auditpotentialsuppliersfornewprojectsbasedontheVolkswagenGroup'ssupplieradmissionstrategy.Thisprocessmustcovertheentireflowofinformationandphysicalgoods,systemoperations,organizationalstructure,supplychainriskmanagement,logisticsserviceprovideroperations,andotherrelatedcontent.Theauditresultswillserveasaprerequisiteconditionforthenewsupplierprojectallocation,uploadedtotherelevantsystemsoftheVolkswagenGroup.MainlyresponsibleforAudibrandbusiness,whilealsoservicingotherbrandsoftheVolkswagenGroup(</a:t>
              </a:r>
              <a:r>
                <a:rPr lang="en-US" altLang="zh-CN" sz="800" kern="100" dirty="0" err="1">
                  <a:highlight>
                    <a:srgbClr val="FFFF00"/>
                  </a:highlight>
                  <a:latin typeface="Audi Type" panose="020B0503040202060203" pitchFamily="34" charset="0"/>
                  <a:ea typeface="Microsoft YaHei" panose="020B0503020204020204" pitchFamily="34" charset="-122"/>
                  <a:cs typeface="Audi Type" panose="020B0503040202060203" pitchFamily="34" charset="0"/>
                </a:rPr>
                <a:t>suchasPorsche,Lamborghini,VolkswagenBatteryPowerCo,etc</a:t>
              </a:r>
              <a:r>
                <a:rPr lang="en-US" altLang="zh-CN" sz="800" kern="100" dirty="0">
                  <a:highlight>
                    <a:srgbClr val="FFFF00"/>
                  </a:highlight>
                  <a:latin typeface="Audi Type" panose="020B0503040202060203" pitchFamily="34" charset="0"/>
                  <a:ea typeface="Microsoft YaHei" panose="020B0503020204020204" pitchFamily="34" charset="-122"/>
                  <a:cs typeface="Audi Type" panose="020B0503040202060203" pitchFamily="34" charset="0"/>
                </a:rPr>
                <a:t>.).Theauditexperiencecovers100automotivepartssuppliersintheAsia-Pacificregion,including:Lenovo(China/</a:t>
              </a:r>
              <a:r>
                <a:rPr lang="en-US" altLang="zh-CN" sz="800" kern="100" dirty="0" err="1">
                  <a:highlight>
                    <a:srgbClr val="FFFF00"/>
                  </a:highlight>
                  <a:latin typeface="Audi Type" panose="020B0503040202060203" pitchFamily="34" charset="0"/>
                  <a:ea typeface="Microsoft YaHei" panose="020B0503020204020204" pitchFamily="34" charset="-122"/>
                  <a:cs typeface="Audi Type" panose="020B0503040202060203" pitchFamily="34" charset="0"/>
                </a:rPr>
                <a:t>vehicleelectronicsystems</a:t>
              </a:r>
              <a:r>
                <a:rPr lang="en-US" altLang="zh-CN" sz="800" kern="100" dirty="0">
                  <a:highlight>
                    <a:srgbClr val="FFFF00"/>
                  </a:highlight>
                  <a:latin typeface="Audi Type" panose="020B0503040202060203" pitchFamily="34" charset="0"/>
                  <a:ea typeface="Microsoft YaHei" panose="020B0503020204020204" pitchFamily="34" charset="-122"/>
                  <a:cs typeface="Audi Type" panose="020B0503040202060203" pitchFamily="34" charset="0"/>
                </a:rPr>
                <a:t>),LG(</a:t>
              </a:r>
              <a:r>
                <a:rPr lang="en-US" altLang="zh-CN" sz="800" kern="100" dirty="0" err="1">
                  <a:highlight>
                    <a:srgbClr val="FFFF00"/>
                  </a:highlight>
                  <a:latin typeface="Audi Type" panose="020B0503040202060203" pitchFamily="34" charset="0"/>
                  <a:ea typeface="Microsoft YaHei" panose="020B0503020204020204" pitchFamily="34" charset="-122"/>
                  <a:cs typeface="Audi Type" panose="020B0503040202060203" pitchFamily="34" charset="0"/>
                </a:rPr>
                <a:t>SouthKorea</a:t>
              </a:r>
              <a:r>
                <a:rPr lang="en-US" altLang="zh-CN" sz="800" kern="100" dirty="0">
                  <a:highlight>
                    <a:srgbClr val="FFFF00"/>
                  </a:highlight>
                  <a:latin typeface="Audi Type" panose="020B0503040202060203" pitchFamily="34" charset="0"/>
                  <a:ea typeface="Microsoft YaHei" panose="020B0503020204020204" pitchFamily="34" charset="-122"/>
                  <a:cs typeface="Audi Type" panose="020B0503040202060203" pitchFamily="34" charset="0"/>
                </a:rPr>
                <a:t>/</a:t>
              </a:r>
              <a:r>
                <a:rPr lang="en-US" altLang="zh-CN" sz="800" kern="100" dirty="0" err="1">
                  <a:highlight>
                    <a:srgbClr val="FFFF00"/>
                  </a:highlight>
                  <a:latin typeface="Audi Type" panose="020B0503040202060203" pitchFamily="34" charset="0"/>
                  <a:ea typeface="Microsoft YaHei" panose="020B0503020204020204" pitchFamily="34" charset="-122"/>
                  <a:cs typeface="Audi Type" panose="020B0503040202060203" pitchFamily="34" charset="0"/>
                </a:rPr>
                <a:t>batterycomponents</a:t>
              </a:r>
              <a:r>
                <a:rPr lang="en-US" altLang="zh-CN" sz="800" kern="100" dirty="0">
                  <a:highlight>
                    <a:srgbClr val="FFFF00"/>
                  </a:highlight>
                  <a:latin typeface="Audi Type" panose="020B0503040202060203" pitchFamily="34" charset="0"/>
                  <a:ea typeface="Microsoft YaHei" panose="020B0503020204020204" pitchFamily="34" charset="-122"/>
                  <a:cs typeface="Audi Type" panose="020B0503040202060203" pitchFamily="34" charset="0"/>
                </a:rPr>
                <a:t>),</a:t>
              </a:r>
              <a:r>
                <a:rPr lang="en-US" altLang="zh-CN" sz="800" kern="100" dirty="0" err="1">
                  <a:highlight>
                    <a:srgbClr val="FFFF00"/>
                  </a:highlight>
                  <a:latin typeface="Audi Type" panose="020B0503040202060203" pitchFamily="34" charset="0"/>
                  <a:ea typeface="Microsoft YaHei" panose="020B0503020204020204" pitchFamily="34" charset="-122"/>
                  <a:cs typeface="Audi Type" panose="020B0503040202060203" pitchFamily="34" charset="0"/>
                </a:rPr>
                <a:t>DaTongMetal</a:t>
              </a:r>
              <a:r>
                <a:rPr lang="en-US" altLang="zh-CN" sz="800" kern="100" dirty="0">
                  <a:highlight>
                    <a:srgbClr val="FFFF00"/>
                  </a:highlight>
                  <a:latin typeface="Audi Type" panose="020B0503040202060203" pitchFamily="34" charset="0"/>
                  <a:ea typeface="Microsoft YaHei" panose="020B0503020204020204" pitchFamily="34" charset="-122"/>
                  <a:cs typeface="Audi Type" panose="020B0503040202060203" pitchFamily="34" charset="0"/>
                </a:rPr>
                <a:t>(Japan/</a:t>
              </a:r>
              <a:r>
                <a:rPr lang="en-US" altLang="zh-CN" sz="800" kern="100" dirty="0" err="1">
                  <a:highlight>
                    <a:srgbClr val="FFFF00"/>
                  </a:highlight>
                  <a:latin typeface="Audi Type" panose="020B0503040202060203" pitchFamily="34" charset="0"/>
                  <a:ea typeface="Microsoft YaHei" panose="020B0503020204020204" pitchFamily="34" charset="-122"/>
                  <a:cs typeface="Audi Type" panose="020B0503040202060203" pitchFamily="34" charset="0"/>
                </a:rPr>
                <a:t>automotivemetalcomponents</a:t>
              </a:r>
              <a:r>
                <a:rPr lang="en-US" altLang="zh-CN" sz="800" kern="100" dirty="0">
                  <a:highlight>
                    <a:srgbClr val="FFFF00"/>
                  </a:highlight>
                  <a:latin typeface="Audi Type" panose="020B0503040202060203" pitchFamily="34" charset="0"/>
                  <a:ea typeface="Microsoft YaHei" panose="020B0503020204020204" pitchFamily="34" charset="-122"/>
                  <a:cs typeface="Audi Type" panose="020B0503040202060203" pitchFamily="34" charset="0"/>
                </a:rPr>
                <a:t>),etc.</a:t>
              </a:r>
            </a:p>
            <a:p>
              <a:pPr>
                <a:lnSpc>
                  <a:spcPts val="1740"/>
                </a:lnSpc>
              </a:pPr>
              <a:endParaRPr lang="en-US" altLang="zh-CN" sz="1000" b="1" dirty="0">
                <a:solidFill>
                  <a:srgbClr val="696A6C"/>
                </a:solidFill>
                <a:highlight>
                  <a:srgbClr val="FFFF00"/>
                </a:highlight>
                <a:latin typeface="Audi Type" panose="020B0503040202060203" pitchFamily="34" charset="0"/>
                <a:ea typeface="微软雅黑" panose="020B0503020204020204" pitchFamily="34" charset="-122"/>
                <a:cs typeface="Audi Type" panose="020B0503040202060203" pitchFamily="34" charset="0"/>
              </a:endParaRPr>
            </a:p>
            <a:p>
              <a:pPr>
                <a:lnSpc>
                  <a:spcPts val="1740"/>
                </a:lnSpc>
              </a:pPr>
              <a:endParaRPr lang="en-US" altLang="zh-CN" sz="1000" b="1" dirty="0">
                <a:solidFill>
                  <a:srgbClr val="696A6C"/>
                </a:solidFill>
                <a:highlight>
                  <a:srgbClr val="FFFF00"/>
                </a:highlight>
                <a:latin typeface="Audi Type" panose="020B0503040202060203" pitchFamily="34" charset="0"/>
                <a:ea typeface="微软雅黑" panose="020B0503020204020204" pitchFamily="34" charset="-122"/>
                <a:cs typeface="Audi Type" panose="020B0503040202060203" pitchFamily="34" charset="0"/>
              </a:endParaRPr>
            </a:p>
            <a:p>
              <a:pPr>
                <a:lnSpc>
                  <a:spcPts val="1740"/>
                </a:lnSpc>
              </a:pPr>
              <a:endParaRPr lang="en-US" altLang="zh-CN" sz="1000" b="1" dirty="0">
                <a:solidFill>
                  <a:srgbClr val="696A6C"/>
                </a:solidFill>
                <a:highlight>
                  <a:srgbClr val="FFFF00"/>
                </a:highlight>
                <a:latin typeface="Audi Type" panose="020B0503040202060203" pitchFamily="34" charset="0"/>
                <a:ea typeface="微软雅黑" panose="020B0503020204020204" pitchFamily="34" charset="-122"/>
                <a:cs typeface="Audi Type" panose="020B0503040202060203" pitchFamily="34" charset="0"/>
              </a:endParaRPr>
            </a:p>
            <a:p>
              <a:pPr>
                <a:lnSpc>
                  <a:spcPts val="1740"/>
                </a:lnSpc>
              </a:pPr>
              <a:endParaRPr lang="en-US" altLang="zh-CN" sz="1000" b="1" dirty="0">
                <a:solidFill>
                  <a:srgbClr val="696A6C"/>
                </a:solidFill>
                <a:highlight>
                  <a:srgbClr val="FFFF00"/>
                </a:highlight>
                <a:latin typeface="Audi Type" panose="020B0503040202060203" pitchFamily="34" charset="0"/>
                <a:ea typeface="微软雅黑" panose="020B0503020204020204" pitchFamily="34" charset="-122"/>
                <a:cs typeface="Audi Type" panose="020B0503040202060203" pitchFamily="34" charset="0"/>
              </a:endParaRPr>
            </a:p>
            <a:p>
              <a:pPr>
                <a:lnSpc>
                  <a:spcPts val="1740"/>
                </a:lnSpc>
              </a:pPr>
              <a:endParaRPr lang="en-US" altLang="zh-CN" sz="1000" b="1" dirty="0">
                <a:solidFill>
                  <a:srgbClr val="696A6C"/>
                </a:solidFill>
                <a:highlight>
                  <a:srgbClr val="FFFF00"/>
                </a:highlight>
                <a:latin typeface="Audi Type" panose="020B0503040202060203" pitchFamily="34" charset="0"/>
                <a:ea typeface="微软雅黑" panose="020B0503020204020204" pitchFamily="34" charset="-122"/>
                <a:cs typeface="Audi Type" panose="020B0503040202060203" pitchFamily="34" charset="0"/>
              </a:endParaRPr>
            </a:p>
            <a:p>
              <a:pPr>
                <a:lnSpc>
                  <a:spcPts val="1740"/>
                </a:lnSpc>
              </a:pPr>
              <a:endParaRPr lang="en-US" altLang="zh-CN" sz="1000" b="1" dirty="0">
                <a:solidFill>
                  <a:srgbClr val="696A6C"/>
                </a:solidFill>
                <a:highlight>
                  <a:srgbClr val="FFFF00"/>
                </a:highlight>
                <a:latin typeface="Audi Type" panose="020B0503040202060203" pitchFamily="34" charset="0"/>
                <a:ea typeface="微软雅黑" panose="020B0503020204020204" pitchFamily="34" charset="-122"/>
                <a:cs typeface="Audi Type" panose="020B0503040202060203" pitchFamily="34" charset="0"/>
              </a:endParaRPr>
            </a:p>
            <a:p>
              <a:pPr>
                <a:lnSpc>
                  <a:spcPts val="1740"/>
                </a:lnSpc>
              </a:pPr>
              <a:endParaRPr lang="en-US" altLang="zh-CN" sz="1000" b="1" dirty="0">
                <a:solidFill>
                  <a:srgbClr val="696A6C"/>
                </a:solidFill>
                <a:highlight>
                  <a:srgbClr val="FFFF00"/>
                </a:highlight>
                <a:latin typeface="Audi Type" panose="020B0503040202060203" pitchFamily="34" charset="0"/>
                <a:ea typeface="微软雅黑" panose="020B0503020204020204" pitchFamily="34" charset="-122"/>
                <a:cs typeface="Audi Type" panose="020B0503040202060203" pitchFamily="34" charset="0"/>
              </a:endParaRPr>
            </a:p>
            <a:p>
              <a:pPr>
                <a:lnSpc>
                  <a:spcPts val="1740"/>
                </a:lnSpc>
              </a:pPr>
              <a:endParaRPr lang="en-US" altLang="zh-CN" sz="1000" b="1" dirty="0">
                <a:solidFill>
                  <a:srgbClr val="696A6C"/>
                </a:solidFill>
                <a:highlight>
                  <a:srgbClr val="FFFF00"/>
                </a:highlight>
                <a:latin typeface="Audi Type" panose="020B0503040202060203" pitchFamily="34" charset="0"/>
                <a:ea typeface="微软雅黑" panose="020B0503020204020204" pitchFamily="34" charset="-122"/>
                <a:cs typeface="Audi Type" panose="020B0503040202060203" pitchFamily="34" charset="0"/>
              </a:endParaRPr>
            </a:p>
            <a:p>
              <a:pPr>
                <a:lnSpc>
                  <a:spcPts val="1740"/>
                </a:lnSpc>
              </a:pPr>
              <a:endParaRPr lang="en-US" altLang="zh-CN" sz="1000" b="1" dirty="0">
                <a:solidFill>
                  <a:srgbClr val="696A6C"/>
                </a:solidFill>
                <a:highlight>
                  <a:srgbClr val="FFFF00"/>
                </a:highlight>
                <a:latin typeface="Audi Type" panose="020B0503040202060203" pitchFamily="34" charset="0"/>
                <a:ea typeface="微软雅黑" panose="020B0503020204020204" pitchFamily="34" charset="-122"/>
                <a:cs typeface="Audi Type" panose="020B0503040202060203" pitchFamily="34" charset="0"/>
              </a:endParaRPr>
            </a:p>
            <a:p>
              <a:pPr>
                <a:lnSpc>
                  <a:spcPts val="1740"/>
                </a:lnSpc>
              </a:pPr>
              <a:r>
                <a:rPr lang="en-US" altLang="zh-CN" sz="1000" b="1" dirty="0">
                  <a:solidFill>
                    <a:srgbClr val="9EA1A2"/>
                  </a:solidFill>
                  <a:highlight>
                    <a:srgbClr val="FFFF00"/>
                  </a:highlight>
                  <a:latin typeface="Audi Type" panose="020B0503040202060203" pitchFamily="34" charset="0"/>
                  <a:ea typeface="微软雅黑" panose="020B0503020204020204" pitchFamily="34" charset="-122"/>
                  <a:cs typeface="Audi Type" panose="020B0503040202060203" pitchFamily="34" charset="0"/>
                </a:rPr>
                <a:t>2006/Feb.~2022/</a:t>
              </a:r>
              <a:r>
                <a:rPr lang="en-US" altLang="zh-CN" sz="1000" b="1" dirty="0" err="1">
                  <a:solidFill>
                    <a:srgbClr val="9EA1A2"/>
                  </a:solidFill>
                  <a:highlight>
                    <a:srgbClr val="FFFF00"/>
                  </a:highlight>
                  <a:latin typeface="Audi Type" panose="020B0503040202060203" pitchFamily="34" charset="0"/>
                  <a:ea typeface="微软雅黑" panose="020B0503020204020204" pitchFamily="34" charset="-122"/>
                  <a:cs typeface="Audi Type" panose="020B0503040202060203" pitchFamily="34" charset="0"/>
                </a:rPr>
                <a:t>MayShanghaiVolkswagenPowertrain</a:t>
              </a:r>
              <a:r>
                <a:rPr lang="en-US" altLang="zh-CN" sz="1000" b="1" dirty="0">
                  <a:solidFill>
                    <a:srgbClr val="9EA1A2"/>
                  </a:solidFill>
                  <a:highlight>
                    <a:srgbClr val="FFFF00"/>
                  </a:highlight>
                  <a:latin typeface="Audi Type" panose="020B0503040202060203" pitchFamily="34" charset="0"/>
                  <a:ea typeface="微软雅黑" panose="020B0503020204020204" pitchFamily="34" charset="-122"/>
                  <a:cs typeface="Audi Type" panose="020B0503040202060203" pitchFamily="34" charset="0"/>
                </a:rPr>
                <a:t>			(</a:t>
              </a:r>
              <a:r>
                <a:rPr lang="en-US" altLang="zh-CN" sz="1000" b="1" dirty="0" err="1">
                  <a:solidFill>
                    <a:srgbClr val="9EA1A2"/>
                  </a:solidFill>
                  <a:highlight>
                    <a:srgbClr val="FFFF00"/>
                  </a:highlight>
                  <a:latin typeface="Audi Type" panose="020B0503040202060203" pitchFamily="34" charset="0"/>
                  <a:ea typeface="微软雅黑" panose="020B0503020204020204" pitchFamily="34" charset="-122"/>
                  <a:cs typeface="Audi Type" panose="020B0503040202060203" pitchFamily="34" charset="0"/>
                </a:rPr>
                <a:t>NowSAIC</a:t>
              </a:r>
              <a:r>
                <a:rPr lang="en-US" altLang="zh-CN" sz="1000" b="1" dirty="0">
                  <a:solidFill>
                    <a:srgbClr val="9EA1A2"/>
                  </a:solidFill>
                  <a:highlight>
                    <a:srgbClr val="FFFF00"/>
                  </a:highlight>
                  <a:latin typeface="Audi Type" panose="020B0503040202060203" pitchFamily="34" charset="0"/>
                  <a:ea typeface="微软雅黑" panose="020B0503020204020204" pitchFamily="34" charset="-122"/>
                  <a:cs typeface="Audi Type" panose="020B0503040202060203" pitchFamily="34" charset="0"/>
                </a:rPr>
                <a:t>-VW)</a:t>
              </a:r>
            </a:p>
            <a:p>
              <a:pPr>
                <a:lnSpc>
                  <a:spcPts val="1740"/>
                </a:lnSpc>
              </a:pPr>
              <a:r>
                <a:rPr lang="en-US" altLang="zh-CN" sz="1000" dirty="0">
                  <a:solidFill>
                    <a:srgbClr val="696A6C"/>
                  </a:solidFill>
                  <a:highlight>
                    <a:srgbClr val="FFFF00"/>
                  </a:highlight>
                  <a:latin typeface="Audi Type" panose="020B0503040202060203" pitchFamily="34" charset="0"/>
                  <a:ea typeface="微软雅黑" panose="020B0503020204020204" pitchFamily="34" charset="-122"/>
                  <a:cs typeface="Audi Type" panose="020B0503040202060203" pitchFamily="34" charset="0"/>
                </a:rPr>
                <a:t>2016/Feb.~2022/</a:t>
              </a:r>
              <a:r>
                <a:rPr lang="en-US" altLang="zh-CN" sz="1000" dirty="0" err="1">
                  <a:solidFill>
                    <a:srgbClr val="696A6C"/>
                  </a:solidFill>
                  <a:highlight>
                    <a:srgbClr val="FFFF00"/>
                  </a:highlight>
                  <a:latin typeface="Audi Type" panose="020B0503040202060203" pitchFamily="34" charset="0"/>
                  <a:ea typeface="微软雅黑" panose="020B0503020204020204" pitchFamily="34" charset="-122"/>
                  <a:cs typeface="Audi Type" panose="020B0503040202060203" pitchFamily="34" charset="0"/>
                </a:rPr>
                <a:t>May</a:t>
              </a:r>
              <a:r>
                <a:rPr lang="en-US" altLang="zh-CN" sz="1000" i="1" dirty="0" err="1">
                  <a:solidFill>
                    <a:srgbClr val="696A6C"/>
                  </a:solidFill>
                  <a:highlight>
                    <a:srgbClr val="FFFF00"/>
                  </a:highlight>
                  <a:latin typeface="Audi Type" panose="020B0503040202060203" pitchFamily="34" charset="0"/>
                  <a:ea typeface="微软雅黑" panose="020B0503020204020204" pitchFamily="34" charset="-122"/>
                  <a:cs typeface="Audi Type" panose="020B0503040202060203" pitchFamily="34" charset="0"/>
                </a:rPr>
                <a:t>ExportofS.C.CapacityManagement</a:t>
              </a:r>
              <a:endParaRPr lang="en-US" altLang="zh-CN" sz="1000" i="1" dirty="0">
                <a:solidFill>
                  <a:srgbClr val="696A6C"/>
                </a:solidFill>
                <a:highlight>
                  <a:srgbClr val="FFFF00"/>
                </a:highlight>
                <a:latin typeface="Audi Type" panose="020B0503040202060203" pitchFamily="34" charset="0"/>
                <a:ea typeface="微软雅黑" panose="020B0503020204020204" pitchFamily="34" charset="-122"/>
                <a:cs typeface="Audi Type" panose="020B0503040202060203" pitchFamily="34" charset="0"/>
              </a:endParaRPr>
            </a:p>
            <a:p>
              <a:pPr marL="171450" indent="-171450">
                <a:lnSpc>
                  <a:spcPct val="150000"/>
                </a:lnSpc>
                <a:buFontTx/>
                <a:buChar char="-"/>
              </a:pPr>
              <a:r>
                <a:rPr lang="en-US" altLang="zh-CN" sz="800" kern="100" dirty="0" err="1">
                  <a:highlight>
                    <a:srgbClr val="FFFF00"/>
                  </a:highlight>
                  <a:latin typeface="Audi Type" panose="020B0503040202060203" pitchFamily="34" charset="0"/>
                  <a:ea typeface="Microsoft YaHei" panose="020B0503020204020204" pitchFamily="34" charset="-122"/>
                  <a:cs typeface="Audi Type" panose="020B0503040202060203" pitchFamily="34" charset="0"/>
                </a:rPr>
                <a:t>RepresentingthecompanyintheresourcesallocationofVolkswagenChina</a:t>
              </a:r>
              <a:endParaRPr lang="en-US" altLang="zh-CN" sz="800" kern="100" dirty="0">
                <a:highlight>
                  <a:srgbClr val="FFFF00"/>
                </a:highlight>
                <a:latin typeface="Audi Type" panose="020B0503040202060203" pitchFamily="34" charset="0"/>
                <a:ea typeface="Microsoft YaHei" panose="020B0503020204020204" pitchFamily="34" charset="-122"/>
                <a:cs typeface="Audi Type" panose="020B0503040202060203" pitchFamily="34" charset="0"/>
              </a:endParaRPr>
            </a:p>
            <a:p>
              <a:pPr marL="171450" indent="-171450">
                <a:lnSpc>
                  <a:spcPct val="150000"/>
                </a:lnSpc>
                <a:buFontTx/>
                <a:buChar char="-"/>
              </a:pPr>
              <a:r>
                <a:rPr lang="en-US" altLang="zh-CN" sz="800" kern="100" dirty="0">
                  <a:highlight>
                    <a:srgbClr val="FFFF00"/>
                  </a:highlight>
                  <a:latin typeface="Audi Type" panose="020B0503040202060203" pitchFamily="34" charset="0"/>
                  <a:ea typeface="Microsoft YaHei" panose="020B0503020204020204" pitchFamily="34" charset="-122"/>
                  <a:cs typeface="Audi Type" panose="020B0503040202060203" pitchFamily="34" charset="0"/>
                </a:rPr>
                <a:t>Foresee,analysisandsummarizethesupplyrisks,andformulatesolutionstoensureseriesproduction.Ithasbeenfor5+continuallyyearstoensurethatnosupplychainissuesaffecttheseriesproduction.</a:t>
              </a:r>
            </a:p>
            <a:p>
              <a:pPr marL="171450" indent="-171450">
                <a:lnSpc>
                  <a:spcPct val="150000"/>
                </a:lnSpc>
                <a:buFontTx/>
                <a:buChar char="-"/>
              </a:pPr>
              <a:r>
                <a:rPr lang="en-US" altLang="zh-CN" sz="800" kern="100" dirty="0" err="1">
                  <a:highlight>
                    <a:srgbClr val="FFFF00"/>
                  </a:highlight>
                  <a:latin typeface="Audi Type" panose="020B0503040202060203" pitchFamily="34" charset="0"/>
                  <a:ea typeface="Microsoft YaHei" panose="020B0503020204020204" pitchFamily="34" charset="-122"/>
                  <a:cs typeface="Audi Type" panose="020B0503040202060203" pitchFamily="34" charset="0"/>
                </a:rPr>
                <a:t>Assistthesupplier’sproductionlaunchofnewprojects</a:t>
              </a:r>
              <a:r>
                <a:rPr lang="en-US" altLang="zh-CN" sz="800" kern="100" dirty="0">
                  <a:highlight>
                    <a:srgbClr val="FFFF00"/>
                  </a:highlight>
                  <a:latin typeface="Audi Type" panose="020B0503040202060203" pitchFamily="34" charset="0"/>
                  <a:ea typeface="Microsoft YaHei" panose="020B0503020204020204" pitchFamily="34" charset="-122"/>
                  <a:cs typeface="Audi Type" panose="020B0503040202060203" pitchFamily="34" charset="0"/>
                </a:rPr>
                <a:t>.</a:t>
              </a:r>
            </a:p>
            <a:p>
              <a:pPr>
                <a:lnSpc>
                  <a:spcPts val="1740"/>
                </a:lnSpc>
              </a:pPr>
              <a:r>
                <a:rPr lang="en-US" altLang="zh-CN" sz="1000" dirty="0">
                  <a:solidFill>
                    <a:srgbClr val="696A6C"/>
                  </a:solidFill>
                  <a:highlight>
                    <a:srgbClr val="FFFF00"/>
                  </a:highlight>
                  <a:latin typeface="Audi Type" panose="020B0503040202060203" pitchFamily="34" charset="0"/>
                  <a:ea typeface="微软雅黑" panose="020B0503020204020204" pitchFamily="34" charset="-122"/>
                  <a:cs typeface="Audi Type" panose="020B0503040202060203" pitchFamily="34" charset="0"/>
                </a:rPr>
                <a:t>2006/Jul.</a:t>
              </a:r>
              <a:r>
                <a:rPr lang="zh-CN" altLang="en-US" sz="1000" dirty="0">
                  <a:solidFill>
                    <a:srgbClr val="696A6C"/>
                  </a:solidFill>
                  <a:highlight>
                    <a:srgbClr val="FFFF00"/>
                  </a:highlight>
                  <a:latin typeface="Audi Type" panose="020B0503040202060203" pitchFamily="34" charset="0"/>
                  <a:ea typeface="微软雅黑" panose="020B0503020204020204" pitchFamily="34" charset="-122"/>
                  <a:cs typeface="Audi Type" panose="020B0503040202060203" pitchFamily="34" charset="0"/>
                </a:rPr>
                <a:t>～</a:t>
              </a:r>
              <a:r>
                <a:rPr lang="en-US" altLang="zh-CN" sz="1000" dirty="0">
                  <a:solidFill>
                    <a:srgbClr val="696A6C"/>
                  </a:solidFill>
                  <a:highlight>
                    <a:srgbClr val="FFFF00"/>
                  </a:highlight>
                  <a:latin typeface="Audi Type" panose="020B0503040202060203" pitchFamily="34" charset="0"/>
                  <a:ea typeface="微软雅黑" panose="020B0503020204020204" pitchFamily="34" charset="-122"/>
                  <a:cs typeface="Audi Type" panose="020B0503040202060203" pitchFamily="34" charset="0"/>
                </a:rPr>
                <a:t>2016/Jan</a:t>
              </a:r>
              <a:r>
                <a:rPr lang="en-US" altLang="zh-CN" sz="1000" i="1" dirty="0">
                  <a:solidFill>
                    <a:srgbClr val="696A6C"/>
                  </a:solidFill>
                  <a:highlight>
                    <a:srgbClr val="FFFF00"/>
                  </a:highlight>
                  <a:latin typeface="Audi Type" panose="020B0503040202060203" pitchFamily="34" charset="0"/>
                  <a:ea typeface="微软雅黑" panose="020B0503020204020204" pitchFamily="34" charset="-122"/>
                  <a:cs typeface="Audi Type" panose="020B0503040202060203" pitchFamily="34" charset="0"/>
                </a:rPr>
                <a:t>Disposition&amp;MaterialplanningSpecialist</a:t>
              </a:r>
            </a:p>
            <a:p>
              <a:pPr marL="171450" indent="-171450">
                <a:lnSpc>
                  <a:spcPts val="1740"/>
                </a:lnSpc>
                <a:buFontTx/>
                <a:buChar char="-"/>
              </a:pPr>
              <a:r>
                <a:rPr lang="en-US" altLang="zh-CN" sz="800" kern="100" dirty="0">
                  <a:highlight>
                    <a:srgbClr val="FFFF00"/>
                  </a:highlight>
                  <a:latin typeface="Audi Type" panose="020B0503040202060203" pitchFamily="34" charset="0"/>
                  <a:ea typeface="Microsoft YaHei" panose="020B0503020204020204" pitchFamily="34" charset="-122"/>
                  <a:cs typeface="Audi Type" panose="020B0503040202060203" pitchFamily="34" charset="0"/>
                </a:rPr>
                <a:t>OperatetheSAPMRPmodule,makeapartmaterialplanandpublishitviaWEB-EDI</a:t>
              </a:r>
            </a:p>
            <a:p>
              <a:pPr marL="171450" indent="-171450">
                <a:lnSpc>
                  <a:spcPts val="1740"/>
                </a:lnSpc>
                <a:buFontTx/>
                <a:buChar char="-"/>
              </a:pPr>
              <a:r>
                <a:rPr lang="en-US" altLang="zh-CN" sz="800" kern="100" dirty="0" err="1">
                  <a:highlight>
                    <a:srgbClr val="FFFF00"/>
                  </a:highlight>
                  <a:latin typeface="Audi Type" panose="020B0503040202060203" pitchFamily="34" charset="0"/>
                  <a:ea typeface="Microsoft YaHei" panose="020B0503020204020204" pitchFamily="34" charset="-122"/>
                  <a:cs typeface="Audi Type" panose="020B0503040202060203" pitchFamily="34" charset="0"/>
                </a:rPr>
                <a:t>Trackingpartsarriving</a:t>
              </a:r>
              <a:r>
                <a:rPr lang="en-US" altLang="zh-CN" sz="800" kern="100" dirty="0">
                  <a:highlight>
                    <a:srgbClr val="FFFF00"/>
                  </a:highlight>
                  <a:latin typeface="Audi Type" panose="020B0503040202060203" pitchFamily="34" charset="0"/>
                  <a:ea typeface="Microsoft YaHei" panose="020B0503020204020204" pitchFamily="34" charset="-122"/>
                  <a:cs typeface="Audi Type" panose="020B0503040202060203" pitchFamily="34" charset="0"/>
                </a:rPr>
                <a:t>.</a:t>
              </a:r>
            </a:p>
          </p:txBody>
        </p:sp>
      </p:grpSp>
      <p:grpSp>
        <p:nvGrpSpPr>
          <p:cNvPr id="28" name="Education">
            <a:extLst>
              <a:ext uri="{FF2B5EF4-FFF2-40B4-BE49-F238E27FC236}">
                <a16:creationId xmlns:a16="http://schemas.microsoft.com/office/drawing/2014/main" id="{A7AF8145-EC27-6968-AD28-97D187EA133B}"/>
              </a:ext>
            </a:extLst>
          </p:cNvPr>
          <p:cNvGrpSpPr/>
          <p:nvPr/>
        </p:nvGrpSpPr>
        <p:grpSpPr>
          <a:xfrm>
            <a:off x="2751134" y="1939770"/>
            <a:ext cx="4208483" cy="932889"/>
            <a:chOff x="2645365" y="1300179"/>
            <a:chExt cx="4208483" cy="932889"/>
          </a:xfrm>
        </p:grpSpPr>
        <p:sp>
          <p:nvSpPr>
            <p:cNvPr id="11" name="平行四边形 10">
              <a:extLst>
                <a:ext uri="{FF2B5EF4-FFF2-40B4-BE49-F238E27FC236}">
                  <a16:creationId xmlns:a16="http://schemas.microsoft.com/office/drawing/2014/main" id="{1D75F17E-31E2-3842-D4D4-CE366DEE37AE}"/>
                </a:ext>
              </a:extLst>
            </p:cNvPr>
            <p:cNvSpPr/>
            <p:nvPr/>
          </p:nvSpPr>
          <p:spPr>
            <a:xfrm>
              <a:off x="2686868" y="1300179"/>
              <a:ext cx="2184851" cy="220134"/>
            </a:xfrm>
            <a:prstGeom prst="parallelogram">
              <a:avLst/>
            </a:prstGeom>
            <a:solidFill>
              <a:srgbClr val="9EA1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latin typeface="Audi Type" panose="020B0503040202060203" pitchFamily="34" charset="0"/>
                  <a:ea typeface="微软雅黑" panose="020B0503020204020204" pitchFamily="34" charset="-122"/>
                  <a:cs typeface="Audi Type" panose="020B0503040202060203" pitchFamily="34" charset="0"/>
                </a:rPr>
                <a:t>Education</a:t>
              </a:r>
              <a:endParaRPr lang="zh-CN" altLang="en-US" sz="1100" dirty="0">
                <a:latin typeface="Audi Type" panose="020B0503040202060203" pitchFamily="34" charset="0"/>
                <a:ea typeface="微软雅黑" panose="020B0503020204020204" pitchFamily="34" charset="-122"/>
                <a:cs typeface="Audi Type" panose="020B0503040202060203" pitchFamily="34" charset="0"/>
              </a:endParaRPr>
            </a:p>
          </p:txBody>
        </p:sp>
        <p:sp>
          <p:nvSpPr>
            <p:cNvPr id="27" name="矩形 26">
              <a:extLst>
                <a:ext uri="{FF2B5EF4-FFF2-40B4-BE49-F238E27FC236}">
                  <a16:creationId xmlns:a16="http://schemas.microsoft.com/office/drawing/2014/main" id="{30E2292A-0D40-C50A-B410-8C6CE2C3D431}"/>
                </a:ext>
              </a:extLst>
            </p:cNvPr>
            <p:cNvSpPr/>
            <p:nvPr/>
          </p:nvSpPr>
          <p:spPr>
            <a:xfrm>
              <a:off x="2645365" y="1510947"/>
              <a:ext cx="4208483" cy="722121"/>
            </a:xfrm>
            <a:prstGeom prst="rect">
              <a:avLst/>
            </a:prstGeom>
          </p:spPr>
          <p:txBody>
            <a:bodyPr wrap="square">
              <a:spAutoFit/>
            </a:bodyPr>
            <a:lstStyle/>
            <a:p>
              <a:pPr>
                <a:lnSpc>
                  <a:spcPts val="1740"/>
                </a:lnSpc>
              </a:pPr>
              <a:r>
                <a:rPr lang="en-US" altLang="zh-CN" sz="1000" b="1" dirty="0">
                  <a:solidFill>
                    <a:srgbClr val="9EA1A2"/>
                  </a:solidFill>
                  <a:latin typeface="Audi Type" panose="020B0503040202060203" pitchFamily="34" charset="0"/>
                  <a:ea typeface="Microsoft YaHei" panose="020B0503020204020204" pitchFamily="34" charset="-122"/>
                  <a:cs typeface="Audi Type" panose="020B0503040202060203" pitchFamily="34" charset="0"/>
                </a:rPr>
                <a:t>2002/Sep.</a:t>
              </a:r>
              <a:r>
                <a:rPr lang="zh-CN" altLang="en-US" sz="1000" b="1" dirty="0">
                  <a:solidFill>
                    <a:srgbClr val="9EA1A2"/>
                  </a:solidFill>
                  <a:latin typeface="Audi Type" panose="020B0503040202060203" pitchFamily="34" charset="0"/>
                  <a:ea typeface="Microsoft YaHei" panose="020B0503020204020204" pitchFamily="34" charset="-122"/>
                  <a:cs typeface="Audi Type" panose="020B0503040202060203" pitchFamily="34" charset="0"/>
                </a:rPr>
                <a:t>～</a:t>
              </a:r>
              <a:r>
                <a:rPr lang="en-US" altLang="zh-CN" sz="1000" b="1" dirty="0">
                  <a:solidFill>
                    <a:srgbClr val="9EA1A2"/>
                  </a:solidFill>
                  <a:latin typeface="Audi Type" panose="020B0503040202060203" pitchFamily="34" charset="0"/>
                  <a:ea typeface="Microsoft YaHei" panose="020B0503020204020204" pitchFamily="34" charset="-122"/>
                  <a:cs typeface="Audi Type" panose="020B0503040202060203" pitchFamily="34" charset="0"/>
                </a:rPr>
                <a:t>2006/Jul</a:t>
              </a:r>
              <a:r>
                <a:rPr lang="en-US" altLang="zh-CN" sz="1000" b="1" kern="100" dirty="0">
                  <a:solidFill>
                    <a:srgbClr val="9EA1A2"/>
                  </a:solidFill>
                  <a:latin typeface="Audi Type" panose="020B0503040202060203" pitchFamily="34" charset="0"/>
                  <a:ea typeface="Microsoft YaHei" panose="020B0503020204020204" pitchFamily="34" charset="-122"/>
                  <a:cs typeface="Audi Type" panose="020B0503040202060203" pitchFamily="34" charset="0"/>
                </a:rPr>
                <a:t>	</a:t>
              </a:r>
              <a:r>
                <a:rPr lang="en-US" altLang="zh-CN" sz="1000" b="1" dirty="0" err="1">
                  <a:solidFill>
                    <a:srgbClr val="9EA1A2"/>
                  </a:solidFill>
                  <a:latin typeface="Audi Type" panose="020B0503040202060203" pitchFamily="34" charset="0"/>
                  <a:ea typeface="Microsoft YaHei" panose="020B0503020204020204" pitchFamily="34" charset="-122"/>
                  <a:cs typeface="Audi Type" panose="020B0503040202060203" pitchFamily="34" charset="0"/>
                </a:rPr>
                <a:t>ShanghaiMaritimeUniversity</a:t>
              </a:r>
              <a:r>
                <a:rPr lang="en-US" altLang="zh-CN" sz="1000" dirty="0" err="1">
                  <a:solidFill>
                    <a:srgbClr val="9EA1A2"/>
                  </a:solidFill>
                  <a:latin typeface="Audi Type" panose="020B0503040202060203" pitchFamily="34" charset="0"/>
                  <a:ea typeface="Microsoft YaHei" panose="020B0503020204020204" pitchFamily="34" charset="-122"/>
                  <a:cs typeface="Audi Type" panose="020B0503040202060203" pitchFamily="34" charset="0"/>
                </a:rPr>
                <a:t>Marineengineering</a:t>
              </a:r>
              <a:r>
                <a:rPr lang="en-US" altLang="zh-CN" sz="1000" dirty="0">
                  <a:solidFill>
                    <a:srgbClr val="9EA1A2"/>
                  </a:solidFill>
                  <a:latin typeface="Audi Type" panose="020B0503040202060203" pitchFamily="34" charset="0"/>
                  <a:ea typeface="Microsoft YaHei" panose="020B0503020204020204" pitchFamily="34" charset="-122"/>
                  <a:cs typeface="Audi Type" panose="020B0503040202060203" pitchFamily="34" charset="0"/>
                </a:rPr>
                <a:t>	</a:t>
              </a:r>
              <a:r>
                <a:rPr lang="en-US" altLang="zh-CN" sz="1000" dirty="0" err="1">
                  <a:solidFill>
                    <a:srgbClr val="9EA1A2"/>
                  </a:solidFill>
                  <a:latin typeface="Audi Type" panose="020B0503040202060203" pitchFamily="34" charset="0"/>
                  <a:ea typeface="Microsoft YaHei" panose="020B0503020204020204" pitchFamily="34" charset="-122"/>
                  <a:cs typeface="Audi Type" panose="020B0503040202060203" pitchFamily="34" charset="0"/>
                </a:rPr>
                <a:t>BachelorinEngineering</a:t>
              </a:r>
              <a:endParaRPr lang="en-US" altLang="zh-CN" sz="1000" kern="100" dirty="0">
                <a:solidFill>
                  <a:srgbClr val="9EA1A2"/>
                </a:solidFill>
                <a:latin typeface="Audi Type" panose="020B0503040202060203" pitchFamily="34" charset="0"/>
                <a:ea typeface="Microsoft YaHei" panose="020B0503020204020204" pitchFamily="34" charset="-122"/>
                <a:cs typeface="Audi Type" panose="020B0503040202060203" pitchFamily="34" charset="0"/>
              </a:endParaRPr>
            </a:p>
          </p:txBody>
        </p:sp>
      </p:grpSp>
      <p:grpSp>
        <p:nvGrpSpPr>
          <p:cNvPr id="18" name="Certification">
            <a:extLst>
              <a:ext uri="{FF2B5EF4-FFF2-40B4-BE49-F238E27FC236}">
                <a16:creationId xmlns:a16="http://schemas.microsoft.com/office/drawing/2014/main" id="{4D18CC30-56B8-A689-120A-53E2377E54D6}"/>
              </a:ext>
            </a:extLst>
          </p:cNvPr>
          <p:cNvGrpSpPr/>
          <p:nvPr/>
        </p:nvGrpSpPr>
        <p:grpSpPr>
          <a:xfrm>
            <a:off x="172354" y="6098614"/>
            <a:ext cx="2538738" cy="2516074"/>
            <a:chOff x="97877" y="8380759"/>
            <a:chExt cx="2538738" cy="2516074"/>
          </a:xfrm>
        </p:grpSpPr>
        <p:sp>
          <p:nvSpPr>
            <p:cNvPr id="34" name="文本框 33">
              <a:extLst>
                <a:ext uri="{FF2B5EF4-FFF2-40B4-BE49-F238E27FC236}">
                  <a16:creationId xmlns:a16="http://schemas.microsoft.com/office/drawing/2014/main" id="{A3DA7A87-C43E-A1CF-3392-1887FDAA9C7C}"/>
                </a:ext>
              </a:extLst>
            </p:cNvPr>
            <p:cNvSpPr txBox="1"/>
            <p:nvPr/>
          </p:nvSpPr>
          <p:spPr>
            <a:xfrm>
              <a:off x="681446" y="8380759"/>
              <a:ext cx="1320800" cy="261610"/>
            </a:xfrm>
            <a:prstGeom prst="rect">
              <a:avLst/>
            </a:prstGeom>
            <a:noFill/>
          </p:spPr>
          <p:txBody>
            <a:bodyPr wrap="square" rtlCol="0" anchor="ctr">
              <a:spAutoFit/>
            </a:bodyPr>
            <a:lstStyle/>
            <a:p>
              <a:pPr algn="ctr"/>
              <a:r>
                <a:rPr lang="en-US" altLang="zh-CN" sz="1100" b="1" dirty="0">
                  <a:solidFill>
                    <a:srgbClr val="9EA1A2"/>
                  </a:solidFill>
                  <a:latin typeface="Audi Type" panose="020B0503040202060203" pitchFamily="34" charset="0"/>
                  <a:ea typeface="微软雅黑" panose="020B0503020204020204" pitchFamily="34" charset="-122"/>
                  <a:cs typeface="Audi Type" panose="020B0503040202060203" pitchFamily="34" charset="0"/>
                </a:rPr>
                <a:t>Certification</a:t>
              </a:r>
              <a:endParaRPr lang="zh-CN" altLang="en-US" sz="1100" b="1" dirty="0">
                <a:solidFill>
                  <a:srgbClr val="9EA1A2"/>
                </a:solidFill>
                <a:latin typeface="Audi Type" panose="020B0503040202060203" pitchFamily="34" charset="0"/>
                <a:ea typeface="微软雅黑" panose="020B0503020204020204" pitchFamily="34" charset="-122"/>
                <a:cs typeface="Audi Type" panose="020B0503040202060203" pitchFamily="34" charset="0"/>
              </a:endParaRPr>
            </a:p>
          </p:txBody>
        </p:sp>
        <p:sp>
          <p:nvSpPr>
            <p:cNvPr id="35" name="文本框 34">
              <a:extLst>
                <a:ext uri="{FF2B5EF4-FFF2-40B4-BE49-F238E27FC236}">
                  <a16:creationId xmlns:a16="http://schemas.microsoft.com/office/drawing/2014/main" id="{05326B4D-5AAD-59D9-8150-DD762FBE6DF3}"/>
                </a:ext>
              </a:extLst>
            </p:cNvPr>
            <p:cNvSpPr txBox="1"/>
            <p:nvPr/>
          </p:nvSpPr>
          <p:spPr>
            <a:xfrm>
              <a:off x="97877" y="8654681"/>
              <a:ext cx="2538738" cy="2242152"/>
            </a:xfrm>
            <a:prstGeom prst="rect">
              <a:avLst/>
            </a:prstGeom>
            <a:noFill/>
          </p:spPr>
          <p:txBody>
            <a:bodyPr wrap="square" rtlCol="0">
              <a:spAutoFit/>
            </a:bodyPr>
            <a:lstStyle/>
            <a:p>
              <a:pPr>
                <a:lnSpc>
                  <a:spcPts val="1740"/>
                </a:lnSpc>
              </a:pPr>
              <a:r>
                <a:rPr lang="en-US" altLang="zh-CN" sz="10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EnglishlevelCET4</a:t>
              </a:r>
            </a:p>
            <a:p>
              <a:pPr>
                <a:lnSpc>
                  <a:spcPts val="1740"/>
                </a:lnSpc>
              </a:pPr>
              <a:r>
                <a:rPr lang="en-US" altLang="zh-CN" sz="800" dirty="0">
                  <a:latin typeface="Audi Type" panose="020B0503040202060203" pitchFamily="34" charset="0"/>
                  <a:ea typeface="微软雅黑" panose="020B0503020204020204" pitchFamily="34" charset="-122"/>
                  <a:cs typeface="Audi Type" panose="020B0503040202060203" pitchFamily="34" charset="0"/>
                </a:rPr>
                <a:t>CertifiedTime:2004</a:t>
              </a:r>
            </a:p>
            <a:p>
              <a:pPr>
                <a:lnSpc>
                  <a:spcPts val="1740"/>
                </a:lnSpc>
              </a:pPr>
              <a:endParaRPr lang="en-US" altLang="zh-CN" sz="900"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a:lnSpc>
                  <a:spcPts val="1740"/>
                </a:lnSpc>
              </a:pPr>
              <a:r>
                <a:rPr lang="en-US" altLang="zh-CN" sz="10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VDA6.3processauditor</a:t>
              </a:r>
            </a:p>
            <a:p>
              <a:pPr>
                <a:lnSpc>
                  <a:spcPts val="1740"/>
                </a:lnSpc>
              </a:pPr>
              <a:r>
                <a:rPr lang="en-US" altLang="zh-CN" sz="800" dirty="0">
                  <a:latin typeface="Audi Type" panose="020B0503040202060203" pitchFamily="34" charset="0"/>
                  <a:ea typeface="微软雅黑" panose="020B0503020204020204" pitchFamily="34" charset="-122"/>
                  <a:cs typeface="Audi Type" panose="020B0503040202060203" pitchFamily="34" charset="0"/>
                </a:rPr>
                <a:t>CertifiedTime:2011</a:t>
              </a:r>
            </a:p>
            <a:p>
              <a:pPr>
                <a:lnSpc>
                  <a:spcPts val="1740"/>
                </a:lnSpc>
              </a:pPr>
              <a:endParaRPr lang="en-US" altLang="zh-CN" sz="800"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a:lnSpc>
                  <a:spcPts val="1740"/>
                </a:lnSpc>
              </a:pPr>
              <a:r>
                <a:rPr lang="en-US" altLang="zh-CN" sz="1000" dirty="0" err="1">
                  <a:solidFill>
                    <a:srgbClr val="696A6C"/>
                  </a:solidFill>
                  <a:latin typeface="Audi Type" panose="020B0503040202060203" pitchFamily="34" charset="0"/>
                  <a:ea typeface="微软雅黑" panose="020B0503020204020204" pitchFamily="34" charset="-122"/>
                  <a:cs typeface="Audi Type" panose="020B0503040202060203" pitchFamily="34" charset="0"/>
                </a:rPr>
                <a:t>VWgrouplogisticsauditor</a:t>
              </a:r>
              <a:endParaRPr lang="en-US" altLang="zh-CN" sz="1000" dirty="0">
                <a:solidFill>
                  <a:srgbClr val="696A6C"/>
                </a:solidFill>
                <a:latin typeface="Audi Type" panose="020B0503040202060203" pitchFamily="34" charset="0"/>
                <a:ea typeface="微软雅黑" panose="020B0503020204020204" pitchFamily="34" charset="-122"/>
                <a:cs typeface="Audi Type" panose="020B0503040202060203" pitchFamily="34" charset="0"/>
              </a:endParaRPr>
            </a:p>
            <a:p>
              <a:pPr>
                <a:lnSpc>
                  <a:spcPts val="1740"/>
                </a:lnSpc>
              </a:pPr>
              <a:r>
                <a:rPr lang="en-US" altLang="zh-CN" sz="800" dirty="0">
                  <a:latin typeface="Audi Type" panose="020B0503040202060203" pitchFamily="34" charset="0"/>
                  <a:ea typeface="微软雅黑" panose="020B0503020204020204" pitchFamily="34" charset="-122"/>
                  <a:cs typeface="Audi Type" panose="020B0503040202060203" pitchFamily="34" charset="0"/>
                </a:rPr>
                <a:t>CertifiedTime:2023</a:t>
              </a:r>
            </a:p>
            <a:p>
              <a:pPr>
                <a:lnSpc>
                  <a:spcPts val="1740"/>
                </a:lnSpc>
              </a:pPr>
              <a:r>
                <a:rPr lang="en-US" altLang="zh-CN" sz="1000" dirty="0">
                  <a:solidFill>
                    <a:srgbClr val="696A6C"/>
                  </a:solidFill>
                  <a:latin typeface="Audi Type" panose="020B0503040202060203" pitchFamily="34" charset="0"/>
                  <a:ea typeface="微软雅黑" panose="020B0503020204020204" pitchFamily="34" charset="-122"/>
                  <a:cs typeface="Audi Type" panose="020B0503040202060203" pitchFamily="34" charset="0"/>
                </a:rPr>
                <a:t>UpdatedtoVDA6.8SupplyChainprocess</a:t>
              </a:r>
            </a:p>
            <a:p>
              <a:pPr>
                <a:lnSpc>
                  <a:spcPts val="1740"/>
                </a:lnSpc>
              </a:pPr>
              <a:r>
                <a:rPr lang="en-US" altLang="zh-CN" sz="800" dirty="0">
                  <a:latin typeface="Audi Type" panose="020B0503040202060203" pitchFamily="34" charset="0"/>
                  <a:ea typeface="微软雅黑" panose="020B0503020204020204" pitchFamily="34" charset="-122"/>
                  <a:cs typeface="Audi Type" panose="020B0503040202060203" pitchFamily="34" charset="0"/>
                </a:rPr>
                <a:t>CertifiedTime:2025</a:t>
              </a:r>
            </a:p>
          </p:txBody>
        </p:sp>
      </p:grpSp>
      <p:grpSp>
        <p:nvGrpSpPr>
          <p:cNvPr id="6" name="Self-Evaluation">
            <a:extLst>
              <a:ext uri="{FF2B5EF4-FFF2-40B4-BE49-F238E27FC236}">
                <a16:creationId xmlns:a16="http://schemas.microsoft.com/office/drawing/2014/main" id="{798A5397-7020-4090-802E-3854D7B8193B}"/>
              </a:ext>
            </a:extLst>
          </p:cNvPr>
          <p:cNvGrpSpPr/>
          <p:nvPr/>
        </p:nvGrpSpPr>
        <p:grpSpPr>
          <a:xfrm>
            <a:off x="2711091" y="354027"/>
            <a:ext cx="3960309" cy="1194482"/>
            <a:chOff x="2645364" y="511388"/>
            <a:chExt cx="4104907" cy="1194482"/>
          </a:xfrm>
        </p:grpSpPr>
        <p:sp>
          <p:nvSpPr>
            <p:cNvPr id="5" name="平行四边形 4">
              <a:extLst>
                <a:ext uri="{FF2B5EF4-FFF2-40B4-BE49-F238E27FC236}">
                  <a16:creationId xmlns:a16="http://schemas.microsoft.com/office/drawing/2014/main" id="{2A8B687F-0864-0157-A7F2-B080B06D9B90}"/>
                </a:ext>
              </a:extLst>
            </p:cNvPr>
            <p:cNvSpPr/>
            <p:nvPr/>
          </p:nvSpPr>
          <p:spPr>
            <a:xfrm>
              <a:off x="2686869" y="511388"/>
              <a:ext cx="2266139" cy="220134"/>
            </a:xfrm>
            <a:prstGeom prst="parallelogram">
              <a:avLst/>
            </a:prstGeom>
            <a:solidFill>
              <a:srgbClr val="9EA1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err="1">
                  <a:latin typeface="Audi Type" panose="020B0503040202060203" pitchFamily="34" charset="0"/>
                  <a:ea typeface="微软雅黑" panose="020B0503020204020204" pitchFamily="34" charset="-122"/>
                  <a:cs typeface="Audi Type" panose="020B0503040202060203" pitchFamily="34" charset="0"/>
                </a:rPr>
                <a:t>CareerOverview</a:t>
              </a:r>
              <a:endParaRPr lang="en-US" altLang="zh-CN" sz="1100" dirty="0">
                <a:latin typeface="Audi Type" panose="020B0503040202060203" pitchFamily="34" charset="0"/>
                <a:ea typeface="微软雅黑" panose="020B0503020204020204" pitchFamily="34" charset="-122"/>
                <a:cs typeface="Audi Type" panose="020B0503040202060203" pitchFamily="34" charset="0"/>
              </a:endParaRPr>
            </a:p>
          </p:txBody>
        </p:sp>
        <p:sp>
          <p:nvSpPr>
            <p:cNvPr id="36" name="矩形 35">
              <a:extLst>
                <a:ext uri="{FF2B5EF4-FFF2-40B4-BE49-F238E27FC236}">
                  <a16:creationId xmlns:a16="http://schemas.microsoft.com/office/drawing/2014/main" id="{017DBABD-B5BE-E302-2492-D67CE2CC3C01}"/>
                </a:ext>
              </a:extLst>
            </p:cNvPr>
            <p:cNvSpPr/>
            <p:nvPr/>
          </p:nvSpPr>
          <p:spPr>
            <a:xfrm>
              <a:off x="2645364" y="712136"/>
              <a:ext cx="4104907" cy="993734"/>
            </a:xfrm>
            <a:prstGeom prst="rect">
              <a:avLst/>
            </a:prstGeom>
          </p:spPr>
          <p:txBody>
            <a:bodyPr wrap="square">
              <a:spAutoFit/>
            </a:bodyPr>
            <a:lstStyle/>
            <a:p>
              <a:pPr marL="171450" indent="-171450">
                <a:lnSpc>
                  <a:spcPct val="150000"/>
                </a:lnSpc>
                <a:buFontTx/>
                <a:buChar char="-"/>
              </a:pPr>
              <a:r>
                <a:rPr lang="en-US" altLang="zh-CN" sz="800" kern="100" dirty="0">
                  <a:latin typeface="Audi Type" panose="020B0503040202060203" pitchFamily="34" charset="0"/>
                  <a:ea typeface="Microsoft YaHei" panose="020B0503020204020204" pitchFamily="34" charset="-122"/>
                  <a:cs typeface="Audi Type" panose="020B0503040202060203" pitchFamily="34" charset="0"/>
                </a:rPr>
                <a:t>20years’workingexperienceofSupplyChainmanagementinVolkswagengroupforAudi&amp;Volkswagenbrands</a:t>
              </a:r>
            </a:p>
            <a:p>
              <a:pPr marL="171450" indent="-171450">
                <a:lnSpc>
                  <a:spcPct val="150000"/>
                </a:lnSpc>
                <a:buFontTx/>
                <a:buChar char="-"/>
              </a:pPr>
              <a:r>
                <a:rPr lang="en-US" altLang="zh-CN" sz="800" kern="100" dirty="0">
                  <a:latin typeface="Audi Type" panose="020B0503040202060203" pitchFamily="34" charset="0"/>
                  <a:ea typeface="Microsoft YaHei" panose="020B0503020204020204" pitchFamily="34" charset="-122"/>
                  <a:cs typeface="Audi Type" panose="020B0503040202060203" pitchFamily="34" charset="0"/>
                </a:rPr>
                <a:t>Thescopeofsupplychainknowledgecoversfromgrouptofactory,fromtop-leveldesigntoimplementationindetail.</a:t>
              </a:r>
            </a:p>
            <a:p>
              <a:pPr marL="171450" indent="-171450">
                <a:lnSpc>
                  <a:spcPct val="150000"/>
                </a:lnSpc>
                <a:buFontTx/>
                <a:buChar char="-"/>
              </a:pPr>
              <a:r>
                <a:rPr lang="en-US" altLang="zh-CN" sz="800" kern="100" dirty="0" err="1">
                  <a:latin typeface="Audi Type" panose="020B0503040202060203" pitchFamily="34" charset="0"/>
                  <a:ea typeface="Microsoft YaHei" panose="020B0503020204020204" pitchFamily="34" charset="-122"/>
                  <a:cs typeface="Audi Type" panose="020B0503040202060203" pitchFamily="34" charset="0"/>
                </a:rPr>
                <a:t>ExternalSupplyChianlecturerofSAICtrainingcenter</a:t>
              </a:r>
              <a:endParaRPr lang="en-US" altLang="zh-CN" sz="800" kern="100" dirty="0">
                <a:latin typeface="Audi Type" panose="020B0503040202060203" pitchFamily="34" charset="0"/>
                <a:ea typeface="Microsoft YaHei" panose="020B0503020204020204" pitchFamily="34" charset="-122"/>
                <a:cs typeface="Audi Type" panose="020B0503040202060203" pitchFamily="34" charset="0"/>
              </a:endParaRPr>
            </a:p>
          </p:txBody>
        </p:sp>
      </p:grpSp>
    </p:spTree>
    <p:extLst>
      <p:ext uri="{BB962C8B-B14F-4D97-AF65-F5344CB8AC3E}">
        <p14:creationId xmlns:p14="http://schemas.microsoft.com/office/powerpoint/2010/main" val="7970323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2" cstate="print">
            <a:extLst>
              <a:ext uri="{28A0092B-C50C-407E-A947-70E740481C1C}">
                <a14:useLocalDpi xmlns:a14="http://schemas.microsoft.com/office/drawing/2010/main" val="0"/>
              </a:ext>
            </a:extLst>
          </a:blip>
          <a:srcRect l="1835" t="4781" r="1835" b="9635"/>
          <a:stretch/>
        </p:blipFill>
        <p:spPr>
          <a:xfrm>
            <a:off x="789700" y="460230"/>
            <a:ext cx="1072932" cy="1430576"/>
          </a:xfrm>
          <a:prstGeom prst="rect">
            <a:avLst/>
          </a:prstGeom>
          <a:ln w="25400">
            <a:solidFill>
              <a:schemeClr val="bg1"/>
            </a:solidFill>
          </a:ln>
        </p:spPr>
      </p:pic>
      <p:sp>
        <p:nvSpPr>
          <p:cNvPr id="10" name="文本框 9"/>
          <p:cNvSpPr txBox="1"/>
          <p:nvPr/>
        </p:nvSpPr>
        <p:spPr>
          <a:xfrm>
            <a:off x="-2913746" y="1710382"/>
            <a:ext cx="2538737" cy="1708160"/>
          </a:xfrm>
          <a:prstGeom prst="rect">
            <a:avLst/>
          </a:prstGeom>
          <a:noFill/>
        </p:spPr>
        <p:txBody>
          <a:bodyPr wrap="square" rtlCol="0">
            <a:spAutoFit/>
          </a:bodyPr>
          <a:lstStyle/>
          <a:p>
            <a:pPr>
              <a:lnSpc>
                <a:spcPct val="150000"/>
              </a:lnSpc>
            </a:pPr>
            <a:r>
              <a:rPr lang="en-US" altLang="zh-CN" sz="1000" dirty="0">
                <a:latin typeface="微软雅黑" panose="020B0503020204020204" pitchFamily="34" charset="-122"/>
                <a:ea typeface="微软雅黑" panose="020B0503020204020204" pitchFamily="34" charset="-122"/>
              </a:rPr>
              <a:t>Name</a:t>
            </a:r>
            <a:r>
              <a:rPr lang="zh-CN" altLang="en-US" sz="1000" dirty="0">
                <a:latin typeface="微软雅黑" panose="020B0503020204020204" pitchFamily="34" charset="-122"/>
                <a:ea typeface="微软雅黑" panose="020B0503020204020204" pitchFamily="34" charset="-122"/>
              </a:rPr>
              <a:t>：</a:t>
            </a:r>
            <a:r>
              <a:rPr lang="en-US" altLang="zh-CN" sz="1000" dirty="0">
                <a:latin typeface="微软雅黑" panose="020B0503020204020204" pitchFamily="34" charset="-122"/>
                <a:ea typeface="微软雅黑" panose="020B0503020204020204" pitchFamily="34" charset="-122"/>
              </a:rPr>
              <a:t>	</a:t>
            </a:r>
            <a:r>
              <a:rPr lang="en-US" altLang="zh-CN" sz="1000" dirty="0" err="1">
                <a:latin typeface="微软雅黑" panose="020B0503020204020204" pitchFamily="34" charset="-122"/>
                <a:ea typeface="微软雅黑" panose="020B0503020204020204" pitchFamily="34" charset="-122"/>
              </a:rPr>
              <a:t>LiJiajun</a:t>
            </a:r>
            <a:endParaRPr lang="en-US" altLang="zh-CN" sz="1000" dirty="0">
              <a:latin typeface="微软雅黑" panose="020B0503020204020204" pitchFamily="34" charset="-122"/>
              <a:ea typeface="微软雅黑" panose="020B0503020204020204" pitchFamily="34" charset="-122"/>
            </a:endParaRPr>
          </a:p>
          <a:p>
            <a:pPr>
              <a:lnSpc>
                <a:spcPct val="150000"/>
              </a:lnSpc>
            </a:pPr>
            <a:r>
              <a:rPr lang="en-US" altLang="zh-CN" sz="1000" dirty="0">
                <a:latin typeface="微软雅黑" panose="020B0503020204020204" pitchFamily="34" charset="-122"/>
                <a:ea typeface="微软雅黑" panose="020B0503020204020204" pitchFamily="34" charset="-122"/>
              </a:rPr>
              <a:t>Gender</a:t>
            </a:r>
            <a:r>
              <a:rPr lang="zh-CN" altLang="en-US" sz="1000" dirty="0">
                <a:latin typeface="微软雅黑" panose="020B0503020204020204" pitchFamily="34" charset="-122"/>
                <a:ea typeface="微软雅黑" panose="020B0503020204020204" pitchFamily="34" charset="-122"/>
              </a:rPr>
              <a:t>：</a:t>
            </a:r>
            <a:r>
              <a:rPr lang="en-US" altLang="zh-CN" sz="1000" dirty="0">
                <a:latin typeface="微软雅黑" panose="020B0503020204020204" pitchFamily="34" charset="-122"/>
                <a:ea typeface="微软雅黑" panose="020B0503020204020204" pitchFamily="34" charset="-122"/>
              </a:rPr>
              <a:t>	Male</a:t>
            </a:r>
          </a:p>
          <a:p>
            <a:pPr>
              <a:lnSpc>
                <a:spcPct val="150000"/>
              </a:lnSpc>
            </a:pPr>
            <a:r>
              <a:rPr lang="en-US" altLang="zh-CN" sz="1000" dirty="0">
                <a:latin typeface="微软雅黑" panose="020B0503020204020204" pitchFamily="34" charset="-122"/>
                <a:ea typeface="微软雅黑" panose="020B0503020204020204" pitchFamily="34" charset="-122"/>
              </a:rPr>
              <a:t>Birthday:	Dec.1983</a:t>
            </a:r>
          </a:p>
          <a:p>
            <a:pPr>
              <a:lnSpc>
                <a:spcPct val="150000"/>
              </a:lnSpc>
            </a:pPr>
            <a:r>
              <a:rPr lang="en-US" altLang="zh-CN" sz="1000" dirty="0">
                <a:latin typeface="微软雅黑" panose="020B0503020204020204" pitchFamily="34" charset="-122"/>
                <a:ea typeface="微软雅黑" panose="020B0503020204020204" pitchFamily="34" charset="-122"/>
              </a:rPr>
              <a:t>Location</a:t>
            </a:r>
            <a:r>
              <a:rPr lang="zh-CN" altLang="en-US" sz="1000" dirty="0">
                <a:latin typeface="微软雅黑" panose="020B0503020204020204" pitchFamily="34" charset="-122"/>
                <a:ea typeface="微软雅黑" panose="020B0503020204020204" pitchFamily="34" charset="-122"/>
              </a:rPr>
              <a:t>：</a:t>
            </a:r>
            <a:r>
              <a:rPr lang="en-US" altLang="zh-CN" sz="1000" dirty="0">
                <a:latin typeface="微软雅黑" panose="020B0503020204020204" pitchFamily="34" charset="-122"/>
                <a:ea typeface="微软雅黑" panose="020B0503020204020204" pitchFamily="34" charset="-122"/>
              </a:rPr>
              <a:t>	Shanghai</a:t>
            </a:r>
          </a:p>
          <a:p>
            <a:pPr>
              <a:lnSpc>
                <a:spcPct val="150000"/>
              </a:lnSpc>
            </a:pPr>
            <a:r>
              <a:rPr lang="en-US" altLang="zh-CN" sz="1000" dirty="0">
                <a:latin typeface="微软雅黑" panose="020B0503020204020204" pitchFamily="34" charset="-122"/>
                <a:ea typeface="微软雅黑" panose="020B0503020204020204" pitchFamily="34" charset="-122"/>
              </a:rPr>
              <a:t>Status</a:t>
            </a:r>
            <a:r>
              <a:rPr lang="zh-CN" altLang="en-US" sz="1000" dirty="0">
                <a:latin typeface="微软雅黑" panose="020B0503020204020204" pitchFamily="34" charset="-122"/>
                <a:ea typeface="微软雅黑" panose="020B0503020204020204" pitchFamily="34" charset="-122"/>
              </a:rPr>
              <a:t>：</a:t>
            </a:r>
            <a:r>
              <a:rPr lang="en-US" altLang="zh-CN" sz="1000" dirty="0">
                <a:latin typeface="微软雅黑" panose="020B0503020204020204" pitchFamily="34" charset="-122"/>
                <a:ea typeface="微软雅黑" panose="020B0503020204020204" pitchFamily="34" charset="-122"/>
              </a:rPr>
              <a:t>	Married</a:t>
            </a:r>
          </a:p>
          <a:p>
            <a:pPr>
              <a:lnSpc>
                <a:spcPct val="150000"/>
              </a:lnSpc>
            </a:pPr>
            <a:r>
              <a:rPr lang="en-US" altLang="zh-CN" sz="1000" dirty="0">
                <a:latin typeface="微软雅黑" panose="020B0503020204020204" pitchFamily="34" charset="-122"/>
                <a:ea typeface="微软雅黑" panose="020B0503020204020204" pitchFamily="34" charset="-122"/>
              </a:rPr>
              <a:t>Telephone</a:t>
            </a:r>
            <a:r>
              <a:rPr lang="zh-CN" altLang="en-US" sz="1000" dirty="0">
                <a:latin typeface="微软雅黑" panose="020B0503020204020204" pitchFamily="34" charset="-122"/>
                <a:ea typeface="微软雅黑" panose="020B0503020204020204" pitchFamily="34" charset="-122"/>
              </a:rPr>
              <a:t>：</a:t>
            </a:r>
            <a:r>
              <a:rPr lang="en-US" altLang="zh-CN" sz="1000" dirty="0">
                <a:latin typeface="微软雅黑" panose="020B0503020204020204" pitchFamily="34" charset="-122"/>
                <a:ea typeface="微软雅黑" panose="020B0503020204020204" pitchFamily="34" charset="-122"/>
              </a:rPr>
              <a:t>	13761058893</a:t>
            </a:r>
          </a:p>
          <a:p>
            <a:pPr>
              <a:lnSpc>
                <a:spcPct val="150000"/>
              </a:lnSpc>
            </a:pPr>
            <a:r>
              <a:rPr lang="en-US" altLang="zh-CN" sz="1000" dirty="0">
                <a:latin typeface="微软雅黑" panose="020B0503020204020204" pitchFamily="34" charset="-122"/>
                <a:ea typeface="微软雅黑" panose="020B0503020204020204" pitchFamily="34" charset="-122"/>
              </a:rPr>
              <a:t>Mail</a:t>
            </a:r>
            <a:r>
              <a:rPr lang="zh-CN" altLang="en-US" sz="1000" dirty="0">
                <a:latin typeface="微软雅黑" panose="020B0503020204020204" pitchFamily="34" charset="-122"/>
                <a:ea typeface="微软雅黑" panose="020B0503020204020204" pitchFamily="34" charset="-122"/>
              </a:rPr>
              <a:t>：</a:t>
            </a:r>
            <a:r>
              <a:rPr lang="en-US" altLang="zh-CN" sz="1000" dirty="0">
                <a:latin typeface="微软雅黑" panose="020B0503020204020204" pitchFamily="34" charset="-122"/>
                <a:ea typeface="微软雅黑" panose="020B0503020204020204" pitchFamily="34" charset="-122"/>
              </a:rPr>
              <a:t>	lijiajun_vwpt@163.com</a:t>
            </a:r>
            <a:endParaRPr lang="zh-CN" altLang="en-US" sz="1000" dirty="0">
              <a:latin typeface="微软雅黑" panose="020B0503020204020204" pitchFamily="34" charset="-122"/>
              <a:ea typeface="微软雅黑" panose="020B0503020204020204" pitchFamily="34" charset="-122"/>
            </a:endParaRPr>
          </a:p>
        </p:txBody>
      </p:sp>
      <p:grpSp>
        <p:nvGrpSpPr>
          <p:cNvPr id="17" name="Skills"/>
          <p:cNvGrpSpPr/>
          <p:nvPr/>
        </p:nvGrpSpPr>
        <p:grpSpPr>
          <a:xfrm>
            <a:off x="-2913745" y="3641839"/>
            <a:ext cx="2538738" cy="3200826"/>
            <a:chOff x="67994" y="4259516"/>
            <a:chExt cx="2538738" cy="3200826"/>
          </a:xfrm>
        </p:grpSpPr>
        <p:sp>
          <p:nvSpPr>
            <p:cNvPr id="13" name="文本框 12">
              <a:extLst>
                <a:ext uri="{FF2B5EF4-FFF2-40B4-BE49-F238E27FC236}">
                  <a16:creationId xmlns:a16="http://schemas.microsoft.com/office/drawing/2014/main" id="{0758DFB5-5F3D-9D48-8569-03E4709B2F74}"/>
                </a:ext>
              </a:extLst>
            </p:cNvPr>
            <p:cNvSpPr txBox="1"/>
            <p:nvPr/>
          </p:nvSpPr>
          <p:spPr>
            <a:xfrm>
              <a:off x="805380" y="4259516"/>
              <a:ext cx="1072932" cy="261610"/>
            </a:xfrm>
            <a:prstGeom prst="rect">
              <a:avLst/>
            </a:prstGeom>
            <a:noFill/>
          </p:spPr>
          <p:txBody>
            <a:bodyPr wrap="square" rtlCol="0" anchor="ctr">
              <a:spAutoFit/>
            </a:bodyPr>
            <a:lstStyle/>
            <a:p>
              <a:pPr algn="ctr"/>
              <a:r>
                <a:rPr lang="en-US" altLang="zh-CN" sz="1100" b="1" dirty="0">
                  <a:solidFill>
                    <a:srgbClr val="0070C0"/>
                  </a:solidFill>
                  <a:latin typeface="微软雅黑" panose="020B0503020204020204" pitchFamily="34" charset="-122"/>
                  <a:ea typeface="微软雅黑" panose="020B0503020204020204" pitchFamily="34" charset="-122"/>
                </a:rPr>
                <a:t>Skills</a:t>
              </a:r>
              <a:endParaRPr lang="zh-CN" altLang="en-US" sz="1100" b="1" dirty="0">
                <a:solidFill>
                  <a:srgbClr val="0070C0"/>
                </a:solidFill>
                <a:latin typeface="微软雅黑" panose="020B0503020204020204" pitchFamily="34" charset="-122"/>
                <a:ea typeface="微软雅黑" panose="020B0503020204020204" pitchFamily="34" charset="-122"/>
              </a:endParaRPr>
            </a:p>
          </p:txBody>
        </p:sp>
        <p:sp>
          <p:nvSpPr>
            <p:cNvPr id="14" name="文本框 13">
              <a:extLst>
                <a:ext uri="{FF2B5EF4-FFF2-40B4-BE49-F238E27FC236}">
                  <a16:creationId xmlns:a16="http://schemas.microsoft.com/office/drawing/2014/main" id="{6328BBE5-BD67-4242-90DC-5145D59E3704}"/>
                </a:ext>
              </a:extLst>
            </p:cNvPr>
            <p:cNvSpPr txBox="1"/>
            <p:nvPr/>
          </p:nvSpPr>
          <p:spPr>
            <a:xfrm>
              <a:off x="67994" y="4515882"/>
              <a:ext cx="2538738" cy="2944460"/>
            </a:xfrm>
            <a:prstGeom prst="rect">
              <a:avLst/>
            </a:prstGeom>
            <a:noFill/>
          </p:spPr>
          <p:txBody>
            <a:bodyPr wrap="square" rtlCol="0">
              <a:spAutoFit/>
            </a:bodyPr>
            <a:lstStyle/>
            <a:p>
              <a:pPr marL="171450" indent="-171450">
                <a:lnSpc>
                  <a:spcPts val="1400"/>
                </a:lnSpc>
                <a:buFontTx/>
                <a:buChar char="-"/>
              </a:pPr>
              <a:r>
                <a:rPr lang="en-US" altLang="zh-CN" sz="1000" dirty="0" err="1">
                  <a:solidFill>
                    <a:srgbClr val="0070C0"/>
                  </a:solidFill>
                  <a:latin typeface="微软雅黑" panose="020B0503020204020204" pitchFamily="34" charset="-122"/>
                  <a:ea typeface="微软雅黑" panose="020B0503020204020204" pitchFamily="34" charset="-122"/>
                </a:rPr>
                <a:t>Structurethesupplychain&amp;Riskmanagement</a:t>
              </a:r>
              <a:endParaRPr lang="en-US" altLang="zh-CN" sz="1000" dirty="0">
                <a:solidFill>
                  <a:srgbClr val="0070C0"/>
                </a:solidFill>
                <a:latin typeface="微软雅黑" panose="020B0503020204020204" pitchFamily="34" charset="-122"/>
                <a:ea typeface="微软雅黑" panose="020B0503020204020204" pitchFamily="34" charset="-122"/>
              </a:endParaRPr>
            </a:p>
            <a:p>
              <a:pPr>
                <a:lnSpc>
                  <a:spcPts val="1400"/>
                </a:lnSpc>
              </a:pPr>
              <a:r>
                <a:rPr lang="en-US" altLang="zh-CN" sz="800" dirty="0">
                  <a:latin typeface="微软雅黑" panose="020B0503020204020204" pitchFamily="34" charset="-122"/>
                  <a:ea typeface="微软雅黑" panose="020B0503020204020204" pitchFamily="34" charset="-122"/>
                </a:rPr>
                <a:t>EstablishSCMsystem,Supplychainriskpreventionandhandling,Supplychainsecuritystrategy</a:t>
              </a:r>
            </a:p>
            <a:p>
              <a:pPr>
                <a:lnSpc>
                  <a:spcPts val="1400"/>
                </a:lnSpc>
              </a:pPr>
              <a:endParaRPr lang="en-US" altLang="zh-CN" sz="1000" dirty="0">
                <a:latin typeface="微软雅黑" panose="020B0503020204020204" pitchFamily="34" charset="-122"/>
                <a:ea typeface="微软雅黑" panose="020B0503020204020204" pitchFamily="34" charset="-122"/>
              </a:endParaRPr>
            </a:p>
            <a:p>
              <a:pPr marL="171450" indent="-171450">
                <a:lnSpc>
                  <a:spcPts val="1400"/>
                </a:lnSpc>
                <a:buFontTx/>
                <a:buChar char="-"/>
              </a:pPr>
              <a:r>
                <a:rPr lang="en-US" altLang="zh-CN" sz="1000" dirty="0" err="1">
                  <a:solidFill>
                    <a:srgbClr val="0070C0"/>
                  </a:solidFill>
                  <a:latin typeface="微软雅黑" panose="020B0503020204020204" pitchFamily="34" charset="-122"/>
                  <a:ea typeface="微软雅黑" panose="020B0503020204020204" pitchFamily="34" charset="-122"/>
                </a:rPr>
                <a:t>Suppliermanagement</a:t>
              </a:r>
              <a:endParaRPr lang="en-US" altLang="zh-CN" sz="1000" dirty="0">
                <a:solidFill>
                  <a:srgbClr val="0070C0"/>
                </a:solidFill>
                <a:latin typeface="微软雅黑" panose="020B0503020204020204" pitchFamily="34" charset="-122"/>
                <a:ea typeface="微软雅黑" panose="020B0503020204020204" pitchFamily="34" charset="-122"/>
              </a:endParaRPr>
            </a:p>
            <a:p>
              <a:pPr>
                <a:lnSpc>
                  <a:spcPts val="1400"/>
                </a:lnSpc>
              </a:pPr>
              <a:r>
                <a:rPr lang="en-US" altLang="zh-CN" sz="800" dirty="0">
                  <a:latin typeface="微软雅黑" panose="020B0503020204020204" pitchFamily="34" charset="-122"/>
                  <a:ea typeface="微软雅黑" panose="020B0503020204020204" pitchFamily="34" charset="-122"/>
                </a:rPr>
                <a:t>Improveproduction&amp;deliverycapacity,SupplierKPIassessment,Supportsuppliertolaunch</a:t>
              </a:r>
            </a:p>
            <a:p>
              <a:pPr>
                <a:lnSpc>
                  <a:spcPts val="1400"/>
                </a:lnSpc>
              </a:pPr>
              <a:endParaRPr lang="en-US" altLang="zh-CN" sz="900" dirty="0">
                <a:latin typeface="微软雅黑" panose="020B0503020204020204" pitchFamily="34" charset="-122"/>
                <a:ea typeface="微软雅黑" panose="020B0503020204020204" pitchFamily="34" charset="-122"/>
              </a:endParaRPr>
            </a:p>
            <a:p>
              <a:pPr marL="171450" indent="-171450">
                <a:lnSpc>
                  <a:spcPts val="1400"/>
                </a:lnSpc>
                <a:buFontTx/>
                <a:buChar char="-"/>
              </a:pPr>
              <a:r>
                <a:rPr lang="en-US" altLang="zh-CN" sz="1000" dirty="0" err="1">
                  <a:solidFill>
                    <a:srgbClr val="0070C0"/>
                  </a:solidFill>
                  <a:latin typeface="微软雅黑" panose="020B0503020204020204" pitchFamily="34" charset="-122"/>
                  <a:ea typeface="微软雅黑" panose="020B0503020204020204" pitchFamily="34" charset="-122"/>
                </a:rPr>
                <a:t>Lecturer&amp;Knowledgemanagement</a:t>
              </a:r>
              <a:endParaRPr lang="en-US" altLang="zh-CN" sz="1000" dirty="0">
                <a:solidFill>
                  <a:srgbClr val="0070C0"/>
                </a:solidFill>
                <a:latin typeface="微软雅黑" panose="020B0503020204020204" pitchFamily="34" charset="-122"/>
                <a:ea typeface="微软雅黑" panose="020B0503020204020204" pitchFamily="34" charset="-122"/>
              </a:endParaRPr>
            </a:p>
            <a:p>
              <a:pPr>
                <a:lnSpc>
                  <a:spcPts val="1400"/>
                </a:lnSpc>
              </a:pPr>
              <a:r>
                <a:rPr lang="en-US" altLang="zh-CN" sz="800" dirty="0" err="1">
                  <a:latin typeface="微软雅黑" panose="020B0503020204020204" pitchFamily="34" charset="-122"/>
                  <a:ea typeface="微软雅黑" panose="020B0503020204020204" pitchFamily="34" charset="-122"/>
                </a:rPr>
                <a:t>Makethefocusofworkintocoursewareandtraintrainees</a:t>
              </a:r>
              <a:endParaRPr lang="en-US" altLang="zh-CN" sz="800" dirty="0">
                <a:latin typeface="微软雅黑" panose="020B0503020204020204" pitchFamily="34" charset="-122"/>
                <a:ea typeface="微软雅黑" panose="020B0503020204020204" pitchFamily="34" charset="-122"/>
              </a:endParaRPr>
            </a:p>
            <a:p>
              <a:pPr>
                <a:lnSpc>
                  <a:spcPts val="1400"/>
                </a:lnSpc>
              </a:pPr>
              <a:endParaRPr lang="en-US" altLang="zh-CN" sz="1000" dirty="0">
                <a:latin typeface="微软雅黑" panose="020B0503020204020204" pitchFamily="34" charset="-122"/>
                <a:ea typeface="微软雅黑" panose="020B0503020204020204" pitchFamily="34" charset="-122"/>
              </a:endParaRPr>
            </a:p>
            <a:p>
              <a:pPr marL="171450" indent="-171450">
                <a:lnSpc>
                  <a:spcPts val="1400"/>
                </a:lnSpc>
                <a:buFontTx/>
                <a:buChar char="-"/>
              </a:pPr>
              <a:r>
                <a:rPr lang="en-US" altLang="zh-CN" sz="1000" dirty="0" err="1">
                  <a:solidFill>
                    <a:srgbClr val="0070C0"/>
                  </a:solidFill>
                  <a:latin typeface="微软雅黑" panose="020B0503020204020204" pitchFamily="34" charset="-122"/>
                  <a:ea typeface="微软雅黑" panose="020B0503020204020204" pitchFamily="34" charset="-122"/>
                </a:rPr>
                <a:t>CapacitymanagementwithExcel</a:t>
              </a:r>
              <a:endParaRPr lang="en-US" altLang="zh-CN" sz="1000" dirty="0">
                <a:solidFill>
                  <a:srgbClr val="0070C0"/>
                </a:solidFill>
                <a:latin typeface="微软雅黑" panose="020B0503020204020204" pitchFamily="34" charset="-122"/>
                <a:ea typeface="微软雅黑" panose="020B0503020204020204" pitchFamily="34" charset="-122"/>
              </a:endParaRPr>
            </a:p>
            <a:p>
              <a:pPr>
                <a:lnSpc>
                  <a:spcPts val="1400"/>
                </a:lnSpc>
              </a:pPr>
              <a:r>
                <a:rPr lang="en-US" altLang="zh-CN" sz="800" dirty="0">
                  <a:latin typeface="微软雅黑" panose="020B0503020204020204" pitchFamily="34" charset="-122"/>
                  <a:ea typeface="微软雅黑" panose="020B0503020204020204" pitchFamily="34" charset="-122"/>
                </a:rPr>
                <a:t>Thecoreofthecapacitymanagementistheabilityofswitchofinfo&amp;data,Excelistheessentialability.</a:t>
              </a:r>
            </a:p>
          </p:txBody>
        </p:sp>
      </p:grpSp>
      <p:grpSp>
        <p:nvGrpSpPr>
          <p:cNvPr id="29" name="Working experience">
            <a:extLst>
              <a:ext uri="{FF2B5EF4-FFF2-40B4-BE49-F238E27FC236}">
                <a16:creationId xmlns:a16="http://schemas.microsoft.com/office/drawing/2014/main" id="{DB46994E-A9BF-CE41-9B93-C7450ED7A724}"/>
              </a:ext>
            </a:extLst>
          </p:cNvPr>
          <p:cNvGrpSpPr/>
          <p:nvPr/>
        </p:nvGrpSpPr>
        <p:grpSpPr>
          <a:xfrm>
            <a:off x="9178687" y="2814450"/>
            <a:ext cx="4044192" cy="7149160"/>
            <a:chOff x="2645366" y="2083993"/>
            <a:chExt cx="4044192" cy="6509952"/>
          </a:xfrm>
        </p:grpSpPr>
        <p:sp>
          <p:nvSpPr>
            <p:cNvPr id="9" name="平行四边形 8"/>
            <p:cNvSpPr/>
            <p:nvPr/>
          </p:nvSpPr>
          <p:spPr>
            <a:xfrm>
              <a:off x="2686869" y="2083993"/>
              <a:ext cx="2184851" cy="220134"/>
            </a:xfrm>
            <a:prstGeom prst="parallelogram">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err="1">
                  <a:latin typeface="微软雅黑" panose="020B0503020204020204" pitchFamily="34" charset="-122"/>
                  <a:ea typeface="微软雅黑" panose="020B0503020204020204" pitchFamily="34" charset="-122"/>
                  <a:cs typeface="arial" panose="020B0604020202020204" pitchFamily="34" charset="0"/>
                </a:rPr>
                <a:t>Workingexperience</a:t>
              </a:r>
              <a:endParaRPr lang="zh-CN" altLang="en-US" sz="1100"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20" name="文本框 19">
              <a:extLst>
                <a:ext uri="{FF2B5EF4-FFF2-40B4-BE49-F238E27FC236}">
                  <a16:creationId xmlns:a16="http://schemas.microsoft.com/office/drawing/2014/main" id="{CC1EBB91-CDFE-B640-B2D6-B8BB71CC595B}"/>
                </a:ext>
              </a:extLst>
            </p:cNvPr>
            <p:cNvSpPr txBox="1"/>
            <p:nvPr/>
          </p:nvSpPr>
          <p:spPr>
            <a:xfrm>
              <a:off x="2645366" y="2287494"/>
              <a:ext cx="4044192" cy="6306451"/>
            </a:xfrm>
            <a:prstGeom prst="rect">
              <a:avLst/>
            </a:prstGeom>
            <a:noFill/>
          </p:spPr>
          <p:txBody>
            <a:bodyPr wrap="square" rtlCol="0">
              <a:spAutoFit/>
            </a:bodyPr>
            <a:lstStyle/>
            <a:p>
              <a:pPr>
                <a:lnSpc>
                  <a:spcPts val="1740"/>
                </a:lnSpc>
              </a:pPr>
              <a:r>
                <a:rPr lang="en-US" altLang="zh-CN" sz="1000" b="1" dirty="0">
                  <a:solidFill>
                    <a:srgbClr val="0070C0"/>
                  </a:solidFill>
                  <a:latin typeface="微软雅黑" panose="020B0503020204020204" pitchFamily="34" charset="-122"/>
                  <a:ea typeface="微软雅黑" panose="020B0503020204020204" pitchFamily="34" charset="-122"/>
                </a:rPr>
                <a:t>2006.02</a:t>
              </a:r>
              <a:r>
                <a:rPr lang="zh-CN" altLang="en-US" sz="1000" b="1" dirty="0">
                  <a:solidFill>
                    <a:srgbClr val="0070C0"/>
                  </a:solidFill>
                  <a:latin typeface="微软雅黑" panose="020B0503020204020204" pitchFamily="34" charset="-122"/>
                  <a:ea typeface="微软雅黑" panose="020B0503020204020204" pitchFamily="34" charset="-122"/>
                </a:rPr>
                <a:t>～</a:t>
              </a:r>
              <a:r>
                <a:rPr lang="en-US" altLang="zh-CN" sz="1000" b="1" dirty="0" err="1">
                  <a:solidFill>
                    <a:srgbClr val="0070C0"/>
                  </a:solidFill>
                  <a:latin typeface="微软雅黑" panose="020B0503020204020204" pitchFamily="34" charset="-122"/>
                  <a:ea typeface="微软雅黑" panose="020B0503020204020204" pitchFamily="34" charset="-122"/>
                </a:rPr>
                <a:t>NowShanghaiVolkswagenpowertrainCo</a:t>
              </a:r>
              <a:r>
                <a:rPr lang="en-US" altLang="zh-CN" sz="1000" b="1" dirty="0">
                  <a:solidFill>
                    <a:srgbClr val="0070C0"/>
                  </a:solidFill>
                  <a:latin typeface="微软雅黑" panose="020B0503020204020204" pitchFamily="34" charset="-122"/>
                  <a:ea typeface="微软雅黑" panose="020B0503020204020204" pitchFamily="34" charset="-122"/>
                </a:rPr>
                <a:t>.,Ltd</a:t>
              </a:r>
              <a:endParaRPr lang="en-US" altLang="zh-CN" sz="1000" dirty="0">
                <a:solidFill>
                  <a:srgbClr val="0070C0"/>
                </a:solidFill>
                <a:latin typeface="微软雅黑" panose="020B0503020204020204" pitchFamily="34" charset="-122"/>
                <a:ea typeface="微软雅黑" panose="020B0503020204020204" pitchFamily="34" charset="-122"/>
              </a:endParaRPr>
            </a:p>
            <a:p>
              <a:pPr>
                <a:lnSpc>
                  <a:spcPts val="1740"/>
                </a:lnSpc>
              </a:pPr>
              <a:r>
                <a:rPr lang="en-US" altLang="zh-CN" sz="1000" dirty="0">
                  <a:solidFill>
                    <a:srgbClr val="0070C0"/>
                  </a:solidFill>
                  <a:latin typeface="微软雅黑" panose="020B0503020204020204" pitchFamily="34" charset="-122"/>
                  <a:ea typeface="微软雅黑" panose="020B0503020204020204" pitchFamily="34" charset="-122"/>
                </a:rPr>
                <a:t>2016/Feb.~</a:t>
              </a:r>
              <a:r>
                <a:rPr lang="en-US" altLang="zh-CN" sz="1000" dirty="0" err="1">
                  <a:solidFill>
                    <a:srgbClr val="0070C0"/>
                  </a:solidFill>
                  <a:latin typeface="微软雅黑" panose="020B0503020204020204" pitchFamily="34" charset="-122"/>
                  <a:ea typeface="微软雅黑" panose="020B0503020204020204" pitchFamily="34" charset="-122"/>
                </a:rPr>
                <a:t>Now</a:t>
              </a:r>
              <a:r>
                <a:rPr lang="en-US" altLang="zh-CN" sz="1000" i="1" dirty="0" err="1">
                  <a:solidFill>
                    <a:srgbClr val="0070C0"/>
                  </a:solidFill>
                  <a:latin typeface="微软雅黑" panose="020B0503020204020204" pitchFamily="34" charset="-122"/>
                  <a:ea typeface="微软雅黑" panose="020B0503020204020204" pitchFamily="34" charset="-122"/>
                </a:rPr>
                <a:t>ExportofSCM</a:t>
              </a:r>
              <a:r>
                <a:rPr lang="en-US" altLang="zh-CN" sz="1000" i="1" dirty="0">
                  <a:solidFill>
                    <a:srgbClr val="0070C0"/>
                  </a:solidFill>
                  <a:latin typeface="微软雅黑" panose="020B0503020204020204" pitchFamily="34" charset="-122"/>
                  <a:ea typeface="微软雅黑" panose="020B0503020204020204" pitchFamily="34" charset="-122"/>
                </a:rPr>
                <a:t>(BKM)</a:t>
              </a:r>
            </a:p>
            <a:p>
              <a:pPr marL="171450" indent="-171450">
                <a:lnSpc>
                  <a:spcPct val="150000"/>
                </a:lnSpc>
                <a:buFontTx/>
                <a:buChar char="-"/>
              </a:pPr>
              <a:r>
                <a:rPr lang="en-US" altLang="zh-CN" sz="800" kern="100" dirty="0" err="1">
                  <a:latin typeface="Microsoft YaHei" panose="020B0503020204020204" pitchFamily="34" charset="-122"/>
                  <a:ea typeface="Microsoft YaHei" panose="020B0503020204020204" pitchFamily="34" charset="-122"/>
                  <a:cs typeface="Arial" panose="020B0604020202020204" pitchFamily="34" charset="0"/>
                </a:rPr>
                <a:t>LeadtheBKMteamtocompletetheannualgoal</a:t>
              </a:r>
              <a:endParaRPr lang="en-US" altLang="zh-CN" sz="800" kern="100" dirty="0">
                <a:latin typeface="Microsoft YaHei" panose="020B0503020204020204" pitchFamily="34" charset="-122"/>
                <a:ea typeface="Microsoft YaHei" panose="020B0503020204020204" pitchFamily="34" charset="-122"/>
                <a:cs typeface="Arial" panose="020B0604020202020204" pitchFamily="34" charset="0"/>
              </a:endParaRPr>
            </a:p>
            <a:p>
              <a:pPr marL="171450" indent="-171450">
                <a:lnSpc>
                  <a:spcPct val="150000"/>
                </a:lnSpc>
                <a:buFontTx/>
                <a:buChar char="-"/>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PlanningtheproductioncapacityofthesupplierbasedonthestrategicoftheVolkswagenGroup</a:t>
              </a:r>
            </a:p>
            <a:p>
              <a:pPr marL="171450" indent="-171450">
                <a:lnSpc>
                  <a:spcPct val="150000"/>
                </a:lnSpc>
                <a:buFontTx/>
                <a:buChar char="-"/>
              </a:pPr>
              <a:r>
                <a:rPr lang="en-US" altLang="zh-CN" sz="800" kern="100" dirty="0" err="1">
                  <a:latin typeface="Microsoft YaHei" panose="020B0503020204020204" pitchFamily="34" charset="-122"/>
                  <a:ea typeface="Microsoft YaHei" panose="020B0503020204020204" pitchFamily="34" charset="-122"/>
                  <a:cs typeface="Arial" panose="020B0604020202020204" pitchFamily="34" charset="0"/>
                </a:rPr>
                <a:t>RepresentingthecompanyintheresourcesallocationofVolkswagenChina</a:t>
              </a:r>
              <a:endParaRPr lang="en-US" altLang="zh-CN" sz="800" kern="100" dirty="0">
                <a:latin typeface="Microsoft YaHei" panose="020B0503020204020204" pitchFamily="34" charset="-122"/>
                <a:ea typeface="Microsoft YaHei" panose="020B0503020204020204" pitchFamily="34" charset="-122"/>
                <a:cs typeface="Arial" panose="020B0604020202020204" pitchFamily="34" charset="0"/>
              </a:endParaRPr>
            </a:p>
            <a:p>
              <a:pPr marL="171450" indent="-171450">
                <a:lnSpc>
                  <a:spcPct val="150000"/>
                </a:lnSpc>
                <a:buFontTx/>
                <a:buChar char="-"/>
              </a:pPr>
              <a:r>
                <a:rPr lang="en-US" altLang="zh-CN" sz="800" kern="100" dirty="0" err="1">
                  <a:latin typeface="Microsoft YaHei" panose="020B0503020204020204" pitchFamily="34" charset="-122"/>
                  <a:ea typeface="Microsoft YaHei" panose="020B0503020204020204" pitchFamily="34" charset="-122"/>
                  <a:cs typeface="Arial" panose="020B0604020202020204" pitchFamily="34" charset="0"/>
                </a:rPr>
                <a:t>Managesupplier’sKPI</a:t>
              </a: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(covering130+suppliersand500+partsintotal),andcoordinatetheoptimalsolutions.Theassessmentcontentcovers:capacitystatus,deliveryaccuracy&amp;timelyrate,packagingstatus,etc.</a:t>
              </a:r>
            </a:p>
            <a:p>
              <a:pPr marL="171450" indent="-171450">
                <a:lnSpc>
                  <a:spcPct val="150000"/>
                </a:lnSpc>
                <a:buFontTx/>
                <a:buChar char="-"/>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Carryoutlogisticsauditonbatchsuppliersanddeterminetheirnominationsfornewprojects.</a:t>
              </a:r>
            </a:p>
            <a:p>
              <a:pPr marL="171450" indent="-171450">
                <a:lnSpc>
                  <a:spcPct val="150000"/>
                </a:lnSpc>
                <a:buFontTx/>
                <a:buChar char="-"/>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Foresee,analysisandsummarizethesupplyrisks,andformulatesolutionstoensureseriesproduction.Ithasbeenfor5+continuallyyearstoensurethatnosupplychainissuesaffecttheseriesproduction.</a:t>
              </a:r>
            </a:p>
            <a:p>
              <a:pPr marL="171450" indent="-171450">
                <a:lnSpc>
                  <a:spcPct val="150000"/>
                </a:lnSpc>
                <a:buFontTx/>
                <a:buChar char="-"/>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ProviderelevantadviceofsupplystatustoS&amp;OP,andguidefuturemonthlyproductionplan.</a:t>
              </a:r>
            </a:p>
            <a:p>
              <a:pPr marL="171450" indent="-171450">
                <a:lnSpc>
                  <a:spcPct val="150000"/>
                </a:lnSpc>
                <a:buFontTx/>
                <a:buChar char="-"/>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Assistthesupplier’sproductionlaunchofnewprojects.Supportedsomefactoriesramp-upofanumberoftop10foundrycompaniesinChina.</a:t>
              </a:r>
            </a:p>
            <a:p>
              <a:pPr marL="171450" indent="-171450">
                <a:lnSpc>
                  <a:spcPct val="150000"/>
                </a:lnSpc>
                <a:buFontTx/>
                <a:buChar char="-"/>
              </a:pPr>
              <a:r>
                <a:rPr lang="en-US" altLang="zh-CN" sz="800" kern="100" dirty="0" err="1">
                  <a:latin typeface="Microsoft YaHei" panose="020B0503020204020204" pitchFamily="34" charset="-122"/>
                  <a:ea typeface="Microsoft YaHei" panose="020B0503020204020204" pitchFamily="34" charset="-122"/>
                  <a:cs typeface="Arial" panose="020B0604020202020204" pitchFamily="34" charset="0"/>
                </a:rPr>
                <a:t>CooperationwithVGC,FAW</a:t>
              </a: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-VW,SVW(</a:t>
              </a:r>
              <a:r>
                <a:rPr lang="en-US" altLang="zh-CN" sz="800" kern="100" dirty="0" err="1">
                  <a:latin typeface="Microsoft YaHei" panose="020B0503020204020204" pitchFamily="34" charset="-122"/>
                  <a:ea typeface="Microsoft YaHei" panose="020B0503020204020204" pitchFamily="34" charset="-122"/>
                  <a:cs typeface="Arial" panose="020B0604020202020204" pitchFamily="34" charset="0"/>
                </a:rPr>
                <a:t>Grouplevel</a:t>
              </a: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),aswellaspurchase,logistics,financing,engineering,qualityandotherdepartments(</a:t>
              </a:r>
              <a:r>
                <a:rPr lang="en-US" altLang="zh-CN" sz="800" kern="100" dirty="0" err="1">
                  <a:latin typeface="Microsoft YaHei" panose="020B0503020204020204" pitchFamily="34" charset="-122"/>
                  <a:ea typeface="Microsoft YaHei" panose="020B0503020204020204" pitchFamily="34" charset="-122"/>
                  <a:cs typeface="Arial" panose="020B0604020202020204" pitchFamily="34" charset="0"/>
                </a:rPr>
                <a:t>Corporatelevel</a:t>
              </a: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a:t>
              </a:r>
              <a:r>
                <a:rPr lang="en-US" altLang="zh-CN" sz="800" kern="100" dirty="0" err="1">
                  <a:latin typeface="Microsoft YaHei" panose="020B0503020204020204" pitchFamily="34" charset="-122"/>
                  <a:ea typeface="Microsoft YaHei" panose="020B0503020204020204" pitchFamily="34" charset="-122"/>
                  <a:cs typeface="Arial" panose="020B0604020202020204" pitchFamily="34" charset="0"/>
                </a:rPr>
                <a:t>bethecross-functioncooperation,jointlysolvesupplychainrisk</a:t>
              </a: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a:t>
              </a:r>
            </a:p>
            <a:p>
              <a:pPr marL="171450" indent="-171450">
                <a:lnSpc>
                  <a:spcPct val="150000"/>
                </a:lnSpc>
                <a:buFontTx/>
                <a:buChar char="-"/>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Teachingandin-housetrainingfortheemployeesoftheBKMteamandhiredbySAICtrainingcenterbetheexternallecturer.</a:t>
              </a:r>
            </a:p>
            <a:p>
              <a:pPr>
                <a:lnSpc>
                  <a:spcPts val="1740"/>
                </a:lnSpc>
              </a:pPr>
              <a:r>
                <a:rPr lang="en-US" altLang="zh-CN" sz="1000" dirty="0">
                  <a:solidFill>
                    <a:srgbClr val="0070C0"/>
                  </a:solidFill>
                  <a:latin typeface="微软雅黑" panose="020B0503020204020204" pitchFamily="34" charset="-122"/>
                  <a:ea typeface="微软雅黑" panose="020B0503020204020204" pitchFamily="34" charset="-122"/>
                </a:rPr>
                <a:t>2006/Jul.</a:t>
              </a:r>
              <a:r>
                <a:rPr lang="zh-CN" altLang="en-US" sz="1000" dirty="0">
                  <a:solidFill>
                    <a:srgbClr val="0070C0"/>
                  </a:solidFill>
                  <a:latin typeface="微软雅黑" panose="020B0503020204020204" pitchFamily="34" charset="-122"/>
                  <a:ea typeface="微软雅黑" panose="020B0503020204020204" pitchFamily="34" charset="-122"/>
                </a:rPr>
                <a:t>～</a:t>
              </a:r>
              <a:r>
                <a:rPr lang="en-US" altLang="zh-CN" sz="1000" dirty="0">
                  <a:solidFill>
                    <a:srgbClr val="0070C0"/>
                  </a:solidFill>
                  <a:latin typeface="微软雅黑" panose="020B0503020204020204" pitchFamily="34" charset="-122"/>
                  <a:ea typeface="微软雅黑" panose="020B0503020204020204" pitchFamily="34" charset="-122"/>
                </a:rPr>
                <a:t>2016/Jan</a:t>
              </a:r>
              <a:r>
                <a:rPr lang="en-US" altLang="zh-CN" sz="1000" i="1" dirty="0">
                  <a:solidFill>
                    <a:srgbClr val="0070C0"/>
                  </a:solidFill>
                  <a:latin typeface="微软雅黑" panose="020B0503020204020204" pitchFamily="34" charset="-122"/>
                  <a:ea typeface="微软雅黑" panose="020B0503020204020204" pitchFamily="34" charset="-122"/>
                </a:rPr>
                <a:t>Disposition&amp;MaterialplanningSpecialist</a:t>
              </a:r>
            </a:p>
            <a:p>
              <a:pPr marL="171450" indent="-171450">
                <a:lnSpc>
                  <a:spcPts val="1740"/>
                </a:lnSpc>
                <a:buFontTx/>
                <a:buChar char="-"/>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OperatetheSAPMRPmodule,makeapartmaterialplanandpublishitviaWEB-EDI</a:t>
              </a:r>
            </a:p>
            <a:p>
              <a:pPr marL="171450" indent="-171450">
                <a:lnSpc>
                  <a:spcPts val="1740"/>
                </a:lnSpc>
                <a:buFontTx/>
                <a:buChar char="-"/>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MaintainMRPrelateddata,controldeliverycycle,minimumorderbatch,safetystock,etc.</a:t>
              </a:r>
            </a:p>
            <a:p>
              <a:pPr marL="171450" indent="-171450">
                <a:lnSpc>
                  <a:spcPts val="1740"/>
                </a:lnSpc>
                <a:buFontTx/>
                <a:buChar char="-"/>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Promotetheimprovementofthelogisticsoperationqualityofsuppliers,andassistpackaging&amp;transportationengineerstoreducelogisticscosts.</a:t>
              </a:r>
            </a:p>
            <a:p>
              <a:pPr marL="171450" indent="-171450">
                <a:lnSpc>
                  <a:spcPts val="1740"/>
                </a:lnSpc>
                <a:buFontTx/>
                <a:buChar char="-"/>
              </a:pPr>
              <a:r>
                <a:rPr lang="en-US" altLang="zh-CN" sz="800" kern="100" dirty="0" err="1">
                  <a:latin typeface="Microsoft YaHei" panose="020B0503020204020204" pitchFamily="34" charset="-122"/>
                  <a:ea typeface="Microsoft YaHei" panose="020B0503020204020204" pitchFamily="34" charset="-122"/>
                  <a:cs typeface="Arial" panose="020B0604020202020204" pitchFamily="34" charset="0"/>
                </a:rPr>
                <a:t>Trackingpartsarrive,ifnecessaryexpediting</a:t>
              </a: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a:t>
              </a:r>
            </a:p>
            <a:p>
              <a:pPr marL="171450" indent="-171450">
                <a:lnSpc>
                  <a:spcPts val="1740"/>
                </a:lnSpc>
                <a:buFontTx/>
                <a:buChar char="-"/>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Basedonmaterialssupplysituation,assistintheproductionplannerforeffectiveplanning.</a:t>
              </a:r>
            </a:p>
          </p:txBody>
        </p:sp>
      </p:grpSp>
      <p:grpSp>
        <p:nvGrpSpPr>
          <p:cNvPr id="28" name="Education">
            <a:extLst>
              <a:ext uri="{FF2B5EF4-FFF2-40B4-BE49-F238E27FC236}">
                <a16:creationId xmlns:a16="http://schemas.microsoft.com/office/drawing/2014/main" id="{F3A13B67-3BA1-E34D-9F2D-EF7B8086C05D}"/>
              </a:ext>
            </a:extLst>
          </p:cNvPr>
          <p:cNvGrpSpPr/>
          <p:nvPr/>
        </p:nvGrpSpPr>
        <p:grpSpPr>
          <a:xfrm>
            <a:off x="9178686" y="2049121"/>
            <a:ext cx="4208483" cy="933145"/>
            <a:chOff x="2645365" y="1300179"/>
            <a:chExt cx="4208483" cy="933145"/>
          </a:xfrm>
        </p:grpSpPr>
        <p:sp>
          <p:nvSpPr>
            <p:cNvPr id="11" name="平行四边形 10">
              <a:extLst>
                <a:ext uri="{FF2B5EF4-FFF2-40B4-BE49-F238E27FC236}">
                  <a16:creationId xmlns:a16="http://schemas.microsoft.com/office/drawing/2014/main" id="{B69D46CF-96A9-8240-9F33-59697F6991D1}"/>
                </a:ext>
              </a:extLst>
            </p:cNvPr>
            <p:cNvSpPr/>
            <p:nvPr/>
          </p:nvSpPr>
          <p:spPr>
            <a:xfrm>
              <a:off x="2686868" y="1300179"/>
              <a:ext cx="2184851" cy="220134"/>
            </a:xfrm>
            <a:prstGeom prst="parallelogram">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latin typeface="微软雅黑" panose="020B0503020204020204" pitchFamily="34" charset="-122"/>
                  <a:ea typeface="微软雅黑" panose="020B0503020204020204" pitchFamily="34" charset="-122"/>
                </a:rPr>
                <a:t>Education</a:t>
              </a:r>
              <a:endParaRPr lang="zh-CN" altLang="en-US" sz="1100" dirty="0">
                <a:latin typeface="微软雅黑" panose="020B0503020204020204" pitchFamily="34" charset="-122"/>
                <a:ea typeface="微软雅黑" panose="020B0503020204020204" pitchFamily="34" charset="-122"/>
              </a:endParaRPr>
            </a:p>
          </p:txBody>
        </p:sp>
        <p:sp>
          <p:nvSpPr>
            <p:cNvPr id="27" name="矩形 26">
              <a:extLst>
                <a:ext uri="{FF2B5EF4-FFF2-40B4-BE49-F238E27FC236}">
                  <a16:creationId xmlns:a16="http://schemas.microsoft.com/office/drawing/2014/main" id="{04B4FE99-F560-2646-87D4-C46458AD6C7B}"/>
                </a:ext>
              </a:extLst>
            </p:cNvPr>
            <p:cNvSpPr/>
            <p:nvPr/>
          </p:nvSpPr>
          <p:spPr>
            <a:xfrm>
              <a:off x="2645365" y="1510947"/>
              <a:ext cx="4208483" cy="722377"/>
            </a:xfrm>
            <a:prstGeom prst="rect">
              <a:avLst/>
            </a:prstGeom>
          </p:spPr>
          <p:txBody>
            <a:bodyPr wrap="square">
              <a:spAutoFit/>
            </a:bodyPr>
            <a:lstStyle/>
            <a:p>
              <a:pPr>
                <a:lnSpc>
                  <a:spcPts val="1740"/>
                </a:lnSpc>
              </a:pPr>
              <a:r>
                <a:rPr lang="en-US" altLang="zh-CN" sz="1000" b="1" dirty="0">
                  <a:solidFill>
                    <a:srgbClr val="0070C0"/>
                  </a:solidFill>
                  <a:latin typeface="Microsoft YaHei" panose="020B0503020204020204" pitchFamily="34" charset="-122"/>
                  <a:ea typeface="Microsoft YaHei" panose="020B0503020204020204" pitchFamily="34" charset="-122"/>
                </a:rPr>
                <a:t>2002/Sep.</a:t>
              </a:r>
              <a:r>
                <a:rPr lang="zh-CN" altLang="en-US" sz="1000" b="1" dirty="0">
                  <a:solidFill>
                    <a:srgbClr val="0070C0"/>
                  </a:solidFill>
                  <a:latin typeface="Microsoft YaHei" panose="020B0503020204020204" pitchFamily="34" charset="-122"/>
                  <a:ea typeface="Microsoft YaHei" panose="020B0503020204020204" pitchFamily="34" charset="-122"/>
                </a:rPr>
                <a:t>～</a:t>
              </a:r>
              <a:r>
                <a:rPr lang="en-US" altLang="zh-CN" sz="1000" b="1" dirty="0">
                  <a:solidFill>
                    <a:srgbClr val="0070C0"/>
                  </a:solidFill>
                  <a:latin typeface="Microsoft YaHei" panose="020B0503020204020204" pitchFamily="34" charset="-122"/>
                  <a:ea typeface="Microsoft YaHei" panose="020B0503020204020204" pitchFamily="34" charset="-122"/>
                </a:rPr>
                <a:t>2006/Jul</a:t>
              </a:r>
              <a:r>
                <a:rPr lang="en-US" altLang="zh-CN" sz="1000" b="1" kern="100" dirty="0">
                  <a:solidFill>
                    <a:srgbClr val="0070C0"/>
                  </a:solidFill>
                  <a:latin typeface="Microsoft YaHei" panose="020B0503020204020204" pitchFamily="34" charset="-122"/>
                  <a:ea typeface="Microsoft YaHei" panose="020B0503020204020204" pitchFamily="34" charset="-122"/>
                  <a:cs typeface="Arial" panose="020B0604020202020204" pitchFamily="34" charset="0"/>
                </a:rPr>
                <a:t>	</a:t>
              </a:r>
              <a:r>
                <a:rPr lang="en-US" altLang="zh-CN" sz="1000" b="1" dirty="0" err="1">
                  <a:solidFill>
                    <a:srgbClr val="0070C0"/>
                  </a:solidFill>
                  <a:latin typeface="Microsoft YaHei" panose="020B0503020204020204" pitchFamily="34" charset="-122"/>
                  <a:ea typeface="Microsoft YaHei" panose="020B0503020204020204" pitchFamily="34" charset="-122"/>
                </a:rPr>
                <a:t>ShanghaiMaritimeUniversity</a:t>
              </a:r>
              <a:r>
                <a:rPr lang="en-US" altLang="zh-CN" sz="1000" dirty="0" err="1">
                  <a:solidFill>
                    <a:srgbClr val="0070C0"/>
                  </a:solidFill>
                  <a:latin typeface="Microsoft YaHei" panose="020B0503020204020204" pitchFamily="34" charset="-122"/>
                  <a:ea typeface="Microsoft YaHei" panose="020B0503020204020204" pitchFamily="34" charset="-122"/>
                </a:rPr>
                <a:t>Marineengineering</a:t>
              </a:r>
              <a:r>
                <a:rPr lang="en-US" altLang="zh-CN" sz="1000" dirty="0">
                  <a:solidFill>
                    <a:srgbClr val="0070C0"/>
                  </a:solidFill>
                  <a:latin typeface="Microsoft YaHei" panose="020B0503020204020204" pitchFamily="34" charset="-122"/>
                  <a:ea typeface="Microsoft YaHei" panose="020B0503020204020204" pitchFamily="34" charset="-122"/>
                </a:rPr>
                <a:t>	</a:t>
              </a:r>
              <a:r>
                <a:rPr lang="en-US" altLang="zh-CN" sz="1000" dirty="0" err="1">
                  <a:solidFill>
                    <a:srgbClr val="0070C0"/>
                  </a:solidFill>
                  <a:latin typeface="Microsoft YaHei" panose="020B0503020204020204" pitchFamily="34" charset="-122"/>
                  <a:ea typeface="Microsoft YaHei" panose="020B0503020204020204" pitchFamily="34" charset="-122"/>
                </a:rPr>
                <a:t>BachelorinEngineering</a:t>
              </a:r>
              <a:endParaRPr lang="en-US" altLang="zh-CN" sz="1000" kern="100" dirty="0">
                <a:solidFill>
                  <a:srgbClr val="0070C0"/>
                </a:solidFill>
                <a:latin typeface="Microsoft YaHei" panose="020B0503020204020204" pitchFamily="34" charset="-122"/>
                <a:ea typeface="Microsoft YaHei" panose="020B0503020204020204" pitchFamily="34" charset="-122"/>
                <a:cs typeface="Arial" panose="020B0604020202020204" pitchFamily="34" charset="0"/>
              </a:endParaRPr>
            </a:p>
          </p:txBody>
        </p:sp>
      </p:grpSp>
      <p:grpSp>
        <p:nvGrpSpPr>
          <p:cNvPr id="18" name="Certification"/>
          <p:cNvGrpSpPr/>
          <p:nvPr/>
        </p:nvGrpSpPr>
        <p:grpSpPr>
          <a:xfrm>
            <a:off x="-2883862" y="7737682"/>
            <a:ext cx="2538738" cy="1456297"/>
            <a:chOff x="97877" y="8380759"/>
            <a:chExt cx="2538738" cy="1456297"/>
          </a:xfrm>
        </p:grpSpPr>
        <p:sp>
          <p:nvSpPr>
            <p:cNvPr id="34" name="文本框 33">
              <a:extLst>
                <a:ext uri="{FF2B5EF4-FFF2-40B4-BE49-F238E27FC236}">
                  <a16:creationId xmlns:a16="http://schemas.microsoft.com/office/drawing/2014/main" id="{774E4F0B-CC67-FA4B-8F74-AA06BB21F82C}"/>
                </a:ext>
              </a:extLst>
            </p:cNvPr>
            <p:cNvSpPr txBox="1"/>
            <p:nvPr/>
          </p:nvSpPr>
          <p:spPr>
            <a:xfrm>
              <a:off x="681446" y="8380759"/>
              <a:ext cx="1320800" cy="261610"/>
            </a:xfrm>
            <a:prstGeom prst="rect">
              <a:avLst/>
            </a:prstGeom>
            <a:noFill/>
          </p:spPr>
          <p:txBody>
            <a:bodyPr wrap="square" rtlCol="0" anchor="ctr">
              <a:spAutoFit/>
            </a:bodyPr>
            <a:lstStyle/>
            <a:p>
              <a:pPr algn="ctr"/>
              <a:r>
                <a:rPr lang="en-US" altLang="zh-CN" sz="1100" b="1" dirty="0">
                  <a:solidFill>
                    <a:srgbClr val="0070C0"/>
                  </a:solidFill>
                  <a:latin typeface="微软雅黑" panose="020B0503020204020204" pitchFamily="34" charset="-122"/>
                  <a:ea typeface="微软雅黑" panose="020B0503020204020204" pitchFamily="34" charset="-122"/>
                </a:rPr>
                <a:t>Certification</a:t>
              </a:r>
              <a:endParaRPr lang="zh-CN" altLang="en-US" sz="1100" b="1" dirty="0">
                <a:solidFill>
                  <a:srgbClr val="0070C0"/>
                </a:solidFill>
                <a:latin typeface="微软雅黑" panose="020B0503020204020204" pitchFamily="34" charset="-122"/>
                <a:ea typeface="微软雅黑" panose="020B0503020204020204" pitchFamily="34" charset="-122"/>
              </a:endParaRPr>
            </a:p>
          </p:txBody>
        </p:sp>
        <p:sp>
          <p:nvSpPr>
            <p:cNvPr id="35" name="文本框 34">
              <a:extLst>
                <a:ext uri="{FF2B5EF4-FFF2-40B4-BE49-F238E27FC236}">
                  <a16:creationId xmlns:a16="http://schemas.microsoft.com/office/drawing/2014/main" id="{A425A402-A123-ED43-8AD0-CE8C21955BB8}"/>
                </a:ext>
              </a:extLst>
            </p:cNvPr>
            <p:cNvSpPr txBox="1"/>
            <p:nvPr/>
          </p:nvSpPr>
          <p:spPr>
            <a:xfrm>
              <a:off x="97877" y="8654681"/>
              <a:ext cx="2538738" cy="1182375"/>
            </a:xfrm>
            <a:prstGeom prst="rect">
              <a:avLst/>
            </a:prstGeom>
            <a:noFill/>
          </p:spPr>
          <p:txBody>
            <a:bodyPr wrap="square" rtlCol="0">
              <a:spAutoFit/>
            </a:bodyPr>
            <a:lstStyle/>
            <a:p>
              <a:pPr>
                <a:lnSpc>
                  <a:spcPts val="1740"/>
                </a:lnSpc>
              </a:pPr>
              <a:r>
                <a:rPr lang="en-US" altLang="zh-CN" sz="1000" dirty="0">
                  <a:solidFill>
                    <a:srgbClr val="0070C0"/>
                  </a:solidFill>
                  <a:latin typeface="微软雅黑" panose="020B0503020204020204" pitchFamily="34" charset="-122"/>
                  <a:ea typeface="微软雅黑" panose="020B0503020204020204" pitchFamily="34" charset="-122"/>
                </a:rPr>
                <a:t>EnglishlevelCET4</a:t>
              </a:r>
              <a:endParaRPr lang="en-US" altLang="zh-CN" sz="900" dirty="0">
                <a:solidFill>
                  <a:srgbClr val="0070C0"/>
                </a:solidFill>
                <a:latin typeface="微软雅黑" panose="020B0503020204020204" pitchFamily="34" charset="-122"/>
                <a:ea typeface="微软雅黑" panose="020B0503020204020204" pitchFamily="34" charset="-122"/>
              </a:endParaRPr>
            </a:p>
            <a:p>
              <a:pPr>
                <a:lnSpc>
                  <a:spcPts val="1740"/>
                </a:lnSpc>
              </a:pPr>
              <a:r>
                <a:rPr lang="en-US" altLang="zh-CN" sz="800" dirty="0">
                  <a:latin typeface="微软雅黑" panose="020B0503020204020204" pitchFamily="34" charset="-122"/>
                  <a:ea typeface="微软雅黑" panose="020B0503020204020204" pitchFamily="34" charset="-122"/>
                </a:rPr>
                <a:t>CertifiedTime:2004</a:t>
              </a:r>
            </a:p>
            <a:p>
              <a:pPr>
                <a:lnSpc>
                  <a:spcPts val="1740"/>
                </a:lnSpc>
              </a:pPr>
              <a:endParaRPr lang="en-US" altLang="zh-CN" sz="900" dirty="0">
                <a:latin typeface="微软雅黑" panose="020B0503020204020204" pitchFamily="34" charset="-122"/>
                <a:ea typeface="微软雅黑" panose="020B0503020204020204" pitchFamily="34" charset="-122"/>
              </a:endParaRPr>
            </a:p>
            <a:p>
              <a:pPr>
                <a:lnSpc>
                  <a:spcPts val="1740"/>
                </a:lnSpc>
              </a:pPr>
              <a:r>
                <a:rPr lang="en-US" altLang="zh-CN" sz="1000" dirty="0">
                  <a:solidFill>
                    <a:srgbClr val="0070C0"/>
                  </a:solidFill>
                  <a:latin typeface="微软雅黑" panose="020B0503020204020204" pitchFamily="34" charset="-122"/>
                  <a:ea typeface="微软雅黑" panose="020B0503020204020204" pitchFamily="34" charset="-122"/>
                </a:rPr>
                <a:t>Process-AuditortoVDA6.3</a:t>
              </a:r>
            </a:p>
            <a:p>
              <a:pPr>
                <a:lnSpc>
                  <a:spcPts val="1740"/>
                </a:lnSpc>
              </a:pPr>
              <a:r>
                <a:rPr lang="en-US" altLang="zh-CN" sz="800" dirty="0">
                  <a:latin typeface="微软雅黑" panose="020B0503020204020204" pitchFamily="34" charset="-122"/>
                  <a:ea typeface="微软雅黑" panose="020B0503020204020204" pitchFamily="34" charset="-122"/>
                </a:rPr>
                <a:t>CertifiedTime:2011</a:t>
              </a:r>
            </a:p>
          </p:txBody>
        </p:sp>
      </p:grpSp>
      <p:grpSp>
        <p:nvGrpSpPr>
          <p:cNvPr id="6" name="Self-Evaluation"/>
          <p:cNvGrpSpPr/>
          <p:nvPr/>
        </p:nvGrpSpPr>
        <p:grpSpPr>
          <a:xfrm>
            <a:off x="9178685" y="460230"/>
            <a:ext cx="3960309" cy="1748672"/>
            <a:chOff x="2645364" y="511388"/>
            <a:chExt cx="4104907" cy="1748672"/>
          </a:xfrm>
        </p:grpSpPr>
        <p:sp>
          <p:nvSpPr>
            <p:cNvPr id="5" name="平行四边形 4"/>
            <p:cNvSpPr/>
            <p:nvPr/>
          </p:nvSpPr>
          <p:spPr>
            <a:xfrm>
              <a:off x="2686869" y="511388"/>
              <a:ext cx="2266139" cy="220134"/>
            </a:xfrm>
            <a:prstGeom prst="parallelogram">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latin typeface="微软雅黑" panose="020B0503020204020204" pitchFamily="34" charset="-122"/>
                  <a:ea typeface="微软雅黑" panose="020B0503020204020204" pitchFamily="34" charset="-122"/>
                </a:rPr>
                <a:t>Self-Evaluation</a:t>
              </a:r>
              <a:endParaRPr lang="zh-CN" altLang="en-US" sz="1100" dirty="0">
                <a:latin typeface="微软雅黑" panose="020B0503020204020204" pitchFamily="34" charset="-122"/>
                <a:ea typeface="微软雅黑" panose="020B0503020204020204" pitchFamily="34" charset="-122"/>
              </a:endParaRPr>
            </a:p>
          </p:txBody>
        </p:sp>
        <p:sp>
          <p:nvSpPr>
            <p:cNvPr id="36" name="矩形 35">
              <a:extLst>
                <a:ext uri="{FF2B5EF4-FFF2-40B4-BE49-F238E27FC236}">
                  <a16:creationId xmlns:a16="http://schemas.microsoft.com/office/drawing/2014/main" id="{04B4FE99-F560-2646-87D4-C46458AD6C7B}"/>
                </a:ext>
              </a:extLst>
            </p:cNvPr>
            <p:cNvSpPr/>
            <p:nvPr/>
          </p:nvSpPr>
          <p:spPr>
            <a:xfrm>
              <a:off x="2645364" y="712136"/>
              <a:ext cx="4104907" cy="1547924"/>
            </a:xfrm>
            <a:prstGeom prst="rect">
              <a:avLst/>
            </a:prstGeom>
          </p:spPr>
          <p:txBody>
            <a:bodyPr wrap="square">
              <a:spAutoFit/>
            </a:bodyPr>
            <a:lstStyle/>
            <a:p>
              <a:pPr marL="171450" indent="-171450">
                <a:lnSpc>
                  <a:spcPct val="150000"/>
                </a:lnSpc>
                <a:buFontTx/>
                <a:buChar char="-"/>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Stronganalysisandlogic,skilledinfindingthereasonsoftheproblemandsolvingtheproblemwiththebestsolutions</a:t>
              </a:r>
            </a:p>
            <a:p>
              <a:pPr marL="171450" indent="-171450">
                <a:lnSpc>
                  <a:spcPct val="150000"/>
                </a:lnSpc>
                <a:buFontTx/>
                <a:buChar char="-"/>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Goodatsummarizingandforward-looking,betheconditionsforprocessdescription,reporting,coursewareproductionandtraining.</a:t>
              </a:r>
            </a:p>
            <a:p>
              <a:pPr marL="171450" indent="-171450">
                <a:lnSpc>
                  <a:spcPct val="150000"/>
                </a:lnSpc>
                <a:buFontTx/>
                <a:buChar char="-"/>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Goodatcommunication&amp;teamwork.Canenjoythemulti-angleenvironmentofthegroupcompany,internalleadersandcolleagues,suppliersandcustomersatthesametime.</a:t>
              </a:r>
            </a:p>
          </p:txBody>
        </p:sp>
      </p:grpSp>
    </p:spTree>
    <p:extLst>
      <p:ext uri="{BB962C8B-B14F-4D97-AF65-F5344CB8AC3E}">
        <p14:creationId xmlns:p14="http://schemas.microsoft.com/office/powerpoint/2010/main" val="27988171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C1EBB91-CDFE-B640-B2D6-B8BB71CC595B}"/>
              </a:ext>
            </a:extLst>
          </p:cNvPr>
          <p:cNvSpPr txBox="1"/>
          <p:nvPr/>
        </p:nvSpPr>
        <p:spPr>
          <a:xfrm>
            <a:off x="314326" y="328144"/>
            <a:ext cx="6258752" cy="9787295"/>
          </a:xfrm>
          <a:prstGeom prst="rect">
            <a:avLst/>
          </a:prstGeom>
          <a:noFill/>
        </p:spPr>
        <p:txBody>
          <a:bodyPr wrap="square" rtlCol="0">
            <a:spAutoFit/>
          </a:bodyPr>
          <a:lstStyle/>
          <a:p>
            <a:pPr marL="0" lvl="1">
              <a:lnSpc>
                <a:spcPct val="150000"/>
              </a:lnSpc>
            </a:pPr>
            <a:r>
              <a:rPr lang="zh-CN" altLang="en-US" sz="1050" b="1" dirty="0">
                <a:solidFill>
                  <a:srgbClr val="696A6C"/>
                </a:solidFill>
                <a:latin typeface="微软雅黑" panose="020B0503020204020204" pitchFamily="34" charset="-122"/>
                <a:ea typeface="微软雅黑" panose="020B0503020204020204" pitchFamily="34" charset="-122"/>
              </a:rPr>
              <a:t>供应链芯片相关深入管理（</a:t>
            </a:r>
            <a:r>
              <a:rPr lang="en-US" altLang="zh-CN" sz="1050" b="1" dirty="0">
                <a:solidFill>
                  <a:srgbClr val="696A6C"/>
                </a:solidFill>
                <a:latin typeface="微软雅黑" panose="020B0503020204020204" pitchFamily="34" charset="-122"/>
                <a:ea typeface="微软雅黑" panose="020B0503020204020204" pitchFamily="34" charset="-122"/>
              </a:rPr>
              <a:t>2021</a:t>
            </a:r>
            <a:r>
              <a:rPr lang="zh-CN" altLang="en-US" sz="1050" b="1" dirty="0">
                <a:solidFill>
                  <a:srgbClr val="696A6C"/>
                </a:solidFill>
                <a:latin typeface="微软雅黑" panose="020B0503020204020204" pitchFamily="34" charset="-122"/>
                <a:ea typeface="微软雅黑" panose="020B0503020204020204" pitchFamily="34" charset="-122"/>
              </a:rPr>
              <a:t>）</a:t>
            </a:r>
            <a:endParaRPr lang="en-US" altLang="zh-CN" sz="1050" b="1" dirty="0">
              <a:solidFill>
                <a:srgbClr val="696A6C"/>
              </a:solidFill>
              <a:latin typeface="微软雅黑" panose="020B0503020204020204" pitchFamily="34" charset="-122"/>
              <a:ea typeface="微软雅黑" panose="020B0503020204020204" pitchFamily="34" charset="-122"/>
            </a:endParaRPr>
          </a:p>
          <a:p>
            <a:pPr marL="0" lvl="1">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项目负责人，主导项目团队完成全程工作。并对收集整理后的数据进行归档。</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0" lvl="1">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全球芯片短缺，</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VW</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中国</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2020</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年全年损失整车产量大于</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50</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万台。反观芯片供应问题的蔓延也映射了传统汽车制造业供应链管理的漏洞。</a:t>
            </a:r>
          </a:p>
          <a:p>
            <a:pPr marL="0" lvl="1">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基于以上，组建项目团队包括：开发、采购、物流、质量。对</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EA211</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所辖供应商进行</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100%</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的排查，在</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489</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个批量零部件中找出了</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35</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个涉及芯片零件，将其进行产地（对应地区疫情波动）</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&amp;</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类型（对应紧缺层级差异）分类。</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0" lvl="1">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通过关键供应链环节库存滚动通报，将芯片相关断点前移至少</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8</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周，为生产节奏调整争取时间。</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0" lvl="1">
              <a:lnSpc>
                <a:spcPct val="150000"/>
              </a:lnSpc>
            </a:pPr>
            <a:endParaRPr lang="en-US" altLang="zh-CN" sz="1050" b="1" dirty="0">
              <a:solidFill>
                <a:srgbClr val="696A6C"/>
              </a:solidFill>
              <a:latin typeface="微软雅黑" panose="020B0503020204020204" pitchFamily="34" charset="-122"/>
              <a:ea typeface="微软雅黑" panose="020B0503020204020204" pitchFamily="34" charset="-122"/>
            </a:endParaRPr>
          </a:p>
          <a:p>
            <a:pPr marL="0" lvl="1">
              <a:lnSpc>
                <a:spcPct val="150000"/>
              </a:lnSpc>
            </a:pPr>
            <a:r>
              <a:rPr lang="en-US" altLang="zh-CN" sz="1050" b="1" dirty="0">
                <a:solidFill>
                  <a:srgbClr val="696A6C"/>
                </a:solidFill>
                <a:latin typeface="微软雅黑" panose="020B0503020204020204" pitchFamily="34" charset="-122"/>
                <a:ea typeface="微软雅黑" panose="020B0503020204020204" pitchFamily="34" charset="-122"/>
              </a:rPr>
              <a:t>1.5T</a:t>
            </a:r>
            <a:r>
              <a:rPr lang="zh-CN" altLang="en-US" sz="1050" b="1" dirty="0">
                <a:solidFill>
                  <a:srgbClr val="696A6C"/>
                </a:solidFill>
                <a:latin typeface="微软雅黑" panose="020B0503020204020204" pitchFamily="34" charset="-122"/>
                <a:ea typeface="微软雅黑" panose="020B0503020204020204" pitchFamily="34" charset="-122"/>
              </a:rPr>
              <a:t>新项目产能深入管理（</a:t>
            </a:r>
            <a:r>
              <a:rPr lang="en-US" altLang="zh-CN" sz="1050" b="1" dirty="0">
                <a:solidFill>
                  <a:srgbClr val="696A6C"/>
                </a:solidFill>
                <a:latin typeface="微软雅黑" panose="020B0503020204020204" pitchFamily="34" charset="-122"/>
                <a:ea typeface="微软雅黑" panose="020B0503020204020204" pitchFamily="34" charset="-122"/>
              </a:rPr>
              <a:t>2020-2021</a:t>
            </a:r>
            <a:r>
              <a:rPr lang="zh-CN" altLang="en-US" sz="1050" b="1" dirty="0">
                <a:solidFill>
                  <a:srgbClr val="696A6C"/>
                </a:solidFill>
                <a:latin typeface="微软雅黑" panose="020B0503020204020204" pitchFamily="34" charset="-122"/>
                <a:ea typeface="微软雅黑" panose="020B0503020204020204" pitchFamily="34" charset="-122"/>
              </a:rPr>
              <a:t>）</a:t>
            </a:r>
            <a:endParaRPr lang="en-US" altLang="zh-CN" sz="1050" b="1" dirty="0">
              <a:solidFill>
                <a:srgbClr val="696A6C"/>
              </a:solidFill>
              <a:latin typeface="微软雅黑" panose="020B0503020204020204" pitchFamily="34" charset="-122"/>
              <a:ea typeface="微软雅黑" panose="020B0503020204020204" pitchFamily="34" charset="-122"/>
            </a:endParaRPr>
          </a:p>
          <a:p>
            <a:pPr marL="0" lvl="1">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项目负责人，对于过往紧缺资源的问题源进行分析，分类并寻找规律。发现约</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1/5</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的供应问题来自于定点策略与认可策略不一致。</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0" lvl="1">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组建中国区</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Taskforce</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，针对</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1.5T</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项目，对标点供应商进行征询，要求其同步评估供应链状况与自身状况。对无法满足定点产能要求的供应商（</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15</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家，占比</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37.5%</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）开展</a:t>
            </a:r>
            <a:r>
              <a:rPr lang="en-US" altLang="zh-CN" sz="1050" kern="100" dirty="0" err="1">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onebyone</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接洽商谈。</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0" lvl="1">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成果：最终确保</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1.5T</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项目材料组保障完整。同时升级原有的管理办法，在提升聚焦风险范围精准度的同时，也将发现问题的时间（之前经常在</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SOP</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才出现问题）前移至少</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1</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年，为问题的实际解决留出了充足的时间。</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0" lvl="1">
              <a:lnSpc>
                <a:spcPct val="150000"/>
              </a:lnSpc>
            </a:pP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0" lvl="1">
              <a:lnSpc>
                <a:spcPct val="150000"/>
              </a:lnSpc>
            </a:pPr>
            <a:r>
              <a:rPr lang="zh-CN" altLang="en-US" sz="1050" b="1" dirty="0">
                <a:solidFill>
                  <a:srgbClr val="696A6C"/>
                </a:solidFill>
                <a:latin typeface="微软雅黑" panose="020B0503020204020204" pitchFamily="34" charset="-122"/>
                <a:ea typeface="微软雅黑" panose="020B0503020204020204" pitchFamily="34" charset="-122"/>
              </a:rPr>
              <a:t>疫情背景供应链保障（</a:t>
            </a:r>
            <a:r>
              <a:rPr lang="en-US" altLang="zh-CN" sz="1050" b="1" dirty="0">
                <a:solidFill>
                  <a:srgbClr val="696A6C"/>
                </a:solidFill>
                <a:latin typeface="微软雅黑" panose="020B0503020204020204" pitchFamily="34" charset="-122"/>
                <a:ea typeface="微软雅黑" panose="020B0503020204020204" pitchFamily="34" charset="-122"/>
              </a:rPr>
              <a:t>2020</a:t>
            </a:r>
            <a:r>
              <a:rPr lang="zh-CN" altLang="en-US" sz="1050" b="1" dirty="0">
                <a:solidFill>
                  <a:srgbClr val="696A6C"/>
                </a:solidFill>
                <a:latin typeface="微软雅黑" panose="020B0503020204020204" pitchFamily="34" charset="-122"/>
                <a:ea typeface="微软雅黑" panose="020B0503020204020204" pitchFamily="34" charset="-122"/>
              </a:rPr>
              <a:t>）</a:t>
            </a:r>
            <a:endParaRPr lang="en-US" altLang="zh-CN" sz="1050" b="1" dirty="0">
              <a:solidFill>
                <a:srgbClr val="696A6C"/>
              </a:solidFill>
              <a:latin typeface="微软雅黑" panose="020B0503020204020204" pitchFamily="34" charset="-122"/>
              <a:ea typeface="微软雅黑" panose="020B0503020204020204" pitchFamily="34" charset="-122"/>
            </a:endParaRPr>
          </a:p>
          <a:p>
            <a:pPr marL="0" lvl="1">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项目负责人，带领团队在疫情背景下保障批量供应。</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0" lvl="1">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基于疫情的特性，定义联动聚焦的信息收集，包括：疫情变化、运输、生产班次、人员。</a:t>
            </a:r>
          </a:p>
          <a:p>
            <a:pPr marL="0" lvl="1">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分析各地区的供应链受限因素，以及各零件所在材料组的特性。最后针对受限因素开展方案与行动。</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0" lvl="1">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成果：首先确保了首波疫情环境下的供应。然后通过整理对应首波疫情的经验，形成疫情背景的供应链保障工作流程。完善供应链保障体系，并向大众集团推广。</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0" lvl="1">
              <a:lnSpc>
                <a:spcPct val="150000"/>
              </a:lnSpc>
            </a:pPr>
            <a:endParaRPr lang="en-US" altLang="zh-CN" sz="1050" b="1" dirty="0">
              <a:solidFill>
                <a:srgbClr val="696A6C"/>
              </a:solidFill>
              <a:latin typeface="微软雅黑" panose="020B0503020204020204" pitchFamily="34" charset="-122"/>
              <a:ea typeface="微软雅黑" panose="020B0503020204020204" pitchFamily="34" charset="-122"/>
            </a:endParaRPr>
          </a:p>
          <a:p>
            <a:pPr marL="0" lvl="1">
              <a:lnSpc>
                <a:spcPct val="150000"/>
              </a:lnSpc>
            </a:pPr>
            <a:r>
              <a:rPr lang="zh-CN" altLang="zh-CN" sz="1050" b="1" dirty="0">
                <a:solidFill>
                  <a:srgbClr val="696A6C"/>
                </a:solidFill>
                <a:latin typeface="微软雅黑" panose="020B0503020204020204" pitchFamily="34" charset="-122"/>
                <a:ea typeface="微软雅黑" panose="020B0503020204020204" pitchFamily="34" charset="-122"/>
              </a:rPr>
              <a:t>供应链环保风险评估项目（</a:t>
            </a:r>
            <a:r>
              <a:rPr lang="en-US" altLang="zh-CN" sz="1050" b="1" dirty="0">
                <a:solidFill>
                  <a:srgbClr val="696A6C"/>
                </a:solidFill>
                <a:latin typeface="微软雅黑" panose="020B0503020204020204" pitchFamily="34" charset="-122"/>
                <a:ea typeface="微软雅黑" panose="020B0503020204020204" pitchFamily="34" charset="-122"/>
              </a:rPr>
              <a:t>2017-2018</a:t>
            </a:r>
            <a:r>
              <a:rPr lang="zh-CN" altLang="zh-CN" sz="1050" b="1" dirty="0">
                <a:solidFill>
                  <a:srgbClr val="696A6C"/>
                </a:solidFill>
                <a:latin typeface="微软雅黑" panose="020B0503020204020204" pitchFamily="34" charset="-122"/>
                <a:ea typeface="微软雅黑" panose="020B0503020204020204" pitchFamily="34" charset="-122"/>
              </a:rPr>
              <a:t>）</a:t>
            </a:r>
            <a:endParaRPr lang="en-US" altLang="zh-CN" sz="1050" b="1" dirty="0">
              <a:solidFill>
                <a:srgbClr val="696A6C"/>
              </a:solidFill>
              <a:latin typeface="微软雅黑" panose="020B0503020204020204" pitchFamily="34" charset="-122"/>
              <a:ea typeface="微软雅黑" panose="020B0503020204020204" pitchFamily="34" charset="-122"/>
            </a:endParaRPr>
          </a:p>
          <a:p>
            <a:pPr>
              <a:lnSpc>
                <a:spcPct val="150000"/>
              </a:lnSpc>
            </a:pP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项目负责人，主导</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项目全程运作</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在项目结束后，将实战经验梳理总结成工作流程及</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评估工具</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a:t>
            </a:r>
            <a:endPar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该项目团队为跨部门团队，由</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BKM</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团队牵头协调</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采购、质保，</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HSE</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等部门同步开展工作，内容包括：供应商生产工艺筛选分级、生产现场核查、环保评分及</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信息</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存档等</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项目成果：在确保下级供应商</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100%</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无环保因素影响供货的同时，也丰富了大众供应链</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管理</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的维度，该工作流程及评估工具正</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向整个大众集团推广。</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a:lnSpc>
                <a:spcPct val="150000"/>
              </a:lnSpc>
            </a:pP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a:lnSpc>
                <a:spcPct val="150000"/>
              </a:lnSpc>
            </a:pPr>
            <a:r>
              <a:rPr lang="zh-CN" altLang="zh-CN" sz="1050" b="1" dirty="0">
                <a:solidFill>
                  <a:srgbClr val="696A6C"/>
                </a:solidFill>
                <a:latin typeface="微软雅黑" panose="020B0503020204020204" pitchFamily="34" charset="-122"/>
                <a:ea typeface="微软雅黑" panose="020B0503020204020204" pitchFamily="34" charset="-122"/>
              </a:rPr>
              <a:t>供应商</a:t>
            </a:r>
            <a:r>
              <a:rPr lang="en-US" altLang="zh-CN" sz="1050" b="1" dirty="0">
                <a:solidFill>
                  <a:srgbClr val="696A6C"/>
                </a:solidFill>
                <a:latin typeface="微软雅黑" panose="020B0503020204020204" pitchFamily="34" charset="-122"/>
                <a:ea typeface="微软雅黑" panose="020B0503020204020204" pitchFamily="34" charset="-122"/>
              </a:rPr>
              <a:t>KPI</a:t>
            </a:r>
            <a:r>
              <a:rPr lang="zh-CN" altLang="zh-CN" sz="1050" b="1" dirty="0">
                <a:solidFill>
                  <a:srgbClr val="696A6C"/>
                </a:solidFill>
                <a:latin typeface="微软雅黑" panose="020B0503020204020204" pitchFamily="34" charset="-122"/>
                <a:ea typeface="微软雅黑" panose="020B0503020204020204" pitchFamily="34" charset="-122"/>
              </a:rPr>
              <a:t>考评系统</a:t>
            </a:r>
            <a:r>
              <a:rPr lang="zh-CN" altLang="en-US" sz="1050" b="1" dirty="0">
                <a:solidFill>
                  <a:srgbClr val="696A6C"/>
                </a:solidFill>
                <a:latin typeface="微软雅黑" panose="020B0503020204020204" pitchFamily="34" charset="-122"/>
                <a:ea typeface="微软雅黑" panose="020B0503020204020204" pitchFamily="34" charset="-122"/>
              </a:rPr>
              <a:t>上线</a:t>
            </a:r>
            <a:r>
              <a:rPr lang="zh-CN" altLang="zh-CN" sz="1050" b="1" dirty="0">
                <a:solidFill>
                  <a:srgbClr val="696A6C"/>
                </a:solidFill>
                <a:latin typeface="微软雅黑" panose="020B0503020204020204" pitchFamily="34" charset="-122"/>
                <a:ea typeface="微软雅黑" panose="020B0503020204020204" pitchFamily="34" charset="-122"/>
              </a:rPr>
              <a:t>项目（</a:t>
            </a:r>
            <a:r>
              <a:rPr lang="en-US" altLang="zh-CN" sz="1050" b="1" dirty="0">
                <a:solidFill>
                  <a:srgbClr val="696A6C"/>
                </a:solidFill>
                <a:latin typeface="微软雅黑" panose="020B0503020204020204" pitchFamily="34" charset="-122"/>
                <a:ea typeface="微软雅黑" panose="020B0503020204020204" pitchFamily="34" charset="-122"/>
              </a:rPr>
              <a:t>2016</a:t>
            </a:r>
            <a:r>
              <a:rPr lang="zh-CN" altLang="zh-CN" sz="1050" b="1" dirty="0">
                <a:solidFill>
                  <a:srgbClr val="696A6C"/>
                </a:solidFill>
                <a:latin typeface="微软雅黑" panose="020B0503020204020204" pitchFamily="34" charset="-122"/>
                <a:ea typeface="微软雅黑" panose="020B0503020204020204" pitchFamily="34" charset="-122"/>
              </a:rPr>
              <a:t>）</a:t>
            </a:r>
            <a:endParaRPr lang="en-US" altLang="zh-CN" sz="1050" b="1" dirty="0">
              <a:solidFill>
                <a:srgbClr val="696A6C"/>
              </a:solidFill>
              <a:latin typeface="微软雅黑" panose="020B0503020204020204" pitchFamily="34" charset="-122"/>
              <a:ea typeface="微软雅黑" panose="020B0503020204020204" pitchFamily="34" charset="-122"/>
            </a:endParaRPr>
          </a:p>
          <a:p>
            <a:pPr marL="0" lvl="1">
              <a:lnSpc>
                <a:spcPct val="150000"/>
              </a:lnSpc>
            </a:pP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项目负责人，</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作为公司</a:t>
            </a:r>
            <a:r>
              <a:rPr lang="en-US" altLang="zh-CN" sz="1050" kern="100" dirty="0" err="1">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Keyuser</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参与大众中国的系统上线工作，同时参与</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制定供应商物流的考评规则和系统开发</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0" lvl="1">
              <a:lnSpc>
                <a:spcPct val="150000"/>
              </a:lnSpc>
            </a:pP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该</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项目确保</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系统准时上线，极大帮助和完善了供应商物流运作的</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KPI</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体系</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。最</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终</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通过合理的考评体系</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使</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供应商的</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物流运作</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水平提高。系统上线一年，从上线初期的</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130+</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家供应商平均分</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87</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分</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B</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级）</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提升至</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平均</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92</a:t>
            </a:r>
            <a:r>
              <a:rPr lang="zh-CN"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分</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a:t>
            </a:r>
            <a:r>
              <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A</a:t>
            </a: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级）。</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a:p>
            <a:pPr marL="0" lvl="1">
              <a:lnSpc>
                <a:spcPct val="150000"/>
              </a:lnSpc>
            </a:pPr>
            <a:r>
              <a:rPr lang="zh-CN" altLang="en-US"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rPr>
              <a:t>*该系统考评结果为大众新项目定点条件指标之一。</a:t>
            </a:r>
            <a:endParaRPr lang="en-US" altLang="zh-CN" sz="1050" kern="100" dirty="0">
              <a:solidFill>
                <a:srgbClr val="696A6C"/>
              </a:solidFill>
              <a:latin typeface="Microsoft YaHei" panose="020B0503020204020204" pitchFamily="34" charset="-122"/>
              <a:ea typeface="Microsoft YaHei" panose="020B0503020204020204" pitchFamily="34" charset="-122"/>
              <a:cs typeface="Arial" panose="020B0604020202020204" pitchFamily="34" charset="0"/>
            </a:endParaRPr>
          </a:p>
        </p:txBody>
      </p:sp>
    </p:spTree>
    <p:extLst>
      <p:ext uri="{BB962C8B-B14F-4D97-AF65-F5344CB8AC3E}">
        <p14:creationId xmlns:p14="http://schemas.microsoft.com/office/powerpoint/2010/main" val="29403917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C1EBB91-CDFE-B640-B2D6-B8BB71CC595B}"/>
              </a:ext>
            </a:extLst>
          </p:cNvPr>
          <p:cNvSpPr txBox="1"/>
          <p:nvPr/>
        </p:nvSpPr>
        <p:spPr>
          <a:xfrm>
            <a:off x="314326" y="640294"/>
            <a:ext cx="5943599" cy="8484439"/>
          </a:xfrm>
          <a:prstGeom prst="rect">
            <a:avLst/>
          </a:prstGeom>
          <a:noFill/>
        </p:spPr>
        <p:txBody>
          <a:bodyPr wrap="square" rtlCol="0">
            <a:spAutoFit/>
          </a:bodyPr>
          <a:lstStyle/>
          <a:p>
            <a:pPr marL="0" lvl="1">
              <a:lnSpc>
                <a:spcPct val="150000"/>
              </a:lnSpc>
            </a:pPr>
            <a:r>
              <a:rPr lang="en-US" altLang="zh-CN" sz="1000" dirty="0" err="1">
                <a:solidFill>
                  <a:srgbClr val="0070C0"/>
                </a:solidFill>
                <a:latin typeface="微软雅黑" panose="020B0503020204020204" pitchFamily="34" charset="-122"/>
                <a:ea typeface="微软雅黑" panose="020B0503020204020204" pitchFamily="34" charset="-122"/>
              </a:rPr>
              <a:t>VolkswagenPowertraininternaltrainerdevelopmentproject</a:t>
            </a:r>
            <a:r>
              <a:rPr lang="zh-CN" altLang="zh-CN" sz="1000" dirty="0">
                <a:solidFill>
                  <a:srgbClr val="0070C0"/>
                </a:solidFill>
                <a:latin typeface="微软雅黑" panose="020B0503020204020204" pitchFamily="34" charset="-122"/>
                <a:ea typeface="微软雅黑" panose="020B0503020204020204" pitchFamily="34" charset="-122"/>
              </a:rPr>
              <a:t>（</a:t>
            </a:r>
            <a:r>
              <a:rPr lang="en-US" altLang="zh-CN" sz="1000" dirty="0">
                <a:solidFill>
                  <a:srgbClr val="0070C0"/>
                </a:solidFill>
                <a:latin typeface="微软雅黑" panose="020B0503020204020204" pitchFamily="34" charset="-122"/>
                <a:ea typeface="微软雅黑" panose="020B0503020204020204" pitchFamily="34" charset="-122"/>
              </a:rPr>
              <a:t>2020</a:t>
            </a:r>
            <a:r>
              <a:rPr lang="zh-CN" altLang="zh-CN" sz="1000" dirty="0">
                <a:solidFill>
                  <a:srgbClr val="0070C0"/>
                </a:solidFill>
                <a:latin typeface="微软雅黑" panose="020B0503020204020204" pitchFamily="34" charset="-122"/>
                <a:ea typeface="微软雅黑" panose="020B0503020204020204" pitchFamily="34" charset="-122"/>
              </a:rPr>
              <a:t>）</a:t>
            </a:r>
            <a:endParaRPr lang="en-US" altLang="zh-CN" sz="1000" dirty="0">
              <a:solidFill>
                <a:srgbClr val="0070C0"/>
              </a:solidFill>
              <a:latin typeface="微软雅黑" panose="020B0503020204020204" pitchFamily="34" charset="-122"/>
              <a:ea typeface="微软雅黑" panose="020B0503020204020204" pitchFamily="34" charset="-122"/>
            </a:endParaRPr>
          </a:p>
          <a:p>
            <a:pPr marL="0" lvl="1">
              <a:lnSpc>
                <a:spcPct val="150000"/>
              </a:lnSpc>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Endtoendparticipatedintheproject,andwasselectedasthecompany'sonlylecturertoparticipateinthe“SAICGroupLecturerCompetition”,andfinallyenteredthefinals.</a:t>
            </a:r>
          </a:p>
          <a:p>
            <a:pPr marL="0" lvl="1">
              <a:lnSpc>
                <a:spcPct val="150000"/>
              </a:lnSpc>
            </a:pPr>
            <a:r>
              <a:rPr lang="en-US" altLang="zh-CN" sz="800" b="1" kern="100" dirty="0">
                <a:latin typeface="Microsoft YaHei" panose="020B0503020204020204" pitchFamily="34" charset="-122"/>
                <a:ea typeface="Microsoft YaHei" panose="020B0503020204020204" pitchFamily="34" charset="-122"/>
                <a:cs typeface="Arial" panose="020B0604020202020204" pitchFamily="34" charset="0"/>
              </a:rPr>
              <a:t>Achievement:</a:t>
            </a: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Withtheoutstandingperformance,Iwasawardedthetitleof"GoldenMicrophone"GoodLecturerofSAIC,andwashiredasanexternallecturerofSAICTrainingCenter.</a:t>
            </a:r>
          </a:p>
          <a:p>
            <a:pPr marL="0" lvl="1">
              <a:lnSpc>
                <a:spcPct val="150000"/>
              </a:lnSpc>
            </a:pPr>
            <a:endParaRPr lang="en-US" altLang="zh-CN" sz="1050" kern="100" dirty="0">
              <a:latin typeface="Microsoft YaHei" panose="020B0503020204020204" pitchFamily="34" charset="-122"/>
              <a:ea typeface="Microsoft YaHei" panose="020B0503020204020204" pitchFamily="34" charset="-122"/>
              <a:cs typeface="Arial" panose="020B0604020202020204" pitchFamily="34" charset="0"/>
            </a:endParaRPr>
          </a:p>
          <a:p>
            <a:pPr marL="0" lvl="1">
              <a:lnSpc>
                <a:spcPct val="150000"/>
              </a:lnSpc>
            </a:pPr>
            <a:r>
              <a:rPr lang="en-US" altLang="zh-CN" sz="1000" dirty="0" err="1">
                <a:solidFill>
                  <a:srgbClr val="0070C0"/>
                </a:solidFill>
                <a:latin typeface="微软雅黑" panose="020B0503020204020204" pitchFamily="34" charset="-122"/>
                <a:ea typeface="微软雅黑" panose="020B0503020204020204" pitchFamily="34" charset="-122"/>
              </a:rPr>
              <a:t>Supplychainenvironmentalprotectionriskassessmentproject</a:t>
            </a:r>
            <a:r>
              <a:rPr lang="en-US" altLang="zh-CN" sz="1000" dirty="0">
                <a:solidFill>
                  <a:srgbClr val="0070C0"/>
                </a:solidFill>
                <a:latin typeface="微软雅黑" panose="020B0503020204020204" pitchFamily="34" charset="-122"/>
                <a:ea typeface="微软雅黑" panose="020B0503020204020204" pitchFamily="34" charset="-122"/>
              </a:rPr>
              <a:t>(2017-2018)</a:t>
            </a:r>
          </a:p>
          <a:p>
            <a:pPr marL="0" lvl="1">
              <a:lnSpc>
                <a:spcPct val="150000"/>
              </a:lnSpc>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Projectleader,ledtheentireoperationoftheproject.Attheendoftheproject,summedupthepracticalexperiencetosortouttheworkflowandassessmenttools.</a:t>
            </a:r>
          </a:p>
          <a:p>
            <a:pPr marL="0" lvl="1">
              <a:lnSpc>
                <a:spcPct val="150000"/>
              </a:lnSpc>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Theprojectteamisacross-departmentalteam,ledbytheBKMteamtocoordinatePurchaser,SQE,HSEandotherdepartmentstocarryouttheworktogether.Thecontentincludes:Productionprocessscreening&amp;classification,Productionsiteinspection,Environmentalprotectioninspectionandinformationarchiving,etc.</a:t>
            </a:r>
          </a:p>
          <a:p>
            <a:pPr marL="0" lvl="1">
              <a:lnSpc>
                <a:spcPct val="150000"/>
              </a:lnSpc>
            </a:pPr>
            <a:r>
              <a:rPr lang="en-US" altLang="zh-CN" sz="800" b="1" kern="100" dirty="0" err="1">
                <a:latin typeface="Microsoft YaHei" panose="020B0503020204020204" pitchFamily="34" charset="-122"/>
                <a:ea typeface="Microsoft YaHei" panose="020B0503020204020204" pitchFamily="34" charset="-122"/>
                <a:cs typeface="Arial" panose="020B0604020202020204" pitchFamily="34" charset="0"/>
              </a:rPr>
              <a:t>Achievement:</a:t>
            </a:r>
            <a:r>
              <a:rPr lang="en-US" altLang="zh-CN" sz="800" kern="100" dirty="0" err="1">
                <a:latin typeface="Microsoft YaHei" panose="020B0503020204020204" pitchFamily="34" charset="-122"/>
                <a:ea typeface="Microsoft YaHei" panose="020B0503020204020204" pitchFamily="34" charset="-122"/>
                <a:cs typeface="Arial" panose="020B0604020202020204" pitchFamily="34" charset="0"/>
              </a:rPr>
              <a:t>Ensuringsupplier</a:t>
            </a: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a:t>
            </a:r>
            <a:r>
              <a:rPr lang="en-US" altLang="zh-CN" sz="800" kern="100" dirty="0" err="1">
                <a:latin typeface="Microsoft YaHei" panose="020B0503020204020204" pitchFamily="34" charset="-122"/>
                <a:ea typeface="Microsoft YaHei" panose="020B0503020204020204" pitchFamily="34" charset="-122"/>
                <a:cs typeface="Arial" panose="020B0604020202020204" pitchFamily="34" charset="0"/>
              </a:rPr>
              <a:t>andlower</a:t>
            </a: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)100%ofthenoenvironmentalprotectionriskthataffectdeliverybutalsoenrichesthedimensionsofVolkswagen'sSCM.TheworkflowandevaluationtoolsarebeingpromotedtotheentireVolkswagenGroup.</a:t>
            </a:r>
          </a:p>
          <a:p>
            <a:pPr marL="0" lvl="1">
              <a:lnSpc>
                <a:spcPct val="150000"/>
              </a:lnSpc>
            </a:pPr>
            <a:endParaRPr lang="en-US" altLang="zh-CN" sz="800" kern="100" dirty="0">
              <a:latin typeface="Microsoft YaHei" panose="020B0503020204020204" pitchFamily="34" charset="-122"/>
              <a:ea typeface="Microsoft YaHei" panose="020B0503020204020204" pitchFamily="34" charset="-122"/>
              <a:cs typeface="Arial" panose="020B0604020202020204" pitchFamily="34" charset="0"/>
            </a:endParaRPr>
          </a:p>
          <a:p>
            <a:pPr marL="0" lvl="1">
              <a:lnSpc>
                <a:spcPct val="150000"/>
              </a:lnSpc>
            </a:pPr>
            <a:r>
              <a:rPr lang="en-US" altLang="zh-CN" sz="1000" dirty="0">
                <a:solidFill>
                  <a:srgbClr val="0070C0"/>
                </a:solidFill>
                <a:latin typeface="微软雅黑" panose="020B0503020204020204" pitchFamily="34" charset="-122"/>
                <a:ea typeface="微软雅黑" panose="020B0503020204020204" pitchFamily="34" charset="-122"/>
              </a:rPr>
              <a:t>SRS-</a:t>
            </a:r>
            <a:r>
              <a:rPr lang="en-US" altLang="zh-CN" sz="1000" dirty="0" err="1">
                <a:solidFill>
                  <a:srgbClr val="0070C0"/>
                </a:solidFill>
                <a:latin typeface="微软雅黑" panose="020B0503020204020204" pitchFamily="34" charset="-122"/>
                <a:ea typeface="微软雅黑" panose="020B0503020204020204" pitchFamily="34" charset="-122"/>
              </a:rPr>
              <a:t>supplierratingsystemonlineproject</a:t>
            </a:r>
            <a:r>
              <a:rPr lang="en-US" altLang="zh-CN" sz="1000" dirty="0">
                <a:solidFill>
                  <a:srgbClr val="0070C0"/>
                </a:solidFill>
                <a:latin typeface="微软雅黑" panose="020B0503020204020204" pitchFamily="34" charset="-122"/>
                <a:ea typeface="微软雅黑" panose="020B0503020204020204" pitchFamily="34" charset="-122"/>
              </a:rPr>
              <a:t>(2016)</a:t>
            </a:r>
          </a:p>
          <a:p>
            <a:pPr marL="0" lvl="1">
              <a:lnSpc>
                <a:spcPct val="150000"/>
              </a:lnSpc>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TheprojectleaderofVWPT,asthecompany'sKeyuser,participatedinthesystemlaunch,andparticipatedintheformulationofsupplierlogisticsevaluationrulesandsystemdevelopment.</a:t>
            </a:r>
          </a:p>
          <a:p>
            <a:pPr marL="0" lvl="1">
              <a:lnSpc>
                <a:spcPct val="150000"/>
              </a:lnSpc>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Thisprojectensuresthatthesystemgoesonlineontime,whichgreatlyhelpsandimprovestheKPIforsupplierlogisticsoperations.Finally,thelogisticsoperationlevelofthesupplierisimprovedthroughareasonableevaluationsystem.</a:t>
            </a:r>
          </a:p>
          <a:p>
            <a:pPr marL="0" lvl="1">
              <a:lnSpc>
                <a:spcPct val="150000"/>
              </a:lnSpc>
            </a:pPr>
            <a:r>
              <a:rPr lang="en-US" altLang="zh-CN" sz="800" b="1" kern="100" dirty="0">
                <a:latin typeface="Microsoft YaHei" panose="020B0503020204020204" pitchFamily="34" charset="-122"/>
                <a:ea typeface="Microsoft YaHei" panose="020B0503020204020204" pitchFamily="34" charset="-122"/>
                <a:cs typeface="Arial" panose="020B0604020202020204" pitchFamily="34" charset="0"/>
              </a:rPr>
              <a:t>Achievement:</a:t>
            </a: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Oneyearafterthesystemstartedrunning,theaveragescoreofthe130+suppliersintheinitialstagewas87points(</a:t>
            </a:r>
            <a:r>
              <a:rPr lang="en-US" altLang="zh-CN" sz="800" kern="100" dirty="0" err="1">
                <a:latin typeface="Microsoft YaHei" panose="020B0503020204020204" pitchFamily="34" charset="-122"/>
                <a:ea typeface="Microsoft YaHei" panose="020B0503020204020204" pitchFamily="34" charset="-122"/>
                <a:cs typeface="Arial" panose="020B0604020202020204" pitchFamily="34" charset="0"/>
              </a:rPr>
              <a:t>levelB</a:t>
            </a: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)uptoanaverageof92points(</a:t>
            </a:r>
            <a:r>
              <a:rPr lang="en-US" altLang="zh-CN" sz="800" kern="100" dirty="0" err="1">
                <a:latin typeface="Microsoft YaHei" panose="020B0503020204020204" pitchFamily="34" charset="-122"/>
                <a:ea typeface="Microsoft YaHei" panose="020B0503020204020204" pitchFamily="34" charset="-122"/>
                <a:cs typeface="Arial" panose="020B0604020202020204" pitchFamily="34" charset="0"/>
              </a:rPr>
              <a:t>levelA</a:t>
            </a: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a:t>
            </a:r>
          </a:p>
          <a:p>
            <a:pPr marL="171450" lvl="1" indent="-171450">
              <a:lnSpc>
                <a:spcPct val="150000"/>
              </a:lnSpc>
              <a:buFont typeface="Arial" panose="020B0604020202020204" pitchFamily="34" charset="0"/>
              <a:buChar char="•"/>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TheevaluationresultofthissystemisoneoftheconditionofsuppliertogetVolkswagen'snewproject.</a:t>
            </a:r>
          </a:p>
          <a:p>
            <a:pPr marL="171450" lvl="1" indent="-171450">
              <a:lnSpc>
                <a:spcPct val="150000"/>
              </a:lnSpc>
              <a:buFont typeface="Arial" panose="020B0604020202020204" pitchFamily="34" charset="0"/>
              <a:buChar char="•"/>
            </a:pPr>
            <a:endParaRPr lang="en-US" altLang="zh-CN" sz="800" kern="100" dirty="0">
              <a:latin typeface="Microsoft YaHei" panose="020B0503020204020204" pitchFamily="34" charset="-122"/>
              <a:ea typeface="Microsoft YaHei" panose="020B0503020204020204" pitchFamily="34" charset="-122"/>
              <a:cs typeface="Arial" panose="020B0604020202020204" pitchFamily="34" charset="0"/>
            </a:endParaRPr>
          </a:p>
          <a:p>
            <a:pPr marL="0" lvl="1">
              <a:lnSpc>
                <a:spcPct val="150000"/>
              </a:lnSpc>
            </a:pPr>
            <a:r>
              <a:rPr lang="en-US" altLang="zh-CN" sz="1000" dirty="0" err="1">
                <a:solidFill>
                  <a:srgbClr val="0070C0"/>
                </a:solidFill>
                <a:latin typeface="微软雅黑" panose="020B0503020204020204" pitchFamily="34" charset="-122"/>
                <a:ea typeface="微软雅黑" panose="020B0503020204020204" pitchFamily="34" charset="-122"/>
              </a:rPr>
              <a:t>Camlocalizationproject</a:t>
            </a:r>
            <a:r>
              <a:rPr lang="en-US" altLang="zh-CN" sz="1000" dirty="0">
                <a:solidFill>
                  <a:srgbClr val="0070C0"/>
                </a:solidFill>
                <a:latin typeface="微软雅黑" panose="020B0503020204020204" pitchFamily="34" charset="-122"/>
                <a:ea typeface="微软雅黑" panose="020B0503020204020204" pitchFamily="34" charset="-122"/>
              </a:rPr>
              <a:t>(2015)</a:t>
            </a:r>
          </a:p>
          <a:p>
            <a:pPr marL="0" lvl="1">
              <a:lnSpc>
                <a:spcPct val="150000"/>
              </a:lnSpc>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Thecoremembersoftheproject,calculatedandformulatedtheprojectnodeandparticipateinthewholeprocessoftheproject.</a:t>
            </a:r>
          </a:p>
          <a:p>
            <a:pPr marL="0" lvl="1">
              <a:lnSpc>
                <a:spcPct val="150000"/>
              </a:lnSpc>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Beforetheproject,VolkswagenChinacamrawpartis100%CKDparts.Traditionalthree“H”characteristicsofimportedparts:TheHighprice,theHightransportationcost,Highdifficultyofmanagement.</a:t>
            </a:r>
          </a:p>
          <a:p>
            <a:pPr marL="0" lvl="1">
              <a:lnSpc>
                <a:spcPct val="150000"/>
              </a:lnSpc>
            </a:pPr>
            <a:r>
              <a:rPr lang="en-US" altLang="zh-CN" sz="800" b="1" kern="100" dirty="0">
                <a:latin typeface="Microsoft YaHei" panose="020B0503020204020204" pitchFamily="34" charset="-122"/>
                <a:ea typeface="Microsoft YaHei" panose="020B0503020204020204" pitchFamily="34" charset="-122"/>
                <a:cs typeface="Arial" panose="020B0604020202020204" pitchFamily="34" charset="0"/>
              </a:rPr>
              <a:t>Achievement:</a:t>
            </a: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ThisprojectisthefirstEA211enginecamlocalizationproject,whichsolvedthelong-termsupplycapacityproblemofcamrawofVolkswagenChina,andfinallysuccessfullynominatedandmadethelocalsupplierintoseriessupplying.</a:t>
            </a:r>
          </a:p>
          <a:p>
            <a:pPr marL="171450" lvl="1" indent="-171450">
              <a:lnSpc>
                <a:spcPct val="150000"/>
              </a:lnSpc>
              <a:buFont typeface="Arial" panose="020B0604020202020204" pitchFamily="34" charset="0"/>
              <a:buChar char="•"/>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Theprojectalsowonthe2016“ShanghaiKeyProductQualityAchievementAward”Certification:2016010043</a:t>
            </a:r>
          </a:p>
          <a:p>
            <a:pPr marL="171450" lvl="1" indent="-171450">
              <a:lnSpc>
                <a:spcPct val="150000"/>
              </a:lnSpc>
              <a:buFont typeface="Arial" panose="020B0604020202020204" pitchFamily="34" charset="0"/>
              <a:buChar char="•"/>
            </a:pPr>
            <a:endParaRPr lang="en-US" altLang="zh-CN" sz="800" kern="100" dirty="0">
              <a:latin typeface="Microsoft YaHei" panose="020B0503020204020204" pitchFamily="34" charset="-122"/>
              <a:ea typeface="Microsoft YaHei" panose="020B0503020204020204" pitchFamily="34" charset="-122"/>
              <a:cs typeface="Arial" panose="020B0604020202020204" pitchFamily="34" charset="0"/>
            </a:endParaRPr>
          </a:p>
          <a:p>
            <a:pPr marL="0" lvl="1">
              <a:lnSpc>
                <a:spcPct val="150000"/>
              </a:lnSpc>
            </a:pPr>
            <a:r>
              <a:rPr lang="en-US" altLang="zh-CN" sz="1000" dirty="0" err="1">
                <a:solidFill>
                  <a:srgbClr val="0070C0"/>
                </a:solidFill>
                <a:latin typeface="微软雅黑" panose="020B0503020204020204" pitchFamily="34" charset="-122"/>
                <a:ea typeface="微软雅黑" panose="020B0503020204020204" pitchFamily="34" charset="-122"/>
              </a:rPr>
              <a:t>SAP-MRP&amp;Web-EDIstart-upproject</a:t>
            </a:r>
            <a:r>
              <a:rPr lang="en-US" altLang="zh-CN" sz="1000" dirty="0">
                <a:solidFill>
                  <a:srgbClr val="0070C0"/>
                </a:solidFill>
                <a:latin typeface="微软雅黑" panose="020B0503020204020204" pitchFamily="34" charset="-122"/>
                <a:ea typeface="微软雅黑" panose="020B0503020204020204" pitchFamily="34" charset="-122"/>
              </a:rPr>
              <a:t>(2009)</a:t>
            </a:r>
          </a:p>
          <a:p>
            <a:pPr marL="0" lvl="1">
              <a:lnSpc>
                <a:spcPct val="150000"/>
              </a:lnSpc>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Thecoremembersoftheproject,participatedtheentireprocessintheproject,MRPandWeb-EDI'sKeyuser.</a:t>
            </a:r>
          </a:p>
          <a:p>
            <a:pPr marL="0" lvl="1">
              <a:lnSpc>
                <a:spcPct val="150000"/>
              </a:lnSpc>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Beforetheproject,materialplanning’sworkis:“Excel”plus“manualE-mail”.</a:t>
            </a:r>
          </a:p>
          <a:p>
            <a:pPr marL="0" lvl="1">
              <a:lnSpc>
                <a:spcPct val="150000"/>
              </a:lnSpc>
            </a:pPr>
            <a:r>
              <a:rPr lang="en-US" altLang="zh-CN" sz="800" b="1" kern="100" dirty="0">
                <a:latin typeface="Microsoft YaHei" panose="020B0503020204020204" pitchFamily="34" charset="-122"/>
                <a:ea typeface="Microsoft YaHei" panose="020B0503020204020204" pitchFamily="34" charset="-122"/>
                <a:cs typeface="Arial" panose="020B0604020202020204" pitchFamily="34" charset="0"/>
              </a:rPr>
              <a:t>Achievement:</a:t>
            </a:r>
          </a:p>
          <a:p>
            <a:pPr marL="228600" lvl="1" indent="-228600">
              <a:lnSpc>
                <a:spcPct val="150000"/>
              </a:lnSpc>
              <a:buAutoNum type="arabicPeriod"/>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Completedtherequirementsforsystematizationandautomationofmaterialplanning.HelpVWPTtoupgradefromafactorywithanannualoutputof100,000unitsupto1millionunits.</a:t>
            </a:r>
          </a:p>
          <a:p>
            <a:pPr marL="228600" lvl="1" indent="-228600">
              <a:lnSpc>
                <a:spcPct val="150000"/>
              </a:lnSpc>
              <a:buAutoNum type="arabicPeriod"/>
            </a:pPr>
            <a:r>
              <a:rPr lang="en-US" altLang="zh-CN" sz="800" kern="100" dirty="0">
                <a:latin typeface="Microsoft YaHei" panose="020B0503020204020204" pitchFamily="34" charset="-122"/>
                <a:ea typeface="Microsoft YaHei" panose="020B0503020204020204" pitchFamily="34" charset="-122"/>
                <a:cs typeface="Arial" panose="020B0604020202020204" pitchFamily="34" charset="0"/>
              </a:rPr>
              <a:t>Theinnovationconceptof"timewindow"toenhancetheeffectivewarehouse“Receiving”efficiencyandreducelogisticscosts.Atthesametime,italsomeetthenecessaryconditionsVWPT’slogisticssystemtopasstheVolkswagenVDA6.3A-levelfactory.</a:t>
            </a:r>
          </a:p>
        </p:txBody>
      </p:sp>
    </p:spTree>
    <p:extLst>
      <p:ext uri="{BB962C8B-B14F-4D97-AF65-F5344CB8AC3E}">
        <p14:creationId xmlns:p14="http://schemas.microsoft.com/office/powerpoint/2010/main" val="2692423980"/>
      </p:ext>
    </p:extLst>
  </p:cSld>
  <p:clrMapOvr>
    <a:masterClrMapping/>
  </p:clrMapOvr>
</p:sld>
</file>

<file path=ppt/theme/theme1.xml><?xml version="1.0" encoding="utf-8"?>
<a:theme xmlns:a="http://schemas.openxmlformats.org/drawingml/2006/main" name="简历​​">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Resume​​">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b0ff92c5-92ff-43fe-a760-6a9303f9073d}" enabled="1" method="Standard" siteId="{1272ef7d-0a4c-4c35-8f4b-416e283c5d59}" contentBits="3" removed="0"/>
</clbl:labelList>
</file>

<file path=docProps/app.xml><?xml version="1.0" encoding="utf-8"?>
<Properties xmlns="http://schemas.openxmlformats.org/officeDocument/2006/extended-properties" xmlns:vt="http://schemas.openxmlformats.org/officeDocument/2006/docPropsVTypes">
  <Template>Office Theme</Template>
  <TotalTime>116</TotalTime>
  <Words>1992</Words>
  <Application>Microsoft Macintosh PowerPoint</Application>
  <PresentationFormat>A4 纸张(210x297 毫米)</PresentationFormat>
  <Paragraphs>193</Paragraphs>
  <Slides>5</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5</vt:i4>
      </vt:variant>
    </vt:vector>
  </HeadingPairs>
  <TitlesOfParts>
    <vt:vector size="14" baseType="lpstr">
      <vt:lpstr>Microsoft YaHei</vt:lpstr>
      <vt:lpstr>Microsoft YaHei</vt:lpstr>
      <vt:lpstr>Audi Type</vt:lpstr>
      <vt:lpstr>Arial</vt:lpstr>
      <vt:lpstr>Arial</vt:lpstr>
      <vt:lpstr>Calibri</vt:lpstr>
      <vt:lpstr>Wingdings</vt:lpstr>
      <vt:lpstr>简历​​</vt:lpstr>
      <vt:lpstr>Resume​​</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 Jiajun (VWPT)</dc:creator>
  <cp:lastModifiedBy>Microsoft Office User</cp:lastModifiedBy>
  <cp:revision>286</cp:revision>
  <dcterms:created xsi:type="dcterms:W3CDTF">2021-08-12T03:08:11Z</dcterms:created>
  <dcterms:modified xsi:type="dcterms:W3CDTF">2026-01-17T12:08:27Z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简历​​:3\Resume​​:3</vt:lpwstr>
  </property>
  <property fmtid="{D5CDD505-2E9C-101B-9397-08002B2CF9AE}" pid="3" name="ClassificationContentMarkingFooterText">
    <vt:lpwstr>INTERNAL</vt:lpwstr>
  </property>
</Properties>
</file>