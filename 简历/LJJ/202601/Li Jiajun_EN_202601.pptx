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sldIdLst>
    <p:sldId id="263" r:id="rId2"/>
    <p:sldId id="262" r:id="rId3"/>
  </p:sldIdLst>
  <p:sldSz cx="6858000" cy="9906000" type="A4"/>
  <p:notesSz cx="7315200" cy="96012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6A6C"/>
    <a:srgbClr val="9EA1A2"/>
    <a:srgbClr val="9C9FA0"/>
    <a:srgbClr val="FFFFFF"/>
    <a:srgbClr val="9B9EA0"/>
    <a:srgbClr val="979A9B"/>
    <a:srgbClr val="9DA0A1"/>
    <a:srgbClr val="D3D4D5"/>
    <a:srgbClr val="E6E6E6"/>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266" autoAdjust="0"/>
    <p:restoredTop sz="94709"/>
  </p:normalViewPr>
  <p:slideViewPr>
    <p:cSldViewPr snapToGrid="0">
      <p:cViewPr varScale="1">
        <p:scale>
          <a:sx n="89" d="100"/>
          <a:sy n="89" d="100"/>
        </p:scale>
        <p:origin x="376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Resum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73375"/>
            <a:ext cx="1421552" cy="338554"/>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a:solidFill>
                  <a:srgbClr val="9EA1A2"/>
                </a:solidFill>
                <a:latin typeface="微软雅黑" panose="020B0503020204020204" pitchFamily="34" charset="-122"/>
                <a:ea typeface="微软雅黑" panose="020B0503020204020204" pitchFamily="34" charset="-122"/>
                <a:cs typeface="+mn-cs"/>
              </a:rPr>
              <a:t>Resume</a:t>
            </a:r>
            <a:endParaRPr lang="zh-CN" altLang="en-US" sz="1600" b="1" kern="1200" dirty="0">
              <a:solidFill>
                <a:srgbClr val="9EA1A2"/>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742267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oject Experienc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3820094" y="87976"/>
            <a:ext cx="2246087" cy="338554"/>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rPr>
              <a:t>Project</a:t>
            </a:r>
            <a:r>
              <a:rPr lang="zh-CN" altLang="en-US"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rPr>
              <a:t> </a:t>
            </a:r>
            <a:r>
              <a:rPr lang="en-US" altLang="zh-CN"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rPr>
              <a:t>Experience</a:t>
            </a:r>
            <a:endParaRPr lang="zh-CN" altLang="en-US"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309748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简历模板">
    <p:spTree>
      <p:nvGrpSpPr>
        <p:cNvPr id="1" name=""/>
        <p:cNvGrpSpPr/>
        <p:nvPr/>
      </p:nvGrpSpPr>
      <p:grpSpPr>
        <a:xfrm>
          <a:off x="0" y="0"/>
          <a:ext cx="0" cy="0"/>
          <a:chOff x="0" y="0"/>
          <a:chExt cx="0" cy="0"/>
        </a:xfrm>
      </p:grpSpPr>
      <p:sp>
        <p:nvSpPr>
          <p:cNvPr id="6" name="矩形 5"/>
          <p:cNvSpPr/>
          <p:nvPr userDrawn="1"/>
        </p:nvSpPr>
        <p:spPr>
          <a:xfrm>
            <a:off x="1" y="0"/>
            <a:ext cx="2621279" cy="9906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1" name="矩形 10"/>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 name="文本框 11"/>
          <p:cNvSpPr txBox="1"/>
          <p:nvPr userDrawn="1"/>
        </p:nvSpPr>
        <p:spPr>
          <a:xfrm>
            <a:off x="4602056" y="60123"/>
            <a:ext cx="1421552" cy="369332"/>
          </a:xfrm>
          <a:prstGeom prst="rect">
            <a:avLst/>
          </a:prstGeom>
          <a:solidFill>
            <a:schemeClr val="bg1"/>
          </a:solidFill>
        </p:spPr>
        <p:txBody>
          <a:bodyPr wrap="square" rtlCol="0">
            <a:spAutoFit/>
          </a:bodyPr>
          <a:lstStyle/>
          <a:p>
            <a:pPr algn="ctr"/>
            <a:r>
              <a:rPr lang="en-US" altLang="zh-CN" b="1" dirty="0">
                <a:solidFill>
                  <a:srgbClr val="0070C0"/>
                </a:solidFill>
                <a:latin typeface="微软雅黑" panose="020B0503020204020204" pitchFamily="34" charset="-122"/>
                <a:ea typeface="微软雅黑" panose="020B0503020204020204" pitchFamily="34" charset="-122"/>
              </a:rPr>
              <a:t>Resume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251693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项目经历">
    <p:spTree>
      <p:nvGrpSpPr>
        <p:cNvPr id="1" name=""/>
        <p:cNvGrpSpPr/>
        <p:nvPr/>
      </p:nvGrpSpPr>
      <p:grpSpPr>
        <a:xfrm>
          <a:off x="0" y="0"/>
          <a:ext cx="0" cy="0"/>
          <a:chOff x="0" y="0"/>
          <a:chExt cx="0" cy="0"/>
        </a:xfrm>
      </p:grpSpPr>
      <p:sp>
        <p:nvSpPr>
          <p:cNvPr id="7" name="矩形 6"/>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8" name="矩形 7"/>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9" name="文本框 8"/>
          <p:cNvSpPr txBox="1"/>
          <p:nvPr userDrawn="1"/>
        </p:nvSpPr>
        <p:spPr>
          <a:xfrm>
            <a:off x="3732551" y="78788"/>
            <a:ext cx="2544577" cy="369332"/>
          </a:xfrm>
          <a:prstGeom prst="rect">
            <a:avLst/>
          </a:prstGeom>
          <a:solidFill>
            <a:schemeClr val="bg1"/>
          </a:solidFill>
        </p:spPr>
        <p:txBody>
          <a:bodyPr wrap="square" rtlCol="0">
            <a:spAutoFit/>
          </a:bodyPr>
          <a:lstStyle/>
          <a:p>
            <a:pPr algn="ctr"/>
            <a:r>
              <a:rPr lang="en-US" altLang="zh-CN" b="1" dirty="0">
                <a:solidFill>
                  <a:srgbClr val="0070C0"/>
                </a:solidFill>
                <a:latin typeface="微软雅黑" panose="020B0503020204020204" pitchFamily="34" charset="-122"/>
                <a:ea typeface="微软雅黑" panose="020B0503020204020204" pitchFamily="34" charset="-122"/>
              </a:rPr>
              <a:t>Project</a:t>
            </a:r>
            <a:r>
              <a:rPr lang="zh-CN" altLang="en-US" b="1" dirty="0">
                <a:solidFill>
                  <a:srgbClr val="0070C0"/>
                </a:solidFill>
                <a:latin typeface="微软雅黑" panose="020B0503020204020204" pitchFamily="34" charset="-122"/>
                <a:ea typeface="微软雅黑" panose="020B0503020204020204" pitchFamily="34" charset="-122"/>
              </a:rPr>
              <a:t> </a:t>
            </a:r>
            <a:r>
              <a:rPr lang="en-US" altLang="zh-CN" b="1" baseline="0" dirty="0">
                <a:solidFill>
                  <a:srgbClr val="0070C0"/>
                </a:solidFill>
                <a:latin typeface="微软雅黑" panose="020B0503020204020204" pitchFamily="34" charset="-122"/>
                <a:ea typeface="微软雅黑" panose="020B0503020204020204" pitchFamily="34" charset="-122"/>
              </a:rPr>
              <a:t>Experience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303667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2026/1/24</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Tree>
    <p:extLst>
      <p:ext uri="{BB962C8B-B14F-4D97-AF65-F5344CB8AC3E}">
        <p14:creationId xmlns:p14="http://schemas.microsoft.com/office/powerpoint/2010/main" val="3497534163"/>
      </p:ext>
    </p:extLst>
  </p:cSld>
  <p:clrMap bg1="lt1" tx1="dk1" bg2="lt2" tx2="dk2" accent1="accent1" accent2="accent2" accent3="accent3" accent4="accent4" accent5="accent5" accent6="accent6" hlink="hlink" folHlink="folHlink"/>
  <p:sldLayoutIdLst>
    <p:sldLayoutId id="2147483692" r:id="rId1"/>
    <p:sldLayoutId id="2147483689" r:id="rId2"/>
    <p:sldLayoutId id="2147483690" r:id="rId3"/>
    <p:sldLayoutId id="2147483691" r:id="rId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318F5-B91E-619B-4E0E-F06D8A2B13F4}"/>
            </a:ext>
          </a:extLst>
        </p:cNvPr>
        <p:cNvGrpSpPr/>
        <p:nvPr/>
      </p:nvGrpSpPr>
      <p:grpSpPr>
        <a:xfrm>
          <a:off x="0" y="0"/>
          <a:ext cx="0" cy="0"/>
          <a:chOff x="0" y="0"/>
          <a:chExt cx="0" cy="0"/>
        </a:xfrm>
      </p:grpSpPr>
      <p:grpSp>
        <p:nvGrpSpPr>
          <p:cNvPr id="18" name="Certification">
            <a:extLst>
              <a:ext uri="{FF2B5EF4-FFF2-40B4-BE49-F238E27FC236}">
                <a16:creationId xmlns:a16="http://schemas.microsoft.com/office/drawing/2014/main" id="{4D18CC30-56B8-A689-120A-53E2377E54D6}"/>
              </a:ext>
            </a:extLst>
          </p:cNvPr>
          <p:cNvGrpSpPr/>
          <p:nvPr/>
        </p:nvGrpSpPr>
        <p:grpSpPr>
          <a:xfrm>
            <a:off x="-3637470" y="294515"/>
            <a:ext cx="2538738" cy="2518960"/>
            <a:chOff x="97877" y="8380759"/>
            <a:chExt cx="2538738" cy="2518960"/>
          </a:xfrm>
        </p:grpSpPr>
        <p:sp>
          <p:nvSpPr>
            <p:cNvPr id="34" name="文本框 33">
              <a:extLst>
                <a:ext uri="{FF2B5EF4-FFF2-40B4-BE49-F238E27FC236}">
                  <a16:creationId xmlns:a16="http://schemas.microsoft.com/office/drawing/2014/main" id="{A3DA7A87-C43E-A1CF-3392-1887FDAA9C7C}"/>
                </a:ext>
              </a:extLst>
            </p:cNvPr>
            <p:cNvSpPr txBox="1"/>
            <p:nvPr/>
          </p:nvSpPr>
          <p:spPr>
            <a:xfrm>
              <a:off x="681446" y="8380759"/>
              <a:ext cx="1320800" cy="261610"/>
            </a:xfrm>
            <a:prstGeom prst="rect">
              <a:avLst/>
            </a:prstGeom>
            <a:noFill/>
          </p:spPr>
          <p:txBody>
            <a:bodyPr wrap="square" rtlCol="0" anchor="ctr">
              <a:spAutoFit/>
            </a:bodyPr>
            <a:lstStyle/>
            <a:p>
              <a:pPr algn="ctr"/>
              <a:r>
                <a:rPr lang="en-US" altLang="zh-CN" sz="1100" b="1" dirty="0">
                  <a:solidFill>
                    <a:srgbClr val="9EA1A2"/>
                  </a:solidFill>
                  <a:latin typeface="Audi Type" panose="020B0503040202060203" pitchFamily="34" charset="0"/>
                  <a:ea typeface="微软雅黑" panose="020B0503020204020204" pitchFamily="34" charset="-122"/>
                  <a:cs typeface="Audi Type" panose="020B0503040202060203" pitchFamily="34" charset="0"/>
                </a:rPr>
                <a:t>Certification</a:t>
              </a:r>
              <a:endParaRPr lang="zh-CN" altLang="en-US" sz="1100" b="1" dirty="0">
                <a:solidFill>
                  <a:srgbClr val="9EA1A2"/>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35" name="文本框 34">
              <a:extLst>
                <a:ext uri="{FF2B5EF4-FFF2-40B4-BE49-F238E27FC236}">
                  <a16:creationId xmlns:a16="http://schemas.microsoft.com/office/drawing/2014/main" id="{05326B4D-5AAD-59D9-8150-DD762FBE6DF3}"/>
                </a:ext>
              </a:extLst>
            </p:cNvPr>
            <p:cNvSpPr txBox="1"/>
            <p:nvPr/>
          </p:nvSpPr>
          <p:spPr>
            <a:xfrm>
              <a:off x="97877" y="8654681"/>
              <a:ext cx="2538738" cy="2245038"/>
            </a:xfrm>
            <a:prstGeom prst="rect">
              <a:avLst/>
            </a:prstGeom>
            <a:noFill/>
          </p:spPr>
          <p:txBody>
            <a:bodyPr wrap="square" rtlCol="0">
              <a:spAutoFit/>
            </a:bodyPr>
            <a:lstStyle/>
            <a:p>
              <a:pPr>
                <a:lnSpc>
                  <a:spcPts val="1740"/>
                </a:lnSpc>
              </a:pP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English</a:t>
              </a:r>
              <a:r>
                <a:rPr lang="zh-CN" altLang="en-US"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level</a:t>
              </a:r>
              <a:r>
                <a:rPr lang="zh-CN" altLang="en-US"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CET4</a:t>
              </a:r>
            </a:p>
            <a:p>
              <a:pPr>
                <a:lnSpc>
                  <a:spcPts val="1740"/>
                </a:lnSpc>
              </a:pPr>
              <a:r>
                <a:rPr lang="en-US" altLang="zh-CN" sz="800" dirty="0">
                  <a:latin typeface="Audi Type" panose="020B0503040202060203" pitchFamily="34" charset="0"/>
                  <a:ea typeface="微软雅黑" panose="020B0503020204020204" pitchFamily="34" charset="-122"/>
                  <a:cs typeface="Audi Type" panose="020B0503040202060203" pitchFamily="34" charset="0"/>
                </a:rPr>
                <a:t>CertifiedTime:2004</a:t>
              </a:r>
            </a:p>
            <a:p>
              <a:pPr>
                <a:lnSpc>
                  <a:spcPts val="1740"/>
                </a:lnSpc>
              </a:pP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ts val="1740"/>
                </a:lnSpc>
              </a:pP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VDA6.3</a:t>
              </a:r>
              <a:r>
                <a:rPr lang="zh-CN" altLang="en-US"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process</a:t>
              </a:r>
              <a:r>
                <a:rPr lang="zh-CN" altLang="en-US"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auditor</a:t>
              </a:r>
            </a:p>
            <a:p>
              <a:pPr>
                <a:lnSpc>
                  <a:spcPts val="1740"/>
                </a:lnSpc>
              </a:pPr>
              <a:r>
                <a:rPr lang="en-US" altLang="zh-CN" sz="800" dirty="0">
                  <a:latin typeface="Audi Type" panose="020B0503040202060203" pitchFamily="34" charset="0"/>
                  <a:ea typeface="微软雅黑" panose="020B0503020204020204" pitchFamily="34" charset="-122"/>
                  <a:cs typeface="Audi Type" panose="020B0503040202060203" pitchFamily="34" charset="0"/>
                </a:rPr>
                <a:t>CertifiedTime:2011</a:t>
              </a:r>
            </a:p>
            <a:p>
              <a:pPr>
                <a:lnSpc>
                  <a:spcPts val="1740"/>
                </a:lnSpc>
              </a:pPr>
              <a:endParaRPr lang="en-US" altLang="zh-CN" sz="8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ts val="1740"/>
                </a:lnSpc>
              </a:pP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VW</a:t>
              </a:r>
              <a:r>
                <a:rPr lang="zh-CN" altLang="en-US"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group</a:t>
              </a:r>
              <a:r>
                <a:rPr lang="zh-CN" altLang="en-US"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supply chain auditor</a:t>
              </a:r>
            </a:p>
            <a:p>
              <a:pPr>
                <a:lnSpc>
                  <a:spcPts val="1740"/>
                </a:lnSpc>
              </a:pPr>
              <a:r>
                <a:rPr lang="en-US" altLang="zh-CN" sz="800" dirty="0">
                  <a:latin typeface="Audi Type" panose="020B0503040202060203" pitchFamily="34" charset="0"/>
                  <a:ea typeface="微软雅黑" panose="020B0503020204020204" pitchFamily="34" charset="-122"/>
                  <a:cs typeface="Audi Type" panose="020B0503040202060203" pitchFamily="34" charset="0"/>
                </a:rPr>
                <a:t>CertifiedTime:2023</a:t>
              </a:r>
            </a:p>
            <a:p>
              <a:pPr>
                <a:lnSpc>
                  <a:spcPts val="1740"/>
                </a:lnSpc>
              </a:pP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Updated to VDA6.8 Supply Chain process</a:t>
              </a:r>
            </a:p>
            <a:p>
              <a:pPr>
                <a:lnSpc>
                  <a:spcPts val="1740"/>
                </a:lnSpc>
              </a:pPr>
              <a:r>
                <a:rPr lang="en-US" altLang="zh-CN" sz="800" dirty="0">
                  <a:latin typeface="Audi Type" panose="020B0503040202060203" pitchFamily="34" charset="0"/>
                  <a:ea typeface="微软雅黑" panose="020B0503020204020204" pitchFamily="34" charset="-122"/>
                  <a:cs typeface="Audi Type" panose="020B0503040202060203" pitchFamily="34" charset="0"/>
                </a:rPr>
                <a:t>CertifiedTime:2025</a:t>
              </a:r>
            </a:p>
          </p:txBody>
        </p:sp>
      </p:grpSp>
      <p:grpSp>
        <p:nvGrpSpPr>
          <p:cNvPr id="2" name="组合 1">
            <a:extLst>
              <a:ext uri="{FF2B5EF4-FFF2-40B4-BE49-F238E27FC236}">
                <a16:creationId xmlns:a16="http://schemas.microsoft.com/office/drawing/2014/main" id="{03489C8B-CBE6-5FD4-FE8E-0E0A517A87B7}"/>
              </a:ext>
            </a:extLst>
          </p:cNvPr>
          <p:cNvGrpSpPr/>
          <p:nvPr/>
        </p:nvGrpSpPr>
        <p:grpSpPr>
          <a:xfrm>
            <a:off x="170637" y="350174"/>
            <a:ext cx="6326942" cy="988219"/>
            <a:chOff x="37495" y="337813"/>
            <a:chExt cx="6326942" cy="1030956"/>
          </a:xfrm>
        </p:grpSpPr>
        <p:sp>
          <p:nvSpPr>
            <p:cNvPr id="10" name="文本框 9">
              <a:extLst>
                <a:ext uri="{FF2B5EF4-FFF2-40B4-BE49-F238E27FC236}">
                  <a16:creationId xmlns:a16="http://schemas.microsoft.com/office/drawing/2014/main" id="{9160D1C7-40BD-3AE8-3D23-CC892CB6B0F6}"/>
                </a:ext>
              </a:extLst>
            </p:cNvPr>
            <p:cNvSpPr txBox="1"/>
            <p:nvPr/>
          </p:nvSpPr>
          <p:spPr>
            <a:xfrm>
              <a:off x="37495" y="337813"/>
              <a:ext cx="3089831" cy="1030956"/>
            </a:xfrm>
            <a:prstGeom prst="rect">
              <a:avLst/>
            </a:prstGeom>
            <a:noFill/>
          </p:spPr>
          <p:txBody>
            <a:bodyPr wrap="square" rtlCol="0">
              <a:spAutoFit/>
            </a:bodyPr>
            <a:lstStyle/>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Name</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Li</a:t>
              </a:r>
              <a:r>
                <a:rPr lang="zh-CN" altLang="en-US" sz="1000" dirty="0">
                  <a:latin typeface="Arial" panose="020B0604020202020204" pitchFamily="34" charset="0"/>
                  <a:ea typeface="微软雅黑" panose="020B0503020204020204" pitchFamily="34" charset="-122"/>
                  <a:cs typeface="Arial" panose="020B0604020202020204" pitchFamily="34" charset="0"/>
                </a:rPr>
                <a:t> </a:t>
              </a:r>
              <a:r>
                <a:rPr lang="en-US" altLang="zh-CN" sz="1000" dirty="0" err="1">
                  <a:latin typeface="Arial" panose="020B0604020202020204" pitchFamily="34" charset="0"/>
                  <a:ea typeface="微软雅黑" panose="020B0503020204020204" pitchFamily="34" charset="-122"/>
                  <a:cs typeface="Arial" panose="020B0604020202020204" pitchFamily="34" charset="0"/>
                </a:rPr>
                <a:t>Jiajun</a:t>
              </a:r>
              <a:endParaRPr lang="en-US" altLang="zh-CN" sz="1000" dirty="0">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Birthday:	Dec.1983</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Status</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Married</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Mail</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lijiajun_vwpt@163.com</a:t>
              </a:r>
              <a:endParaRPr lang="zh-CN" altLang="en-US" sz="1000" dirty="0">
                <a:latin typeface="Arial" panose="020B0604020202020204" pitchFamily="34" charset="0"/>
                <a:ea typeface="微软雅黑" panose="020B0503020204020204" pitchFamily="34" charset="-122"/>
                <a:cs typeface="Arial" panose="020B0604020202020204" pitchFamily="34" charset="0"/>
              </a:endParaRPr>
            </a:p>
          </p:txBody>
        </p:sp>
        <p:sp>
          <p:nvSpPr>
            <p:cNvPr id="19" name="文本框 18">
              <a:extLst>
                <a:ext uri="{FF2B5EF4-FFF2-40B4-BE49-F238E27FC236}">
                  <a16:creationId xmlns:a16="http://schemas.microsoft.com/office/drawing/2014/main" id="{E8CED473-158F-AFE3-0FA2-6581BD95E2D9}"/>
                </a:ext>
              </a:extLst>
            </p:cNvPr>
            <p:cNvSpPr txBox="1"/>
            <p:nvPr/>
          </p:nvSpPr>
          <p:spPr>
            <a:xfrm>
              <a:off x="3208353" y="337813"/>
              <a:ext cx="3156084" cy="790141"/>
            </a:xfrm>
            <a:prstGeom prst="rect">
              <a:avLst/>
            </a:prstGeom>
            <a:noFill/>
          </p:spPr>
          <p:txBody>
            <a:bodyPr wrap="square" rtlCol="0">
              <a:spAutoFit/>
            </a:bodyPr>
            <a:lstStyle/>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Gender</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Male</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Location</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Shanghai, China</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Telephone</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+86-13761058893</a:t>
              </a:r>
            </a:p>
          </p:txBody>
        </p:sp>
      </p:grpSp>
      <p:grpSp>
        <p:nvGrpSpPr>
          <p:cNvPr id="8" name="组合 7">
            <a:extLst>
              <a:ext uri="{FF2B5EF4-FFF2-40B4-BE49-F238E27FC236}">
                <a16:creationId xmlns:a16="http://schemas.microsoft.com/office/drawing/2014/main" id="{E5B65BD3-BBF3-578A-9F5F-F3580370B13C}"/>
              </a:ext>
            </a:extLst>
          </p:cNvPr>
          <p:cNvGrpSpPr/>
          <p:nvPr/>
        </p:nvGrpSpPr>
        <p:grpSpPr>
          <a:xfrm>
            <a:off x="170636" y="8711336"/>
            <a:ext cx="6502833" cy="894718"/>
            <a:chOff x="170638" y="8872151"/>
            <a:chExt cx="5698928" cy="894718"/>
          </a:xfrm>
        </p:grpSpPr>
        <p:sp>
          <p:nvSpPr>
            <p:cNvPr id="13" name="文本框 12">
              <a:extLst>
                <a:ext uri="{FF2B5EF4-FFF2-40B4-BE49-F238E27FC236}">
                  <a16:creationId xmlns:a16="http://schemas.microsoft.com/office/drawing/2014/main" id="{9359063D-5B0B-ACDE-91FA-D32FA06A827E}"/>
                </a:ext>
              </a:extLst>
            </p:cNvPr>
            <p:cNvSpPr txBox="1"/>
            <p:nvPr/>
          </p:nvSpPr>
          <p:spPr>
            <a:xfrm>
              <a:off x="170638" y="8872151"/>
              <a:ext cx="2241487" cy="261610"/>
            </a:xfrm>
            <a:prstGeom prst="rect">
              <a:avLst/>
            </a:prstGeom>
            <a:noFill/>
          </p:spPr>
          <p:txBody>
            <a:bodyPr wrap="square" rtlCol="0" anchor="ctr">
              <a:spAutoFit/>
            </a:bodyPr>
            <a:lstStyle/>
            <a:p>
              <a:r>
                <a:rPr lang="en-US" altLang="zh-CN" sz="1100" b="1" dirty="0">
                  <a:solidFill>
                    <a:srgbClr val="696A6C"/>
                  </a:solidFill>
                  <a:effectLst/>
                  <a:latin typeface="quote-cjk-patch"/>
                </a:rPr>
                <a:t>Core Competencies &amp; Certification</a:t>
              </a:r>
            </a:p>
          </p:txBody>
        </p:sp>
        <p:sp>
          <p:nvSpPr>
            <p:cNvPr id="14" name="文本框 13">
              <a:extLst>
                <a:ext uri="{FF2B5EF4-FFF2-40B4-BE49-F238E27FC236}">
                  <a16:creationId xmlns:a16="http://schemas.microsoft.com/office/drawing/2014/main" id="{B016AE02-ED78-0A8F-CD5F-4E6C5614D76F}"/>
                </a:ext>
              </a:extLst>
            </p:cNvPr>
            <p:cNvSpPr txBox="1"/>
            <p:nvPr/>
          </p:nvSpPr>
          <p:spPr>
            <a:xfrm>
              <a:off x="170638" y="9072768"/>
              <a:ext cx="3055891" cy="694101"/>
            </a:xfrm>
            <a:prstGeom prst="rect">
              <a:avLst/>
            </a:prstGeom>
            <a:noFill/>
          </p:spPr>
          <p:txBody>
            <a:bodyPr wrap="square" rtlCol="0">
              <a:spAutoFit/>
            </a:bodyPr>
            <a:lstStyle/>
            <a:p>
              <a:pPr marL="0" lvl="3" indent="-171450">
                <a:lnSpc>
                  <a:spcPct val="150000"/>
                </a:lnSpc>
                <a:buFont typeface="Arial" panose="020B0604020202020204" pitchFamily="34" charset="0"/>
                <a:buChar char="•"/>
              </a:pPr>
              <a:r>
                <a:rPr lang="en-US" altLang="zh-CN" sz="900" dirty="0">
                  <a:latin typeface="Audi Type" panose="020B0503040202060203" pitchFamily="34" charset="0"/>
                  <a:ea typeface="微软雅黑" panose="020B0503020204020204" pitchFamily="34" charset="-122"/>
                </a:rPr>
                <a:t>Europe Market Entry &amp; Qualification (VDA 6.8)</a:t>
              </a:r>
            </a:p>
            <a:p>
              <a:pPr indent="-171450">
                <a:lnSpc>
                  <a:spcPct val="150000"/>
                </a:lnSpc>
                <a:buFont typeface="Arial" panose="020B0604020202020204" pitchFamily="34" charset="0"/>
                <a:buChar char="•"/>
              </a:pPr>
              <a:r>
                <a:rPr lang="en-US" altLang="zh-CN" sz="900" i="0" dirty="0">
                  <a:solidFill>
                    <a:srgbClr val="0F1115"/>
                  </a:solidFill>
                  <a:effectLst/>
                  <a:latin typeface="quote-cjk-patch"/>
                </a:rPr>
                <a:t>Strategic Supplier Development &amp; Maturity Management (</a:t>
              </a:r>
              <a:r>
                <a:rPr lang="en-US" altLang="zh-CN" sz="900" i="0" dirty="0" err="1">
                  <a:solidFill>
                    <a:srgbClr val="0F1115"/>
                  </a:solidFill>
                  <a:effectLst/>
                  <a:latin typeface="quote-cjk-patch"/>
                </a:rPr>
                <a:t>QPNi</a:t>
              </a:r>
              <a:r>
                <a:rPr lang="en-US" altLang="zh-CN" sz="900" i="0" dirty="0">
                  <a:solidFill>
                    <a:srgbClr val="0F1115"/>
                  </a:solidFill>
                  <a:effectLst/>
                  <a:latin typeface="quote-cjk-patch"/>
                </a:rPr>
                <a:t>)</a:t>
              </a:r>
              <a:endParaRPr lang="en-US" altLang="zh-CN" sz="900" dirty="0">
                <a:latin typeface="Audi Type" panose="020B0503040202060203" pitchFamily="34" charset="0"/>
                <a:ea typeface="微软雅黑" panose="020B0503020204020204" pitchFamily="34" charset="-122"/>
              </a:endParaRPr>
            </a:p>
            <a:p>
              <a:pPr marL="171450" indent="-171450" algn="l">
                <a:lnSpc>
                  <a:spcPct val="150000"/>
                </a:lnSpc>
                <a:buFont typeface="Arial" panose="020B0604020202020204" pitchFamily="34" charset="0"/>
                <a:buChar char="•"/>
              </a:pPr>
              <a:r>
                <a:rPr lang="en-US" altLang="zh-CN" sz="900" dirty="0">
                  <a:solidFill>
                    <a:srgbClr val="0F1115"/>
                  </a:solidFill>
                  <a:latin typeface="quote-cjk-patch"/>
                </a:rPr>
                <a:t>End-to-End Supplier Capacity &amp; Risk Management</a:t>
              </a:r>
            </a:p>
          </p:txBody>
        </p:sp>
        <p:sp>
          <p:nvSpPr>
            <p:cNvPr id="22" name="文本框 21">
              <a:extLst>
                <a:ext uri="{FF2B5EF4-FFF2-40B4-BE49-F238E27FC236}">
                  <a16:creationId xmlns:a16="http://schemas.microsoft.com/office/drawing/2014/main" id="{2C01F9D0-AAA4-4D13-A91F-6EEC712F6F77}"/>
                </a:ext>
              </a:extLst>
            </p:cNvPr>
            <p:cNvSpPr txBox="1"/>
            <p:nvPr/>
          </p:nvSpPr>
          <p:spPr>
            <a:xfrm>
              <a:off x="3092052" y="9072768"/>
              <a:ext cx="2777514" cy="694101"/>
            </a:xfrm>
            <a:prstGeom prst="rect">
              <a:avLst/>
            </a:prstGeom>
            <a:noFill/>
          </p:spPr>
          <p:txBody>
            <a:bodyPr wrap="square" rtlCol="0">
              <a:spAutoFit/>
            </a:bodyPr>
            <a:lstStyle>
              <a:defPPr>
                <a:defRPr lang="zh-CN"/>
              </a:defPPr>
              <a:lvl1pPr indent="-171450">
                <a:lnSpc>
                  <a:spcPct val="150000"/>
                </a:lnSpc>
                <a:buFont typeface="Arial" panose="020B0604020202020204" pitchFamily="34" charset="0"/>
                <a:buChar char="•"/>
                <a:defRPr sz="900" i="0">
                  <a:solidFill>
                    <a:srgbClr val="0F1115"/>
                  </a:solidFill>
                  <a:effectLst/>
                  <a:latin typeface="quote-cjk-patch"/>
                </a:defRPr>
              </a:lvl1pPr>
              <a:lvl4pPr marL="0" lvl="3" indent="-171450">
                <a:lnSpc>
                  <a:spcPct val="150000"/>
                </a:lnSpc>
                <a:buFont typeface="Arial" panose="020B0604020202020204" pitchFamily="34" charset="0"/>
                <a:buChar char="•"/>
                <a:defRPr sz="900">
                  <a:latin typeface="Audi Type" panose="020B0503040202060203" pitchFamily="34" charset="0"/>
                  <a:ea typeface="微软雅黑" panose="020B0503020204020204" pitchFamily="34" charset="-122"/>
                </a:defRPr>
              </a:lvl4pPr>
            </a:lstStyle>
            <a:p>
              <a:r>
                <a:rPr lang="en-US" altLang="zh-CN" dirty="0"/>
                <a:t>Supply Chain Consulting &amp; System Implementation</a:t>
              </a:r>
            </a:p>
            <a:p>
              <a:r>
                <a:rPr lang="en-US" altLang="zh-CN" dirty="0"/>
                <a:t>S&amp;OP</a:t>
              </a:r>
            </a:p>
            <a:p>
              <a:r>
                <a:rPr lang="en-US" altLang="zh-CN" dirty="0"/>
                <a:t>Certificate of VDA6.3 &amp; VDA6.8</a:t>
              </a:r>
            </a:p>
          </p:txBody>
        </p:sp>
      </p:grpSp>
      <p:grpSp>
        <p:nvGrpSpPr>
          <p:cNvPr id="7" name="组合 6">
            <a:extLst>
              <a:ext uri="{FF2B5EF4-FFF2-40B4-BE49-F238E27FC236}">
                <a16:creationId xmlns:a16="http://schemas.microsoft.com/office/drawing/2014/main" id="{D25FCE4C-3042-761A-3926-8768E7BFD741}"/>
              </a:ext>
            </a:extLst>
          </p:cNvPr>
          <p:cNvGrpSpPr/>
          <p:nvPr/>
        </p:nvGrpSpPr>
        <p:grpSpPr>
          <a:xfrm>
            <a:off x="170636" y="8224541"/>
            <a:ext cx="6445949" cy="461781"/>
            <a:chOff x="237528" y="8410370"/>
            <a:chExt cx="6379057" cy="461781"/>
          </a:xfrm>
        </p:grpSpPr>
        <p:sp>
          <p:nvSpPr>
            <p:cNvPr id="27" name="矩形 26">
              <a:extLst>
                <a:ext uri="{FF2B5EF4-FFF2-40B4-BE49-F238E27FC236}">
                  <a16:creationId xmlns:a16="http://schemas.microsoft.com/office/drawing/2014/main" id="{30E2292A-0D40-C50A-B410-8C6CE2C3D431}"/>
                </a:ext>
              </a:extLst>
            </p:cNvPr>
            <p:cNvSpPr/>
            <p:nvPr/>
          </p:nvSpPr>
          <p:spPr>
            <a:xfrm>
              <a:off x="237528" y="8622304"/>
              <a:ext cx="6379057" cy="249847"/>
            </a:xfrm>
            <a:prstGeom prst="rect">
              <a:avLst/>
            </a:prstGeom>
          </p:spPr>
          <p:txBody>
            <a:bodyPr wrap="square">
              <a:spAutoFit/>
            </a:bodyPr>
            <a:lstStyle/>
            <a:p>
              <a:r>
                <a:rPr lang="en-US" altLang="zh-CN" sz="1000" b="1" dirty="0">
                  <a:solidFill>
                    <a:srgbClr val="696A6C"/>
                  </a:solidFill>
                  <a:latin typeface="Audi Type" panose="020B0503040202060203" pitchFamily="34" charset="0"/>
                  <a:ea typeface="Microsoft YaHei" panose="020B0503020204020204" pitchFamily="34" charset="-122"/>
                </a:rPr>
                <a:t>2002.09</a:t>
              </a:r>
              <a:r>
                <a:rPr lang="zh-CN" altLang="en-US" sz="1000" b="1" dirty="0">
                  <a:solidFill>
                    <a:srgbClr val="696A6C"/>
                  </a:solidFill>
                  <a:latin typeface="Audi Type" panose="020B0503040202060203" pitchFamily="34" charset="0"/>
                  <a:ea typeface="Microsoft YaHei" panose="020B0503020204020204" pitchFamily="34" charset="-122"/>
                </a:rPr>
                <a:t>～</a:t>
              </a:r>
              <a:r>
                <a:rPr lang="en-US" altLang="zh-CN" sz="1000" b="1" dirty="0">
                  <a:solidFill>
                    <a:srgbClr val="696A6C"/>
                  </a:solidFill>
                  <a:latin typeface="Audi Type" panose="020B0503040202060203" pitchFamily="34" charset="0"/>
                  <a:ea typeface="Microsoft YaHei" panose="020B0503020204020204" pitchFamily="34" charset="-122"/>
                </a:rPr>
                <a:t>2006.06	Shanghai</a:t>
              </a:r>
              <a:r>
                <a:rPr lang="zh-CN" altLang="en-US" sz="1000" b="1" dirty="0">
                  <a:solidFill>
                    <a:srgbClr val="696A6C"/>
                  </a:solidFill>
                  <a:latin typeface="Audi Type" panose="020B0503040202060203" pitchFamily="34" charset="0"/>
                  <a:ea typeface="Microsoft YaHei" panose="020B0503020204020204" pitchFamily="34" charset="-122"/>
                </a:rPr>
                <a:t> </a:t>
              </a:r>
              <a:r>
                <a:rPr lang="en-US" altLang="zh-CN" sz="1000" b="1" dirty="0">
                  <a:solidFill>
                    <a:srgbClr val="696A6C"/>
                  </a:solidFill>
                  <a:latin typeface="Audi Type" panose="020B0503040202060203" pitchFamily="34" charset="0"/>
                  <a:ea typeface="Microsoft YaHei" panose="020B0503020204020204" pitchFamily="34" charset="-122"/>
                </a:rPr>
                <a:t>Maritime</a:t>
              </a:r>
              <a:r>
                <a:rPr lang="zh-CN" altLang="en-US" sz="1000" b="1" dirty="0">
                  <a:solidFill>
                    <a:srgbClr val="696A6C"/>
                  </a:solidFill>
                  <a:latin typeface="Audi Type" panose="020B0503040202060203" pitchFamily="34" charset="0"/>
                  <a:ea typeface="Microsoft YaHei" panose="020B0503020204020204" pitchFamily="34" charset="-122"/>
                </a:rPr>
                <a:t> </a:t>
              </a:r>
              <a:r>
                <a:rPr lang="en-US" altLang="zh-CN" sz="1000" b="1" dirty="0">
                  <a:solidFill>
                    <a:srgbClr val="696A6C"/>
                  </a:solidFill>
                  <a:latin typeface="Audi Type" panose="020B0503040202060203" pitchFamily="34" charset="0"/>
                  <a:ea typeface="Microsoft YaHei" panose="020B0503020204020204" pitchFamily="34" charset="-122"/>
                  <a:cs typeface="Audi Type" panose="020B0503040202060203" pitchFamily="34" charset="0"/>
                </a:rPr>
                <a:t>University	</a:t>
              </a:r>
              <a:r>
                <a:rPr lang="en-US" altLang="zh-CN" sz="1000" dirty="0">
                  <a:latin typeface="Audi Type" panose="020B0503040202060203" pitchFamily="34" charset="0"/>
                  <a:ea typeface="Microsoft YaHei" panose="020B0503020204020204" pitchFamily="34" charset="-122"/>
                  <a:cs typeface="Audi Type" panose="020B0503040202060203" pitchFamily="34" charset="0"/>
                </a:rPr>
                <a:t>Bachelor</a:t>
              </a:r>
              <a:r>
                <a:rPr lang="zh-CN" altLang="en-US" sz="1000" dirty="0">
                  <a:latin typeface="Audi Type" panose="020B0503040202060203" pitchFamily="34" charset="0"/>
                  <a:ea typeface="Microsoft YaHei" panose="020B0503020204020204" pitchFamily="34" charset="-122"/>
                  <a:cs typeface="Audi Type" panose="020B0503040202060203" pitchFamily="34" charset="0"/>
                </a:rPr>
                <a:t> </a:t>
              </a:r>
              <a:r>
                <a:rPr lang="en-US" altLang="zh-CN" sz="1000" dirty="0">
                  <a:latin typeface="Audi Type" panose="020B0503040202060203" pitchFamily="34" charset="0"/>
                  <a:ea typeface="Microsoft YaHei" panose="020B0503020204020204" pitchFamily="34" charset="-122"/>
                  <a:cs typeface="Audi Type" panose="020B0503040202060203" pitchFamily="34" charset="0"/>
                </a:rPr>
                <a:t>in</a:t>
              </a:r>
              <a:r>
                <a:rPr lang="zh-CN" altLang="en-US" sz="1000" dirty="0">
                  <a:latin typeface="Audi Type" panose="020B0503040202060203" pitchFamily="34" charset="0"/>
                  <a:ea typeface="Microsoft YaHei" panose="020B0503020204020204" pitchFamily="34" charset="-122"/>
                  <a:cs typeface="Audi Type" panose="020B0503040202060203" pitchFamily="34" charset="0"/>
                </a:rPr>
                <a:t> </a:t>
              </a:r>
              <a:r>
                <a:rPr lang="en-US" altLang="zh-CN" sz="1000" dirty="0">
                  <a:latin typeface="Audi Type" panose="020B0503040202060203" pitchFamily="34" charset="0"/>
                  <a:ea typeface="Microsoft YaHei" panose="020B0503020204020204" pitchFamily="34" charset="-122"/>
                  <a:cs typeface="Audi Type" panose="020B0503040202060203" pitchFamily="34" charset="0"/>
                </a:rPr>
                <a:t>Marine</a:t>
              </a:r>
              <a:r>
                <a:rPr lang="zh-CN" altLang="en-US" sz="1000" dirty="0">
                  <a:latin typeface="Audi Type" panose="020B0503040202060203" pitchFamily="34" charset="0"/>
                  <a:ea typeface="Microsoft YaHei" panose="020B0503020204020204" pitchFamily="34" charset="-122"/>
                  <a:cs typeface="Audi Type" panose="020B0503040202060203" pitchFamily="34" charset="0"/>
                </a:rPr>
                <a:t> </a:t>
              </a:r>
              <a:r>
                <a:rPr lang="en-US" altLang="zh-CN" sz="1000" dirty="0">
                  <a:latin typeface="Audi Type" panose="020B0503040202060203" pitchFamily="34" charset="0"/>
                  <a:ea typeface="Microsoft YaHei" panose="020B0503020204020204" pitchFamily="34" charset="-122"/>
                  <a:cs typeface="Audi Type" panose="020B0503040202060203" pitchFamily="34" charset="0"/>
                </a:rPr>
                <a:t>engineering</a:t>
              </a:r>
              <a:endParaRPr lang="en-US" altLang="zh-CN" sz="1000" kern="100" dirty="0">
                <a:latin typeface="Audi Type" panose="020B0503040202060203" pitchFamily="34" charset="0"/>
                <a:ea typeface="Microsoft YaHei" panose="020B0503020204020204" pitchFamily="34" charset="-122"/>
                <a:cs typeface="Audi Type" panose="020B0503040202060203" pitchFamily="34" charset="0"/>
              </a:endParaRPr>
            </a:p>
          </p:txBody>
        </p:sp>
        <p:sp>
          <p:nvSpPr>
            <p:cNvPr id="23" name="文本框 22">
              <a:extLst>
                <a:ext uri="{FF2B5EF4-FFF2-40B4-BE49-F238E27FC236}">
                  <a16:creationId xmlns:a16="http://schemas.microsoft.com/office/drawing/2014/main" id="{8DA8C750-DC16-6740-6636-49C917490472}"/>
                </a:ext>
              </a:extLst>
            </p:cNvPr>
            <p:cNvSpPr txBox="1"/>
            <p:nvPr/>
          </p:nvSpPr>
          <p:spPr>
            <a:xfrm>
              <a:off x="237529" y="8410370"/>
              <a:ext cx="2241486" cy="261610"/>
            </a:xfrm>
            <a:prstGeom prst="rect">
              <a:avLst/>
            </a:prstGeom>
            <a:noFill/>
          </p:spPr>
          <p:txBody>
            <a:bodyPr wrap="square" rtlCol="0" anchor="ctr">
              <a:spAutoFit/>
            </a:bodyPr>
            <a:lstStyle/>
            <a:p>
              <a:r>
                <a:rPr lang="en-US" altLang="zh-CN" sz="1100" b="1" dirty="0">
                  <a:solidFill>
                    <a:srgbClr val="696A6C"/>
                  </a:solidFill>
                  <a:effectLst/>
                  <a:latin typeface="quote-cjk-patch"/>
                </a:rPr>
                <a:t>Education</a:t>
              </a:r>
            </a:p>
          </p:txBody>
        </p:sp>
      </p:grpSp>
      <p:grpSp>
        <p:nvGrpSpPr>
          <p:cNvPr id="4" name="组合 3">
            <a:extLst>
              <a:ext uri="{FF2B5EF4-FFF2-40B4-BE49-F238E27FC236}">
                <a16:creationId xmlns:a16="http://schemas.microsoft.com/office/drawing/2014/main" id="{D0CF933D-8DED-371F-C5CC-234E22C9E351}"/>
              </a:ext>
            </a:extLst>
          </p:cNvPr>
          <p:cNvGrpSpPr/>
          <p:nvPr/>
        </p:nvGrpSpPr>
        <p:grpSpPr>
          <a:xfrm>
            <a:off x="170638" y="1979673"/>
            <a:ext cx="6445947" cy="6279243"/>
            <a:chOff x="170638" y="2013668"/>
            <a:chExt cx="6445947" cy="6589477"/>
          </a:xfrm>
        </p:grpSpPr>
        <p:sp>
          <p:nvSpPr>
            <p:cNvPr id="20" name="文本框 19">
              <a:extLst>
                <a:ext uri="{FF2B5EF4-FFF2-40B4-BE49-F238E27FC236}">
                  <a16:creationId xmlns:a16="http://schemas.microsoft.com/office/drawing/2014/main" id="{68095A53-EEFC-300B-ACB3-A5EBF9F0CD21}"/>
                </a:ext>
              </a:extLst>
            </p:cNvPr>
            <p:cNvSpPr txBox="1"/>
            <p:nvPr/>
          </p:nvSpPr>
          <p:spPr>
            <a:xfrm>
              <a:off x="170638" y="2224238"/>
              <a:ext cx="6445947" cy="6378907"/>
            </a:xfrm>
            <a:prstGeom prst="rect">
              <a:avLst/>
            </a:prstGeom>
            <a:noFill/>
          </p:spPr>
          <p:txBody>
            <a:bodyPr wrap="square" rtlCol="0">
              <a:spAutoFit/>
            </a:bodyPr>
            <a:lstStyle/>
            <a:p>
              <a:r>
                <a:rPr lang="en-US" altLang="zh-CN" sz="1000" b="1" dirty="0">
                  <a:solidFill>
                    <a:srgbClr val="696A6C"/>
                  </a:solidFill>
                  <a:latin typeface="Audi Type" panose="020B0503040202060203" pitchFamily="34" charset="0"/>
                  <a:ea typeface="微软雅黑" panose="020B0503020204020204" pitchFamily="34" charset="-122"/>
                </a:rPr>
                <a:t>2022.05 </a:t>
              </a:r>
              <a:r>
                <a:rPr lang="zh-CN" altLang="en-US" sz="1000" b="1" dirty="0">
                  <a:solidFill>
                    <a:srgbClr val="696A6C"/>
                  </a:solidFill>
                  <a:latin typeface="Audi Type" panose="020B0503040202060203" pitchFamily="34" charset="0"/>
                  <a:ea typeface="微软雅黑" panose="020B0503020204020204" pitchFamily="34" charset="-122"/>
                </a:rPr>
                <a:t>～ </a:t>
              </a:r>
              <a:r>
                <a:rPr lang="en-US" altLang="zh-CN" sz="1000" b="1" dirty="0">
                  <a:solidFill>
                    <a:srgbClr val="696A6C"/>
                  </a:solidFill>
                  <a:latin typeface="Audi Type" panose="020B0503040202060203" pitchFamily="34" charset="0"/>
                  <a:ea typeface="微软雅黑" panose="020B0503020204020204" pitchFamily="34" charset="-122"/>
                </a:rPr>
                <a:t>Present	Audi</a:t>
              </a:r>
              <a:r>
                <a:rPr lang="zh-CN" altLang="en-US" sz="1000" b="1" dirty="0">
                  <a:solidFill>
                    <a:srgbClr val="696A6C"/>
                  </a:solidFill>
                  <a:latin typeface="Audi Type" panose="020B0503040202060203" pitchFamily="34" charset="0"/>
                  <a:ea typeface="微软雅黑" panose="020B0503020204020204" pitchFamily="34" charset="-122"/>
                </a:rPr>
                <a:t> </a:t>
              </a:r>
              <a:r>
                <a:rPr lang="en-US" altLang="zh-CN" sz="1000" b="1" dirty="0">
                  <a:solidFill>
                    <a:srgbClr val="696A6C"/>
                  </a:solidFill>
                  <a:latin typeface="Audi Type" panose="020B0503040202060203" pitchFamily="34" charset="0"/>
                  <a:ea typeface="微软雅黑" panose="020B0503020204020204" pitchFamily="34" charset="-122"/>
                </a:rPr>
                <a:t>China</a:t>
              </a:r>
              <a:r>
                <a:rPr lang="zh-CN" altLang="en-US" sz="1000" b="1" dirty="0">
                  <a:solidFill>
                    <a:srgbClr val="696A6C"/>
                  </a:solidFill>
                  <a:latin typeface="Audi Type" panose="020B0503040202060203" pitchFamily="34" charset="0"/>
                  <a:ea typeface="微软雅黑" panose="020B0503020204020204" pitchFamily="34" charset="-122"/>
                </a:rPr>
                <a:t> </a:t>
              </a:r>
              <a:r>
                <a:rPr lang="en-US" altLang="zh-CN" sz="1000" b="1" dirty="0">
                  <a:solidFill>
                    <a:srgbClr val="696A6C"/>
                  </a:solidFill>
                  <a:latin typeface="Audi Type" panose="020B0503040202060203" pitchFamily="34" charset="0"/>
                  <a:ea typeface="微软雅黑" panose="020B0503020204020204" pitchFamily="34" charset="-122"/>
                </a:rPr>
                <a:t>Supply</a:t>
              </a:r>
              <a:r>
                <a:rPr lang="zh-CN" altLang="en-US" sz="1000" b="1" dirty="0">
                  <a:solidFill>
                    <a:srgbClr val="696A6C"/>
                  </a:solidFill>
                  <a:latin typeface="Audi Type" panose="020B0503040202060203" pitchFamily="34" charset="0"/>
                  <a:ea typeface="微软雅黑" panose="020B0503020204020204" pitchFamily="34" charset="-122"/>
                </a:rPr>
                <a:t> </a:t>
              </a:r>
              <a:r>
                <a:rPr lang="en-US" altLang="zh-CN" sz="1000" b="1" dirty="0">
                  <a:solidFill>
                    <a:srgbClr val="696A6C"/>
                  </a:solidFill>
                  <a:latin typeface="Audi Type" panose="020B0503040202060203" pitchFamily="34" charset="0"/>
                  <a:ea typeface="微软雅黑" panose="020B0503020204020204" pitchFamily="34" charset="-122"/>
                </a:rPr>
                <a:t>Chain</a:t>
              </a:r>
              <a:r>
                <a:rPr lang="zh-CN" altLang="en-US" sz="1000" b="1" dirty="0">
                  <a:solidFill>
                    <a:srgbClr val="696A6C"/>
                  </a:solidFill>
                  <a:latin typeface="Audi Type" panose="020B0503040202060203" pitchFamily="34" charset="0"/>
                  <a:ea typeface="微软雅黑" panose="020B0503020204020204" pitchFamily="34" charset="-122"/>
                </a:rPr>
                <a:t> </a:t>
              </a:r>
              <a:r>
                <a:rPr lang="en-US" altLang="zh-CN" sz="1000" b="1" dirty="0">
                  <a:solidFill>
                    <a:srgbClr val="696A6C"/>
                  </a:solidFill>
                  <a:latin typeface="Audi Type" panose="020B0503040202060203" pitchFamily="34" charset="0"/>
                  <a:ea typeface="微软雅黑" panose="020B0503020204020204" pitchFamily="34" charset="-122"/>
                </a:rPr>
                <a:t>Great</a:t>
              </a:r>
              <a:r>
                <a:rPr lang="zh-CN" altLang="en-US" sz="1000" b="1" dirty="0">
                  <a:solidFill>
                    <a:srgbClr val="696A6C"/>
                  </a:solidFill>
                  <a:latin typeface="Audi Type" panose="020B0503040202060203" pitchFamily="34" charset="0"/>
                  <a:ea typeface="微软雅黑" panose="020B0503020204020204" pitchFamily="34" charset="-122"/>
                </a:rPr>
                <a:t> </a:t>
              </a:r>
              <a:r>
                <a:rPr lang="en-US" altLang="zh-CN" sz="1000" b="1" dirty="0">
                  <a:solidFill>
                    <a:srgbClr val="696A6C"/>
                  </a:solidFill>
                  <a:latin typeface="Audi Type" panose="020B0503040202060203" pitchFamily="34" charset="0"/>
                  <a:ea typeface="微软雅黑" panose="020B0503020204020204" pitchFamily="34" charset="-122"/>
                </a:rPr>
                <a:t>Asia</a:t>
              </a:r>
            </a:p>
            <a:p>
              <a:pPr lvl="2"/>
              <a:r>
                <a:rPr lang="en-US" altLang="zh-CN" sz="1000" b="1" dirty="0">
                  <a:solidFill>
                    <a:srgbClr val="696A6C"/>
                  </a:solidFill>
                  <a:latin typeface="Audi Type" panose="020B0503040202060203" pitchFamily="34" charset="0"/>
                  <a:ea typeface="微软雅黑" panose="020B0503020204020204" pitchFamily="34" charset="-122"/>
                </a:rPr>
                <a:t>	</a:t>
              </a:r>
              <a:r>
                <a:rPr lang="en-US" altLang="zh-CN" sz="1000" dirty="0">
                  <a:solidFill>
                    <a:srgbClr val="696A6C"/>
                  </a:solidFill>
                  <a:latin typeface="Audi Type" panose="020B0503040202060203" pitchFamily="34" charset="0"/>
                  <a:ea typeface="微软雅黑" panose="020B0503020204020204" pitchFamily="34" charset="-122"/>
                </a:rPr>
                <a:t>Supply Chain Auditor and Planner</a:t>
              </a:r>
            </a:p>
            <a:p>
              <a:pPr marL="171450" indent="-171450" algn="l">
                <a:buFont typeface="Wingdings" pitchFamily="2" charset="2"/>
                <a:buChar char="Ø"/>
              </a:pPr>
              <a:r>
                <a:rPr lang="en-US" altLang="zh-CN" sz="1000" b="1" dirty="0">
                  <a:latin typeface="Audi Type" panose="020B0503040202060203" pitchFamily="34" charset="0"/>
                  <a:ea typeface="微软雅黑" panose="020B0503020204020204" pitchFamily="34" charset="-122"/>
                </a:rPr>
                <a:t>Volkswagen Group Supply Chain Audit</a:t>
              </a:r>
              <a:r>
                <a:rPr lang="zh-CN" altLang="en-US" sz="1000" b="1" dirty="0">
                  <a:latin typeface="Audi Type" panose="020B0503040202060203" pitchFamily="34" charset="0"/>
                  <a:ea typeface="微软雅黑" panose="020B0503020204020204" pitchFamily="34" charset="-122"/>
                </a:rPr>
                <a:t> </a:t>
              </a:r>
              <a:r>
                <a:rPr lang="en-US" altLang="zh-CN" sz="1000" b="1" dirty="0">
                  <a:latin typeface="Audi Type" panose="020B0503040202060203" pitchFamily="34" charset="0"/>
                  <a:ea typeface="微软雅黑" panose="020B0503020204020204" pitchFamily="34" charset="-122"/>
                </a:rPr>
                <a:t>(for</a:t>
              </a:r>
              <a:r>
                <a:rPr lang="zh-CN" altLang="en-US" sz="1000" b="1" dirty="0">
                  <a:latin typeface="Audi Type" panose="020B0503040202060203" pitchFamily="34" charset="0"/>
                  <a:ea typeface="微软雅黑" panose="020B0503020204020204" pitchFamily="34" charset="-122"/>
                </a:rPr>
                <a:t> </a:t>
              </a:r>
              <a:r>
                <a:rPr lang="en-US" altLang="zh-CN" sz="1000" b="1" dirty="0">
                  <a:latin typeface="Audi Type" panose="020B0503040202060203" pitchFamily="34" charset="0"/>
                  <a:ea typeface="微软雅黑" panose="020B0503020204020204" pitchFamily="34" charset="-122"/>
                </a:rPr>
                <a:t>potential</a:t>
              </a:r>
              <a:r>
                <a:rPr lang="zh-CN" altLang="en-US" sz="1000" b="1" dirty="0">
                  <a:latin typeface="Audi Type" panose="020B0503040202060203" pitchFamily="34" charset="0"/>
                  <a:ea typeface="微软雅黑" panose="020B0503020204020204" pitchFamily="34" charset="-122"/>
                </a:rPr>
                <a:t> </a:t>
              </a:r>
              <a:r>
                <a:rPr lang="en-US" altLang="zh-CN" sz="1000" b="1" dirty="0">
                  <a:latin typeface="Audi Type" panose="020B0503040202060203" pitchFamily="34" charset="0"/>
                  <a:ea typeface="微软雅黑" panose="020B0503020204020204" pitchFamily="34" charset="-122"/>
                </a:rPr>
                <a:t>suppliers):</a:t>
              </a:r>
              <a:br>
                <a:rPr lang="en-US" altLang="zh-CN" sz="900" dirty="0">
                  <a:latin typeface="Audi Type" panose="020B0503040202060203" pitchFamily="34" charset="0"/>
                  <a:ea typeface="微软雅黑" panose="020B0503020204020204" pitchFamily="34" charset="-122"/>
                </a:rPr>
              </a:br>
              <a:r>
                <a:rPr lang="en-US" altLang="zh-CN" sz="900" dirty="0">
                  <a:latin typeface="Audi Type" panose="020B0503040202060203" pitchFamily="34" charset="0"/>
                  <a:ea typeface="微软雅黑" panose="020B0503020204020204" pitchFamily="34" charset="-122"/>
                </a:rPr>
                <a:t>As a certified expert in VDA 6.8 (Supply Chain Process Audit) for the Group, I have represented top European brands such as Audi, Porsche, and Lamborghini in conducting comprehensive admission audits of the end-to-end supply chain processes for over 100 target suppliers across the Asia-Pacific region. These audits includes both info &amp; material flows throughout the entire chain—spanning planning, procurement, production, in-house</a:t>
              </a:r>
              <a:r>
                <a:rPr lang="zh-CN" altLang="en-US" sz="900" dirty="0">
                  <a:latin typeface="Audi Type" panose="020B0503040202060203" pitchFamily="34" charset="0"/>
                  <a:ea typeface="微软雅黑" panose="020B0503020204020204" pitchFamily="34" charset="-122"/>
                </a:rPr>
                <a:t> </a:t>
              </a:r>
              <a:r>
                <a:rPr lang="en-US" altLang="zh-CN" sz="900" dirty="0">
                  <a:latin typeface="Audi Type" panose="020B0503040202060203" pitchFamily="34" charset="0"/>
                  <a:ea typeface="微软雅黑" panose="020B0503020204020204" pitchFamily="34" charset="-122"/>
                </a:rPr>
                <a:t>logistics, and shipment. The audit conclusions serve as mandatory precondition and critical decision-making criteria for suppliers to secure Volkswagen Group’s global project sourcing, demonstrating my deep understanding of European customers' core requirements for supply chain transparency, reliability, and risk control.</a:t>
              </a:r>
            </a:p>
            <a:p>
              <a:pPr marL="171450" indent="-171450" algn="l">
                <a:buFont typeface="Wingdings" pitchFamily="2" charset="2"/>
                <a:buChar char="Ø"/>
              </a:pPr>
              <a:r>
                <a:rPr lang="en-US" altLang="zh-CN" sz="1000" b="1" dirty="0">
                  <a:latin typeface="Audi Type" panose="020B0503040202060203" pitchFamily="34" charset="0"/>
                  <a:ea typeface="微软雅黑" panose="020B0503020204020204" pitchFamily="34" charset="-122"/>
                </a:rPr>
                <a:t>Strategic Supplier Empowerment and Maturity Management (</a:t>
              </a:r>
              <a:r>
                <a:rPr lang="en-US" altLang="zh-CN" sz="1000" b="1" dirty="0" err="1">
                  <a:latin typeface="Audi Type" panose="020B0503040202060203" pitchFamily="34" charset="0"/>
                  <a:ea typeface="微软雅黑" panose="020B0503020204020204" pitchFamily="34" charset="-122"/>
                </a:rPr>
                <a:t>QPNi</a:t>
              </a:r>
              <a:r>
                <a:rPr lang="en-US" altLang="zh-CN" sz="1000" b="1" dirty="0">
                  <a:latin typeface="Audi Type" panose="020B0503040202060203" pitchFamily="34" charset="0"/>
                  <a:ea typeface="微软雅黑" panose="020B0503020204020204" pitchFamily="34" charset="-122"/>
                </a:rPr>
                <a:t>)</a:t>
              </a:r>
            </a:p>
            <a:p>
              <a:pPr marL="171450" indent="-171450">
                <a:buFont typeface="Arial" panose="020B0604020202020204" pitchFamily="34" charset="0"/>
                <a:buChar char="•"/>
              </a:pPr>
              <a:r>
                <a:rPr lang="en-US" altLang="zh-CN" sz="900" dirty="0">
                  <a:latin typeface="Audi Type" panose="020B0503040202060203" pitchFamily="34" charset="0"/>
                  <a:ea typeface="微软雅黑" panose="020B0503020204020204" pitchFamily="34" charset="-122"/>
                </a:rPr>
                <a:t>As part of the Group's supply chain cost optimization and electrification strategy, I focused on coaching unperforming or cross-industry suppliers through customized improvement plans. This approach enabled 13 suppliers to meet Volkswagen’s strict standards, supporting the successful launch of 6 new projects.</a:t>
              </a:r>
            </a:p>
            <a:p>
              <a:pPr marL="171450" indent="-171450">
                <a:buFont typeface="Arial" panose="020B0604020202020204" pitchFamily="34" charset="0"/>
                <a:buChar char="•"/>
              </a:pPr>
              <a:r>
                <a:rPr lang="en-US" altLang="zh-CN" sz="900" dirty="0">
                  <a:latin typeface="Audi Type" panose="020B0503040202060203" pitchFamily="34" charset="0"/>
                  <a:ea typeface="微软雅黑" panose="020B0503020204020204" pitchFamily="34" charset="-122"/>
                </a:rPr>
                <a:t>Guided by the Volkswagen </a:t>
              </a:r>
              <a:r>
                <a:rPr lang="en-US" altLang="zh-CN" sz="900" dirty="0" err="1">
                  <a:latin typeface="Audi Type" panose="020B0503040202060203" pitchFamily="34" charset="0"/>
                  <a:ea typeface="微软雅黑" panose="020B0503020204020204" pitchFamily="34" charset="-122"/>
                </a:rPr>
                <a:t>QPNi</a:t>
              </a:r>
              <a:r>
                <a:rPr lang="en-US" altLang="zh-CN" sz="900" dirty="0">
                  <a:latin typeface="Audi Type" panose="020B0503040202060203" pitchFamily="34" charset="0"/>
                  <a:ea typeface="微软雅黑" panose="020B0503020204020204" pitchFamily="34" charset="-122"/>
                </a:rPr>
                <a:t> maturity framework, I drove targeted suppliers to improve their supply chain maturity. As a PPE CN Project core member, I managed and supported over 11 key suppliers</a:t>
              </a:r>
              <a:r>
                <a:rPr lang="zh-CN" altLang="en-US" sz="900" dirty="0">
                  <a:latin typeface="Audi Type" panose="020B0503040202060203" pitchFamily="34" charset="0"/>
                  <a:ea typeface="微软雅黑" panose="020B0503020204020204" pitchFamily="34" charset="-122"/>
                </a:rPr>
                <a:t> </a:t>
              </a:r>
              <a:r>
                <a:rPr lang="en-US" altLang="zh-CN" sz="900" dirty="0">
                  <a:latin typeface="Audi Type" panose="020B0503040202060203" pitchFamily="34" charset="0"/>
                  <a:ea typeface="微软雅黑" panose="020B0503020204020204" pitchFamily="34" charset="-122"/>
                </a:rPr>
                <a:t>(including but not limited to </a:t>
              </a:r>
              <a:r>
                <a:rPr lang="en-US" altLang="zh-CN" sz="900" dirty="0" err="1">
                  <a:latin typeface="Audi Type" panose="020B0503040202060203" pitchFamily="34" charset="0"/>
                  <a:ea typeface="微软雅黑" panose="020B0503020204020204" pitchFamily="34" charset="-122"/>
                </a:rPr>
                <a:t>Sanhua</a:t>
              </a:r>
              <a:r>
                <a:rPr lang="en-US" altLang="zh-CN" sz="900" dirty="0">
                  <a:latin typeface="Audi Type" panose="020B0503040202060203" pitchFamily="34" charset="0"/>
                  <a:ea typeface="微软雅黑" panose="020B0503020204020204" pitchFamily="34" charset="-122"/>
                </a:rPr>
                <a:t>, Minth, Thyssenkrupp, Schaeffler, and ZF) to establish qualified work flow &amp; processes for meet maturity targets on schedule, ensuring timely project milestone delivery.</a:t>
              </a:r>
            </a:p>
            <a:p>
              <a:pPr marL="171450" indent="-171450" algn="l">
                <a:buFont typeface="Wingdings" pitchFamily="2" charset="2"/>
                <a:buChar char="Ø"/>
              </a:pPr>
              <a:r>
                <a:rPr lang="en-US" altLang="zh-CN" sz="1000" b="1" dirty="0">
                  <a:latin typeface="Audi Type" panose="020B0503040202060203" pitchFamily="34" charset="0"/>
                  <a:ea typeface="微软雅黑" panose="020B0503020204020204" pitchFamily="34" charset="-122"/>
                </a:rPr>
                <a:t>Full-Cycle Supplier Capacity Management</a:t>
              </a:r>
              <a:endParaRPr lang="en-US" altLang="zh-CN" sz="1000" dirty="0">
                <a:solidFill>
                  <a:srgbClr val="0F1115"/>
                </a:solidFill>
                <a:latin typeface="quote-cjk-patch"/>
                <a:ea typeface="微软雅黑" panose="020B0503020204020204" pitchFamily="34" charset="-122"/>
              </a:endParaRPr>
            </a:p>
            <a:p>
              <a:pPr marL="171450" indent="-171450" algn="l">
                <a:buFont typeface="Arial" panose="020B0604020202020204" pitchFamily="34" charset="0"/>
                <a:buChar char="•"/>
              </a:pPr>
              <a:r>
                <a:rPr lang="en-US" altLang="zh-CN" sz="900" dirty="0">
                  <a:latin typeface="Audi Type" panose="020B0503040202060203" pitchFamily="34" charset="0"/>
                  <a:ea typeface="微软雅黑" panose="020B0503020204020204" pitchFamily="34" charset="-122"/>
                </a:rPr>
                <a:t>Led supplier capacity planning and increasing during new project phases: conducted on-site reviews and provided technical guidance to optimize critical process cycle times (e.g., improved C.T. of assembly line at a German owned brake caliber plant from 35.4s/pcs to 27.3s/pcs, nearly 22% improvement), enhanced production stability, and refined production planning to ensure capacity met project ramp-up demands.</a:t>
              </a:r>
            </a:p>
            <a:p>
              <a:pPr marL="171450" indent="-171450" algn="l">
                <a:buFont typeface="Arial" panose="020B0604020202020204" pitchFamily="34" charset="0"/>
                <a:buChar char="•"/>
              </a:pPr>
              <a:r>
                <a:rPr lang="en-US" altLang="zh-CN" sz="900" dirty="0">
                  <a:latin typeface="Audi Type" panose="020B0503040202060203" pitchFamily="34" charset="0"/>
                  <a:ea typeface="微软雅黑" panose="020B0503020204020204" pitchFamily="34" charset="-122"/>
                </a:rPr>
                <a:t>Supported mass production phases: intervened promptly to resolve supplier capacity bottlenecks and supply disruption issues.</a:t>
              </a:r>
            </a:p>
            <a:p>
              <a:pPr marL="171450" indent="-171450">
                <a:buFont typeface="Wingdings" pitchFamily="2" charset="2"/>
                <a:buChar char="Ø"/>
              </a:pPr>
              <a:r>
                <a:rPr lang="en-US" altLang="zh-CN" sz="1000" b="1" dirty="0">
                  <a:solidFill>
                    <a:srgbClr val="0F1115"/>
                  </a:solidFill>
                  <a:effectLst/>
                  <a:latin typeface="quote-cjk-patch"/>
                </a:rPr>
                <a:t>Supply Chain Consulting &amp; System Enablement (Built from ground up)</a:t>
              </a:r>
              <a:endParaRPr lang="en-US" altLang="zh-CN" sz="1000" dirty="0">
                <a:solidFill>
                  <a:srgbClr val="0F1115"/>
                </a:solidFill>
                <a:latin typeface="quote-cjk-patch"/>
              </a:endParaRPr>
            </a:p>
            <a:p>
              <a:pPr marL="171450" indent="-171450">
                <a:buFont typeface="Arial" panose="020B0604020202020204" pitchFamily="34" charset="0"/>
                <a:buChar char="•"/>
              </a:pPr>
              <a:r>
                <a:rPr lang="en-US" altLang="zh-CN" sz="900" dirty="0">
                  <a:latin typeface="Audi Type" panose="020B0503040202060203" pitchFamily="34" charset="0"/>
                  <a:ea typeface="微软雅黑" panose="020B0503020204020204" pitchFamily="34" charset="-122"/>
                </a:rPr>
                <a:t>Led the end-to-end establishment of Audi China's external supply chain consulting business (completed framework design, process formulation, and implementation within 3 months). Transformed VDA6.8 rigorous supply chain standards, management processes, and best practices into market-ready consulting solutions. Successfully delivered projects for external customers, achieving significant cost reduction and efficiency gains (e.g., helped a German owned enterprise reduce operation and warehousing costs by nearly 17%).</a:t>
              </a:r>
            </a:p>
            <a:p>
              <a:br>
                <a:rPr lang="en-US" altLang="zh-CN" sz="900" dirty="0">
                  <a:solidFill>
                    <a:srgbClr val="81858C"/>
                  </a:solidFill>
                  <a:effectLst/>
                </a:rPr>
              </a:br>
              <a:r>
                <a:rPr lang="en-US" altLang="zh-CN" sz="1000" b="1" dirty="0">
                  <a:solidFill>
                    <a:srgbClr val="696A6C"/>
                  </a:solidFill>
                  <a:latin typeface="Audi Type" panose="020B0503040202060203" pitchFamily="34" charset="0"/>
                  <a:ea typeface="微软雅黑" panose="020B0503020204020204" pitchFamily="34" charset="-122"/>
                </a:rPr>
                <a:t>2006.07 </a:t>
              </a:r>
              <a:r>
                <a:rPr lang="zh-CN" altLang="en-US" sz="1000" b="1" dirty="0">
                  <a:solidFill>
                    <a:srgbClr val="696A6C"/>
                  </a:solidFill>
                  <a:latin typeface="Audi Type" panose="020B0503040202060203" pitchFamily="34" charset="0"/>
                  <a:ea typeface="微软雅黑" panose="020B0503020204020204" pitchFamily="34" charset="-122"/>
                </a:rPr>
                <a:t>～ </a:t>
              </a:r>
              <a:r>
                <a:rPr lang="en-US" altLang="zh-CN" sz="1000" b="1" dirty="0">
                  <a:solidFill>
                    <a:srgbClr val="696A6C"/>
                  </a:solidFill>
                  <a:latin typeface="Audi Type" panose="020B0503040202060203" pitchFamily="34" charset="0"/>
                  <a:ea typeface="微软雅黑" panose="020B0503020204020204" pitchFamily="34" charset="-122"/>
                </a:rPr>
                <a:t>2022.05</a:t>
              </a:r>
              <a:r>
                <a:rPr lang="en-US" altLang="zh-CN" sz="1000" b="1" dirty="0">
                  <a:solidFill>
                    <a:srgbClr val="9EA1A2"/>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10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Shanghai Volkswagen Powertrain Co., Ltd. / SAIC Volkswagen</a:t>
              </a:r>
            </a:p>
            <a:p>
              <a:r>
                <a:rPr lang="en-US" altLang="zh-CN" sz="1000" dirty="0">
                  <a:solidFill>
                    <a:srgbClr val="696A6C"/>
                  </a:solidFill>
                  <a:latin typeface="Audi Type" panose="020B0503040202060203" pitchFamily="34" charset="0"/>
                  <a:ea typeface="微软雅黑" panose="020B0503020204020204" pitchFamily="34" charset="-122"/>
                </a:rPr>
                <a:t>2010.07 </a:t>
              </a:r>
              <a:r>
                <a:rPr lang="zh-CN" altLang="en-US" sz="1000" dirty="0">
                  <a:solidFill>
                    <a:srgbClr val="696A6C"/>
                  </a:solidFill>
                  <a:latin typeface="Audi Type" panose="020B0503040202060203" pitchFamily="34" charset="0"/>
                  <a:ea typeface="微软雅黑" panose="020B0503020204020204" pitchFamily="34" charset="-122"/>
                </a:rPr>
                <a:t>～ </a:t>
              </a:r>
              <a:r>
                <a:rPr lang="en-US" altLang="zh-CN" sz="1000" dirty="0">
                  <a:solidFill>
                    <a:srgbClr val="696A6C"/>
                  </a:solidFill>
                  <a:latin typeface="Audi Type" panose="020B0503040202060203" pitchFamily="34" charset="0"/>
                  <a:ea typeface="微软雅黑" panose="020B0503020204020204" pitchFamily="34" charset="-122"/>
                </a:rPr>
                <a:t>2022.05</a:t>
              </a:r>
              <a:r>
                <a:rPr lang="en-US" altLang="zh-CN" sz="1000" b="1" dirty="0">
                  <a:solidFill>
                    <a:srgbClr val="9EA1A2"/>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1000" dirty="0">
                  <a:solidFill>
                    <a:srgbClr val="696A6C"/>
                  </a:solidFill>
                  <a:latin typeface="Audi Type" panose="020B0503040202060203" pitchFamily="34" charset="0"/>
                  <a:ea typeface="微软雅黑" panose="020B0503020204020204" pitchFamily="34" charset="-122"/>
                </a:rPr>
                <a:t>Expert of supply chain management</a:t>
              </a:r>
            </a:p>
            <a:p>
              <a:pPr marL="171450" indent="-171450" algn="l">
                <a:buFont typeface="Wingdings" pitchFamily="2" charset="2"/>
                <a:buChar char="Ø"/>
              </a:pPr>
              <a:r>
                <a:rPr lang="en-US" altLang="zh-CN" sz="1000" b="1" i="0" dirty="0">
                  <a:solidFill>
                    <a:srgbClr val="0F1115"/>
                  </a:solidFill>
                  <a:effectLst/>
                  <a:latin typeface="quote-cjk-patch"/>
                </a:rPr>
                <a:t>Supply Chain Risk Prediction &amp; Decision-Making</a:t>
              </a:r>
              <a:br>
                <a:rPr lang="en-US" altLang="zh-CN" sz="900" b="0" i="0" dirty="0">
                  <a:solidFill>
                    <a:srgbClr val="0F1115"/>
                  </a:solidFill>
                  <a:effectLst/>
                  <a:latin typeface="quote-cjk-patch"/>
                </a:rPr>
              </a:br>
              <a:r>
                <a:rPr lang="en-US" altLang="zh-CN" sz="900" b="0" i="0" dirty="0">
                  <a:solidFill>
                    <a:srgbClr val="0F1115"/>
                  </a:solidFill>
                  <a:effectLst/>
                  <a:latin typeface="quote-cjk-patch"/>
                </a:rPr>
                <a:t>Led proactive risk assessment and decision-making by monitoring capacity, supply-demand, and market dynamics of 150+ material groups (covering 500+ critical components). Anticipated potential disruption risks (e.g., chip shortages, capacity limits) and provided key inputs to S&amp;OP (Sales &amp; Operations Planning) to drive capacity adjustments and production scheduling optimization.</a:t>
              </a:r>
            </a:p>
            <a:p>
              <a:pPr marL="171450" indent="-171450" algn="l">
                <a:buFont typeface="Wingdings" pitchFamily="2" charset="2"/>
                <a:buChar char="Ø"/>
              </a:pPr>
              <a:r>
                <a:rPr lang="en-US" altLang="zh-CN" sz="1000" b="1" i="0" dirty="0">
                  <a:solidFill>
                    <a:srgbClr val="0F1115"/>
                  </a:solidFill>
                  <a:effectLst/>
                  <a:latin typeface="quote-cjk-patch"/>
                </a:rPr>
                <a:t>Risk Mitigation Framework Development</a:t>
              </a:r>
              <a:br>
                <a:rPr lang="en-US" altLang="zh-CN" sz="900" b="0" i="0" dirty="0">
                  <a:solidFill>
                    <a:srgbClr val="0F1115"/>
                  </a:solidFill>
                  <a:effectLst/>
                  <a:latin typeface="quote-cjk-patch"/>
                </a:rPr>
              </a:br>
              <a:r>
                <a:rPr lang="en-US" altLang="zh-CN" sz="900" b="0" i="0" dirty="0">
                  <a:solidFill>
                    <a:srgbClr val="0F1115"/>
                  </a:solidFill>
                  <a:effectLst/>
                  <a:latin typeface="quote-cjk-patch"/>
                </a:rPr>
                <a:t>Established a supply chain risk analysis model and developed contingency plans (e.g., secondary supplier qualification, safety stock strategies) to ensure production continuity.</a:t>
              </a:r>
              <a:endParaRPr lang="en-US" altLang="zh-CN" sz="900" b="0" i="0" dirty="0">
                <a:solidFill>
                  <a:srgbClr val="81858C"/>
                </a:solidFill>
                <a:effectLst/>
                <a:latin typeface="quote-cjk-patch"/>
              </a:endParaRPr>
            </a:p>
            <a:p>
              <a:pPr algn="l"/>
              <a:endParaRPr lang="en-US" altLang="zh-CN" sz="900" dirty="0">
                <a:solidFill>
                  <a:srgbClr val="696A6C"/>
                </a:solidFill>
                <a:latin typeface="Audi Type" panose="020B0503040202060203" pitchFamily="34" charset="0"/>
                <a:ea typeface="微软雅黑" panose="020B0503020204020204" pitchFamily="34" charset="-122"/>
              </a:endParaRPr>
            </a:p>
            <a:p>
              <a:r>
                <a:rPr lang="en-US" altLang="zh-CN" sz="1000" dirty="0">
                  <a:solidFill>
                    <a:srgbClr val="696A6C"/>
                  </a:solidFill>
                  <a:latin typeface="Audi Type" panose="020B0503040202060203" pitchFamily="34" charset="0"/>
                  <a:ea typeface="微软雅黑" panose="020B0503020204020204" pitchFamily="34" charset="-122"/>
                </a:rPr>
                <a:t>2006.07 </a:t>
              </a:r>
              <a:r>
                <a:rPr lang="zh-CN" altLang="en-US" sz="1000" dirty="0">
                  <a:solidFill>
                    <a:srgbClr val="696A6C"/>
                  </a:solidFill>
                  <a:latin typeface="Audi Type" panose="020B0503040202060203" pitchFamily="34" charset="0"/>
                  <a:ea typeface="微软雅黑" panose="020B0503020204020204" pitchFamily="34" charset="-122"/>
                </a:rPr>
                <a:t>～ </a:t>
              </a:r>
              <a:r>
                <a:rPr lang="en-US" altLang="zh-CN" sz="1000" dirty="0">
                  <a:solidFill>
                    <a:srgbClr val="696A6C"/>
                  </a:solidFill>
                  <a:latin typeface="Audi Type" panose="020B0503040202060203" pitchFamily="34" charset="0"/>
                  <a:ea typeface="微软雅黑" panose="020B0503020204020204" pitchFamily="34" charset="-122"/>
                </a:rPr>
                <a:t>2010.06</a:t>
              </a:r>
              <a:r>
                <a:rPr lang="en-US" altLang="zh-CN" sz="1000" b="1" dirty="0">
                  <a:solidFill>
                    <a:srgbClr val="9EA1A2"/>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D</a:t>
              </a:r>
              <a:r>
                <a:rPr lang="en-US" altLang="zh-CN" sz="1000" dirty="0">
                  <a:solidFill>
                    <a:srgbClr val="696A6C"/>
                  </a:solidFill>
                  <a:latin typeface="Audi Type" panose="020B0503040202060203" pitchFamily="34" charset="0"/>
                  <a:ea typeface="微软雅黑" panose="020B0503020204020204" pitchFamily="34" charset="-122"/>
                </a:rPr>
                <a:t>isposition /</a:t>
              </a:r>
              <a:r>
                <a:rPr lang="zh-CN" altLang="en-US" sz="1000" dirty="0">
                  <a:solidFill>
                    <a:srgbClr val="696A6C"/>
                  </a:solidFill>
                  <a:latin typeface="Audi Type" panose="020B0503040202060203" pitchFamily="34" charset="0"/>
                  <a:ea typeface="微软雅黑" panose="020B0503020204020204" pitchFamily="34" charset="-122"/>
                </a:rPr>
                <a:t> </a:t>
              </a:r>
              <a:r>
                <a:rPr lang="en-US" altLang="zh-CN" sz="1000" dirty="0">
                  <a:solidFill>
                    <a:srgbClr val="696A6C"/>
                  </a:solidFill>
                  <a:latin typeface="Audi Type" panose="020B0503040202060203" pitchFamily="34" charset="0"/>
                  <a:ea typeface="微软雅黑" panose="020B0503020204020204" pitchFamily="34" charset="-122"/>
                </a:rPr>
                <a:t>Material</a:t>
              </a:r>
              <a:r>
                <a:rPr lang="zh-CN" altLang="en-US" sz="1000" dirty="0">
                  <a:solidFill>
                    <a:srgbClr val="696A6C"/>
                  </a:solidFill>
                  <a:latin typeface="Audi Type" panose="020B0503040202060203" pitchFamily="34" charset="0"/>
                  <a:ea typeface="微软雅黑" panose="020B0503020204020204" pitchFamily="34" charset="-122"/>
                </a:rPr>
                <a:t> </a:t>
              </a:r>
              <a:r>
                <a:rPr lang="en-US" altLang="zh-CN" sz="1000" dirty="0">
                  <a:solidFill>
                    <a:srgbClr val="696A6C"/>
                  </a:solidFill>
                  <a:latin typeface="Audi Type" panose="020B0503040202060203" pitchFamily="34" charset="0"/>
                  <a:ea typeface="微软雅黑" panose="020B0503020204020204" pitchFamily="34" charset="-122"/>
                </a:rPr>
                <a:t>planner</a:t>
              </a:r>
              <a:endParaRPr lang="en-US" altLang="zh-CN" sz="1000" b="0" i="0" dirty="0">
                <a:solidFill>
                  <a:srgbClr val="81858C"/>
                </a:solidFill>
                <a:effectLst/>
                <a:latin typeface="quote-cjk-patch"/>
              </a:endParaRPr>
            </a:p>
          </p:txBody>
        </p:sp>
        <p:sp>
          <p:nvSpPr>
            <p:cNvPr id="24" name="文本框 23">
              <a:extLst>
                <a:ext uri="{FF2B5EF4-FFF2-40B4-BE49-F238E27FC236}">
                  <a16:creationId xmlns:a16="http://schemas.microsoft.com/office/drawing/2014/main" id="{A4860F7C-EFC0-016A-3D5C-2F60F448E51B}"/>
                </a:ext>
              </a:extLst>
            </p:cNvPr>
            <p:cNvSpPr txBox="1"/>
            <p:nvPr/>
          </p:nvSpPr>
          <p:spPr>
            <a:xfrm>
              <a:off x="170639" y="2013668"/>
              <a:ext cx="2241486" cy="261610"/>
            </a:xfrm>
            <a:prstGeom prst="rect">
              <a:avLst/>
            </a:prstGeom>
            <a:noFill/>
          </p:spPr>
          <p:txBody>
            <a:bodyPr wrap="square" rtlCol="0" anchor="ctr">
              <a:spAutoFit/>
            </a:bodyPr>
            <a:lstStyle/>
            <a:p>
              <a:r>
                <a:rPr lang="en-US" altLang="zh-CN" sz="1100" b="1" dirty="0">
                  <a:solidFill>
                    <a:srgbClr val="696A6C"/>
                  </a:solidFill>
                  <a:effectLst/>
                  <a:latin typeface="quote-cjk-patch"/>
                </a:rPr>
                <a:t>Working</a:t>
              </a:r>
              <a:r>
                <a:rPr lang="zh-CN" altLang="en-US" sz="1100" b="1" dirty="0">
                  <a:solidFill>
                    <a:srgbClr val="696A6C"/>
                  </a:solidFill>
                  <a:effectLst/>
                  <a:latin typeface="quote-cjk-patch"/>
                </a:rPr>
                <a:t> </a:t>
              </a:r>
              <a:r>
                <a:rPr lang="en-US" altLang="zh-CN" sz="1100" b="1" dirty="0">
                  <a:solidFill>
                    <a:srgbClr val="696A6C"/>
                  </a:solidFill>
                  <a:effectLst/>
                  <a:latin typeface="quote-cjk-patch"/>
                </a:rPr>
                <a:t>experience</a:t>
              </a:r>
            </a:p>
          </p:txBody>
        </p:sp>
      </p:grpSp>
      <p:grpSp>
        <p:nvGrpSpPr>
          <p:cNvPr id="3" name="组合 2">
            <a:extLst>
              <a:ext uri="{FF2B5EF4-FFF2-40B4-BE49-F238E27FC236}">
                <a16:creationId xmlns:a16="http://schemas.microsoft.com/office/drawing/2014/main" id="{B04AD02D-56E2-57A6-8ED9-A2CC90AEF992}"/>
              </a:ext>
            </a:extLst>
          </p:cNvPr>
          <p:cNvGrpSpPr/>
          <p:nvPr/>
        </p:nvGrpSpPr>
        <p:grpSpPr>
          <a:xfrm>
            <a:off x="170637" y="1356927"/>
            <a:ext cx="6379057" cy="597178"/>
            <a:chOff x="170637" y="1429876"/>
            <a:chExt cx="6445948" cy="640884"/>
          </a:xfrm>
        </p:grpSpPr>
        <p:sp>
          <p:nvSpPr>
            <p:cNvPr id="36" name="矩形 35">
              <a:extLst>
                <a:ext uri="{FF2B5EF4-FFF2-40B4-BE49-F238E27FC236}">
                  <a16:creationId xmlns:a16="http://schemas.microsoft.com/office/drawing/2014/main" id="{017DBABD-B5BE-E302-2492-D67CE2CC3C01}"/>
                </a:ext>
              </a:extLst>
            </p:cNvPr>
            <p:cNvSpPr/>
            <p:nvPr/>
          </p:nvSpPr>
          <p:spPr>
            <a:xfrm>
              <a:off x="170638" y="1641367"/>
              <a:ext cx="6445947" cy="429393"/>
            </a:xfrm>
            <a:prstGeom prst="rect">
              <a:avLst/>
            </a:prstGeom>
          </p:spPr>
          <p:txBody>
            <a:bodyPr wrap="square">
              <a:spAutoFit/>
            </a:bodyPr>
            <a:lstStyle/>
            <a:p>
              <a:r>
                <a:rPr lang="en-US" altLang="zh-CN" sz="1000" dirty="0">
                  <a:latin typeface="Audi Type" panose="020B0503040202060203" pitchFamily="34" charset="0"/>
                  <a:ea typeface="微软雅黑" panose="020B0503020204020204" pitchFamily="34" charset="-122"/>
                </a:rPr>
                <a:t>Supply chain executive with 20+ years of Volkswagen Group experience, specializing in building Europe-qualify supply chains from ground up. Expert in VDA 6.8 audits and cross-cultural team leadership.</a:t>
              </a:r>
            </a:p>
          </p:txBody>
        </p:sp>
        <p:sp>
          <p:nvSpPr>
            <p:cNvPr id="25" name="文本框 24">
              <a:extLst>
                <a:ext uri="{FF2B5EF4-FFF2-40B4-BE49-F238E27FC236}">
                  <a16:creationId xmlns:a16="http://schemas.microsoft.com/office/drawing/2014/main" id="{8D6B2A49-6A18-1BD6-19CF-2B068F5C352F}"/>
                </a:ext>
              </a:extLst>
            </p:cNvPr>
            <p:cNvSpPr txBox="1"/>
            <p:nvPr/>
          </p:nvSpPr>
          <p:spPr>
            <a:xfrm>
              <a:off x="170637" y="1429876"/>
              <a:ext cx="2241486" cy="261610"/>
            </a:xfrm>
            <a:prstGeom prst="rect">
              <a:avLst/>
            </a:prstGeom>
            <a:noFill/>
          </p:spPr>
          <p:txBody>
            <a:bodyPr wrap="square" rtlCol="0" anchor="ctr">
              <a:spAutoFit/>
            </a:bodyPr>
            <a:lstStyle/>
            <a:p>
              <a:r>
                <a:rPr lang="en-US" altLang="zh-CN" sz="1100" b="1" dirty="0">
                  <a:solidFill>
                    <a:srgbClr val="696A6C"/>
                  </a:solidFill>
                  <a:effectLst/>
                  <a:latin typeface="quote-cjk-patch"/>
                </a:rPr>
                <a:t>Professional</a:t>
              </a:r>
              <a:r>
                <a:rPr lang="zh-CN" altLang="en-US" sz="1100" b="1" dirty="0">
                  <a:solidFill>
                    <a:srgbClr val="696A6C"/>
                  </a:solidFill>
                  <a:effectLst/>
                  <a:latin typeface="quote-cjk-patch"/>
                </a:rPr>
                <a:t> </a:t>
              </a:r>
              <a:r>
                <a:rPr lang="en-US" altLang="zh-CN" sz="1100" b="1" dirty="0">
                  <a:solidFill>
                    <a:srgbClr val="696A6C"/>
                  </a:solidFill>
                  <a:latin typeface="quote-cjk-patch"/>
                </a:rPr>
                <a:t>S</a:t>
              </a:r>
              <a:r>
                <a:rPr lang="en-US" altLang="zh-CN" sz="1100" b="1" dirty="0">
                  <a:solidFill>
                    <a:srgbClr val="696A6C"/>
                  </a:solidFill>
                  <a:effectLst/>
                  <a:latin typeface="quote-cjk-patch"/>
                </a:rPr>
                <a:t>ummary</a:t>
              </a:r>
            </a:p>
          </p:txBody>
        </p:sp>
      </p:grpSp>
    </p:spTree>
    <p:extLst>
      <p:ext uri="{BB962C8B-B14F-4D97-AF65-F5344CB8AC3E}">
        <p14:creationId xmlns:p14="http://schemas.microsoft.com/office/powerpoint/2010/main" val="797032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79965F3-16DD-B4DE-26A1-F822FDBA6684}"/>
              </a:ext>
            </a:extLst>
          </p:cNvPr>
          <p:cNvSpPr txBox="1"/>
          <p:nvPr/>
        </p:nvSpPr>
        <p:spPr>
          <a:xfrm>
            <a:off x="299624" y="492328"/>
            <a:ext cx="6258752" cy="1684307"/>
          </a:xfrm>
          <a:prstGeom prst="rect">
            <a:avLst/>
          </a:prstGeom>
          <a:noFill/>
        </p:spPr>
        <p:txBody>
          <a:bodyPr wrap="square" rtlCol="0">
            <a:spAutoFit/>
          </a:bodyPr>
          <a:lstStyle>
            <a:defPPr>
              <a:defRPr lang="zh-CN"/>
            </a:defPPr>
            <a:lvl1pPr>
              <a:defRPr sz="1000" b="1">
                <a:solidFill>
                  <a:srgbClr val="696A6C"/>
                </a:solidFill>
                <a:latin typeface="Audi Type" panose="020B0503040202060203" pitchFamily="34" charset="0"/>
                <a:ea typeface="微软雅黑" panose="020B0503020204020204" pitchFamily="34" charset="-122"/>
              </a:defRPr>
            </a:lvl1pPr>
            <a:lvl3pPr lvl="2">
              <a:defRPr sz="1000" b="1">
                <a:solidFill>
                  <a:srgbClr val="696A6C"/>
                </a:solidFill>
                <a:latin typeface="Audi Type" panose="020B0503040202060203" pitchFamily="34" charset="0"/>
                <a:ea typeface="微软雅黑" panose="020B0503020204020204" pitchFamily="34" charset="-122"/>
              </a:defRPr>
            </a:lvl3pPr>
          </a:lstStyle>
          <a:p>
            <a:pPr>
              <a:lnSpc>
                <a:spcPct val="150000"/>
              </a:lnSpc>
            </a:pPr>
            <a:r>
              <a:rPr lang="en-US" altLang="zh-CN" dirty="0">
                <a:solidFill>
                  <a:schemeClr val="tx1"/>
                </a:solidFill>
              </a:rPr>
              <a:t>Audi China Supply Chain Consulting Business Launch (2025)</a:t>
            </a:r>
            <a:br>
              <a:rPr lang="en-US" altLang="zh-CN" dirty="0">
                <a:solidFill>
                  <a:schemeClr val="tx1"/>
                </a:solidFill>
              </a:rPr>
            </a:br>
            <a:r>
              <a:rPr lang="en-US" altLang="zh-CN" b="0" dirty="0"/>
              <a:t>As a founding project lead, I established Audi China’s first external supply chain consulting unit from scratch. Within three months, I designed the business framework, built processes, and created an implementation roadmap—transforming Volkswagen Group’s internal standards and best practices into market-ready consulting solutions.</a:t>
            </a:r>
          </a:p>
          <a:p>
            <a:pPr>
              <a:lnSpc>
                <a:spcPct val="150000"/>
              </a:lnSpc>
            </a:pPr>
            <a:r>
              <a:rPr lang="en-US" altLang="zh-CN" b="0" dirty="0"/>
              <a:t>We successfully delivered projects to external customers, including a German manufacturer, helping them reduce end‑to‑end operational and warehousing costs by nearly 17%. This initiative not only opened a new revenue stream but also reinforced Audi’s reputation as a supply chain leader in the region.</a:t>
            </a:r>
          </a:p>
        </p:txBody>
      </p:sp>
      <p:sp>
        <p:nvSpPr>
          <p:cNvPr id="3" name="文本框 2">
            <a:extLst>
              <a:ext uri="{FF2B5EF4-FFF2-40B4-BE49-F238E27FC236}">
                <a16:creationId xmlns:a16="http://schemas.microsoft.com/office/drawing/2014/main" id="{06C669A2-B831-0376-B40C-DD6D43DA510E}"/>
              </a:ext>
            </a:extLst>
          </p:cNvPr>
          <p:cNvSpPr txBox="1"/>
          <p:nvPr/>
        </p:nvSpPr>
        <p:spPr>
          <a:xfrm>
            <a:off x="299624" y="2259519"/>
            <a:ext cx="6258752" cy="1684307"/>
          </a:xfrm>
          <a:prstGeom prst="rect">
            <a:avLst/>
          </a:prstGeom>
          <a:noFill/>
        </p:spPr>
        <p:txBody>
          <a:bodyPr wrap="square" rtlCol="0">
            <a:spAutoFit/>
          </a:bodyPr>
          <a:lstStyle>
            <a:defPPr>
              <a:defRPr lang="zh-CN"/>
            </a:defPPr>
            <a:lvl1pPr>
              <a:lnSpc>
                <a:spcPct val="150000"/>
              </a:lnSpc>
              <a:defRPr sz="1000" b="1">
                <a:latin typeface="Audi Type" panose="020B0503040202060203" pitchFamily="34" charset="0"/>
                <a:ea typeface="微软雅黑" panose="020B0503020204020204" pitchFamily="34" charset="-122"/>
              </a:defRPr>
            </a:lvl1pPr>
            <a:lvl3pPr lvl="2">
              <a:defRPr sz="1000" b="1">
                <a:solidFill>
                  <a:srgbClr val="696A6C"/>
                </a:solidFill>
                <a:latin typeface="Audi Type" panose="020B0503040202060203" pitchFamily="34" charset="0"/>
                <a:ea typeface="微软雅黑" panose="020B0503020204020204" pitchFamily="34" charset="-122"/>
              </a:defRPr>
            </a:lvl3pPr>
          </a:lstStyle>
          <a:p>
            <a:r>
              <a:rPr lang="en-US" altLang="zh-CN" dirty="0"/>
              <a:t>PPE Project Supplier Supply Chain Maturity Enablement (2023‑2025)</a:t>
            </a:r>
            <a:br>
              <a:rPr lang="en-US" altLang="zh-CN" dirty="0"/>
            </a:br>
            <a:r>
              <a:rPr lang="en-US" altLang="zh-CN" b="0" dirty="0">
                <a:solidFill>
                  <a:srgbClr val="696A6C"/>
                </a:solidFill>
              </a:rPr>
              <a:t>As the core architect of the methodology, I built and implemented a supply chain maturity system for PPE key suppliers. Based on Volkswagen’s </a:t>
            </a:r>
            <a:r>
              <a:rPr lang="en-US" altLang="zh-CN" b="0" dirty="0" err="1">
                <a:solidFill>
                  <a:srgbClr val="696A6C"/>
                </a:solidFill>
              </a:rPr>
              <a:t>QPNi</a:t>
            </a:r>
            <a:r>
              <a:rPr lang="en-US" altLang="zh-CN" b="0" dirty="0">
                <a:solidFill>
                  <a:srgbClr val="696A6C"/>
                </a:solidFill>
              </a:rPr>
              <a:t> framework, I designed activity‑based completion criteria and a rating mechanism, and launched an integrated tracking tool for real‑time maturity scoring. Using VDA6.8, I developed phased implementation guides and clear cross‑functional collaboration protocols.</a:t>
            </a:r>
            <a:br>
              <a:rPr lang="en-US" altLang="zh-CN" dirty="0">
                <a:solidFill>
                  <a:srgbClr val="696A6C"/>
                </a:solidFill>
              </a:rPr>
            </a:br>
            <a:r>
              <a:rPr lang="en-US" altLang="zh-CN" b="0" dirty="0">
                <a:solidFill>
                  <a:srgbClr val="696A6C"/>
                </a:solidFill>
              </a:rPr>
              <a:t>This system enabled all suppliers to achieve on‑time readiness for mass production, securing PPE project milestones. The resulting framework and tools are now standardized assets reused across the Group’s EV programs.</a:t>
            </a:r>
          </a:p>
        </p:txBody>
      </p:sp>
      <p:sp>
        <p:nvSpPr>
          <p:cNvPr id="4" name="文本框 3">
            <a:extLst>
              <a:ext uri="{FF2B5EF4-FFF2-40B4-BE49-F238E27FC236}">
                <a16:creationId xmlns:a16="http://schemas.microsoft.com/office/drawing/2014/main" id="{3D3EB903-B70C-016C-9BE8-F8FDBB2DDAB0}"/>
              </a:ext>
            </a:extLst>
          </p:cNvPr>
          <p:cNvSpPr txBox="1"/>
          <p:nvPr/>
        </p:nvSpPr>
        <p:spPr>
          <a:xfrm>
            <a:off x="299624" y="4026710"/>
            <a:ext cx="6258752" cy="2607637"/>
          </a:xfrm>
          <a:prstGeom prst="rect">
            <a:avLst/>
          </a:prstGeom>
          <a:noFill/>
        </p:spPr>
        <p:txBody>
          <a:bodyPr wrap="square" rtlCol="0">
            <a:spAutoFit/>
          </a:bodyPr>
          <a:lstStyle>
            <a:defPPr>
              <a:defRPr lang="zh-CN"/>
            </a:defPPr>
            <a:lvl1pPr>
              <a:lnSpc>
                <a:spcPct val="150000"/>
              </a:lnSpc>
              <a:defRPr sz="1000" b="1">
                <a:latin typeface="Audi Type" panose="020B0503040202060203" pitchFamily="34" charset="0"/>
                <a:ea typeface="微软雅黑" panose="020B0503020204020204" pitchFamily="34" charset="-122"/>
              </a:defRPr>
            </a:lvl1pPr>
            <a:lvl3pPr lvl="2">
              <a:defRPr sz="1000" b="1">
                <a:solidFill>
                  <a:srgbClr val="696A6C"/>
                </a:solidFill>
                <a:latin typeface="Audi Type" panose="020B0503040202060203" pitchFamily="34" charset="0"/>
                <a:ea typeface="微软雅黑" panose="020B0503020204020204" pitchFamily="34" charset="-122"/>
              </a:defRPr>
            </a:lvl3pPr>
          </a:lstStyle>
          <a:p>
            <a:r>
              <a:rPr lang="en-US" altLang="zh-CN" dirty="0"/>
              <a:t>Digital Optimization and Closed-Loop Management Enhancement of Key Supplier Capacity (2023‑2025) </a:t>
            </a:r>
          </a:p>
          <a:p>
            <a:r>
              <a:rPr lang="en-US" altLang="zh-CN" b="0" dirty="0">
                <a:solidFill>
                  <a:srgbClr val="696A6C"/>
                </a:solidFill>
              </a:rPr>
              <a:t>Led the development and implementation of a 'Planning‑Diagnosis‑Optimization‑Monitoring' closed-loop capacity management system, focusing on transforming on-site production activities into structured data. By developing visual tracking tools, on-site actions such as equipment operation, personnel scheduling, and material flow are mapped in real-time into key metrics like OEE, takt time achievement rate, and abnormal downtime, enabling the production process to be measurable, analyzable, and predictable. Based on data insights, bottleneck processes are systematically identified and lean improvements implemented, significantly enhancing key production line efficiency and overall equipment effectiveness. This system has successfully supported PPE projects (including models Q6, A6, etc.) in ramping up supplier capacity according to schedule and has laid the data foundation for supply chain system integration and intelligent management, creating a replicable 'shop floor‑system‑management' parallel advancement model.</a:t>
            </a:r>
          </a:p>
        </p:txBody>
      </p:sp>
      <p:sp>
        <p:nvSpPr>
          <p:cNvPr id="5" name="文本框 4">
            <a:extLst>
              <a:ext uri="{FF2B5EF4-FFF2-40B4-BE49-F238E27FC236}">
                <a16:creationId xmlns:a16="http://schemas.microsoft.com/office/drawing/2014/main" id="{D1E55745-D196-E70D-CE87-F3739EE9E2A4}"/>
              </a:ext>
            </a:extLst>
          </p:cNvPr>
          <p:cNvSpPr txBox="1"/>
          <p:nvPr/>
        </p:nvSpPr>
        <p:spPr>
          <a:xfrm>
            <a:off x="299624" y="6717231"/>
            <a:ext cx="6258752" cy="2376805"/>
          </a:xfrm>
          <a:prstGeom prst="rect">
            <a:avLst/>
          </a:prstGeom>
          <a:noFill/>
        </p:spPr>
        <p:txBody>
          <a:bodyPr wrap="square" rtlCol="0">
            <a:spAutoFit/>
          </a:bodyPr>
          <a:lstStyle>
            <a:defPPr>
              <a:defRPr lang="zh-CN"/>
            </a:defPPr>
            <a:lvl1pPr>
              <a:lnSpc>
                <a:spcPct val="150000"/>
              </a:lnSpc>
              <a:defRPr sz="1000" b="1">
                <a:latin typeface="Audi Type" panose="020B0503040202060203" pitchFamily="34" charset="0"/>
                <a:ea typeface="微软雅黑" panose="020B0503020204020204" pitchFamily="34" charset="-122"/>
              </a:defRPr>
            </a:lvl1pPr>
            <a:lvl3pPr lvl="2">
              <a:defRPr sz="1000" b="1">
                <a:solidFill>
                  <a:srgbClr val="696A6C"/>
                </a:solidFill>
                <a:latin typeface="Audi Type" panose="020B0503040202060203" pitchFamily="34" charset="0"/>
                <a:ea typeface="微软雅黑" panose="020B0503020204020204" pitchFamily="34" charset="-122"/>
              </a:defRPr>
            </a:lvl3pPr>
          </a:lstStyle>
          <a:p>
            <a:r>
              <a:rPr lang="en-US" altLang="zh-CN" dirty="0"/>
              <a:t>Globalized Capacity Coordination and Flexible Supply System for Cylinder Head Cover Assembly (2013‑2018)</a:t>
            </a:r>
          </a:p>
          <a:p>
            <a:r>
              <a:rPr lang="en-US" altLang="zh-CN" b="0" dirty="0">
                <a:solidFill>
                  <a:srgbClr val="696A6C"/>
                </a:solidFill>
              </a:rPr>
              <a:t>In response to the coordination challenges of multi-tier supply chains, a globally linked capacity system covering seven production bases was primarily established. By creating a dual-track mechanism of 'multi-base domestic coordination and resource supplementation from ThyssenKrupp in Germany,' short-term supply gaps were promptly filled using German resources during critical capacity ramp-up periods, while long-term capacity layout was optimized through direct scheduling between domestic parts and assembly bases. Under the premise of controlling additional investment, this project successfully increased annual supply capacity to approximately 3.2 million units, effectively balancing short-term supply pressures with long-term capacity risks. It established a global coordination model that combines cost efficiency with supply flexibility, providing a replicable solution for managing complex components in multinational supply chains.</a:t>
            </a:r>
          </a:p>
        </p:txBody>
      </p:sp>
    </p:spTree>
    <p:extLst>
      <p:ext uri="{BB962C8B-B14F-4D97-AF65-F5344CB8AC3E}">
        <p14:creationId xmlns:p14="http://schemas.microsoft.com/office/powerpoint/2010/main" val="2692423980"/>
      </p:ext>
    </p:extLst>
  </p:cSld>
  <p:clrMapOvr>
    <a:masterClrMapping/>
  </p:clrMapOvr>
</p:sld>
</file>

<file path=ppt/theme/theme1.xml><?xml version="1.0" encoding="utf-8"?>
<a:theme xmlns:a="http://schemas.openxmlformats.org/drawingml/2006/main" name="Resu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b0ff92c5-92ff-43fe-a760-6a9303f9073d}" enabled="1" method="Standard" siteId="{1272ef7d-0a4c-4c35-8f4b-416e283c5d59}" contentBits="3" removed="0"/>
</clbl:labelList>
</file>

<file path=docProps/app.xml><?xml version="1.0" encoding="utf-8"?>
<Properties xmlns="http://schemas.openxmlformats.org/officeDocument/2006/extended-properties" xmlns:vt="http://schemas.openxmlformats.org/officeDocument/2006/docPropsVTypes">
  <Template>Office Theme</Template>
  <TotalTime>849</TotalTime>
  <Words>1306</Words>
  <Application>Microsoft Macintosh PowerPoint</Application>
  <PresentationFormat>A4 纸张(210x297 毫米)</PresentationFormat>
  <Paragraphs>54</Paragraphs>
  <Slides>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vt:i4>
      </vt:variant>
    </vt:vector>
  </HeadingPairs>
  <TitlesOfParts>
    <vt:vector size="10" baseType="lpstr">
      <vt:lpstr>微软雅黑</vt:lpstr>
      <vt:lpstr>Audi Type</vt:lpstr>
      <vt:lpstr>quote-cjk-patch</vt:lpstr>
      <vt:lpstr>Arial</vt:lpstr>
      <vt:lpstr>Arial</vt:lpstr>
      <vt:lpstr>Calibri</vt:lpstr>
      <vt:lpstr>Wingdings</vt:lpstr>
      <vt:lpstr>Resume​​</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Jiajun (VWPT)</dc:creator>
  <cp:lastModifiedBy>Li Jiajun</cp:lastModifiedBy>
  <cp:revision>341</cp:revision>
  <dcterms:created xsi:type="dcterms:W3CDTF">2021-08-12T03:08:11Z</dcterms:created>
  <dcterms:modified xsi:type="dcterms:W3CDTF">2026-01-24T08:48:53Z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简历​​:3\Resume​​:3</vt:lpwstr>
  </property>
  <property fmtid="{D5CDD505-2E9C-101B-9397-08002B2CF9AE}" pid="3" name="ClassificationContentMarkingFooterText">
    <vt:lpwstr>INTERNAL</vt:lpwstr>
  </property>
</Properties>
</file>