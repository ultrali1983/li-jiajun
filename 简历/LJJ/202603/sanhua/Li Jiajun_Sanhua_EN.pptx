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1"/>
    <p:sldMasterId id="2147483687" r:id="rId2"/>
  </p:sldMasterIdLst>
  <p:sldIdLst>
    <p:sldId id="263" r:id="rId3"/>
    <p:sldId id="264" r:id="rId4"/>
    <p:sldId id="265" r:id="rId5"/>
  </p:sldIdLst>
  <p:sldSz cx="6858000" cy="9906000" type="A4"/>
  <p:notesSz cx="7315200" cy="96012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696A6C"/>
    <a:srgbClr val="9EA1A2"/>
    <a:srgbClr val="9C9FA0"/>
    <a:srgbClr val="FFFFFF"/>
    <a:srgbClr val="9B9EA0"/>
    <a:srgbClr val="979A9B"/>
    <a:srgbClr val="9DA0A1"/>
    <a:srgbClr val="D3D4D5"/>
    <a:srgbClr val="E6E6E6"/>
    <a:srgbClr val="0070C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6238" autoAdjust="0"/>
    <p:restoredTop sz="94709"/>
  </p:normalViewPr>
  <p:slideViewPr>
    <p:cSldViewPr snapToGrid="0">
      <p:cViewPr varScale="1">
        <p:scale>
          <a:sx n="85" d="100"/>
          <a:sy n="85" d="100"/>
        </p:scale>
        <p:origin x="3792" y="17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1.xml"/><Relationship Id="rId7" Type="http://schemas.openxmlformats.org/officeDocument/2006/relationships/viewProps" Target="viewProps.xml"/><Relationship Id="rId2" Type="http://schemas.openxmlformats.org/officeDocument/2006/relationships/slideMaster" Target="slideMasters/slideMaster2.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slide" Target="slides/slide3.xml"/><Relationship Id="rId4" Type="http://schemas.openxmlformats.org/officeDocument/2006/relationships/slide" Target="slides/slide2.xml"/><Relationship Id="rId9"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简历模板">
    <p:spTree>
      <p:nvGrpSpPr>
        <p:cNvPr id="1" name=""/>
        <p:cNvGrpSpPr/>
        <p:nvPr/>
      </p:nvGrpSpPr>
      <p:grpSpPr>
        <a:xfrm>
          <a:off x="0" y="0"/>
          <a:ext cx="0" cy="0"/>
          <a:chOff x="0" y="0"/>
          <a:chExt cx="0" cy="0"/>
        </a:xfrm>
      </p:grpSpPr>
      <p:sp>
        <p:nvSpPr>
          <p:cNvPr id="10" name="矩形 9"/>
          <p:cNvSpPr/>
          <p:nvPr userDrawn="1"/>
        </p:nvSpPr>
        <p:spPr>
          <a:xfrm>
            <a:off x="41672" y="221253"/>
            <a:ext cx="4483944" cy="36000"/>
          </a:xfrm>
          <a:prstGeom prst="rect">
            <a:avLst/>
          </a:prstGeom>
          <a:solidFill>
            <a:srgbClr val="9EA1A2"/>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zh-CN" altLang="en-US">
              <a:solidFill>
                <a:srgbClr val="9C9FA0"/>
              </a:solidFill>
            </a:endParaRPr>
          </a:p>
        </p:txBody>
      </p:sp>
      <p:sp>
        <p:nvSpPr>
          <p:cNvPr id="11" name="矩形 10"/>
          <p:cNvSpPr/>
          <p:nvPr userDrawn="1"/>
        </p:nvSpPr>
        <p:spPr>
          <a:xfrm>
            <a:off x="6066181" y="221253"/>
            <a:ext cx="720000" cy="36000"/>
          </a:xfrm>
          <a:prstGeom prst="rect">
            <a:avLst/>
          </a:prstGeom>
          <a:solidFill>
            <a:srgbClr val="9EA1A2"/>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zh-CN" altLang="en-US">
              <a:solidFill>
                <a:srgbClr val="9C9FA0"/>
              </a:solidFill>
            </a:endParaRPr>
          </a:p>
        </p:txBody>
      </p:sp>
      <p:sp>
        <p:nvSpPr>
          <p:cNvPr id="12" name="文本框 11"/>
          <p:cNvSpPr txBox="1"/>
          <p:nvPr userDrawn="1"/>
        </p:nvSpPr>
        <p:spPr>
          <a:xfrm>
            <a:off x="4602056" y="46871"/>
            <a:ext cx="1421552" cy="338554"/>
          </a:xfrm>
          <a:prstGeom prst="rect">
            <a:avLst/>
          </a:prstGeom>
          <a:solidFill>
            <a:schemeClr val="bg1"/>
          </a:solidFill>
        </p:spPr>
        <p:txBody>
          <a:bodyPr wrap="square" rtlCol="0">
            <a:spAutoFit/>
          </a:bodyPr>
          <a:lstStyle/>
          <a:p>
            <a:pPr algn="dist"/>
            <a:r>
              <a:rPr lang="zh-CN" altLang="en-US" sz="1600" b="1" dirty="0">
                <a:solidFill>
                  <a:srgbClr val="9EA1A2"/>
                </a:solidFill>
                <a:latin typeface="微软雅黑" panose="020B0503020204020204" pitchFamily="34" charset="-122"/>
                <a:ea typeface="微软雅黑" panose="020B0503020204020204" pitchFamily="34" charset="-122"/>
              </a:rPr>
              <a:t>个人简历</a:t>
            </a:r>
          </a:p>
        </p:txBody>
      </p:sp>
    </p:spTree>
    <p:extLst>
      <p:ext uri="{BB962C8B-B14F-4D97-AF65-F5344CB8AC3E}">
        <p14:creationId xmlns:p14="http://schemas.microsoft.com/office/powerpoint/2010/main" val="188673270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项目经历">
    <p:spTree>
      <p:nvGrpSpPr>
        <p:cNvPr id="1" name=""/>
        <p:cNvGrpSpPr/>
        <p:nvPr/>
      </p:nvGrpSpPr>
      <p:grpSpPr>
        <a:xfrm>
          <a:off x="0" y="0"/>
          <a:ext cx="0" cy="0"/>
          <a:chOff x="0" y="0"/>
          <a:chExt cx="0" cy="0"/>
        </a:xfrm>
      </p:grpSpPr>
      <p:sp>
        <p:nvSpPr>
          <p:cNvPr id="10" name="矩形 9"/>
          <p:cNvSpPr/>
          <p:nvPr userDrawn="1"/>
        </p:nvSpPr>
        <p:spPr>
          <a:xfrm>
            <a:off x="41672" y="221253"/>
            <a:ext cx="4483944" cy="36000"/>
          </a:xfrm>
          <a:prstGeom prst="rect">
            <a:avLst/>
          </a:prstGeom>
          <a:solidFill>
            <a:srgbClr val="9EA1A2"/>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zh-CN" altLang="en-US">
              <a:solidFill>
                <a:srgbClr val="9C9FA0"/>
              </a:solidFill>
            </a:endParaRPr>
          </a:p>
        </p:txBody>
      </p:sp>
      <p:sp>
        <p:nvSpPr>
          <p:cNvPr id="11" name="矩形 10"/>
          <p:cNvSpPr/>
          <p:nvPr userDrawn="1"/>
        </p:nvSpPr>
        <p:spPr>
          <a:xfrm>
            <a:off x="6066181" y="221253"/>
            <a:ext cx="720000" cy="36000"/>
          </a:xfrm>
          <a:prstGeom prst="rect">
            <a:avLst/>
          </a:prstGeom>
          <a:solidFill>
            <a:srgbClr val="9EA1A2"/>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zh-CN" altLang="en-US">
              <a:solidFill>
                <a:srgbClr val="9C9FA0"/>
              </a:solidFill>
            </a:endParaRPr>
          </a:p>
        </p:txBody>
      </p:sp>
      <p:sp>
        <p:nvSpPr>
          <p:cNvPr id="12" name="文本框 11"/>
          <p:cNvSpPr txBox="1"/>
          <p:nvPr userDrawn="1"/>
        </p:nvSpPr>
        <p:spPr>
          <a:xfrm>
            <a:off x="4602056" y="46871"/>
            <a:ext cx="1421552" cy="338554"/>
          </a:xfrm>
          <a:prstGeom prst="rect">
            <a:avLst/>
          </a:prstGeom>
          <a:solidFill>
            <a:schemeClr val="bg1"/>
          </a:solidFill>
        </p:spPr>
        <p:txBody>
          <a:bodyPr wrap="square" rtlCol="0">
            <a:spAutoFit/>
          </a:bodyPr>
          <a:lstStyle/>
          <a:p>
            <a:pPr algn="dist"/>
            <a:r>
              <a:rPr lang="zh-CN" altLang="en-US" sz="1600" b="1" dirty="0">
                <a:solidFill>
                  <a:srgbClr val="9EA1A2"/>
                </a:solidFill>
                <a:latin typeface="微软雅黑" panose="020B0503020204020204" pitchFamily="34" charset="-122"/>
                <a:ea typeface="微软雅黑" panose="020B0503020204020204" pitchFamily="34" charset="-122"/>
              </a:rPr>
              <a:t>项目经历</a:t>
            </a:r>
          </a:p>
        </p:txBody>
      </p:sp>
    </p:spTree>
    <p:extLst>
      <p:ext uri="{BB962C8B-B14F-4D97-AF65-F5344CB8AC3E}">
        <p14:creationId xmlns:p14="http://schemas.microsoft.com/office/powerpoint/2010/main" val="423871312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1_Resume">
    <p:spTree>
      <p:nvGrpSpPr>
        <p:cNvPr id="1" name=""/>
        <p:cNvGrpSpPr/>
        <p:nvPr/>
      </p:nvGrpSpPr>
      <p:grpSpPr>
        <a:xfrm>
          <a:off x="0" y="0"/>
          <a:ext cx="0" cy="0"/>
          <a:chOff x="0" y="0"/>
          <a:chExt cx="0" cy="0"/>
        </a:xfrm>
      </p:grpSpPr>
      <p:sp>
        <p:nvSpPr>
          <p:cNvPr id="10" name="矩形 9"/>
          <p:cNvSpPr/>
          <p:nvPr userDrawn="1"/>
        </p:nvSpPr>
        <p:spPr>
          <a:xfrm>
            <a:off x="41672" y="221253"/>
            <a:ext cx="4483944" cy="36000"/>
          </a:xfrm>
          <a:prstGeom prst="rect">
            <a:avLst/>
          </a:prstGeom>
          <a:solidFill>
            <a:srgbClr val="9EA1A2"/>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zh-CN" altLang="en-US">
              <a:solidFill>
                <a:srgbClr val="9C9FA0"/>
              </a:solidFill>
            </a:endParaRPr>
          </a:p>
        </p:txBody>
      </p:sp>
      <p:sp>
        <p:nvSpPr>
          <p:cNvPr id="11" name="矩形 10"/>
          <p:cNvSpPr/>
          <p:nvPr userDrawn="1"/>
        </p:nvSpPr>
        <p:spPr>
          <a:xfrm>
            <a:off x="6066181" y="221253"/>
            <a:ext cx="720000" cy="36000"/>
          </a:xfrm>
          <a:prstGeom prst="rect">
            <a:avLst/>
          </a:prstGeom>
          <a:solidFill>
            <a:srgbClr val="9EA1A2"/>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zh-CN" altLang="en-US">
              <a:solidFill>
                <a:srgbClr val="9C9FA0"/>
              </a:solidFill>
            </a:endParaRPr>
          </a:p>
        </p:txBody>
      </p:sp>
      <p:sp>
        <p:nvSpPr>
          <p:cNvPr id="12" name="文本框 11"/>
          <p:cNvSpPr txBox="1"/>
          <p:nvPr userDrawn="1"/>
        </p:nvSpPr>
        <p:spPr>
          <a:xfrm>
            <a:off x="4602056" y="73375"/>
            <a:ext cx="1421552" cy="338554"/>
          </a:xfrm>
          <a:prstGeom prst="rect">
            <a:avLst/>
          </a:prstGeom>
          <a:solidFill>
            <a:schemeClr val="bg1"/>
          </a:solidFill>
        </p:spPr>
        <p:txBody>
          <a:bodyPr wrap="square" rtlCol="0">
            <a:spAutoFit/>
          </a:bodyPr>
          <a:lstStyle/>
          <a:p>
            <a:pPr marL="0" algn="ctr" defTabSz="914400" rtl="0" eaLnBrk="1" latinLnBrk="0" hangingPunct="1"/>
            <a:r>
              <a:rPr lang="en-US" altLang="zh-CN" sz="1600" b="1" kern="1200" dirty="0">
                <a:solidFill>
                  <a:srgbClr val="9EA1A2"/>
                </a:solidFill>
                <a:latin typeface="微软雅黑" panose="020B0503020204020204" pitchFamily="34" charset="-122"/>
                <a:ea typeface="微软雅黑" panose="020B0503020204020204" pitchFamily="34" charset="-122"/>
                <a:cs typeface="+mn-cs"/>
              </a:rPr>
              <a:t>Resume</a:t>
            </a:r>
            <a:endParaRPr lang="zh-CN" altLang="en-US" sz="1600" b="1" kern="1200" dirty="0">
              <a:solidFill>
                <a:srgbClr val="9EA1A2"/>
              </a:solidFill>
              <a:latin typeface="微软雅黑" panose="020B0503020204020204" pitchFamily="34" charset="-122"/>
              <a:ea typeface="微软雅黑" panose="020B0503020204020204" pitchFamily="34" charset="-122"/>
              <a:cs typeface="+mn-cs"/>
            </a:endParaRPr>
          </a:p>
        </p:txBody>
      </p:sp>
    </p:spTree>
    <p:extLst>
      <p:ext uri="{BB962C8B-B14F-4D97-AF65-F5344CB8AC3E}">
        <p14:creationId xmlns:p14="http://schemas.microsoft.com/office/powerpoint/2010/main" val="192948116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Resume">
    <p:spTree>
      <p:nvGrpSpPr>
        <p:cNvPr id="1" name=""/>
        <p:cNvGrpSpPr/>
        <p:nvPr/>
      </p:nvGrpSpPr>
      <p:grpSpPr>
        <a:xfrm>
          <a:off x="0" y="0"/>
          <a:ext cx="0" cy="0"/>
          <a:chOff x="0" y="0"/>
          <a:chExt cx="0" cy="0"/>
        </a:xfrm>
      </p:grpSpPr>
      <p:sp>
        <p:nvSpPr>
          <p:cNvPr id="10" name="矩形 9"/>
          <p:cNvSpPr/>
          <p:nvPr userDrawn="1"/>
        </p:nvSpPr>
        <p:spPr>
          <a:xfrm>
            <a:off x="41672" y="221253"/>
            <a:ext cx="4483944" cy="36000"/>
          </a:xfrm>
          <a:prstGeom prst="rect">
            <a:avLst/>
          </a:prstGeom>
          <a:solidFill>
            <a:srgbClr val="9EA1A2"/>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zh-CN" altLang="en-US">
              <a:solidFill>
                <a:srgbClr val="9C9FA0"/>
              </a:solidFill>
            </a:endParaRPr>
          </a:p>
        </p:txBody>
      </p:sp>
      <p:sp>
        <p:nvSpPr>
          <p:cNvPr id="11" name="矩形 10"/>
          <p:cNvSpPr/>
          <p:nvPr userDrawn="1"/>
        </p:nvSpPr>
        <p:spPr>
          <a:xfrm>
            <a:off x="6066181" y="221253"/>
            <a:ext cx="720000" cy="36000"/>
          </a:xfrm>
          <a:prstGeom prst="rect">
            <a:avLst/>
          </a:prstGeom>
          <a:solidFill>
            <a:srgbClr val="9EA1A2"/>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zh-CN" altLang="en-US">
              <a:solidFill>
                <a:srgbClr val="9C9FA0"/>
              </a:solidFill>
            </a:endParaRPr>
          </a:p>
        </p:txBody>
      </p:sp>
      <p:sp>
        <p:nvSpPr>
          <p:cNvPr id="12" name="文本框 11"/>
          <p:cNvSpPr txBox="1"/>
          <p:nvPr userDrawn="1"/>
        </p:nvSpPr>
        <p:spPr>
          <a:xfrm>
            <a:off x="4602056" y="73375"/>
            <a:ext cx="1421552" cy="338554"/>
          </a:xfrm>
          <a:prstGeom prst="rect">
            <a:avLst/>
          </a:prstGeom>
          <a:solidFill>
            <a:schemeClr val="bg1"/>
          </a:solidFill>
        </p:spPr>
        <p:txBody>
          <a:bodyPr wrap="square" rtlCol="0">
            <a:spAutoFit/>
          </a:bodyPr>
          <a:lstStyle/>
          <a:p>
            <a:pPr marL="0" algn="ctr" defTabSz="914400" rtl="0" eaLnBrk="1" latinLnBrk="0" hangingPunct="1"/>
            <a:r>
              <a:rPr lang="en-US" altLang="zh-CN" sz="1600" b="1" kern="1200" dirty="0">
                <a:solidFill>
                  <a:srgbClr val="9EA1A2"/>
                </a:solidFill>
                <a:latin typeface="微软雅黑" panose="020B0503020204020204" pitchFamily="34" charset="-122"/>
                <a:ea typeface="微软雅黑" panose="020B0503020204020204" pitchFamily="34" charset="-122"/>
                <a:cs typeface="+mn-cs"/>
              </a:rPr>
              <a:t>Resume</a:t>
            </a:r>
            <a:endParaRPr lang="zh-CN" altLang="en-US" sz="1600" b="1" kern="1200" dirty="0">
              <a:solidFill>
                <a:srgbClr val="9EA1A2"/>
              </a:solidFill>
              <a:latin typeface="微软雅黑" panose="020B0503020204020204" pitchFamily="34" charset="-122"/>
              <a:ea typeface="微软雅黑" panose="020B0503020204020204" pitchFamily="34" charset="-122"/>
              <a:cs typeface="+mn-cs"/>
            </a:endParaRPr>
          </a:p>
        </p:txBody>
      </p:sp>
    </p:spTree>
    <p:extLst>
      <p:ext uri="{BB962C8B-B14F-4D97-AF65-F5344CB8AC3E}">
        <p14:creationId xmlns:p14="http://schemas.microsoft.com/office/powerpoint/2010/main" val="12303008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Project Experience">
    <p:spTree>
      <p:nvGrpSpPr>
        <p:cNvPr id="1" name=""/>
        <p:cNvGrpSpPr/>
        <p:nvPr/>
      </p:nvGrpSpPr>
      <p:grpSpPr>
        <a:xfrm>
          <a:off x="0" y="0"/>
          <a:ext cx="0" cy="0"/>
          <a:chOff x="0" y="0"/>
          <a:chExt cx="0" cy="0"/>
        </a:xfrm>
      </p:grpSpPr>
      <p:sp>
        <p:nvSpPr>
          <p:cNvPr id="10" name="矩形 9"/>
          <p:cNvSpPr/>
          <p:nvPr userDrawn="1"/>
        </p:nvSpPr>
        <p:spPr>
          <a:xfrm>
            <a:off x="41672" y="221253"/>
            <a:ext cx="4483944" cy="36000"/>
          </a:xfrm>
          <a:prstGeom prst="rect">
            <a:avLst/>
          </a:prstGeom>
          <a:solidFill>
            <a:srgbClr val="9EA1A2"/>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zh-CN" altLang="en-US">
              <a:solidFill>
                <a:srgbClr val="9C9FA0"/>
              </a:solidFill>
            </a:endParaRPr>
          </a:p>
        </p:txBody>
      </p:sp>
      <p:sp>
        <p:nvSpPr>
          <p:cNvPr id="11" name="矩形 10"/>
          <p:cNvSpPr/>
          <p:nvPr userDrawn="1"/>
        </p:nvSpPr>
        <p:spPr>
          <a:xfrm>
            <a:off x="6066181" y="221253"/>
            <a:ext cx="720000" cy="36000"/>
          </a:xfrm>
          <a:prstGeom prst="rect">
            <a:avLst/>
          </a:prstGeom>
          <a:solidFill>
            <a:srgbClr val="9EA1A2"/>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zh-CN" altLang="en-US">
              <a:solidFill>
                <a:srgbClr val="9C9FA0"/>
              </a:solidFill>
            </a:endParaRPr>
          </a:p>
        </p:txBody>
      </p:sp>
      <p:sp>
        <p:nvSpPr>
          <p:cNvPr id="12" name="文本框 11"/>
          <p:cNvSpPr txBox="1"/>
          <p:nvPr userDrawn="1"/>
        </p:nvSpPr>
        <p:spPr>
          <a:xfrm>
            <a:off x="4602056" y="7115"/>
            <a:ext cx="1421552" cy="584775"/>
          </a:xfrm>
          <a:prstGeom prst="rect">
            <a:avLst/>
          </a:prstGeom>
          <a:solidFill>
            <a:schemeClr val="bg1"/>
          </a:solidFill>
        </p:spPr>
        <p:txBody>
          <a:bodyPr wrap="square" rtlCol="0">
            <a:spAutoFit/>
          </a:bodyPr>
          <a:lstStyle/>
          <a:p>
            <a:pPr marL="0" algn="ctr" defTabSz="914400" rtl="0" eaLnBrk="1" latinLnBrk="0" hangingPunct="1"/>
            <a:r>
              <a:rPr lang="en-US" altLang="zh-CN" sz="1600" b="1" kern="1200" dirty="0" err="1">
                <a:solidFill>
                  <a:srgbClr val="9EA1A2"/>
                </a:solidFill>
                <a:latin typeface="arial" panose="020B0604020202020204" pitchFamily="34" charset="0"/>
                <a:ea typeface="微软雅黑" panose="020B0503020204020204" pitchFamily="34" charset="-122"/>
                <a:cs typeface="arial" panose="020B0604020202020204" pitchFamily="34" charset="0"/>
              </a:rPr>
              <a:t>ProjectExperience</a:t>
            </a:r>
            <a:endParaRPr lang="zh-CN" altLang="en-US" sz="1600" b="1" kern="1200" dirty="0">
              <a:solidFill>
                <a:srgbClr val="9EA1A2"/>
              </a:solidFill>
              <a:latin typeface="arial" panose="020B0604020202020204" pitchFamily="34" charset="0"/>
              <a:ea typeface="微软雅黑" panose="020B0503020204020204" pitchFamily="34" charset="-122"/>
              <a:cs typeface="arial" panose="020B0604020202020204" pitchFamily="34" charset="0"/>
            </a:endParaRPr>
          </a:p>
        </p:txBody>
      </p:sp>
    </p:spTree>
    <p:extLst>
      <p:ext uri="{BB962C8B-B14F-4D97-AF65-F5344CB8AC3E}">
        <p14:creationId xmlns:p14="http://schemas.microsoft.com/office/powerpoint/2010/main" val="230974863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1_简历模板">
    <p:spTree>
      <p:nvGrpSpPr>
        <p:cNvPr id="1" name=""/>
        <p:cNvGrpSpPr/>
        <p:nvPr/>
      </p:nvGrpSpPr>
      <p:grpSpPr>
        <a:xfrm>
          <a:off x="0" y="0"/>
          <a:ext cx="0" cy="0"/>
          <a:chOff x="0" y="0"/>
          <a:chExt cx="0" cy="0"/>
        </a:xfrm>
      </p:grpSpPr>
      <p:sp>
        <p:nvSpPr>
          <p:cNvPr id="6" name="矩形 5"/>
          <p:cNvSpPr/>
          <p:nvPr userDrawn="1"/>
        </p:nvSpPr>
        <p:spPr>
          <a:xfrm>
            <a:off x="1" y="0"/>
            <a:ext cx="2621279" cy="9906000"/>
          </a:xfrm>
          <a:prstGeom prst="rect">
            <a:avLst/>
          </a:prstGeom>
          <a:solidFill>
            <a:srgbClr val="F7F7F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p:cNvSpPr/>
          <p:nvPr userDrawn="1"/>
        </p:nvSpPr>
        <p:spPr>
          <a:xfrm>
            <a:off x="-64344" y="221253"/>
            <a:ext cx="4483944" cy="78788"/>
          </a:xfrm>
          <a:prstGeom prst="rect">
            <a:avLst/>
          </a:prstGeom>
          <a:solidFill>
            <a:srgbClr val="0070C0"/>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zh-CN" altLang="en-US"/>
          </a:p>
        </p:txBody>
      </p:sp>
      <p:sp>
        <p:nvSpPr>
          <p:cNvPr id="11" name="矩形 10"/>
          <p:cNvSpPr/>
          <p:nvPr userDrawn="1"/>
        </p:nvSpPr>
        <p:spPr>
          <a:xfrm>
            <a:off x="6172197" y="221253"/>
            <a:ext cx="720000" cy="78788"/>
          </a:xfrm>
          <a:prstGeom prst="rect">
            <a:avLst/>
          </a:prstGeom>
          <a:solidFill>
            <a:srgbClr val="0070C0"/>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zh-CN" altLang="en-US"/>
          </a:p>
        </p:txBody>
      </p:sp>
      <p:sp>
        <p:nvSpPr>
          <p:cNvPr id="12" name="文本框 11"/>
          <p:cNvSpPr txBox="1"/>
          <p:nvPr userDrawn="1"/>
        </p:nvSpPr>
        <p:spPr>
          <a:xfrm>
            <a:off x="4602056" y="60123"/>
            <a:ext cx="1421552" cy="369332"/>
          </a:xfrm>
          <a:prstGeom prst="rect">
            <a:avLst/>
          </a:prstGeom>
          <a:noFill/>
        </p:spPr>
        <p:txBody>
          <a:bodyPr wrap="square" rtlCol="0">
            <a:spAutoFit/>
          </a:bodyPr>
          <a:lstStyle/>
          <a:p>
            <a:pPr algn="ctr"/>
            <a:r>
              <a:rPr lang="en-US" altLang="zh-CN" b="1" dirty="0">
                <a:solidFill>
                  <a:srgbClr val="0070C0"/>
                </a:solidFill>
                <a:latin typeface="微软雅黑" panose="020B0503020204020204" pitchFamily="34" charset="-122"/>
                <a:ea typeface="微软雅黑" panose="020B0503020204020204" pitchFamily="34" charset="-122"/>
              </a:rPr>
              <a:t>Resume</a:t>
            </a:r>
            <a:endParaRPr lang="zh-CN" altLang="en-US" b="1" dirty="0">
              <a:solidFill>
                <a:srgbClr val="0070C0"/>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72516933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userDrawn="1">
  <p:cSld name="1_项目经历">
    <p:spTree>
      <p:nvGrpSpPr>
        <p:cNvPr id="1" name=""/>
        <p:cNvGrpSpPr/>
        <p:nvPr/>
      </p:nvGrpSpPr>
      <p:grpSpPr>
        <a:xfrm>
          <a:off x="0" y="0"/>
          <a:ext cx="0" cy="0"/>
          <a:chOff x="0" y="0"/>
          <a:chExt cx="0" cy="0"/>
        </a:xfrm>
      </p:grpSpPr>
      <p:sp>
        <p:nvSpPr>
          <p:cNvPr id="7" name="矩形 6"/>
          <p:cNvSpPr/>
          <p:nvPr userDrawn="1"/>
        </p:nvSpPr>
        <p:spPr>
          <a:xfrm>
            <a:off x="-64344" y="221253"/>
            <a:ext cx="4483944" cy="78788"/>
          </a:xfrm>
          <a:prstGeom prst="rect">
            <a:avLst/>
          </a:prstGeom>
          <a:solidFill>
            <a:srgbClr val="0070C0"/>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zh-CN" altLang="en-US"/>
          </a:p>
        </p:txBody>
      </p:sp>
      <p:sp>
        <p:nvSpPr>
          <p:cNvPr id="8" name="矩形 7"/>
          <p:cNvSpPr/>
          <p:nvPr userDrawn="1"/>
        </p:nvSpPr>
        <p:spPr>
          <a:xfrm>
            <a:off x="6172197" y="221253"/>
            <a:ext cx="720000" cy="78788"/>
          </a:xfrm>
          <a:prstGeom prst="rect">
            <a:avLst/>
          </a:prstGeom>
          <a:solidFill>
            <a:srgbClr val="0070C0"/>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zh-CN" altLang="en-US"/>
          </a:p>
        </p:txBody>
      </p:sp>
      <p:sp>
        <p:nvSpPr>
          <p:cNvPr id="9" name="文本框 8"/>
          <p:cNvSpPr txBox="1"/>
          <p:nvPr userDrawn="1"/>
        </p:nvSpPr>
        <p:spPr>
          <a:xfrm>
            <a:off x="4439714" y="0"/>
            <a:ext cx="1732483" cy="646331"/>
          </a:xfrm>
          <a:prstGeom prst="rect">
            <a:avLst/>
          </a:prstGeom>
          <a:noFill/>
        </p:spPr>
        <p:txBody>
          <a:bodyPr wrap="square" rtlCol="0">
            <a:spAutoFit/>
          </a:bodyPr>
          <a:lstStyle/>
          <a:p>
            <a:pPr algn="ctr"/>
            <a:r>
              <a:rPr lang="en-US" altLang="zh-CN" b="1" dirty="0" err="1">
                <a:solidFill>
                  <a:srgbClr val="0070C0"/>
                </a:solidFill>
                <a:latin typeface="微软雅黑" panose="020B0503020204020204" pitchFamily="34" charset="-122"/>
                <a:ea typeface="微软雅黑" panose="020B0503020204020204" pitchFamily="34" charset="-122"/>
              </a:rPr>
              <a:t>Project</a:t>
            </a:r>
            <a:r>
              <a:rPr lang="en-US" altLang="zh-CN" b="1" baseline="0" dirty="0" err="1">
                <a:solidFill>
                  <a:srgbClr val="0070C0"/>
                </a:solidFill>
                <a:latin typeface="微软雅黑" panose="020B0503020204020204" pitchFamily="34" charset="-122"/>
                <a:ea typeface="微软雅黑" panose="020B0503020204020204" pitchFamily="34" charset="-122"/>
              </a:rPr>
              <a:t>Experience</a:t>
            </a:r>
            <a:endParaRPr lang="zh-CN" altLang="en-US" b="1" dirty="0">
              <a:solidFill>
                <a:srgbClr val="0070C0"/>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030366760"/>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slideLayout" Target="../slideLayouts/slideLayout5.xml"/><Relationship Id="rId1" Type="http://schemas.openxmlformats.org/officeDocument/2006/relationships/slideLayout" Target="../slideLayouts/slideLayout4.xml"/><Relationship Id="rId5" Type="http://schemas.openxmlformats.org/officeDocument/2006/relationships/theme" Target="../theme/theme2.xml"/><Relationship Id="rId4"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Date Placeholder 3"/>
          <p:cNvSpPr>
            <a:spLocks noGrp="1"/>
          </p:cNvSpPr>
          <p:nvPr>
            <p:ph type="dt" sz="half" idx="2"/>
          </p:nvPr>
        </p:nvSpPr>
        <p:spPr>
          <a:xfrm>
            <a:off x="471488" y="9181397"/>
            <a:ext cx="1543050" cy="527403"/>
          </a:xfrm>
          <a:prstGeom prst="rect">
            <a:avLst/>
          </a:prstGeom>
        </p:spPr>
        <p:txBody>
          <a:bodyPr vert="horz" lIns="91440" tIns="45720" rIns="91440" bIns="45720" rtlCol="0" anchor="ctr"/>
          <a:lstStyle>
            <a:lvl1pPr algn="l">
              <a:defRPr sz="900">
                <a:solidFill>
                  <a:schemeClr val="tx1">
                    <a:tint val="75000"/>
                  </a:schemeClr>
                </a:solidFill>
              </a:defRPr>
            </a:lvl1pPr>
          </a:lstStyle>
          <a:p>
            <a:fld id="{E7CD01A2-074E-4206-B488-A455663873BA}" type="datetimeFigureOut">
              <a:rPr lang="zh-CN" altLang="en-US" smtClean="0"/>
              <a:t>2026/3/1</a:t>
            </a:fld>
            <a:endParaRPr lang="zh-CN" altLang="en-US"/>
          </a:p>
        </p:txBody>
      </p:sp>
      <p:sp>
        <p:nvSpPr>
          <p:cNvPr id="5" name="Footer Placeholder 4"/>
          <p:cNvSpPr>
            <a:spLocks noGrp="1"/>
          </p:cNvSpPr>
          <p:nvPr>
            <p:ph type="ftr" sz="quarter" idx="3"/>
          </p:nvPr>
        </p:nvSpPr>
        <p:spPr>
          <a:xfrm>
            <a:off x="2271713" y="9181397"/>
            <a:ext cx="2314575" cy="527403"/>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zh-CN" altLang="en-US"/>
          </a:p>
        </p:txBody>
      </p:sp>
      <p:sp>
        <p:nvSpPr>
          <p:cNvPr id="6" name="Slide Number Placeholder 5"/>
          <p:cNvSpPr>
            <a:spLocks noGrp="1"/>
          </p:cNvSpPr>
          <p:nvPr>
            <p:ph type="sldNum" sz="quarter" idx="4"/>
          </p:nvPr>
        </p:nvSpPr>
        <p:spPr>
          <a:xfrm>
            <a:off x="4843463" y="9181397"/>
            <a:ext cx="1543050" cy="527403"/>
          </a:xfrm>
          <a:prstGeom prst="rect">
            <a:avLst/>
          </a:prstGeom>
        </p:spPr>
        <p:txBody>
          <a:bodyPr vert="horz" lIns="91440" tIns="45720" rIns="91440" bIns="45720" rtlCol="0" anchor="ctr"/>
          <a:lstStyle>
            <a:lvl1pPr algn="r">
              <a:defRPr sz="900">
                <a:solidFill>
                  <a:schemeClr val="tx1">
                    <a:tint val="75000"/>
                  </a:schemeClr>
                </a:solidFill>
              </a:defRPr>
            </a:lvl1pPr>
          </a:lstStyle>
          <a:p>
            <a:fld id="{C8C20162-27D8-449D-A1F7-0EF87D2A24B3}" type="slidenum">
              <a:rPr lang="zh-CN" altLang="en-US" smtClean="0"/>
              <a:t>‹#›</a:t>
            </a:fld>
            <a:endParaRPr lang="zh-CN" altLang="en-US"/>
          </a:p>
        </p:txBody>
      </p:sp>
      <p:sp>
        <p:nvSpPr>
          <p:cNvPr id="3" name="文本框 2">
            <a:extLst>
              <a:ext uri="{FF2B5EF4-FFF2-40B4-BE49-F238E27FC236}">
                <a16:creationId xmlns:a16="http://schemas.microsoft.com/office/drawing/2014/main" id="{C4A4C084-D159-6494-6A2C-8FD5CAC73335}"/>
              </a:ext>
            </a:extLst>
          </p:cNvPr>
          <p:cNvSpPr txBox="1"/>
          <p:nvPr userDrawn="1">
            <p:extLst>
              <p:ext uri="{1162E1C5-73C7-4A58-AE30-91384D911F3F}">
                <p184:classification xmlns:p184="http://schemas.microsoft.com/office/powerpoint/2018/4/main" val="ftr"/>
              </p:ext>
            </p:extLst>
          </p:nvPr>
        </p:nvSpPr>
        <p:spPr>
          <a:xfrm>
            <a:off x="63500" y="9690100"/>
            <a:ext cx="544513" cy="152400"/>
          </a:xfrm>
          <a:prstGeom prst="rect">
            <a:avLst/>
          </a:prstGeom>
        </p:spPr>
        <p:txBody>
          <a:bodyPr horzOverflow="overflow" lIns="0" tIns="0" rIns="0" bIns="0">
            <a:spAutoFit/>
          </a:bodyPr>
          <a:lstStyle/>
          <a:p>
            <a:pPr algn="l"/>
            <a:r>
              <a:rPr lang="zh-CN" altLang="en-US" sz="1000">
                <a:solidFill>
                  <a:srgbClr val="000000">
                    <a:alpha val="50000"/>
                  </a:srgbClr>
                </a:solidFill>
                <a:latin typeface="Calibri" panose="020F0502020204030204" pitchFamily="34" charset="0"/>
                <a:cs typeface="Calibri" panose="020F0502020204030204" pitchFamily="34" charset="0"/>
              </a:rPr>
              <a:t>INTERNAL</a:t>
            </a:r>
          </a:p>
        </p:txBody>
      </p:sp>
    </p:spTree>
    <p:extLst>
      <p:ext uri="{BB962C8B-B14F-4D97-AF65-F5344CB8AC3E}">
        <p14:creationId xmlns:p14="http://schemas.microsoft.com/office/powerpoint/2010/main" val="1121166063"/>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92" r:id="rId3"/>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4" name="Date Placeholder 3"/>
          <p:cNvSpPr>
            <a:spLocks noGrp="1"/>
          </p:cNvSpPr>
          <p:nvPr>
            <p:ph type="dt" sz="half" idx="2"/>
          </p:nvPr>
        </p:nvSpPr>
        <p:spPr>
          <a:xfrm>
            <a:off x="471488" y="9181397"/>
            <a:ext cx="1543050" cy="527403"/>
          </a:xfrm>
          <a:prstGeom prst="rect">
            <a:avLst/>
          </a:prstGeom>
        </p:spPr>
        <p:txBody>
          <a:bodyPr vert="horz" lIns="91440" tIns="45720" rIns="91440" bIns="45720" rtlCol="0" anchor="ctr"/>
          <a:lstStyle>
            <a:lvl1pPr algn="l">
              <a:defRPr sz="900">
                <a:solidFill>
                  <a:schemeClr val="tx1">
                    <a:tint val="75000"/>
                  </a:schemeClr>
                </a:solidFill>
              </a:defRPr>
            </a:lvl1pPr>
          </a:lstStyle>
          <a:p>
            <a:fld id="{E7CD01A2-074E-4206-B488-A455663873BA}" type="datetimeFigureOut">
              <a:rPr lang="zh-CN" altLang="en-US" smtClean="0"/>
              <a:t>2026/3/1</a:t>
            </a:fld>
            <a:endParaRPr lang="zh-CN" altLang="en-US"/>
          </a:p>
        </p:txBody>
      </p:sp>
      <p:sp>
        <p:nvSpPr>
          <p:cNvPr id="5" name="Footer Placeholder 4"/>
          <p:cNvSpPr>
            <a:spLocks noGrp="1"/>
          </p:cNvSpPr>
          <p:nvPr>
            <p:ph type="ftr" sz="quarter" idx="3"/>
          </p:nvPr>
        </p:nvSpPr>
        <p:spPr>
          <a:xfrm>
            <a:off x="2271713" y="9181397"/>
            <a:ext cx="2314575" cy="527403"/>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zh-CN" altLang="en-US"/>
          </a:p>
        </p:txBody>
      </p:sp>
      <p:sp>
        <p:nvSpPr>
          <p:cNvPr id="6" name="Slide Number Placeholder 5"/>
          <p:cNvSpPr>
            <a:spLocks noGrp="1"/>
          </p:cNvSpPr>
          <p:nvPr>
            <p:ph type="sldNum" sz="quarter" idx="4"/>
          </p:nvPr>
        </p:nvSpPr>
        <p:spPr>
          <a:xfrm>
            <a:off x="4843463" y="9181397"/>
            <a:ext cx="1543050" cy="527403"/>
          </a:xfrm>
          <a:prstGeom prst="rect">
            <a:avLst/>
          </a:prstGeom>
        </p:spPr>
        <p:txBody>
          <a:bodyPr vert="horz" lIns="91440" tIns="45720" rIns="91440" bIns="45720" rtlCol="0" anchor="ctr"/>
          <a:lstStyle>
            <a:lvl1pPr algn="r">
              <a:defRPr sz="900">
                <a:solidFill>
                  <a:schemeClr val="tx1">
                    <a:tint val="75000"/>
                  </a:schemeClr>
                </a:solidFill>
              </a:defRPr>
            </a:lvl1pPr>
          </a:lstStyle>
          <a:p>
            <a:fld id="{C8C20162-27D8-449D-A1F7-0EF87D2A24B3}" type="slidenum">
              <a:rPr lang="zh-CN" altLang="en-US" smtClean="0"/>
              <a:t>‹#›</a:t>
            </a:fld>
            <a:endParaRPr lang="zh-CN" altLang="en-US"/>
          </a:p>
        </p:txBody>
      </p:sp>
      <p:sp>
        <p:nvSpPr>
          <p:cNvPr id="3" name="文本框 2">
            <a:extLst>
              <a:ext uri="{FF2B5EF4-FFF2-40B4-BE49-F238E27FC236}">
                <a16:creationId xmlns:a16="http://schemas.microsoft.com/office/drawing/2014/main" id="{D03A1A15-18BF-D8BA-AC03-FD816A7069E5}"/>
              </a:ext>
            </a:extLst>
          </p:cNvPr>
          <p:cNvSpPr txBox="1"/>
          <p:nvPr userDrawn="1">
            <p:extLst>
              <p:ext uri="{1162E1C5-73C7-4A58-AE30-91384D911F3F}">
                <p184:classification xmlns:p184="http://schemas.microsoft.com/office/powerpoint/2018/4/main" val="ftr"/>
              </p:ext>
            </p:extLst>
          </p:nvPr>
        </p:nvSpPr>
        <p:spPr>
          <a:xfrm>
            <a:off x="63500" y="9690100"/>
            <a:ext cx="544513" cy="152400"/>
          </a:xfrm>
          <a:prstGeom prst="rect">
            <a:avLst/>
          </a:prstGeom>
        </p:spPr>
        <p:txBody>
          <a:bodyPr horzOverflow="overflow" lIns="0" tIns="0" rIns="0" bIns="0">
            <a:spAutoFit/>
          </a:bodyPr>
          <a:lstStyle/>
          <a:p>
            <a:pPr algn="l"/>
            <a:r>
              <a:rPr lang="zh-CN" altLang="en-US" sz="1000">
                <a:solidFill>
                  <a:srgbClr val="000000">
                    <a:alpha val="50000"/>
                  </a:srgbClr>
                </a:solidFill>
                <a:latin typeface="Calibri" panose="020F0502020204030204" pitchFamily="34" charset="0"/>
                <a:cs typeface="Calibri" panose="020F0502020204030204" pitchFamily="34" charset="0"/>
              </a:rPr>
              <a:t>INTERNAL</a:t>
            </a:r>
          </a:p>
        </p:txBody>
      </p:sp>
    </p:spTree>
    <p:extLst>
      <p:ext uri="{BB962C8B-B14F-4D97-AF65-F5344CB8AC3E}">
        <p14:creationId xmlns:p14="http://schemas.microsoft.com/office/powerpoint/2010/main" val="3497534163"/>
      </p:ext>
    </p:extLst>
  </p:cSld>
  <p:clrMap bg1="lt1" tx1="dk1" bg2="lt2" tx2="dk2" accent1="accent1" accent2="accent2" accent3="accent3" accent4="accent4" accent5="accent5" accent6="accent6" hlink="hlink" folHlink="folHlink"/>
  <p:sldLayoutIdLst>
    <p:sldLayoutId id="2147483688" r:id="rId1"/>
    <p:sldLayoutId id="2147483689" r:id="rId2"/>
    <p:sldLayoutId id="2147483690" r:id="rId3"/>
    <p:sldLayoutId id="2147483691" r:id="rId4"/>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1318F5-B91E-619B-4E0E-F06D8A2B13F4}"/>
            </a:ext>
          </a:extLst>
        </p:cNvPr>
        <p:cNvGrpSpPr/>
        <p:nvPr/>
      </p:nvGrpSpPr>
      <p:grpSpPr>
        <a:xfrm>
          <a:off x="0" y="0"/>
          <a:ext cx="0" cy="0"/>
          <a:chOff x="0" y="0"/>
          <a:chExt cx="0" cy="0"/>
        </a:xfrm>
      </p:grpSpPr>
      <p:grpSp>
        <p:nvGrpSpPr>
          <p:cNvPr id="2" name="组合 1">
            <a:extLst>
              <a:ext uri="{FF2B5EF4-FFF2-40B4-BE49-F238E27FC236}">
                <a16:creationId xmlns:a16="http://schemas.microsoft.com/office/drawing/2014/main" id="{03489C8B-CBE6-5FD4-FE8E-0E0A517A87B7}"/>
              </a:ext>
            </a:extLst>
          </p:cNvPr>
          <p:cNvGrpSpPr/>
          <p:nvPr/>
        </p:nvGrpSpPr>
        <p:grpSpPr>
          <a:xfrm>
            <a:off x="170637" y="350174"/>
            <a:ext cx="6326942" cy="988219"/>
            <a:chOff x="37495" y="337813"/>
            <a:chExt cx="6326942" cy="1030956"/>
          </a:xfrm>
        </p:grpSpPr>
        <p:sp>
          <p:nvSpPr>
            <p:cNvPr id="10" name="文本框 9">
              <a:extLst>
                <a:ext uri="{FF2B5EF4-FFF2-40B4-BE49-F238E27FC236}">
                  <a16:creationId xmlns:a16="http://schemas.microsoft.com/office/drawing/2014/main" id="{9160D1C7-40BD-3AE8-3D23-CC892CB6B0F6}"/>
                </a:ext>
              </a:extLst>
            </p:cNvPr>
            <p:cNvSpPr txBox="1"/>
            <p:nvPr/>
          </p:nvSpPr>
          <p:spPr>
            <a:xfrm>
              <a:off x="37495" y="337813"/>
              <a:ext cx="3089831" cy="1030956"/>
            </a:xfrm>
            <a:prstGeom prst="rect">
              <a:avLst/>
            </a:prstGeom>
            <a:noFill/>
          </p:spPr>
          <p:txBody>
            <a:bodyPr wrap="square" rtlCol="0">
              <a:spAutoFit/>
            </a:bodyPr>
            <a:lstStyle/>
            <a:p>
              <a:pPr>
                <a:lnSpc>
                  <a:spcPct val="150000"/>
                </a:lnSpc>
              </a:pPr>
              <a:r>
                <a:rPr lang="en-US" altLang="zh-CN" sz="1000" dirty="0">
                  <a:latin typeface="Arial" panose="020B0604020202020204" pitchFamily="34" charset="0"/>
                  <a:ea typeface="微软雅黑" panose="020B0503020204020204" pitchFamily="34" charset="-122"/>
                  <a:cs typeface="Arial" panose="020B0604020202020204" pitchFamily="34" charset="0"/>
                </a:rPr>
                <a:t>Name</a:t>
              </a:r>
              <a:r>
                <a:rPr lang="zh-CN" altLang="en-US" sz="1000" dirty="0">
                  <a:latin typeface="Arial" panose="020B0604020202020204" pitchFamily="34" charset="0"/>
                  <a:ea typeface="微软雅黑" panose="020B0503020204020204" pitchFamily="34" charset="-122"/>
                  <a:cs typeface="Arial" panose="020B0604020202020204" pitchFamily="34" charset="0"/>
                </a:rPr>
                <a:t>：</a:t>
              </a:r>
              <a:r>
                <a:rPr lang="en-US" altLang="zh-CN" sz="1000" dirty="0">
                  <a:latin typeface="Arial" panose="020B0604020202020204" pitchFamily="34" charset="0"/>
                  <a:ea typeface="微软雅黑" panose="020B0503020204020204" pitchFamily="34" charset="-122"/>
                  <a:cs typeface="Arial" panose="020B0604020202020204" pitchFamily="34" charset="0"/>
                </a:rPr>
                <a:t>	Li</a:t>
              </a:r>
              <a:r>
                <a:rPr lang="zh-CN" altLang="en-US" sz="1000" dirty="0">
                  <a:latin typeface="Arial" panose="020B0604020202020204" pitchFamily="34" charset="0"/>
                  <a:ea typeface="微软雅黑" panose="020B0503020204020204" pitchFamily="34" charset="-122"/>
                  <a:cs typeface="Arial" panose="020B0604020202020204" pitchFamily="34" charset="0"/>
                </a:rPr>
                <a:t> </a:t>
              </a:r>
              <a:r>
                <a:rPr lang="en-US" altLang="zh-CN" sz="1000" dirty="0" err="1">
                  <a:latin typeface="Arial" panose="020B0604020202020204" pitchFamily="34" charset="0"/>
                  <a:ea typeface="微软雅黑" panose="020B0503020204020204" pitchFamily="34" charset="-122"/>
                  <a:cs typeface="Arial" panose="020B0604020202020204" pitchFamily="34" charset="0"/>
                </a:rPr>
                <a:t>Jiajun</a:t>
              </a:r>
              <a:endParaRPr lang="en-US" altLang="zh-CN" sz="1000" dirty="0">
                <a:latin typeface="Arial" panose="020B0604020202020204" pitchFamily="34" charset="0"/>
                <a:ea typeface="微软雅黑" panose="020B0503020204020204" pitchFamily="34" charset="-122"/>
                <a:cs typeface="Arial" panose="020B0604020202020204" pitchFamily="34" charset="0"/>
              </a:endParaRPr>
            </a:p>
            <a:p>
              <a:pPr>
                <a:lnSpc>
                  <a:spcPct val="150000"/>
                </a:lnSpc>
              </a:pPr>
              <a:r>
                <a:rPr lang="en-US" altLang="zh-CN" sz="1000" dirty="0">
                  <a:latin typeface="Arial" panose="020B0604020202020204" pitchFamily="34" charset="0"/>
                  <a:ea typeface="微软雅黑" panose="020B0503020204020204" pitchFamily="34" charset="-122"/>
                  <a:cs typeface="Arial" panose="020B0604020202020204" pitchFamily="34" charset="0"/>
                </a:rPr>
                <a:t>Birthday:	Dec.1983</a:t>
              </a:r>
            </a:p>
            <a:p>
              <a:pPr>
                <a:lnSpc>
                  <a:spcPct val="150000"/>
                </a:lnSpc>
              </a:pPr>
              <a:r>
                <a:rPr lang="en-US" altLang="zh-CN" sz="1000" dirty="0">
                  <a:latin typeface="Arial" panose="020B0604020202020204" pitchFamily="34" charset="0"/>
                  <a:ea typeface="微软雅黑" panose="020B0503020204020204" pitchFamily="34" charset="-122"/>
                  <a:cs typeface="Arial" panose="020B0604020202020204" pitchFamily="34" charset="0"/>
                </a:rPr>
                <a:t>Status</a:t>
              </a:r>
              <a:r>
                <a:rPr lang="zh-CN" altLang="en-US" sz="1000" dirty="0">
                  <a:latin typeface="Arial" panose="020B0604020202020204" pitchFamily="34" charset="0"/>
                  <a:ea typeface="微软雅黑" panose="020B0503020204020204" pitchFamily="34" charset="-122"/>
                  <a:cs typeface="Arial" panose="020B0604020202020204" pitchFamily="34" charset="0"/>
                </a:rPr>
                <a:t>：</a:t>
              </a:r>
              <a:r>
                <a:rPr lang="en-US" altLang="zh-CN" sz="1000" dirty="0">
                  <a:latin typeface="Arial" panose="020B0604020202020204" pitchFamily="34" charset="0"/>
                  <a:ea typeface="微软雅黑" panose="020B0503020204020204" pitchFamily="34" charset="-122"/>
                  <a:cs typeface="Arial" panose="020B0604020202020204" pitchFamily="34" charset="0"/>
                </a:rPr>
                <a:t>	Married</a:t>
              </a:r>
            </a:p>
            <a:p>
              <a:pPr>
                <a:lnSpc>
                  <a:spcPct val="150000"/>
                </a:lnSpc>
              </a:pPr>
              <a:r>
                <a:rPr lang="en-US" altLang="zh-CN" sz="1000" dirty="0">
                  <a:latin typeface="Arial" panose="020B0604020202020204" pitchFamily="34" charset="0"/>
                  <a:ea typeface="微软雅黑" panose="020B0503020204020204" pitchFamily="34" charset="-122"/>
                  <a:cs typeface="Arial" panose="020B0604020202020204" pitchFamily="34" charset="0"/>
                </a:rPr>
                <a:t>Mail</a:t>
              </a:r>
              <a:r>
                <a:rPr lang="zh-CN" altLang="en-US" sz="1000" dirty="0">
                  <a:latin typeface="Arial" panose="020B0604020202020204" pitchFamily="34" charset="0"/>
                  <a:ea typeface="微软雅黑" panose="020B0503020204020204" pitchFamily="34" charset="-122"/>
                  <a:cs typeface="Arial" panose="020B0604020202020204" pitchFamily="34" charset="0"/>
                </a:rPr>
                <a:t>：</a:t>
              </a:r>
              <a:r>
                <a:rPr lang="en-US" altLang="zh-CN" sz="1000" dirty="0">
                  <a:latin typeface="Arial" panose="020B0604020202020204" pitchFamily="34" charset="0"/>
                  <a:ea typeface="微软雅黑" panose="020B0503020204020204" pitchFamily="34" charset="-122"/>
                  <a:cs typeface="Arial" panose="020B0604020202020204" pitchFamily="34" charset="0"/>
                </a:rPr>
                <a:t>	lijiajun_vwpt@163.com</a:t>
              </a:r>
              <a:endParaRPr lang="zh-CN" altLang="en-US" sz="1000" dirty="0">
                <a:latin typeface="Arial" panose="020B0604020202020204" pitchFamily="34" charset="0"/>
                <a:ea typeface="微软雅黑" panose="020B0503020204020204" pitchFamily="34" charset="-122"/>
                <a:cs typeface="Arial" panose="020B0604020202020204" pitchFamily="34" charset="0"/>
              </a:endParaRPr>
            </a:p>
          </p:txBody>
        </p:sp>
        <p:sp>
          <p:nvSpPr>
            <p:cNvPr id="19" name="文本框 18">
              <a:extLst>
                <a:ext uri="{FF2B5EF4-FFF2-40B4-BE49-F238E27FC236}">
                  <a16:creationId xmlns:a16="http://schemas.microsoft.com/office/drawing/2014/main" id="{E8CED473-158F-AFE3-0FA2-6581BD95E2D9}"/>
                </a:ext>
              </a:extLst>
            </p:cNvPr>
            <p:cNvSpPr txBox="1"/>
            <p:nvPr/>
          </p:nvSpPr>
          <p:spPr>
            <a:xfrm>
              <a:off x="3208353" y="337813"/>
              <a:ext cx="3156084" cy="790141"/>
            </a:xfrm>
            <a:prstGeom prst="rect">
              <a:avLst/>
            </a:prstGeom>
            <a:noFill/>
          </p:spPr>
          <p:txBody>
            <a:bodyPr wrap="square" rtlCol="0">
              <a:spAutoFit/>
            </a:bodyPr>
            <a:lstStyle/>
            <a:p>
              <a:pPr>
                <a:lnSpc>
                  <a:spcPct val="150000"/>
                </a:lnSpc>
              </a:pPr>
              <a:r>
                <a:rPr lang="en-US" altLang="zh-CN" sz="1000" dirty="0">
                  <a:latin typeface="Arial" panose="020B0604020202020204" pitchFamily="34" charset="0"/>
                  <a:ea typeface="微软雅黑" panose="020B0503020204020204" pitchFamily="34" charset="-122"/>
                  <a:cs typeface="Arial" panose="020B0604020202020204" pitchFamily="34" charset="0"/>
                </a:rPr>
                <a:t>Gender</a:t>
              </a:r>
              <a:r>
                <a:rPr lang="zh-CN" altLang="en-US" sz="1000" dirty="0">
                  <a:latin typeface="Arial" panose="020B0604020202020204" pitchFamily="34" charset="0"/>
                  <a:ea typeface="微软雅黑" panose="020B0503020204020204" pitchFamily="34" charset="-122"/>
                  <a:cs typeface="Arial" panose="020B0604020202020204" pitchFamily="34" charset="0"/>
                </a:rPr>
                <a:t>：</a:t>
              </a:r>
              <a:r>
                <a:rPr lang="en-US" altLang="zh-CN" sz="1000" dirty="0">
                  <a:latin typeface="Arial" panose="020B0604020202020204" pitchFamily="34" charset="0"/>
                  <a:ea typeface="微软雅黑" panose="020B0503020204020204" pitchFamily="34" charset="-122"/>
                  <a:cs typeface="Arial" panose="020B0604020202020204" pitchFamily="34" charset="0"/>
                </a:rPr>
                <a:t>	Male</a:t>
              </a:r>
            </a:p>
            <a:p>
              <a:pPr>
                <a:lnSpc>
                  <a:spcPct val="150000"/>
                </a:lnSpc>
              </a:pPr>
              <a:r>
                <a:rPr lang="en-US" altLang="zh-CN" sz="1000" dirty="0">
                  <a:latin typeface="Arial" panose="020B0604020202020204" pitchFamily="34" charset="0"/>
                  <a:ea typeface="微软雅黑" panose="020B0503020204020204" pitchFamily="34" charset="-122"/>
                  <a:cs typeface="Arial" panose="020B0604020202020204" pitchFamily="34" charset="0"/>
                </a:rPr>
                <a:t>Location</a:t>
              </a:r>
              <a:r>
                <a:rPr lang="zh-CN" altLang="en-US" sz="1000" dirty="0">
                  <a:latin typeface="Arial" panose="020B0604020202020204" pitchFamily="34" charset="0"/>
                  <a:ea typeface="微软雅黑" panose="020B0503020204020204" pitchFamily="34" charset="-122"/>
                  <a:cs typeface="Arial" panose="020B0604020202020204" pitchFamily="34" charset="0"/>
                </a:rPr>
                <a:t>：</a:t>
              </a:r>
              <a:r>
                <a:rPr lang="en-US" altLang="zh-CN" sz="1000" dirty="0">
                  <a:latin typeface="Arial" panose="020B0604020202020204" pitchFamily="34" charset="0"/>
                  <a:ea typeface="微软雅黑" panose="020B0503020204020204" pitchFamily="34" charset="-122"/>
                  <a:cs typeface="Arial" panose="020B0604020202020204" pitchFamily="34" charset="0"/>
                </a:rPr>
                <a:t>	Shanghai, China</a:t>
              </a:r>
            </a:p>
            <a:p>
              <a:pPr>
                <a:lnSpc>
                  <a:spcPct val="150000"/>
                </a:lnSpc>
              </a:pPr>
              <a:r>
                <a:rPr lang="en-US" altLang="zh-CN" sz="1000" dirty="0">
                  <a:latin typeface="Arial" panose="020B0604020202020204" pitchFamily="34" charset="0"/>
                  <a:ea typeface="微软雅黑" panose="020B0503020204020204" pitchFamily="34" charset="-122"/>
                  <a:cs typeface="Arial" panose="020B0604020202020204" pitchFamily="34" charset="0"/>
                </a:rPr>
                <a:t>Telephone</a:t>
              </a:r>
              <a:r>
                <a:rPr lang="zh-CN" altLang="en-US" sz="1000" dirty="0">
                  <a:latin typeface="Arial" panose="020B0604020202020204" pitchFamily="34" charset="0"/>
                  <a:ea typeface="微软雅黑" panose="020B0503020204020204" pitchFamily="34" charset="-122"/>
                  <a:cs typeface="Arial" panose="020B0604020202020204" pitchFamily="34" charset="0"/>
                </a:rPr>
                <a:t>：</a:t>
              </a:r>
              <a:r>
                <a:rPr lang="en-US" altLang="zh-CN" sz="1000" dirty="0">
                  <a:latin typeface="Arial" panose="020B0604020202020204" pitchFamily="34" charset="0"/>
                  <a:ea typeface="微软雅黑" panose="020B0503020204020204" pitchFamily="34" charset="-122"/>
                  <a:cs typeface="Arial" panose="020B0604020202020204" pitchFamily="34" charset="0"/>
                </a:rPr>
                <a:t>	+86-13761058893</a:t>
              </a:r>
            </a:p>
          </p:txBody>
        </p:sp>
      </p:grpSp>
      <p:grpSp>
        <p:nvGrpSpPr>
          <p:cNvPr id="3" name="组合 2">
            <a:extLst>
              <a:ext uri="{FF2B5EF4-FFF2-40B4-BE49-F238E27FC236}">
                <a16:creationId xmlns:a16="http://schemas.microsoft.com/office/drawing/2014/main" id="{B04AD02D-56E2-57A6-8ED9-A2CC90AEF992}"/>
              </a:ext>
            </a:extLst>
          </p:cNvPr>
          <p:cNvGrpSpPr/>
          <p:nvPr/>
        </p:nvGrpSpPr>
        <p:grpSpPr>
          <a:xfrm>
            <a:off x="183283" y="1369589"/>
            <a:ext cx="6507431" cy="6247227"/>
            <a:chOff x="158885" y="1462198"/>
            <a:chExt cx="6575668" cy="6704440"/>
          </a:xfrm>
        </p:grpSpPr>
        <p:sp>
          <p:nvSpPr>
            <p:cNvPr id="36" name="矩形 35">
              <a:extLst>
                <a:ext uri="{FF2B5EF4-FFF2-40B4-BE49-F238E27FC236}">
                  <a16:creationId xmlns:a16="http://schemas.microsoft.com/office/drawing/2014/main" id="{017DBABD-B5BE-E302-2492-D67CE2CC3C01}"/>
                </a:ext>
              </a:extLst>
            </p:cNvPr>
            <p:cNvSpPr/>
            <p:nvPr/>
          </p:nvSpPr>
          <p:spPr>
            <a:xfrm>
              <a:off x="170637" y="1708621"/>
              <a:ext cx="6563916" cy="6458017"/>
            </a:xfrm>
            <a:prstGeom prst="rect">
              <a:avLst/>
            </a:prstGeom>
          </p:spPr>
          <p:txBody>
            <a:bodyPr wrap="square">
              <a:spAutoFit/>
            </a:bodyPr>
            <a:lstStyle/>
            <a:p>
              <a:pPr>
                <a:lnSpc>
                  <a:spcPts val="1600"/>
                </a:lnSpc>
              </a:pPr>
              <a:r>
                <a:rPr lang="en-US" altLang="zh-CN" sz="900" dirty="0">
                  <a:latin typeface="Arial" panose="020B0604020202020204" pitchFamily="34" charset="0"/>
                  <a:cs typeface="Arial" panose="020B0604020202020204" pitchFamily="34" charset="0"/>
                </a:rPr>
                <a:t>20 years of core supply chain management experience at Volkswagen Group, with deep expertise in the rigorous, efficient, and standardized operational DNA of German manufacturing. As a VDA 6.8 Lead Auditor and </a:t>
              </a:r>
              <a:r>
                <a:rPr lang="en-US" altLang="zh-CN" sz="900" dirty="0" err="1">
                  <a:latin typeface="Arial" panose="020B0604020202020204" pitchFamily="34" charset="0"/>
                  <a:cs typeface="Arial" panose="020B0604020202020204" pitchFamily="34" charset="0"/>
                </a:rPr>
                <a:t>QPNi</a:t>
              </a:r>
              <a:r>
                <a:rPr lang="en-US" altLang="zh-CN" sz="900" dirty="0">
                  <a:latin typeface="Arial" panose="020B0604020202020204" pitchFamily="34" charset="0"/>
                  <a:cs typeface="Arial" panose="020B0604020202020204" pitchFamily="34" charset="0"/>
                </a:rPr>
                <a:t> Expert certified by Volkswagen Group, I not only master world-class international standards but also possess proven capabilities to successfully transplant and root this "world-class operating system" within the local Chinese context.</a:t>
              </a:r>
            </a:p>
            <a:p>
              <a:pPr>
                <a:lnSpc>
                  <a:spcPts val="1600"/>
                </a:lnSpc>
              </a:pPr>
              <a:r>
                <a:rPr lang="en-US" altLang="zh-CN" sz="900" dirty="0">
                  <a:latin typeface="Arial" panose="020B0604020202020204" pitchFamily="34" charset="0"/>
                  <a:cs typeface="Arial" panose="020B0604020202020204" pitchFamily="34" charset="0"/>
                </a:rPr>
                <a:t>Committed to becoming the "operational ballast stone" and "global expansion accelerator" for Chinese enterprises going global:</a:t>
              </a:r>
            </a:p>
            <a:p>
              <a:pPr>
                <a:lnSpc>
                  <a:spcPts val="1600"/>
                </a:lnSpc>
              </a:pPr>
              <a:r>
                <a:rPr lang="en-US" altLang="zh-CN" sz="900" b="1" dirty="0">
                  <a:latin typeface="Arial" panose="020B0604020202020204" pitchFamily="34" charset="0"/>
                  <a:cs typeface="Arial" panose="020B0604020202020204" pitchFamily="34" charset="0"/>
                </a:rPr>
                <a:t>Safeguarding the "Chinese Core" while Building a Unified Global Language:</a:t>
              </a:r>
              <a:br>
                <a:rPr lang="en-US" altLang="zh-CN" sz="900" dirty="0">
                  <a:latin typeface="Arial" panose="020B0604020202020204" pitchFamily="34" charset="0"/>
                  <a:cs typeface="Arial" panose="020B0604020202020204" pitchFamily="34" charset="0"/>
                </a:rPr>
              </a:br>
              <a:r>
                <a:rPr lang="en-US" altLang="zh-CN" sz="900" dirty="0">
                  <a:latin typeface="Arial" panose="020B0604020202020204" pitchFamily="34" charset="0"/>
                  <a:cs typeface="Arial" panose="020B0604020202020204" pitchFamily="34" charset="0"/>
                </a:rPr>
                <a:t>Specializing in translating the stringent standards of European OEMs (such as VDA/Formel-Q) into management logic and execution systems suitable for Chinese enterprises. Ensuring that companies retain their inherent advantages of efficiency and flexibility while establishing standardized control frameworks aligned with international practices during their expansion into Europe. This enables headquarters to achieve "visibility, controllability, and replicability" across global sites.</a:t>
              </a:r>
            </a:p>
            <a:p>
              <a:pPr>
                <a:lnSpc>
                  <a:spcPts val="1600"/>
                </a:lnSpc>
              </a:pPr>
              <a:r>
                <a:rPr lang="en-US" altLang="zh-CN" sz="900" b="1" dirty="0">
                  <a:latin typeface="Arial" panose="020B0604020202020204" pitchFamily="34" charset="0"/>
                  <a:cs typeface="Arial" panose="020B0604020202020204" pitchFamily="34" charset="0"/>
                </a:rPr>
                <a:t>Creating "Local Benchmarks" to Drive Seamless Global Replication:</a:t>
              </a:r>
              <a:br>
                <a:rPr lang="en-US" altLang="zh-CN" sz="900" dirty="0">
                  <a:latin typeface="Arial" panose="020B0604020202020204" pitchFamily="34" charset="0"/>
                  <a:cs typeface="Arial" panose="020B0604020202020204" pitchFamily="34" charset="0"/>
                </a:rPr>
              </a:br>
              <a:r>
                <a:rPr lang="en-US" altLang="zh-CN" sz="900" dirty="0">
                  <a:latin typeface="Arial" panose="020B0604020202020204" pitchFamily="34" charset="0"/>
                  <a:cs typeface="Arial" panose="020B0604020202020204" pitchFamily="34" charset="0"/>
                </a:rPr>
                <a:t>Advocating the philosophy of "Rooted in China, Blooming Globally." Prioritizing the upgrade of domestic factories using international standards to create "world-class local benchmarks," which then serve as templates for overseas facilities. This approach avoids the pitfalls of "starting from scratch" or "repeated trial-and-error" when establishing overseas plants, ensuring new sites are mature from day one and significantly shortening the path to profitability.</a:t>
              </a:r>
            </a:p>
            <a:p>
              <a:pPr>
                <a:lnSpc>
                  <a:spcPts val="1600"/>
                </a:lnSpc>
              </a:pPr>
              <a:r>
                <a:rPr lang="en-US" altLang="zh-CN" sz="900" b="1" dirty="0">
                  <a:latin typeface="Arial" panose="020B0604020202020204" pitchFamily="34" charset="0"/>
                  <a:cs typeface="Arial" panose="020B0604020202020204" pitchFamily="34" charset="0"/>
                </a:rPr>
                <a:t>Eliminating "Management Black Boxes" to Achieve Data-Driven Transparent Control:</a:t>
              </a:r>
              <a:br>
                <a:rPr lang="en-US" altLang="zh-CN" sz="900" dirty="0">
                  <a:latin typeface="Arial" panose="020B0604020202020204" pitchFamily="34" charset="0"/>
                  <a:cs typeface="Arial" panose="020B0604020202020204" pitchFamily="34" charset="0"/>
                </a:rPr>
              </a:br>
              <a:r>
                <a:rPr lang="en-US" altLang="zh-CN" sz="900" dirty="0">
                  <a:latin typeface="Arial" panose="020B0604020202020204" pitchFamily="34" charset="0"/>
                  <a:cs typeface="Arial" panose="020B0604020202020204" pitchFamily="34" charset="0"/>
                </a:rPr>
                <a:t>Addressing the pain point of information asymmetry in cross-border management through strong capabilities in digitally reconstructing business processes. Transforming complex on-site production realities into precise digital signals, bridging gaps between ERP systems and frontline execution. This empowers headquarters managers, regardless of location, to make decisive decisions based on real-time, accurate data, eliminating situations where remote operations become uncontrollable.</a:t>
              </a:r>
            </a:p>
            <a:p>
              <a:pPr>
                <a:lnSpc>
                  <a:spcPts val="1600"/>
                </a:lnSpc>
              </a:pPr>
              <a:r>
                <a:rPr lang="en-US" altLang="zh-CN" sz="900" b="1" dirty="0">
                  <a:latin typeface="Arial" panose="020B0604020202020204" pitchFamily="34" charset="0"/>
                  <a:cs typeface="Arial" panose="020B0604020202020204" pitchFamily="34" charset="0"/>
                </a:rPr>
                <a:t>Driving Structural Cost Reduction from "Compliance" to "Profitability":</a:t>
              </a:r>
              <a:br>
                <a:rPr lang="en-US" altLang="zh-CN" sz="900" dirty="0">
                  <a:latin typeface="Arial" panose="020B0604020202020204" pitchFamily="34" charset="0"/>
                  <a:cs typeface="Arial" panose="020B0604020202020204" pitchFamily="34" charset="0"/>
                </a:rPr>
              </a:br>
              <a:r>
                <a:rPr lang="en-US" altLang="zh-CN" sz="900" dirty="0">
                  <a:latin typeface="Arial" panose="020B0604020202020204" pitchFamily="34" charset="0"/>
                  <a:cs typeface="Arial" panose="020B0604020202020204" pitchFamily="34" charset="0"/>
                </a:rPr>
                <a:t>Going beyond mere audit compliance to focus on converting standards into tangible profits. Skilled at institutionalizing one-time improvement outcomes into long-term corporate assets, ensuring increasing marginal returns rather than uncontrolled management costs during scale expansion.</a:t>
              </a:r>
            </a:p>
            <a:p>
              <a:pPr>
                <a:lnSpc>
                  <a:spcPts val="1600"/>
                </a:lnSpc>
              </a:pPr>
              <a:r>
                <a:rPr lang="en-US" altLang="zh-CN" sz="900" b="1" dirty="0">
                  <a:latin typeface="Arial" panose="020B0604020202020204" pitchFamily="34" charset="0"/>
                  <a:cs typeface="Arial" panose="020B0604020202020204" pitchFamily="34" charset="0"/>
                </a:rPr>
                <a:t>Vision:</a:t>
              </a:r>
              <a:br>
                <a:rPr lang="en-US" altLang="zh-CN" sz="900" dirty="0">
                  <a:latin typeface="Arial" panose="020B0604020202020204" pitchFamily="34" charset="0"/>
                  <a:cs typeface="Arial" panose="020B0604020202020204" pitchFamily="34" charset="0"/>
                </a:rPr>
              </a:br>
              <a:r>
                <a:rPr lang="en-US" altLang="zh-CN" sz="900" dirty="0">
                  <a:latin typeface="Arial" panose="020B0604020202020204" pitchFamily="34" charset="0"/>
                  <a:cs typeface="Arial" panose="020B0604020202020204" pitchFamily="34" charset="0"/>
                </a:rPr>
                <a:t>As an integrated "corporate insider," deeply merging 20 years of German lean manufacturing DNA with the entrepreneurial spirit of Chinese business leaders. Helping enterprises build an excellent operational system characterized by "one standard, one voice, consistent action" on the global stage, facilitating a strategic leap from "product export" to "capability export."</a:t>
              </a:r>
            </a:p>
          </p:txBody>
        </p:sp>
        <p:sp>
          <p:nvSpPr>
            <p:cNvPr id="25" name="文本框 24">
              <a:extLst>
                <a:ext uri="{FF2B5EF4-FFF2-40B4-BE49-F238E27FC236}">
                  <a16:creationId xmlns:a16="http://schemas.microsoft.com/office/drawing/2014/main" id="{8D6B2A49-6A18-1BD6-19CF-2B068F5C352F}"/>
                </a:ext>
              </a:extLst>
            </p:cNvPr>
            <p:cNvSpPr txBox="1"/>
            <p:nvPr/>
          </p:nvSpPr>
          <p:spPr>
            <a:xfrm>
              <a:off x="158885" y="1462198"/>
              <a:ext cx="2241486" cy="280757"/>
            </a:xfrm>
            <a:prstGeom prst="rect">
              <a:avLst/>
            </a:prstGeom>
            <a:noFill/>
          </p:spPr>
          <p:txBody>
            <a:bodyPr wrap="square" rtlCol="0" anchor="ctr">
              <a:spAutoFit/>
            </a:bodyPr>
            <a:lstStyle/>
            <a:p>
              <a:r>
                <a:rPr lang="en-US" altLang="zh-CN" sz="1100" b="1" dirty="0">
                  <a:solidFill>
                    <a:srgbClr val="696A6C"/>
                  </a:solidFill>
                  <a:effectLst/>
                  <a:latin typeface="Arial" panose="020B0604020202020204" pitchFamily="34" charset="0"/>
                  <a:cs typeface="Arial" panose="020B0604020202020204" pitchFamily="34" charset="0"/>
                </a:rPr>
                <a:t>Professional</a:t>
              </a:r>
              <a:r>
                <a:rPr lang="zh-CN" altLang="en-US" sz="1100" b="1" dirty="0">
                  <a:solidFill>
                    <a:srgbClr val="696A6C"/>
                  </a:solidFill>
                  <a:effectLst/>
                  <a:latin typeface="Arial" panose="020B0604020202020204" pitchFamily="34" charset="0"/>
                  <a:cs typeface="Arial" panose="020B0604020202020204" pitchFamily="34" charset="0"/>
                </a:rPr>
                <a:t> </a:t>
              </a:r>
              <a:r>
                <a:rPr lang="en-US" altLang="zh-CN" sz="1100" b="1" dirty="0">
                  <a:solidFill>
                    <a:srgbClr val="696A6C"/>
                  </a:solidFill>
                  <a:latin typeface="Arial" panose="020B0604020202020204" pitchFamily="34" charset="0"/>
                  <a:cs typeface="Arial" panose="020B0604020202020204" pitchFamily="34" charset="0"/>
                </a:rPr>
                <a:t>S</a:t>
              </a:r>
              <a:r>
                <a:rPr lang="en-US" altLang="zh-CN" sz="1100" b="1" dirty="0">
                  <a:solidFill>
                    <a:srgbClr val="696A6C"/>
                  </a:solidFill>
                  <a:effectLst/>
                  <a:latin typeface="Arial" panose="020B0604020202020204" pitchFamily="34" charset="0"/>
                  <a:cs typeface="Arial" panose="020B0604020202020204" pitchFamily="34" charset="0"/>
                </a:rPr>
                <a:t>ummary</a:t>
              </a:r>
            </a:p>
          </p:txBody>
        </p:sp>
      </p:grpSp>
    </p:spTree>
    <p:extLst>
      <p:ext uri="{BB962C8B-B14F-4D97-AF65-F5344CB8AC3E}">
        <p14:creationId xmlns:p14="http://schemas.microsoft.com/office/powerpoint/2010/main" val="79703233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 name="组合 10">
            <a:extLst>
              <a:ext uri="{FF2B5EF4-FFF2-40B4-BE49-F238E27FC236}">
                <a16:creationId xmlns:a16="http://schemas.microsoft.com/office/drawing/2014/main" id="{3413AA1E-927E-1447-214F-4865AC9286BB}"/>
              </a:ext>
            </a:extLst>
          </p:cNvPr>
          <p:cNvGrpSpPr/>
          <p:nvPr/>
        </p:nvGrpSpPr>
        <p:grpSpPr>
          <a:xfrm>
            <a:off x="197887" y="373335"/>
            <a:ext cx="6462227" cy="8973125"/>
            <a:chOff x="156235" y="2052015"/>
            <a:chExt cx="6462227" cy="6877505"/>
          </a:xfrm>
        </p:grpSpPr>
        <p:sp>
          <p:nvSpPr>
            <p:cNvPr id="12" name="文本框 11">
              <a:extLst>
                <a:ext uri="{FF2B5EF4-FFF2-40B4-BE49-F238E27FC236}">
                  <a16:creationId xmlns:a16="http://schemas.microsoft.com/office/drawing/2014/main" id="{E795C73A-C498-F17C-A30D-FBBC87AD958D}"/>
                </a:ext>
              </a:extLst>
            </p:cNvPr>
            <p:cNvSpPr txBox="1"/>
            <p:nvPr/>
          </p:nvSpPr>
          <p:spPr>
            <a:xfrm>
              <a:off x="172514" y="2272845"/>
              <a:ext cx="6445948" cy="6656675"/>
            </a:xfrm>
            <a:prstGeom prst="rect">
              <a:avLst/>
            </a:prstGeom>
            <a:noFill/>
          </p:spPr>
          <p:txBody>
            <a:bodyPr wrap="square" rtlCol="0">
              <a:spAutoFit/>
            </a:bodyPr>
            <a:lstStyle/>
            <a:p>
              <a:pPr>
                <a:lnSpc>
                  <a:spcPts val="1600"/>
                </a:lnSpc>
              </a:pPr>
              <a:r>
                <a:rPr lang="en-US" altLang="zh-CN" sz="900" b="1" dirty="0">
                  <a:solidFill>
                    <a:srgbClr val="696A6C"/>
                  </a:solidFill>
                  <a:latin typeface="Arial" panose="020B0604020202020204" pitchFamily="34" charset="0"/>
                  <a:ea typeface="微软雅黑" panose="020B0503020204020204" pitchFamily="34" charset="-122"/>
                  <a:cs typeface="Arial" panose="020B0604020202020204" pitchFamily="34" charset="0"/>
                </a:rPr>
                <a:t>2022.05 </a:t>
              </a:r>
              <a:r>
                <a:rPr lang="zh-CN" altLang="en-US" sz="900" b="1" dirty="0">
                  <a:solidFill>
                    <a:srgbClr val="696A6C"/>
                  </a:solidFill>
                  <a:latin typeface="Arial" panose="020B0604020202020204" pitchFamily="34" charset="0"/>
                  <a:ea typeface="微软雅黑" panose="020B0503020204020204" pitchFamily="34" charset="-122"/>
                  <a:cs typeface="Arial" panose="020B0604020202020204" pitchFamily="34" charset="0"/>
                </a:rPr>
                <a:t>～ </a:t>
              </a:r>
              <a:r>
                <a:rPr lang="en-US" altLang="zh-CN" sz="900" b="1" dirty="0">
                  <a:solidFill>
                    <a:srgbClr val="696A6C"/>
                  </a:solidFill>
                  <a:latin typeface="Arial" panose="020B0604020202020204" pitchFamily="34" charset="0"/>
                  <a:ea typeface="微软雅黑" panose="020B0503020204020204" pitchFamily="34" charset="-122"/>
                  <a:cs typeface="Arial" panose="020B0604020202020204" pitchFamily="34" charset="0"/>
                </a:rPr>
                <a:t>Present	Audi</a:t>
              </a:r>
              <a:r>
                <a:rPr lang="zh-CN" altLang="en-US" sz="900" b="1" dirty="0">
                  <a:solidFill>
                    <a:srgbClr val="696A6C"/>
                  </a:solidFill>
                  <a:latin typeface="Arial" panose="020B0604020202020204" pitchFamily="34" charset="0"/>
                  <a:ea typeface="微软雅黑" panose="020B0503020204020204" pitchFamily="34" charset="-122"/>
                  <a:cs typeface="Arial" panose="020B0604020202020204" pitchFamily="34" charset="0"/>
                </a:rPr>
                <a:t> </a:t>
              </a:r>
              <a:r>
                <a:rPr lang="en-US" altLang="zh-CN" sz="900" b="1" dirty="0">
                  <a:solidFill>
                    <a:srgbClr val="696A6C"/>
                  </a:solidFill>
                  <a:latin typeface="Arial" panose="020B0604020202020204" pitchFamily="34" charset="0"/>
                  <a:ea typeface="微软雅黑" panose="020B0503020204020204" pitchFamily="34" charset="-122"/>
                  <a:cs typeface="Arial" panose="020B0604020202020204" pitchFamily="34" charset="0"/>
                </a:rPr>
                <a:t>China</a:t>
              </a:r>
              <a:r>
                <a:rPr lang="zh-CN" altLang="en-US" sz="900" b="1" dirty="0">
                  <a:solidFill>
                    <a:srgbClr val="696A6C"/>
                  </a:solidFill>
                  <a:latin typeface="Arial" panose="020B0604020202020204" pitchFamily="34" charset="0"/>
                  <a:ea typeface="微软雅黑" panose="020B0503020204020204" pitchFamily="34" charset="-122"/>
                  <a:cs typeface="Arial" panose="020B0604020202020204" pitchFamily="34" charset="0"/>
                </a:rPr>
                <a:t> </a:t>
              </a:r>
              <a:r>
                <a:rPr lang="en-US" altLang="zh-CN" sz="900" b="1" dirty="0">
                  <a:solidFill>
                    <a:srgbClr val="696A6C"/>
                  </a:solidFill>
                  <a:latin typeface="Arial" panose="020B0604020202020204" pitchFamily="34" charset="0"/>
                  <a:ea typeface="微软雅黑" panose="020B0503020204020204" pitchFamily="34" charset="-122"/>
                  <a:cs typeface="Arial" panose="020B0604020202020204" pitchFamily="34" charset="0"/>
                </a:rPr>
                <a:t>Supply</a:t>
              </a:r>
              <a:r>
                <a:rPr lang="zh-CN" altLang="en-US" sz="900" b="1" dirty="0">
                  <a:solidFill>
                    <a:srgbClr val="696A6C"/>
                  </a:solidFill>
                  <a:latin typeface="Arial" panose="020B0604020202020204" pitchFamily="34" charset="0"/>
                  <a:ea typeface="微软雅黑" panose="020B0503020204020204" pitchFamily="34" charset="-122"/>
                  <a:cs typeface="Arial" panose="020B0604020202020204" pitchFamily="34" charset="0"/>
                </a:rPr>
                <a:t> </a:t>
              </a:r>
              <a:r>
                <a:rPr lang="en-US" altLang="zh-CN" sz="900" b="1" dirty="0">
                  <a:solidFill>
                    <a:srgbClr val="696A6C"/>
                  </a:solidFill>
                  <a:latin typeface="Arial" panose="020B0604020202020204" pitchFamily="34" charset="0"/>
                  <a:ea typeface="微软雅黑" panose="020B0503020204020204" pitchFamily="34" charset="-122"/>
                  <a:cs typeface="Arial" panose="020B0604020202020204" pitchFamily="34" charset="0"/>
                </a:rPr>
                <a:t>Chain</a:t>
              </a:r>
              <a:r>
                <a:rPr lang="zh-CN" altLang="en-US" sz="900" b="1" dirty="0">
                  <a:solidFill>
                    <a:srgbClr val="696A6C"/>
                  </a:solidFill>
                  <a:latin typeface="Arial" panose="020B0604020202020204" pitchFamily="34" charset="0"/>
                  <a:ea typeface="微软雅黑" panose="020B0503020204020204" pitchFamily="34" charset="-122"/>
                  <a:cs typeface="Arial" panose="020B0604020202020204" pitchFamily="34" charset="0"/>
                </a:rPr>
                <a:t> </a:t>
              </a:r>
              <a:r>
                <a:rPr lang="en-US" altLang="zh-CN" sz="900" b="1" dirty="0">
                  <a:solidFill>
                    <a:srgbClr val="696A6C"/>
                  </a:solidFill>
                  <a:latin typeface="Arial" panose="020B0604020202020204" pitchFamily="34" charset="0"/>
                  <a:ea typeface="微软雅黑" panose="020B0503020204020204" pitchFamily="34" charset="-122"/>
                  <a:cs typeface="Arial" panose="020B0604020202020204" pitchFamily="34" charset="0"/>
                </a:rPr>
                <a:t>Great</a:t>
              </a:r>
              <a:r>
                <a:rPr lang="zh-CN" altLang="en-US" sz="900" b="1" dirty="0">
                  <a:solidFill>
                    <a:srgbClr val="696A6C"/>
                  </a:solidFill>
                  <a:latin typeface="Arial" panose="020B0604020202020204" pitchFamily="34" charset="0"/>
                  <a:ea typeface="微软雅黑" panose="020B0503020204020204" pitchFamily="34" charset="-122"/>
                  <a:cs typeface="Arial" panose="020B0604020202020204" pitchFamily="34" charset="0"/>
                </a:rPr>
                <a:t> </a:t>
              </a:r>
              <a:r>
                <a:rPr lang="en-US" altLang="zh-CN" sz="900" b="1" dirty="0">
                  <a:solidFill>
                    <a:srgbClr val="696A6C"/>
                  </a:solidFill>
                  <a:latin typeface="Arial" panose="020B0604020202020204" pitchFamily="34" charset="0"/>
                  <a:ea typeface="微软雅黑" panose="020B0503020204020204" pitchFamily="34" charset="-122"/>
                  <a:cs typeface="Arial" panose="020B0604020202020204" pitchFamily="34" charset="0"/>
                </a:rPr>
                <a:t>Asia</a:t>
              </a:r>
            </a:p>
            <a:p>
              <a:pPr lvl="2">
                <a:lnSpc>
                  <a:spcPts val="1600"/>
                </a:lnSpc>
              </a:pPr>
              <a:r>
                <a:rPr lang="en-US" altLang="zh-CN" sz="900" b="1" dirty="0">
                  <a:solidFill>
                    <a:srgbClr val="696A6C"/>
                  </a:solidFill>
                  <a:latin typeface="Arial" panose="020B0604020202020204" pitchFamily="34" charset="0"/>
                  <a:ea typeface="微软雅黑" panose="020B0503020204020204" pitchFamily="34" charset="-122"/>
                  <a:cs typeface="Arial" panose="020B0604020202020204" pitchFamily="34" charset="0"/>
                </a:rPr>
                <a:t>	</a:t>
              </a:r>
              <a:r>
                <a:rPr lang="en-US" altLang="zh-CN" sz="900" dirty="0">
                  <a:solidFill>
                    <a:srgbClr val="696A6C"/>
                  </a:solidFill>
                  <a:latin typeface="Arial" panose="020B0604020202020204" pitchFamily="34" charset="0"/>
                  <a:ea typeface="微软雅黑" panose="020B0503020204020204" pitchFamily="34" charset="-122"/>
                  <a:cs typeface="Arial" panose="020B0604020202020204" pitchFamily="34" charset="0"/>
                </a:rPr>
                <a:t>Supply Chain Auditor and Planner</a:t>
              </a:r>
            </a:p>
            <a:p>
              <a:pPr>
                <a:lnSpc>
                  <a:spcPts val="1600"/>
                </a:lnSpc>
              </a:pPr>
              <a:r>
                <a:rPr lang="en-US" altLang="zh-CN" sz="900" dirty="0">
                  <a:latin typeface="Arial" panose="020B0604020202020204" pitchFamily="34" charset="0"/>
                  <a:ea typeface="微软雅黑" panose="020B0503020204020204" pitchFamily="34" charset="-122"/>
                  <a:cs typeface="Arial" panose="020B0604020202020204" pitchFamily="34" charset="0"/>
                </a:rPr>
                <a:t>As a key hub connecting Volkswagen Group’s global standards with the implementation of China’s supply chain, I am responsible for translating the operational directives from European headquarters into tangible capabilities for suppliers in the Asia-Pacific region. I am not merely an executor of standards, but also an optimizer and disseminator of operational models.</a:t>
              </a:r>
              <a:endParaRPr lang="en-US" sz="900" dirty="0">
                <a:latin typeface="Arial" panose="020B0604020202020204" pitchFamily="34" charset="0"/>
                <a:ea typeface="微软雅黑" panose="020B0503020204020204" pitchFamily="34" charset="-122"/>
                <a:cs typeface="Arial" panose="020B0604020202020204" pitchFamily="34" charset="0"/>
              </a:endParaRPr>
            </a:p>
            <a:p>
              <a:pPr marL="171450" indent="-171450">
                <a:lnSpc>
                  <a:spcPts val="1600"/>
                </a:lnSpc>
                <a:buFont typeface="Wingdings" pitchFamily="2" charset="2"/>
                <a:buChar char="Ø"/>
              </a:pPr>
              <a:r>
                <a:rPr lang="en-US" sz="900" b="1" dirty="0">
                  <a:latin typeface="Arial" panose="020B0604020202020204" pitchFamily="34" charset="0"/>
                  <a:ea typeface="微软雅黑" panose="020B0503020204020204" pitchFamily="34" charset="-122"/>
                  <a:cs typeface="Arial" panose="020B0604020202020204" pitchFamily="34" charset="0"/>
                </a:rPr>
                <a:t>Global Supplier Qualification (VDA 6.8): </a:t>
              </a:r>
            </a:p>
            <a:p>
              <a:pPr marL="171450" lvl="1" indent="-171450">
                <a:lnSpc>
                  <a:spcPts val="1600"/>
                </a:lnSpc>
                <a:buFont typeface="Arial" panose="020B0604020202020204" pitchFamily="34" charset="0"/>
                <a:buChar char="•"/>
              </a:pPr>
              <a:r>
                <a:rPr lang="en-US" altLang="zh-CN" sz="900" dirty="0">
                  <a:latin typeface="Arial" panose="020B0604020202020204" pitchFamily="34" charset="0"/>
                  <a:ea typeface="微软雅黑" panose="020B0503020204020204" pitchFamily="34" charset="-122"/>
                  <a:cs typeface="Arial" panose="020B0604020202020204" pitchFamily="34" charset="0"/>
                </a:rPr>
                <a:t>Led end-to-end supply chain capability enhancement for over 100 suppliers in the Asia-Pacific region, strictly adhering to VDA 6.8/</a:t>
              </a:r>
              <a:r>
                <a:rPr lang="en-US" altLang="zh-CN" sz="900" dirty="0" err="1">
                  <a:latin typeface="Arial" panose="020B0604020202020204" pitchFamily="34" charset="0"/>
                  <a:ea typeface="微软雅黑" panose="020B0503020204020204" pitchFamily="34" charset="-122"/>
                  <a:cs typeface="Arial" panose="020B0604020202020204" pitchFamily="34" charset="0"/>
                </a:rPr>
                <a:t>QPNi</a:t>
              </a:r>
              <a:r>
                <a:rPr lang="en-US" altLang="zh-CN" sz="900" dirty="0">
                  <a:latin typeface="Arial" panose="020B0604020202020204" pitchFamily="34" charset="0"/>
                  <a:ea typeface="微软雅黑" panose="020B0503020204020204" pitchFamily="34" charset="-122"/>
                  <a:cs typeface="Arial" panose="020B0604020202020204" pitchFamily="34" charset="0"/>
                </a:rPr>
                <a:t> standards. This goes beyond mere audit compliance; it aims to cultivate a cohort of benchmark suppliers within China that possess a "European genetic code.” </a:t>
              </a:r>
            </a:p>
            <a:p>
              <a:pPr marL="171450" lvl="1" indent="-171450">
                <a:lnSpc>
                  <a:spcPts val="1600"/>
                </a:lnSpc>
                <a:buFont typeface="Arial" panose="020B0604020202020204" pitchFamily="34" charset="0"/>
                <a:buChar char="•"/>
              </a:pPr>
              <a:r>
                <a:rPr lang="en-US" altLang="zh-CN" sz="900" dirty="0">
                  <a:latin typeface="Arial" panose="020B0604020202020204" pitchFamily="34" charset="0"/>
                  <a:ea typeface="微软雅黑" panose="020B0503020204020204" pitchFamily="34" charset="-122"/>
                  <a:cs typeface="Arial" panose="020B0604020202020204" pitchFamily="34" charset="0"/>
                </a:rPr>
                <a:t>Value: This "high-standard implementation methodology," proven successful domestically, can be directly replicated in the enterprise’s future overseas factories. This ensures that new international bases start operating on a high-level trajectory from day one, avoiding low-level repetitive construction.</a:t>
              </a:r>
            </a:p>
            <a:p>
              <a:pPr marL="171450" lvl="1" indent="-171450">
                <a:lnSpc>
                  <a:spcPts val="1600"/>
                </a:lnSpc>
                <a:buFont typeface="Wingdings" pitchFamily="2" charset="2"/>
                <a:buChar char="Ø"/>
              </a:pPr>
              <a:r>
                <a:rPr lang="en-US" sz="900" b="1" dirty="0">
                  <a:latin typeface="Arial" panose="020B0604020202020204" pitchFamily="34" charset="0"/>
                  <a:ea typeface="微软雅黑" panose="020B0503020204020204" pitchFamily="34" charset="-122"/>
                  <a:cs typeface="Arial" panose="020B0604020202020204" pitchFamily="34" charset="0"/>
                </a:rPr>
                <a:t>Strategic Supplier Development &amp; Maturity Management (</a:t>
              </a:r>
              <a:r>
                <a:rPr lang="en-US" sz="900" b="1" dirty="0" err="1">
                  <a:latin typeface="Arial" panose="020B0604020202020204" pitchFamily="34" charset="0"/>
                  <a:ea typeface="微软雅黑" panose="020B0503020204020204" pitchFamily="34" charset="-122"/>
                  <a:cs typeface="Arial" panose="020B0604020202020204" pitchFamily="34" charset="0"/>
                </a:rPr>
                <a:t>QPNi</a:t>
              </a:r>
              <a:r>
                <a:rPr lang="en-US" sz="900" b="1" dirty="0">
                  <a:latin typeface="Arial" panose="020B0604020202020204" pitchFamily="34" charset="0"/>
                  <a:ea typeface="微软雅黑" panose="020B0503020204020204" pitchFamily="34" charset="-122"/>
                  <a:cs typeface="Arial" panose="020B0604020202020204" pitchFamily="34" charset="0"/>
                </a:rPr>
                <a:t>): </a:t>
              </a:r>
            </a:p>
            <a:p>
              <a:pPr marL="171450" lvl="1" indent="-171450">
                <a:lnSpc>
                  <a:spcPts val="1600"/>
                </a:lnSpc>
                <a:buFont typeface="Arial" panose="020B0604020202020204" pitchFamily="34" charset="0"/>
                <a:buChar char="•"/>
              </a:pPr>
              <a:r>
                <a:rPr lang="en-US" altLang="zh-CN" sz="900" dirty="0">
                  <a:latin typeface="Arial" panose="020B0604020202020204" pitchFamily="34" charset="0"/>
                  <a:ea typeface="微软雅黑" panose="020B0503020204020204" pitchFamily="34" charset="-122"/>
                  <a:cs typeface="Arial" panose="020B0604020202020204" pitchFamily="34" charset="0"/>
                </a:rPr>
                <a:t>In the management of heavy components for the PPE China project, I conducted in-depth diagnostics and process reengineering. I assisted key component suppliers in solidifying diagnostic findings into Standard Operating Procedures (SOPs) and scaling these practices across other facilities. </a:t>
              </a:r>
            </a:p>
            <a:p>
              <a:pPr marL="171450" lvl="1" indent="-171450">
                <a:lnSpc>
                  <a:spcPts val="1600"/>
                </a:lnSpc>
                <a:buFont typeface="Arial" panose="020B0604020202020204" pitchFamily="34" charset="0"/>
                <a:buChar char="•"/>
              </a:pPr>
              <a:r>
                <a:rPr lang="en-US" altLang="zh-CN" sz="900" dirty="0">
                  <a:latin typeface="Arial" panose="020B0604020202020204" pitchFamily="34" charset="0"/>
                  <a:ea typeface="微软雅黑" panose="020B0503020204020204" pitchFamily="34" charset="-122"/>
                  <a:cs typeface="Arial" panose="020B0604020202020204" pitchFamily="34" charset="0"/>
                </a:rPr>
                <a:t>Value: This closed-loop capability of "Discover-Optimize-Solidify-Replicate" is the scarcest asset during corporate globalization. It ensures that every new factory automatically inherits best practices rather than having to rebuild its operational foundation from scratch.</a:t>
              </a:r>
            </a:p>
            <a:p>
              <a:pPr marL="171450" lvl="1" indent="-171450">
                <a:lnSpc>
                  <a:spcPts val="1600"/>
                </a:lnSpc>
                <a:buFont typeface="Wingdings" pitchFamily="2" charset="2"/>
                <a:buChar char="Ø"/>
              </a:pPr>
              <a:r>
                <a:rPr lang="en-US" altLang="zh-CN" sz="900" b="1" dirty="0">
                  <a:latin typeface="Arial" panose="020B0604020202020204" pitchFamily="34" charset="0"/>
                  <a:ea typeface="微软雅黑" panose="020B0503020204020204" pitchFamily="34" charset="-122"/>
                  <a:cs typeface="Arial" panose="020B0604020202020204" pitchFamily="34" charset="0"/>
                </a:rPr>
                <a:t>Bridging Cultural and Standard Gaps to Reduce Internal Friction:</a:t>
              </a:r>
            </a:p>
            <a:p>
              <a:pPr marL="171450" lvl="1" indent="-171450">
                <a:lnSpc>
                  <a:spcPts val="1600"/>
                </a:lnSpc>
                <a:buFont typeface="Arial" panose="020B0604020202020204" pitchFamily="34" charset="0"/>
                <a:buChar char="•"/>
              </a:pPr>
              <a:r>
                <a:rPr lang="en-US" altLang="zh-CN" sz="900" dirty="0">
                  <a:latin typeface="Arial" panose="020B0604020202020204" pitchFamily="34" charset="0"/>
                  <a:ea typeface="微软雅黑" panose="020B0503020204020204" pitchFamily="34" charset="-122"/>
                  <a:cs typeface="Arial" panose="020B0604020202020204" pitchFamily="34" charset="0"/>
                </a:rPr>
                <a:t>Leveraged deep insight into German management logic to "translate" vague European requirements into clear execution instructions, eliminating costly rework and misunderstandings.</a:t>
              </a:r>
            </a:p>
            <a:p>
              <a:pPr marL="171450" lvl="1" indent="-171450">
                <a:lnSpc>
                  <a:spcPts val="1600"/>
                </a:lnSpc>
                <a:buFont typeface="Arial" panose="020B0604020202020204" pitchFamily="34" charset="0"/>
                <a:buChar char="•"/>
              </a:pPr>
              <a:r>
                <a:rPr lang="en-US" altLang="zh-CN" sz="900" dirty="0">
                  <a:latin typeface="Arial" panose="020B0604020202020204" pitchFamily="34" charset="0"/>
                  <a:ea typeface="微软雅黑" panose="020B0503020204020204" pitchFamily="34" charset="-122"/>
                  <a:cs typeface="Arial" panose="020B0604020202020204" pitchFamily="34" charset="0"/>
                </a:rPr>
                <a:t>Value: Acting as a "Cultural Converter," I ensure HQ directives are executed faithfully overseas and feedback is accurately understood, drastically reducing cross-border friction costs.</a:t>
              </a:r>
            </a:p>
            <a:p>
              <a:pPr marL="171450" lvl="1" indent="-171450">
                <a:lnSpc>
                  <a:spcPts val="1600"/>
                </a:lnSpc>
                <a:buFont typeface="Wingdings" pitchFamily="2" charset="2"/>
                <a:buChar char="Ø"/>
              </a:pPr>
              <a:r>
                <a:rPr lang="en-US" altLang="zh-CN" sz="900" b="1" dirty="0">
                  <a:latin typeface="Arial" panose="020B0604020202020204" pitchFamily="34" charset="0"/>
                  <a:ea typeface="微软雅黑" panose="020B0503020204020204" pitchFamily="34" charset="-122"/>
                  <a:cs typeface="Arial" panose="020B0604020202020204" pitchFamily="34" charset="0"/>
                </a:rPr>
                <a:t>Empowering Data-Driven Decision Making and Breaking Information Silos:</a:t>
              </a:r>
            </a:p>
            <a:p>
              <a:pPr marL="171450" lvl="1" indent="-171450">
                <a:lnSpc>
                  <a:spcPts val="1600"/>
                </a:lnSpc>
                <a:buFont typeface="Arial" panose="020B0604020202020204" pitchFamily="34" charset="0"/>
                <a:buChar char="•"/>
              </a:pPr>
              <a:r>
                <a:rPr lang="en-US" altLang="zh-CN" sz="900" dirty="0">
                  <a:latin typeface="Arial" panose="020B0604020202020204" pitchFamily="34" charset="0"/>
                  <a:ea typeface="微软雅黑" panose="020B0503020204020204" pitchFamily="34" charset="-122"/>
                  <a:cs typeface="Arial" panose="020B0604020202020204" pitchFamily="34" charset="0"/>
                </a:rPr>
                <a:t>Identified process data breakpoints during audits, driving suppliers to accurately map physical production data to management systems.</a:t>
              </a:r>
            </a:p>
            <a:p>
              <a:pPr marL="171450" lvl="1" indent="-171450">
                <a:lnSpc>
                  <a:spcPts val="1600"/>
                </a:lnSpc>
                <a:buFont typeface="Arial" panose="020B0604020202020204" pitchFamily="34" charset="0"/>
                <a:buChar char="•"/>
              </a:pPr>
              <a:r>
                <a:rPr lang="en-US" altLang="zh-CN" sz="900" dirty="0">
                  <a:latin typeface="Arial" panose="020B0604020202020204" pitchFamily="34" charset="0"/>
                  <a:ea typeface="微软雅黑" panose="020B0503020204020204" pitchFamily="34" charset="-122"/>
                  <a:cs typeface="Arial" panose="020B0604020202020204" pitchFamily="34" charset="0"/>
                </a:rPr>
                <a:t>Value: Offers a pragmatic solution for "outdated systems": streamline data-generation processes rather than replacing software. This maximizes existing ERP value, enabling authentic digitalization and paving the way for future intelligent management.</a:t>
              </a:r>
            </a:p>
            <a:p>
              <a:pPr marL="0" lvl="1">
                <a:lnSpc>
                  <a:spcPts val="1600"/>
                </a:lnSpc>
              </a:pPr>
              <a:endParaRPr lang="en-US" altLang="zh-CN" sz="900" dirty="0">
                <a:latin typeface="Arial" panose="020B0604020202020204" pitchFamily="34" charset="0"/>
                <a:ea typeface="微软雅黑" panose="020B0503020204020204" pitchFamily="34" charset="-122"/>
                <a:cs typeface="Arial" panose="020B0604020202020204" pitchFamily="34" charset="0"/>
              </a:endParaRPr>
            </a:p>
            <a:p>
              <a:pPr>
                <a:lnSpc>
                  <a:spcPts val="1600"/>
                </a:lnSpc>
              </a:pPr>
              <a:r>
                <a:rPr lang="en-US" altLang="zh-CN" sz="900" b="1" dirty="0">
                  <a:solidFill>
                    <a:srgbClr val="696A6C"/>
                  </a:solidFill>
                  <a:latin typeface="Arial" panose="020B0604020202020204" pitchFamily="34" charset="0"/>
                  <a:ea typeface="微软雅黑" panose="020B0503020204020204" pitchFamily="34" charset="-122"/>
                  <a:cs typeface="Arial" panose="020B0604020202020204" pitchFamily="34" charset="0"/>
                </a:rPr>
                <a:t>2006.07 </a:t>
              </a:r>
              <a:r>
                <a:rPr lang="zh-CN" altLang="en-US" sz="900" b="1" dirty="0">
                  <a:solidFill>
                    <a:srgbClr val="696A6C"/>
                  </a:solidFill>
                  <a:latin typeface="Arial" panose="020B0604020202020204" pitchFamily="34" charset="0"/>
                  <a:ea typeface="微软雅黑" panose="020B0503020204020204" pitchFamily="34" charset="-122"/>
                  <a:cs typeface="Arial" panose="020B0604020202020204" pitchFamily="34" charset="0"/>
                </a:rPr>
                <a:t>～ </a:t>
              </a:r>
              <a:r>
                <a:rPr lang="en-US" altLang="zh-CN" sz="900" b="1" dirty="0">
                  <a:solidFill>
                    <a:srgbClr val="696A6C"/>
                  </a:solidFill>
                  <a:latin typeface="Arial" panose="020B0604020202020204" pitchFamily="34" charset="0"/>
                  <a:ea typeface="微软雅黑" panose="020B0503020204020204" pitchFamily="34" charset="-122"/>
                  <a:cs typeface="Arial" panose="020B0604020202020204" pitchFamily="34" charset="0"/>
                </a:rPr>
                <a:t>2022.05	SAIC Volkswagen (formerly Shanghai Volkswagen Powertrain Co., Ltd.)</a:t>
              </a:r>
            </a:p>
            <a:p>
              <a:pPr>
                <a:lnSpc>
                  <a:spcPts val="1600"/>
                </a:lnSpc>
              </a:pPr>
              <a:r>
                <a:rPr lang="en-US" altLang="zh-CN" sz="900" dirty="0">
                  <a:solidFill>
                    <a:srgbClr val="696A6C"/>
                  </a:solidFill>
                  <a:latin typeface="Arial" panose="020B0604020202020204" pitchFamily="34" charset="0"/>
                  <a:ea typeface="微软雅黑" panose="020B0503020204020204" pitchFamily="34" charset="-122"/>
                  <a:cs typeface="Arial" panose="020B0604020202020204" pitchFamily="34" charset="0"/>
                </a:rPr>
                <a:t>2010.07 </a:t>
              </a:r>
              <a:r>
                <a:rPr lang="zh-CN" altLang="en-US" sz="900" dirty="0">
                  <a:solidFill>
                    <a:srgbClr val="696A6C"/>
                  </a:solidFill>
                  <a:latin typeface="Arial" panose="020B0604020202020204" pitchFamily="34" charset="0"/>
                  <a:ea typeface="微软雅黑" panose="020B0503020204020204" pitchFamily="34" charset="-122"/>
                  <a:cs typeface="Arial" panose="020B0604020202020204" pitchFamily="34" charset="0"/>
                </a:rPr>
                <a:t>～ </a:t>
              </a:r>
              <a:r>
                <a:rPr lang="en-US" altLang="zh-CN" sz="900" dirty="0">
                  <a:solidFill>
                    <a:srgbClr val="696A6C"/>
                  </a:solidFill>
                  <a:latin typeface="Arial" panose="020B0604020202020204" pitchFamily="34" charset="0"/>
                  <a:ea typeface="微软雅黑" panose="020B0503020204020204" pitchFamily="34" charset="-122"/>
                  <a:cs typeface="Arial" panose="020B0604020202020204" pitchFamily="34" charset="0"/>
                </a:rPr>
                <a:t>2022.05</a:t>
              </a:r>
              <a:r>
                <a:rPr lang="en-US" altLang="zh-CN" sz="900" b="1" dirty="0">
                  <a:solidFill>
                    <a:srgbClr val="9EA1A2"/>
                  </a:solidFill>
                  <a:latin typeface="Arial" panose="020B0604020202020204" pitchFamily="34" charset="0"/>
                  <a:ea typeface="微软雅黑" panose="020B0503020204020204" pitchFamily="34" charset="-122"/>
                  <a:cs typeface="Arial" panose="020B0604020202020204" pitchFamily="34" charset="0"/>
                </a:rPr>
                <a:t>	</a:t>
              </a:r>
              <a:r>
                <a:rPr lang="en-US" altLang="zh-CN" sz="900" dirty="0">
                  <a:solidFill>
                    <a:srgbClr val="696A6C"/>
                  </a:solidFill>
                  <a:latin typeface="Arial" panose="020B0604020202020204" pitchFamily="34" charset="0"/>
                  <a:ea typeface="微软雅黑" panose="020B0503020204020204" pitchFamily="34" charset="-122"/>
                  <a:cs typeface="Arial" panose="020B0604020202020204" pitchFamily="34" charset="0"/>
                </a:rPr>
                <a:t>Expert of supply chain management</a:t>
              </a:r>
            </a:p>
            <a:p>
              <a:pPr marL="171450" indent="-171450">
                <a:lnSpc>
                  <a:spcPts val="1600"/>
                </a:lnSpc>
                <a:buFont typeface="Wingdings" pitchFamily="2" charset="2"/>
                <a:buChar char="Ø"/>
              </a:pPr>
              <a:r>
                <a:rPr lang="en-US" altLang="zh-CN" sz="900" dirty="0">
                  <a:latin typeface="Arial" panose="020B0604020202020204" pitchFamily="34" charset="0"/>
                  <a:cs typeface="Arial" panose="020B0604020202020204" pitchFamily="34" charset="0"/>
                </a:rPr>
                <a:t>Built Resilient Risk Systems: Ensured business continuity during the global chip shortage by deploying dynamic risk models and multi-tiered response mechanisms, replacing ad-hoc crisis management with standardized, reliable protocols.</a:t>
              </a:r>
            </a:p>
            <a:p>
              <a:pPr marL="171450" indent="-171450">
                <a:lnSpc>
                  <a:spcPts val="1600"/>
                </a:lnSpc>
                <a:buFont typeface="Wingdings" pitchFamily="2" charset="2"/>
                <a:buChar char="Ø"/>
              </a:pPr>
              <a:r>
                <a:rPr lang="en-US" altLang="zh-CN" sz="900" dirty="0">
                  <a:latin typeface="Arial" panose="020B0604020202020204" pitchFamily="34" charset="0"/>
                  <a:cs typeface="Arial" panose="020B0604020202020204" pitchFamily="34" charset="0"/>
                </a:rPr>
                <a:t>Optimized S&amp;OP Synergy: Balanced market volatility with manufacturing stability through refined Sales &amp; Operations Planning processes, laying the procedural foundation for future digital transformation.</a:t>
              </a:r>
            </a:p>
            <a:p>
              <a:pPr>
                <a:lnSpc>
                  <a:spcPts val="1600"/>
                </a:lnSpc>
              </a:pPr>
              <a:r>
                <a:rPr lang="en-US" altLang="zh-CN" sz="900" dirty="0">
                  <a:solidFill>
                    <a:srgbClr val="696A6C"/>
                  </a:solidFill>
                  <a:latin typeface="Arial" panose="020B0604020202020204" pitchFamily="34" charset="0"/>
                  <a:ea typeface="微软雅黑" panose="020B0503020204020204" pitchFamily="34" charset="-122"/>
                  <a:cs typeface="Arial" panose="020B0604020202020204" pitchFamily="34" charset="0"/>
                </a:rPr>
                <a:t>2006.07 </a:t>
              </a:r>
              <a:r>
                <a:rPr lang="zh-CN" altLang="en-US" sz="900" dirty="0">
                  <a:solidFill>
                    <a:srgbClr val="696A6C"/>
                  </a:solidFill>
                  <a:latin typeface="Arial" panose="020B0604020202020204" pitchFamily="34" charset="0"/>
                  <a:ea typeface="微软雅黑" panose="020B0503020204020204" pitchFamily="34" charset="-122"/>
                  <a:cs typeface="Arial" panose="020B0604020202020204" pitchFamily="34" charset="0"/>
                </a:rPr>
                <a:t>～ </a:t>
              </a:r>
              <a:r>
                <a:rPr lang="en-US" altLang="zh-CN" sz="900" dirty="0">
                  <a:solidFill>
                    <a:srgbClr val="696A6C"/>
                  </a:solidFill>
                  <a:latin typeface="Arial" panose="020B0604020202020204" pitchFamily="34" charset="0"/>
                  <a:ea typeface="微软雅黑" panose="020B0503020204020204" pitchFamily="34" charset="-122"/>
                  <a:cs typeface="Arial" panose="020B0604020202020204" pitchFamily="34" charset="0"/>
                </a:rPr>
                <a:t>2010.06</a:t>
              </a:r>
              <a:r>
                <a:rPr lang="en-US" altLang="zh-CN" sz="900" b="1" dirty="0">
                  <a:solidFill>
                    <a:srgbClr val="9EA1A2"/>
                  </a:solidFill>
                  <a:latin typeface="Arial" panose="020B0604020202020204" pitchFamily="34" charset="0"/>
                  <a:ea typeface="微软雅黑" panose="020B0503020204020204" pitchFamily="34" charset="-122"/>
                  <a:cs typeface="Arial" panose="020B0604020202020204" pitchFamily="34" charset="0"/>
                </a:rPr>
                <a:t>	</a:t>
              </a:r>
              <a:r>
                <a:rPr lang="en-US" altLang="zh-CN" sz="900" dirty="0">
                  <a:solidFill>
                    <a:srgbClr val="696A6C"/>
                  </a:solidFill>
                  <a:latin typeface="Arial" panose="020B0604020202020204" pitchFamily="34" charset="0"/>
                  <a:ea typeface="微软雅黑" panose="020B0503020204020204" pitchFamily="34" charset="-122"/>
                  <a:cs typeface="Arial" panose="020B0604020202020204" pitchFamily="34" charset="0"/>
                </a:rPr>
                <a:t>Disposition /</a:t>
              </a:r>
              <a:r>
                <a:rPr lang="zh-CN" altLang="en-US" sz="900" dirty="0">
                  <a:solidFill>
                    <a:srgbClr val="696A6C"/>
                  </a:solidFill>
                  <a:latin typeface="Arial" panose="020B0604020202020204" pitchFamily="34" charset="0"/>
                  <a:ea typeface="微软雅黑" panose="020B0503020204020204" pitchFamily="34" charset="-122"/>
                  <a:cs typeface="Arial" panose="020B0604020202020204" pitchFamily="34" charset="0"/>
                </a:rPr>
                <a:t> </a:t>
              </a:r>
              <a:r>
                <a:rPr lang="en-US" altLang="zh-CN" sz="900" dirty="0">
                  <a:solidFill>
                    <a:srgbClr val="696A6C"/>
                  </a:solidFill>
                  <a:latin typeface="Arial" panose="020B0604020202020204" pitchFamily="34" charset="0"/>
                  <a:ea typeface="微软雅黑" panose="020B0503020204020204" pitchFamily="34" charset="-122"/>
                  <a:cs typeface="Arial" panose="020B0604020202020204" pitchFamily="34" charset="0"/>
                </a:rPr>
                <a:t>Material</a:t>
              </a:r>
              <a:r>
                <a:rPr lang="zh-CN" altLang="en-US" sz="900" dirty="0">
                  <a:solidFill>
                    <a:srgbClr val="696A6C"/>
                  </a:solidFill>
                  <a:latin typeface="Arial" panose="020B0604020202020204" pitchFamily="34" charset="0"/>
                  <a:ea typeface="微软雅黑" panose="020B0503020204020204" pitchFamily="34" charset="-122"/>
                  <a:cs typeface="Arial" panose="020B0604020202020204" pitchFamily="34" charset="0"/>
                </a:rPr>
                <a:t> </a:t>
              </a:r>
              <a:r>
                <a:rPr lang="en-US" altLang="zh-CN" sz="900" dirty="0">
                  <a:solidFill>
                    <a:srgbClr val="696A6C"/>
                  </a:solidFill>
                  <a:latin typeface="Arial" panose="020B0604020202020204" pitchFamily="34" charset="0"/>
                  <a:ea typeface="微软雅黑" panose="020B0503020204020204" pitchFamily="34" charset="-122"/>
                  <a:cs typeface="Arial" panose="020B0604020202020204" pitchFamily="34" charset="0"/>
                </a:rPr>
                <a:t>planner</a:t>
              </a:r>
            </a:p>
            <a:p>
              <a:pPr>
                <a:lnSpc>
                  <a:spcPts val="1600"/>
                </a:lnSpc>
              </a:pPr>
              <a:r>
                <a:rPr lang="en-US" altLang="zh-CN" sz="900" dirty="0">
                  <a:latin typeface="Arial" panose="020B0604020202020204" pitchFamily="34" charset="0"/>
                  <a:cs typeface="Arial" panose="020B0604020202020204" pitchFamily="34" charset="0"/>
                </a:rPr>
                <a:t>Managed daily material planning and production scheduling for powertrain components, establishing the foundational operational expertise for subsequent strategic supply chain roles.</a:t>
              </a:r>
            </a:p>
          </p:txBody>
        </p:sp>
        <p:sp>
          <p:nvSpPr>
            <p:cNvPr id="13" name="文本框 12">
              <a:extLst>
                <a:ext uri="{FF2B5EF4-FFF2-40B4-BE49-F238E27FC236}">
                  <a16:creationId xmlns:a16="http://schemas.microsoft.com/office/drawing/2014/main" id="{4FDBB6CC-B55C-29CC-33E4-5AC936A88F53}"/>
                </a:ext>
              </a:extLst>
            </p:cNvPr>
            <p:cNvSpPr txBox="1"/>
            <p:nvPr/>
          </p:nvSpPr>
          <p:spPr>
            <a:xfrm>
              <a:off x="156235" y="2052015"/>
              <a:ext cx="2241486" cy="220830"/>
            </a:xfrm>
            <a:prstGeom prst="rect">
              <a:avLst/>
            </a:prstGeom>
            <a:noFill/>
          </p:spPr>
          <p:txBody>
            <a:bodyPr wrap="square" rtlCol="0" anchor="ctr">
              <a:spAutoFit/>
            </a:bodyPr>
            <a:lstStyle/>
            <a:p>
              <a:r>
                <a:rPr lang="en-US" altLang="zh-CN" sz="1100" b="1" dirty="0">
                  <a:solidFill>
                    <a:srgbClr val="696A6C"/>
                  </a:solidFill>
                  <a:effectLst/>
                  <a:latin typeface="Arial" panose="020B0604020202020204" pitchFamily="34" charset="0"/>
                  <a:cs typeface="Arial" panose="020B0604020202020204" pitchFamily="34" charset="0"/>
                </a:rPr>
                <a:t>Working</a:t>
              </a:r>
              <a:r>
                <a:rPr lang="zh-CN" altLang="en-US" sz="1100" b="1" dirty="0">
                  <a:solidFill>
                    <a:srgbClr val="696A6C"/>
                  </a:solidFill>
                  <a:effectLst/>
                  <a:latin typeface="Arial" panose="020B0604020202020204" pitchFamily="34" charset="0"/>
                  <a:cs typeface="Arial" panose="020B0604020202020204" pitchFamily="34" charset="0"/>
                </a:rPr>
                <a:t> </a:t>
              </a:r>
              <a:r>
                <a:rPr lang="en-US" altLang="zh-CN" sz="1100" b="1" dirty="0">
                  <a:solidFill>
                    <a:srgbClr val="696A6C"/>
                  </a:solidFill>
                  <a:effectLst/>
                  <a:latin typeface="Arial" panose="020B0604020202020204" pitchFamily="34" charset="0"/>
                  <a:cs typeface="Arial" panose="020B0604020202020204" pitchFamily="34" charset="0"/>
                </a:rPr>
                <a:t>experience</a:t>
              </a:r>
            </a:p>
          </p:txBody>
        </p:sp>
      </p:grpSp>
    </p:spTree>
    <p:extLst>
      <p:ext uri="{BB962C8B-B14F-4D97-AF65-F5344CB8AC3E}">
        <p14:creationId xmlns:p14="http://schemas.microsoft.com/office/powerpoint/2010/main" val="37468208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26CBC9-F266-E245-1772-1AD956B47B0E}"/>
            </a:ext>
          </a:extLst>
        </p:cNvPr>
        <p:cNvGrpSpPr/>
        <p:nvPr/>
      </p:nvGrpSpPr>
      <p:grpSpPr>
        <a:xfrm>
          <a:off x="0" y="0"/>
          <a:ext cx="0" cy="0"/>
          <a:chOff x="0" y="0"/>
          <a:chExt cx="0" cy="0"/>
        </a:xfrm>
      </p:grpSpPr>
      <p:grpSp>
        <p:nvGrpSpPr>
          <p:cNvPr id="5" name="组合 4">
            <a:extLst>
              <a:ext uri="{FF2B5EF4-FFF2-40B4-BE49-F238E27FC236}">
                <a16:creationId xmlns:a16="http://schemas.microsoft.com/office/drawing/2014/main" id="{51EF2168-F06F-53F5-8192-3DFEE203010C}"/>
              </a:ext>
            </a:extLst>
          </p:cNvPr>
          <p:cNvGrpSpPr/>
          <p:nvPr/>
        </p:nvGrpSpPr>
        <p:grpSpPr>
          <a:xfrm>
            <a:off x="185706" y="472348"/>
            <a:ext cx="6486587" cy="1314119"/>
            <a:chOff x="115595" y="2109356"/>
            <a:chExt cx="6486587" cy="1007215"/>
          </a:xfrm>
        </p:grpSpPr>
        <p:sp>
          <p:nvSpPr>
            <p:cNvPr id="6" name="文本框 5">
              <a:extLst>
                <a:ext uri="{FF2B5EF4-FFF2-40B4-BE49-F238E27FC236}">
                  <a16:creationId xmlns:a16="http://schemas.microsoft.com/office/drawing/2014/main" id="{F2F914D8-79E5-95B5-A1C2-93CD7AD3DC81}"/>
                </a:ext>
              </a:extLst>
            </p:cNvPr>
            <p:cNvSpPr txBox="1"/>
            <p:nvPr/>
          </p:nvSpPr>
          <p:spPr>
            <a:xfrm>
              <a:off x="156235" y="2272845"/>
              <a:ext cx="6445947" cy="843726"/>
            </a:xfrm>
            <a:prstGeom prst="rect">
              <a:avLst/>
            </a:prstGeom>
            <a:noFill/>
          </p:spPr>
          <p:txBody>
            <a:bodyPr wrap="square" rtlCol="0">
              <a:spAutoFit/>
            </a:bodyPr>
            <a:lstStyle/>
            <a:p>
              <a:pPr marL="171450" indent="-171450">
                <a:lnSpc>
                  <a:spcPts val="1600"/>
                </a:lnSpc>
                <a:buFont typeface="Arial" panose="020B0604020202020204" pitchFamily="34" charset="0"/>
                <a:buChar char="•"/>
              </a:pPr>
              <a:r>
                <a:rPr lang="en-US" sz="900" b="1" dirty="0">
                  <a:latin typeface="Arial" panose="020B0604020202020204" pitchFamily="34" charset="0"/>
                  <a:cs typeface="Arial" panose="020B0604020202020204" pitchFamily="34" charset="0"/>
                </a:rPr>
                <a:t>Supply Chain Auditing:</a:t>
              </a:r>
              <a:r>
                <a:rPr lang="en-US" sz="900" dirty="0">
                  <a:latin typeface="Arial" panose="020B0604020202020204" pitchFamily="34" charset="0"/>
                  <a:cs typeface="Arial" panose="020B0604020202020204" pitchFamily="34" charset="0"/>
                </a:rPr>
                <a:t> VDA 6.8, VDA 6.3, </a:t>
              </a:r>
              <a:r>
                <a:rPr lang="en-US" sz="900" dirty="0" err="1">
                  <a:latin typeface="Arial" panose="020B0604020202020204" pitchFamily="34" charset="0"/>
                  <a:cs typeface="Arial" panose="020B0604020202020204" pitchFamily="34" charset="0"/>
                </a:rPr>
                <a:t>QPNi</a:t>
              </a:r>
              <a:r>
                <a:rPr lang="en-US" sz="900" dirty="0">
                  <a:latin typeface="Arial" panose="020B0604020202020204" pitchFamily="34" charset="0"/>
                  <a:cs typeface="Arial" panose="020B0604020202020204" pitchFamily="34" charset="0"/>
                </a:rPr>
                <a:t> Maturity Management</a:t>
              </a:r>
            </a:p>
            <a:p>
              <a:pPr marL="171450" indent="-171450">
                <a:lnSpc>
                  <a:spcPts val="1600"/>
                </a:lnSpc>
                <a:buFont typeface="Arial" panose="020B0604020202020204" pitchFamily="34" charset="0"/>
                <a:buChar char="•"/>
              </a:pPr>
              <a:r>
                <a:rPr lang="en-US" sz="900" b="1" dirty="0">
                  <a:latin typeface="Arial" panose="020B0604020202020204" pitchFamily="34" charset="0"/>
                  <a:cs typeface="Arial" panose="020B0604020202020204" pitchFamily="34" charset="0"/>
                </a:rPr>
                <a:t>Supplier Development:</a:t>
              </a:r>
              <a:r>
                <a:rPr lang="en-US" sz="900" dirty="0">
                  <a:latin typeface="Arial" panose="020B0604020202020204" pitchFamily="34" charset="0"/>
                  <a:cs typeface="Arial" panose="020B0604020202020204" pitchFamily="34" charset="0"/>
                </a:rPr>
                <a:t> Capacity Planning, SOP Ramp-up</a:t>
              </a:r>
            </a:p>
            <a:p>
              <a:pPr marL="171450" indent="-171450">
                <a:lnSpc>
                  <a:spcPts val="1600"/>
                </a:lnSpc>
                <a:buFont typeface="Arial" panose="020B0604020202020204" pitchFamily="34" charset="0"/>
                <a:buChar char="•"/>
              </a:pPr>
              <a:r>
                <a:rPr lang="en-US" sz="900" b="1" dirty="0">
                  <a:latin typeface="Arial" panose="020B0604020202020204" pitchFamily="34" charset="0"/>
                  <a:cs typeface="Arial" panose="020B0604020202020204" pitchFamily="34" charset="0"/>
                </a:rPr>
                <a:t>Risk Management:</a:t>
              </a:r>
              <a:r>
                <a:rPr lang="en-US" sz="900" dirty="0">
                  <a:latin typeface="Arial" panose="020B0604020202020204" pitchFamily="34" charset="0"/>
                  <a:cs typeface="Arial" panose="020B0604020202020204" pitchFamily="34" charset="0"/>
                </a:rPr>
                <a:t> S&amp;OP Integration, Disruption Mitigation, Continuity Planning</a:t>
              </a:r>
            </a:p>
            <a:p>
              <a:pPr marL="171450" indent="-171450">
                <a:lnSpc>
                  <a:spcPts val="1600"/>
                </a:lnSpc>
                <a:buFont typeface="Arial" panose="020B0604020202020204" pitchFamily="34" charset="0"/>
                <a:buChar char="•"/>
              </a:pPr>
              <a:r>
                <a:rPr lang="en-US" sz="900" b="1" dirty="0">
                  <a:latin typeface="Arial" panose="020B0604020202020204" pitchFamily="34" charset="0"/>
                  <a:cs typeface="Arial" panose="020B0604020202020204" pitchFamily="34" charset="0"/>
                </a:rPr>
                <a:t>Consulting &amp; Strategy:</a:t>
              </a:r>
              <a:r>
                <a:rPr lang="en-US" sz="900" dirty="0">
                  <a:latin typeface="Arial" panose="020B0604020202020204" pitchFamily="34" charset="0"/>
                  <a:cs typeface="Arial" panose="020B0604020202020204" pitchFamily="34" charset="0"/>
                </a:rPr>
                <a:t> Business Model Setup (0-to-1), Cost Optimization, Process Re-engineering</a:t>
              </a:r>
            </a:p>
            <a:p>
              <a:pPr marL="171450" indent="-171450">
                <a:lnSpc>
                  <a:spcPts val="1600"/>
                </a:lnSpc>
                <a:buFont typeface="Arial" panose="020B0604020202020204" pitchFamily="34" charset="0"/>
                <a:buChar char="•"/>
              </a:pPr>
              <a:r>
                <a:rPr lang="en-US" sz="900" b="1" dirty="0">
                  <a:latin typeface="Arial" panose="020B0604020202020204" pitchFamily="34" charset="0"/>
                  <a:cs typeface="Arial" panose="020B0604020202020204" pitchFamily="34" charset="0"/>
                </a:rPr>
                <a:t>Global Stakeholder Management:</a:t>
              </a:r>
              <a:r>
                <a:rPr lang="en-US" sz="900" dirty="0">
                  <a:latin typeface="Arial" panose="020B0604020202020204" pitchFamily="34" charset="0"/>
                  <a:cs typeface="Arial" panose="020B0604020202020204" pitchFamily="34" charset="0"/>
                </a:rPr>
                <a:t> Cross-cultural Negotiation, OEM &amp; Tier-1 Interface</a:t>
              </a:r>
            </a:p>
          </p:txBody>
        </p:sp>
        <p:sp>
          <p:nvSpPr>
            <p:cNvPr id="7" name="文本框 6">
              <a:extLst>
                <a:ext uri="{FF2B5EF4-FFF2-40B4-BE49-F238E27FC236}">
                  <a16:creationId xmlns:a16="http://schemas.microsoft.com/office/drawing/2014/main" id="{BCDAEE68-A2E1-63CD-BEB6-520091A11AD7}"/>
                </a:ext>
              </a:extLst>
            </p:cNvPr>
            <p:cNvSpPr txBox="1"/>
            <p:nvPr/>
          </p:nvSpPr>
          <p:spPr>
            <a:xfrm>
              <a:off x="115595" y="2109356"/>
              <a:ext cx="2241486" cy="200513"/>
            </a:xfrm>
            <a:prstGeom prst="rect">
              <a:avLst/>
            </a:prstGeom>
            <a:noFill/>
          </p:spPr>
          <p:txBody>
            <a:bodyPr wrap="square" rtlCol="0" anchor="ctr">
              <a:spAutoFit/>
            </a:bodyPr>
            <a:lstStyle/>
            <a:p>
              <a:r>
                <a:rPr lang="en-US" sz="1100" b="1" dirty="0">
                  <a:solidFill>
                    <a:srgbClr val="696A6C"/>
                  </a:solidFill>
                  <a:latin typeface="Arial" panose="020B0604020202020204" pitchFamily="34" charset="0"/>
                  <a:cs typeface="Arial" panose="020B0604020202020204" pitchFamily="34" charset="0"/>
                </a:rPr>
                <a:t>Core Competencies</a:t>
              </a:r>
              <a:endParaRPr lang="en-US" altLang="zh-CN" sz="1100" b="1" dirty="0">
                <a:solidFill>
                  <a:srgbClr val="696A6C"/>
                </a:solidFill>
                <a:latin typeface="Arial" panose="020B0604020202020204" pitchFamily="34" charset="0"/>
                <a:cs typeface="Arial" panose="020B0604020202020204" pitchFamily="34" charset="0"/>
              </a:endParaRPr>
            </a:p>
          </p:txBody>
        </p:sp>
      </p:grpSp>
      <p:grpSp>
        <p:nvGrpSpPr>
          <p:cNvPr id="8" name="组合 7">
            <a:extLst>
              <a:ext uri="{FF2B5EF4-FFF2-40B4-BE49-F238E27FC236}">
                <a16:creationId xmlns:a16="http://schemas.microsoft.com/office/drawing/2014/main" id="{403B77EB-C287-B994-49A3-5ED86AF69FE5}"/>
              </a:ext>
            </a:extLst>
          </p:cNvPr>
          <p:cNvGrpSpPr/>
          <p:nvPr/>
        </p:nvGrpSpPr>
        <p:grpSpPr>
          <a:xfrm>
            <a:off x="201984" y="1832172"/>
            <a:ext cx="6016413" cy="427469"/>
            <a:chOff x="237527" y="8425667"/>
            <a:chExt cx="6379058" cy="427469"/>
          </a:xfrm>
        </p:grpSpPr>
        <p:sp>
          <p:nvSpPr>
            <p:cNvPr id="9" name="矩形 8">
              <a:extLst>
                <a:ext uri="{FF2B5EF4-FFF2-40B4-BE49-F238E27FC236}">
                  <a16:creationId xmlns:a16="http://schemas.microsoft.com/office/drawing/2014/main" id="{097440D2-769E-A257-1DBB-790EC6D366D8}"/>
                </a:ext>
              </a:extLst>
            </p:cNvPr>
            <p:cNvSpPr/>
            <p:nvPr/>
          </p:nvSpPr>
          <p:spPr>
            <a:xfrm>
              <a:off x="237528" y="8622304"/>
              <a:ext cx="6379057" cy="230832"/>
            </a:xfrm>
            <a:prstGeom prst="rect">
              <a:avLst/>
            </a:prstGeom>
          </p:spPr>
          <p:txBody>
            <a:bodyPr wrap="square">
              <a:spAutoFit/>
            </a:bodyPr>
            <a:lstStyle/>
            <a:p>
              <a:r>
                <a:rPr lang="en-US" altLang="zh-CN" sz="900" b="1" dirty="0">
                  <a:solidFill>
                    <a:srgbClr val="696A6C"/>
                  </a:solidFill>
                  <a:latin typeface="Arial" panose="020B0604020202020204" pitchFamily="34" charset="0"/>
                  <a:ea typeface="Microsoft YaHei" panose="020B0503020204020204" pitchFamily="34" charset="-122"/>
                  <a:cs typeface="Arial" panose="020B0604020202020204" pitchFamily="34" charset="0"/>
                </a:rPr>
                <a:t>2002.09</a:t>
              </a:r>
              <a:r>
                <a:rPr lang="zh-CN" altLang="en-US" sz="900" b="1" dirty="0">
                  <a:solidFill>
                    <a:srgbClr val="696A6C"/>
                  </a:solidFill>
                  <a:latin typeface="Arial" panose="020B0604020202020204" pitchFamily="34" charset="0"/>
                  <a:ea typeface="Microsoft YaHei" panose="020B0503020204020204" pitchFamily="34" charset="-122"/>
                  <a:cs typeface="Arial" panose="020B0604020202020204" pitchFamily="34" charset="0"/>
                </a:rPr>
                <a:t>～</a:t>
              </a:r>
              <a:r>
                <a:rPr lang="en-US" altLang="zh-CN" sz="900" b="1" dirty="0">
                  <a:solidFill>
                    <a:srgbClr val="696A6C"/>
                  </a:solidFill>
                  <a:latin typeface="Arial" panose="020B0604020202020204" pitchFamily="34" charset="0"/>
                  <a:ea typeface="Microsoft YaHei" panose="020B0503020204020204" pitchFamily="34" charset="-122"/>
                  <a:cs typeface="Arial" panose="020B0604020202020204" pitchFamily="34" charset="0"/>
                </a:rPr>
                <a:t>2006.06	Shanghai</a:t>
              </a:r>
              <a:r>
                <a:rPr lang="zh-CN" altLang="en-US" sz="900" b="1" dirty="0">
                  <a:solidFill>
                    <a:srgbClr val="696A6C"/>
                  </a:solidFill>
                  <a:latin typeface="Arial" panose="020B0604020202020204" pitchFamily="34" charset="0"/>
                  <a:ea typeface="Microsoft YaHei" panose="020B0503020204020204" pitchFamily="34" charset="-122"/>
                  <a:cs typeface="Arial" panose="020B0604020202020204" pitchFamily="34" charset="0"/>
                </a:rPr>
                <a:t> </a:t>
              </a:r>
              <a:r>
                <a:rPr lang="en-US" altLang="zh-CN" sz="900" b="1" dirty="0">
                  <a:solidFill>
                    <a:srgbClr val="696A6C"/>
                  </a:solidFill>
                  <a:latin typeface="Arial" panose="020B0604020202020204" pitchFamily="34" charset="0"/>
                  <a:ea typeface="Microsoft YaHei" panose="020B0503020204020204" pitchFamily="34" charset="-122"/>
                  <a:cs typeface="Arial" panose="020B0604020202020204" pitchFamily="34" charset="0"/>
                </a:rPr>
                <a:t>Maritime</a:t>
              </a:r>
              <a:r>
                <a:rPr lang="zh-CN" altLang="en-US" sz="900" b="1" dirty="0">
                  <a:solidFill>
                    <a:srgbClr val="696A6C"/>
                  </a:solidFill>
                  <a:latin typeface="Arial" panose="020B0604020202020204" pitchFamily="34" charset="0"/>
                  <a:ea typeface="Microsoft YaHei" panose="020B0503020204020204" pitchFamily="34" charset="-122"/>
                  <a:cs typeface="Arial" panose="020B0604020202020204" pitchFamily="34" charset="0"/>
                </a:rPr>
                <a:t> </a:t>
              </a:r>
              <a:r>
                <a:rPr lang="en-US" altLang="zh-CN" sz="900" b="1" dirty="0">
                  <a:solidFill>
                    <a:srgbClr val="696A6C"/>
                  </a:solidFill>
                  <a:latin typeface="Arial" panose="020B0604020202020204" pitchFamily="34" charset="0"/>
                  <a:ea typeface="Microsoft YaHei" panose="020B0503020204020204" pitchFamily="34" charset="-122"/>
                  <a:cs typeface="Arial" panose="020B0604020202020204" pitchFamily="34" charset="0"/>
                </a:rPr>
                <a:t>University	</a:t>
              </a:r>
              <a:r>
                <a:rPr lang="en-US" altLang="zh-CN" sz="900" dirty="0">
                  <a:latin typeface="Arial" panose="020B0604020202020204" pitchFamily="34" charset="0"/>
                  <a:ea typeface="Microsoft YaHei" panose="020B0503020204020204" pitchFamily="34" charset="-122"/>
                  <a:cs typeface="Arial" panose="020B0604020202020204" pitchFamily="34" charset="0"/>
                </a:rPr>
                <a:t>Bachelor</a:t>
              </a:r>
              <a:r>
                <a:rPr lang="zh-CN" altLang="en-US" sz="900" dirty="0">
                  <a:latin typeface="Arial" panose="020B0604020202020204" pitchFamily="34" charset="0"/>
                  <a:ea typeface="Microsoft YaHei" panose="020B0503020204020204" pitchFamily="34" charset="-122"/>
                  <a:cs typeface="Arial" panose="020B0604020202020204" pitchFamily="34" charset="0"/>
                </a:rPr>
                <a:t> </a:t>
              </a:r>
              <a:r>
                <a:rPr lang="en-US" altLang="zh-CN" sz="900" dirty="0">
                  <a:latin typeface="Arial" panose="020B0604020202020204" pitchFamily="34" charset="0"/>
                  <a:ea typeface="Microsoft YaHei" panose="020B0503020204020204" pitchFamily="34" charset="-122"/>
                  <a:cs typeface="Arial" panose="020B0604020202020204" pitchFamily="34" charset="0"/>
                </a:rPr>
                <a:t>in</a:t>
              </a:r>
              <a:r>
                <a:rPr lang="zh-CN" altLang="en-US" sz="900" dirty="0">
                  <a:latin typeface="Arial" panose="020B0604020202020204" pitchFamily="34" charset="0"/>
                  <a:ea typeface="Microsoft YaHei" panose="020B0503020204020204" pitchFamily="34" charset="-122"/>
                  <a:cs typeface="Arial" panose="020B0604020202020204" pitchFamily="34" charset="0"/>
                </a:rPr>
                <a:t> </a:t>
              </a:r>
              <a:r>
                <a:rPr lang="en-US" altLang="zh-CN" sz="900" dirty="0">
                  <a:latin typeface="Arial" panose="020B0604020202020204" pitchFamily="34" charset="0"/>
                  <a:ea typeface="Microsoft YaHei" panose="020B0503020204020204" pitchFamily="34" charset="-122"/>
                  <a:cs typeface="Arial" panose="020B0604020202020204" pitchFamily="34" charset="0"/>
                </a:rPr>
                <a:t>Marine</a:t>
              </a:r>
              <a:r>
                <a:rPr lang="zh-CN" altLang="en-US" sz="900" dirty="0">
                  <a:latin typeface="Arial" panose="020B0604020202020204" pitchFamily="34" charset="0"/>
                  <a:ea typeface="Microsoft YaHei" panose="020B0503020204020204" pitchFamily="34" charset="-122"/>
                  <a:cs typeface="Arial" panose="020B0604020202020204" pitchFamily="34" charset="0"/>
                </a:rPr>
                <a:t> </a:t>
              </a:r>
              <a:r>
                <a:rPr lang="en-US" altLang="zh-CN" sz="900" dirty="0">
                  <a:latin typeface="Arial" panose="020B0604020202020204" pitchFamily="34" charset="0"/>
                  <a:ea typeface="Microsoft YaHei" panose="020B0503020204020204" pitchFamily="34" charset="-122"/>
                  <a:cs typeface="Arial" panose="020B0604020202020204" pitchFamily="34" charset="0"/>
                </a:rPr>
                <a:t>engineering</a:t>
              </a:r>
              <a:endParaRPr lang="en-US" altLang="zh-CN" sz="900" kern="100" dirty="0">
                <a:latin typeface="Arial" panose="020B0604020202020204" pitchFamily="34" charset="0"/>
                <a:ea typeface="Microsoft YaHei" panose="020B0503020204020204" pitchFamily="34" charset="-122"/>
                <a:cs typeface="Arial" panose="020B0604020202020204" pitchFamily="34" charset="0"/>
              </a:endParaRPr>
            </a:p>
          </p:txBody>
        </p:sp>
        <p:sp>
          <p:nvSpPr>
            <p:cNvPr id="10" name="文本框 9">
              <a:extLst>
                <a:ext uri="{FF2B5EF4-FFF2-40B4-BE49-F238E27FC236}">
                  <a16:creationId xmlns:a16="http://schemas.microsoft.com/office/drawing/2014/main" id="{0C5D6CBB-5C88-42EB-65F6-52C6D11B74CF}"/>
                </a:ext>
              </a:extLst>
            </p:cNvPr>
            <p:cNvSpPr txBox="1"/>
            <p:nvPr/>
          </p:nvSpPr>
          <p:spPr>
            <a:xfrm>
              <a:off x="237527" y="8425667"/>
              <a:ext cx="2241486" cy="261610"/>
            </a:xfrm>
            <a:prstGeom prst="rect">
              <a:avLst/>
            </a:prstGeom>
            <a:noFill/>
          </p:spPr>
          <p:txBody>
            <a:bodyPr wrap="square" rtlCol="0" anchor="ctr">
              <a:spAutoFit/>
            </a:bodyPr>
            <a:lstStyle/>
            <a:p>
              <a:r>
                <a:rPr lang="en-US" altLang="zh-CN" sz="1100" b="1" dirty="0">
                  <a:solidFill>
                    <a:srgbClr val="696A6C"/>
                  </a:solidFill>
                  <a:effectLst/>
                  <a:latin typeface="Arial" panose="020B0604020202020204" pitchFamily="34" charset="0"/>
                  <a:cs typeface="Arial" panose="020B0604020202020204" pitchFamily="34" charset="0"/>
                </a:rPr>
                <a:t>Education</a:t>
              </a:r>
            </a:p>
          </p:txBody>
        </p:sp>
      </p:grpSp>
    </p:spTree>
    <p:extLst>
      <p:ext uri="{BB962C8B-B14F-4D97-AF65-F5344CB8AC3E}">
        <p14:creationId xmlns:p14="http://schemas.microsoft.com/office/powerpoint/2010/main" val="36930570"/>
      </p:ext>
    </p:extLst>
  </p:cSld>
  <p:clrMapOvr>
    <a:masterClrMapping/>
  </p:clrMapOvr>
</p:sld>
</file>

<file path=ppt/theme/theme1.xml><?xml version="1.0" encoding="utf-8"?>
<a:theme xmlns:a="http://schemas.openxmlformats.org/drawingml/2006/main" name="简历​​">
  <a:themeElements>
    <a:clrScheme name="Office 主题​​">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主题​​">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Resume​​">
  <a:themeElements>
    <a:clrScheme name="Office 主题​​">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主题​​">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Metadata/LabelInfo.xml><?xml version="1.0" encoding="utf-8"?>
<clbl:labelList xmlns:clbl="http://schemas.microsoft.com/office/2020/mipLabelMetadata">
  <clbl:label id="{b0ff92c5-92ff-43fe-a760-6a9303f9073d}" enabled="1" method="Standard" siteId="{1272ef7d-0a4c-4c35-8f4b-416e283c5d59}" contentBits="3" removed="0"/>
</clbl:labelList>
</file>

<file path=docProps/app.xml><?xml version="1.0" encoding="utf-8"?>
<Properties xmlns="http://schemas.openxmlformats.org/officeDocument/2006/extended-properties" xmlns:vt="http://schemas.openxmlformats.org/officeDocument/2006/docPropsVTypes">
  <Template>Office Theme</Template>
  <TotalTime>224</TotalTime>
  <Words>1089</Words>
  <Application>Microsoft Macintosh PowerPoint</Application>
  <PresentationFormat>A4 纸张(210x297 毫米)</PresentationFormat>
  <Paragraphs>46</Paragraphs>
  <Slides>3</Slides>
  <Notes>0</Notes>
  <HiddenSlides>0</HiddenSlides>
  <MMClips>0</MMClips>
  <ScaleCrop>false</ScaleCrop>
  <HeadingPairs>
    <vt:vector size="6" baseType="variant">
      <vt:variant>
        <vt:lpstr>已用的字体</vt:lpstr>
      </vt:variant>
      <vt:variant>
        <vt:i4>5</vt:i4>
      </vt:variant>
      <vt:variant>
        <vt:lpstr>主题</vt:lpstr>
      </vt:variant>
      <vt:variant>
        <vt:i4>2</vt:i4>
      </vt:variant>
      <vt:variant>
        <vt:lpstr>幻灯片标题</vt:lpstr>
      </vt:variant>
      <vt:variant>
        <vt:i4>3</vt:i4>
      </vt:variant>
    </vt:vector>
  </HeadingPairs>
  <TitlesOfParts>
    <vt:vector size="10" baseType="lpstr">
      <vt:lpstr>微软雅黑</vt:lpstr>
      <vt:lpstr>Arial</vt:lpstr>
      <vt:lpstr>Arial</vt:lpstr>
      <vt:lpstr>Calibri</vt:lpstr>
      <vt:lpstr>Wingdings</vt:lpstr>
      <vt:lpstr>简历​​</vt:lpstr>
      <vt:lpstr>Resume​​</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Li, Jiajun (VWPT)</dc:creator>
  <cp:lastModifiedBy>Li Jiajun</cp:lastModifiedBy>
  <cp:revision>295</cp:revision>
  <dcterms:created xsi:type="dcterms:W3CDTF">2021-08-12T03:08:11Z</dcterms:created>
  <dcterms:modified xsi:type="dcterms:W3CDTF">2026-03-01T07:15:49Z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lassificationContentMarkingFooterLocations">
    <vt:lpwstr>简历​​:3\Resume​​:3</vt:lpwstr>
  </property>
  <property fmtid="{D5CDD505-2E9C-101B-9397-08002B2CF9AE}" pid="3" name="ClassificationContentMarkingFooterText">
    <vt:lpwstr>INTERNAL</vt:lpwstr>
  </property>
</Properties>
</file>