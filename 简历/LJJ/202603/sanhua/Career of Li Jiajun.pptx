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embeddedFontLst>
    <p:embeddedFont>
      <p:font typeface="得意黑" pitchFamily="2" charset="-122"/>
      <p:regular r:id="rId4"/>
      <p:italic r:id="rId5"/>
    </p:embeddedFont>
    <p:embeddedFont>
      <p:font typeface="MiSans" pitchFamily="2" charset="-122"/>
      <p:regular r:id="rId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37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任意形状 77">
            <a:extLst>
              <a:ext uri="{FF2B5EF4-FFF2-40B4-BE49-F238E27FC236}">
                <a16:creationId xmlns:a16="http://schemas.microsoft.com/office/drawing/2014/main" id="{347DB3FA-284A-487B-70BD-C732F2C24DA2}"/>
              </a:ext>
            </a:extLst>
          </p:cNvPr>
          <p:cNvSpPr/>
          <p:nvPr/>
        </p:nvSpPr>
        <p:spPr>
          <a:xfrm>
            <a:off x="1143000" y="1333500"/>
            <a:ext cx="9906000" cy="4191000"/>
          </a:xfrm>
          <a:custGeom>
            <a:avLst/>
            <a:gdLst>
              <a:gd name="csX0" fmla="*/ 0 w 9906000"/>
              <a:gd name="csY0" fmla="*/ 4191000 h 4191000"/>
              <a:gd name="csX1" fmla="*/ 9906000 w 9906000"/>
              <a:gd name="csY1" fmla="*/ 0 h 419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906000" h="4191000">
                <a:moveTo>
                  <a:pt x="0" y="4191000"/>
                </a:moveTo>
                <a:lnTo>
                  <a:pt x="9906000" y="0"/>
                </a:lnTo>
              </a:path>
            </a:pathLst>
          </a:custGeom>
          <a:ln w="38100" cap="rnd">
            <a:gradFill>
              <a:gsLst>
                <a:gs pos="0">
                  <a:srgbClr val="4A5C6A">
                    <a:alpha val="29804"/>
                  </a:srgbClr>
                </a:gs>
                <a:gs pos="50000">
                  <a:srgbClr val="C0A062">
                    <a:alpha val="80000"/>
                  </a:srgbClr>
                </a:gs>
                <a:gs pos="100000">
                  <a:srgbClr val="C0A062"/>
                </a:gs>
              </a:gsLst>
              <a:lin ang="18900000" scaled="1"/>
            </a:gradFill>
            <a:custDash>
              <a:ds d="600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09624A4A-C6A1-3881-D7A1-BBA507752BE2}"/>
              </a:ext>
            </a:extLst>
          </p:cNvPr>
          <p:cNvGrpSpPr/>
          <p:nvPr/>
        </p:nvGrpSpPr>
        <p:grpSpPr>
          <a:xfrm>
            <a:off x="400050" y="2667000"/>
            <a:ext cx="2628900" cy="1624012"/>
            <a:chOff x="400050" y="2667000"/>
            <a:chExt cx="2628900" cy="1624012"/>
          </a:xfrm>
        </p:grpSpPr>
        <p:sp>
          <p:nvSpPr>
            <p:cNvPr id="5" name="Shape 1"/>
            <p:cNvSpPr/>
            <p:nvPr/>
          </p:nvSpPr>
          <p:spPr>
            <a:xfrm>
              <a:off x="400050" y="2667000"/>
              <a:ext cx="2628900" cy="1562100"/>
            </a:xfrm>
            <a:custGeom>
              <a:avLst/>
              <a:gdLst/>
              <a:ahLst/>
              <a:cxnLst/>
              <a:rect l="l" t="t" r="r" b="b"/>
              <a:pathLst>
                <a:path w="2628900" h="1562100">
                  <a:moveTo>
                    <a:pt x="38100" y="0"/>
                  </a:moveTo>
                  <a:lnTo>
                    <a:pt x="2552701" y="0"/>
                  </a:lnTo>
                  <a:cubicBezTo>
                    <a:pt x="2594784" y="0"/>
                    <a:pt x="2628900" y="34116"/>
                    <a:pt x="2628900" y="76199"/>
                  </a:cubicBezTo>
                  <a:lnTo>
                    <a:pt x="2628900" y="1485901"/>
                  </a:lnTo>
                  <a:cubicBezTo>
                    <a:pt x="2628900" y="1527984"/>
                    <a:pt x="2594784" y="1562100"/>
                    <a:pt x="2552701" y="1562100"/>
                  </a:cubicBezTo>
                  <a:lnTo>
                    <a:pt x="38100" y="1562100"/>
                  </a:lnTo>
                  <a:cubicBezTo>
                    <a:pt x="17072" y="1562100"/>
                    <a:pt x="0" y="1545028"/>
                    <a:pt x="0" y="1524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2"/>
            <p:cNvSpPr/>
            <p:nvPr/>
          </p:nvSpPr>
          <p:spPr>
            <a:xfrm>
              <a:off x="400050" y="2667000"/>
              <a:ext cx="38100" cy="1562100"/>
            </a:xfrm>
            <a:custGeom>
              <a:avLst/>
              <a:gdLst/>
              <a:ahLst/>
              <a:cxnLst/>
              <a:rect l="l" t="t" r="r" b="b"/>
              <a:pathLst>
                <a:path w="38100" h="1562100">
                  <a:moveTo>
                    <a:pt x="38100" y="0"/>
                  </a:moveTo>
                  <a:lnTo>
                    <a:pt x="38100" y="0"/>
                  </a:lnTo>
                  <a:lnTo>
                    <a:pt x="38100" y="1562100"/>
                  </a:lnTo>
                  <a:lnTo>
                    <a:pt x="38100" y="1562100"/>
                  </a:lnTo>
                  <a:cubicBezTo>
                    <a:pt x="17072" y="1562100"/>
                    <a:pt x="0" y="1545028"/>
                    <a:pt x="0" y="1524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Shape 3"/>
            <p:cNvSpPr/>
            <p:nvPr/>
          </p:nvSpPr>
          <p:spPr>
            <a:xfrm>
              <a:off x="571500" y="28503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4"/>
            <p:cNvSpPr/>
            <p:nvPr/>
          </p:nvSpPr>
          <p:spPr>
            <a:xfrm>
              <a:off x="667941" y="2955131"/>
              <a:ext cx="192881" cy="17145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16073" y="65566"/>
                  </a:moveTo>
                  <a:lnTo>
                    <a:pt x="86127" y="94398"/>
                  </a:lnTo>
                  <a:cubicBezTo>
                    <a:pt x="89408" y="95737"/>
                    <a:pt x="92891" y="96441"/>
                    <a:pt x="96441" y="96441"/>
                  </a:cubicBezTo>
                  <a:cubicBezTo>
                    <a:pt x="99990" y="96441"/>
                    <a:pt x="103473" y="95737"/>
                    <a:pt x="106754" y="94398"/>
                  </a:cubicBezTo>
                  <a:lnTo>
                    <a:pt x="187925" y="60979"/>
                  </a:lnTo>
                  <a:cubicBezTo>
                    <a:pt x="190939" y="59740"/>
                    <a:pt x="192881" y="56826"/>
                    <a:pt x="192881" y="53578"/>
                  </a:cubicBezTo>
                  <a:cubicBezTo>
                    <a:pt x="192881" y="50330"/>
                    <a:pt x="190939" y="47417"/>
                    <a:pt x="187925" y="46178"/>
                  </a:cubicBezTo>
                  <a:lnTo>
                    <a:pt x="106754" y="12758"/>
                  </a:lnTo>
                  <a:cubicBezTo>
                    <a:pt x="103473" y="11419"/>
                    <a:pt x="99990" y="10716"/>
                    <a:pt x="96441" y="10716"/>
                  </a:cubicBezTo>
                  <a:cubicBezTo>
                    <a:pt x="92891" y="10716"/>
                    <a:pt x="89408" y="11419"/>
                    <a:pt x="86127" y="12758"/>
                  </a:cubicBezTo>
                  <a:lnTo>
                    <a:pt x="4956" y="46178"/>
                  </a:lnTo>
                  <a:cubicBezTo>
                    <a:pt x="1942" y="47417"/>
                    <a:pt x="0" y="50330"/>
                    <a:pt x="0" y="53578"/>
                  </a:cubicBezTo>
                  <a:lnTo>
                    <a:pt x="0" y="152698"/>
                  </a:lnTo>
                  <a:cubicBezTo>
                    <a:pt x="0" y="157151"/>
                    <a:pt x="3583" y="160734"/>
                    <a:pt x="8037" y="160734"/>
                  </a:cubicBezTo>
                  <a:cubicBezTo>
                    <a:pt x="12490" y="160734"/>
                    <a:pt x="16073" y="157151"/>
                    <a:pt x="16073" y="152698"/>
                  </a:cubicBezTo>
                  <a:lnTo>
                    <a:pt x="16073" y="65566"/>
                  </a:lnTo>
                  <a:close/>
                  <a:moveTo>
                    <a:pt x="32147" y="89576"/>
                  </a:moveTo>
                  <a:lnTo>
                    <a:pt x="32147" y="128588"/>
                  </a:lnTo>
                  <a:cubicBezTo>
                    <a:pt x="32147" y="146335"/>
                    <a:pt x="60945" y="160734"/>
                    <a:pt x="96441" y="160734"/>
                  </a:cubicBezTo>
                  <a:cubicBezTo>
                    <a:pt x="131936" y="160734"/>
                    <a:pt x="160734" y="146335"/>
                    <a:pt x="160734" y="128588"/>
                  </a:cubicBezTo>
                  <a:lnTo>
                    <a:pt x="160734" y="89542"/>
                  </a:lnTo>
                  <a:lnTo>
                    <a:pt x="112882" y="109266"/>
                  </a:lnTo>
                  <a:cubicBezTo>
                    <a:pt x="107659" y="111409"/>
                    <a:pt x="102100" y="112514"/>
                    <a:pt x="96441" y="112514"/>
                  </a:cubicBezTo>
                  <a:cubicBezTo>
                    <a:pt x="90781" y="112514"/>
                    <a:pt x="85223" y="111409"/>
                    <a:pt x="79999" y="109266"/>
                  </a:cubicBezTo>
                  <a:lnTo>
                    <a:pt x="32147" y="89542"/>
                  </a:ln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5"/>
            <p:cNvSpPr/>
            <p:nvPr/>
          </p:nvSpPr>
          <p:spPr>
            <a:xfrm>
              <a:off x="1028700" y="2819400"/>
              <a:ext cx="126682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2002.09 – 2006.06</a:t>
              </a:r>
              <a:endParaRPr lang="en-US" sz="16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1028700" y="3076575"/>
              <a:ext cx="124301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975" dirty="0">
                  <a:solidFill>
                    <a:schemeClr val="bg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上海海事大学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71500" y="3338513"/>
              <a:ext cx="23812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轮机工程 · 工学学士</a:t>
              </a:r>
              <a:endParaRPr lang="en-US" sz="16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01422" y="3481387"/>
              <a:ext cx="2489427" cy="8096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900" dirty="0" err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建立工程底层逻辑与系统运作行为框架</a:t>
              </a:r>
              <a:endParaRPr lang="en-US" sz="900" dirty="0">
                <a:solidFill>
                  <a:srgbClr val="EDF2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积累数理统计知识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，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为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供应链与数字化思维奠定基础</a:t>
              </a:r>
              <a:endParaRPr lang="en-US" sz="16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704850" y="3886200"/>
              <a:ext cx="2228850" cy="297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endParaRPr lang="en-US" sz="160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F2510D8-CE46-74FF-C061-C595AFF17182}"/>
              </a:ext>
            </a:extLst>
          </p:cNvPr>
          <p:cNvGrpSpPr/>
          <p:nvPr/>
        </p:nvGrpSpPr>
        <p:grpSpPr>
          <a:xfrm>
            <a:off x="3122520" y="3822763"/>
            <a:ext cx="2514601" cy="2340963"/>
            <a:chOff x="3067049" y="3619500"/>
            <a:chExt cx="2514601" cy="2340963"/>
          </a:xfrm>
        </p:grpSpPr>
        <p:sp>
          <p:nvSpPr>
            <p:cNvPr id="16" name="Shape 12"/>
            <p:cNvSpPr/>
            <p:nvPr/>
          </p:nvSpPr>
          <p:spPr>
            <a:xfrm>
              <a:off x="3067050" y="3619500"/>
              <a:ext cx="2514600" cy="2259733"/>
            </a:xfrm>
            <a:custGeom>
              <a:avLst/>
              <a:gdLst/>
              <a:ahLst/>
              <a:cxnLst/>
              <a:rect l="l" t="t" r="r" b="b"/>
              <a:pathLst>
                <a:path w="2514600" h="2047875">
                  <a:moveTo>
                    <a:pt x="38100" y="0"/>
                  </a:moveTo>
                  <a:lnTo>
                    <a:pt x="2438399" y="0"/>
                  </a:lnTo>
                  <a:cubicBezTo>
                    <a:pt x="2480455" y="0"/>
                    <a:pt x="2514600" y="34145"/>
                    <a:pt x="2514600" y="76201"/>
                  </a:cubicBezTo>
                  <a:lnTo>
                    <a:pt x="2514600" y="1971674"/>
                  </a:lnTo>
                  <a:cubicBezTo>
                    <a:pt x="2514600" y="2013730"/>
                    <a:pt x="2480455" y="2047875"/>
                    <a:pt x="2438399" y="2047875"/>
                  </a:cubicBezTo>
                  <a:lnTo>
                    <a:pt x="38100" y="2047875"/>
                  </a:lnTo>
                  <a:cubicBezTo>
                    <a:pt x="17072" y="2047875"/>
                    <a:pt x="0" y="2030803"/>
                    <a:pt x="0" y="20097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3067049" y="3619500"/>
              <a:ext cx="45719" cy="2259733"/>
            </a:xfrm>
            <a:custGeom>
              <a:avLst/>
              <a:gdLst/>
              <a:ahLst/>
              <a:cxnLst/>
              <a:rect l="l" t="t" r="r" b="b"/>
              <a:pathLst>
                <a:path w="38100" h="2047875">
                  <a:moveTo>
                    <a:pt x="38100" y="0"/>
                  </a:moveTo>
                  <a:lnTo>
                    <a:pt x="38100" y="0"/>
                  </a:lnTo>
                  <a:lnTo>
                    <a:pt x="38100" y="2047875"/>
                  </a:lnTo>
                  <a:lnTo>
                    <a:pt x="38100" y="2047875"/>
                  </a:lnTo>
                  <a:cubicBezTo>
                    <a:pt x="17072" y="2047875"/>
                    <a:pt x="0" y="2030803"/>
                    <a:pt x="0" y="20097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Shape 14"/>
            <p:cNvSpPr/>
            <p:nvPr/>
          </p:nvSpPr>
          <p:spPr>
            <a:xfrm>
              <a:off x="3238500" y="38028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5"/>
            <p:cNvSpPr/>
            <p:nvPr/>
          </p:nvSpPr>
          <p:spPr>
            <a:xfrm>
              <a:off x="3345656" y="390763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0716" y="10716"/>
                  </a:moveTo>
                  <a:cubicBezTo>
                    <a:pt x="4789" y="10716"/>
                    <a:pt x="0" y="15504"/>
                    <a:pt x="0" y="21431"/>
                  </a:cubicBezTo>
                  <a:lnTo>
                    <a:pt x="0" y="144661"/>
                  </a:lnTo>
                  <a:cubicBezTo>
                    <a:pt x="0" y="153535"/>
                    <a:pt x="7200" y="160734"/>
                    <a:pt x="16073" y="160734"/>
                  </a:cubicBezTo>
                  <a:lnTo>
                    <a:pt x="155377" y="160734"/>
                  </a:lnTo>
                  <a:cubicBezTo>
                    <a:pt x="164250" y="160734"/>
                    <a:pt x="171450" y="153535"/>
                    <a:pt x="171450" y="144661"/>
                  </a:cubicBezTo>
                  <a:lnTo>
                    <a:pt x="171450" y="50966"/>
                  </a:lnTo>
                  <a:cubicBezTo>
                    <a:pt x="171450" y="44872"/>
                    <a:pt x="164954" y="41021"/>
                    <a:pt x="159596" y="43901"/>
                  </a:cubicBezTo>
                  <a:lnTo>
                    <a:pt x="107156" y="72130"/>
                  </a:lnTo>
                  <a:lnTo>
                    <a:pt x="107156" y="50966"/>
                  </a:lnTo>
                  <a:cubicBezTo>
                    <a:pt x="107156" y="44872"/>
                    <a:pt x="100660" y="41021"/>
                    <a:pt x="95302" y="43901"/>
                  </a:cubicBezTo>
                  <a:lnTo>
                    <a:pt x="42863" y="72130"/>
                  </a:lnTo>
                  <a:lnTo>
                    <a:pt x="42863" y="21431"/>
                  </a:lnTo>
                  <a:cubicBezTo>
                    <a:pt x="42863" y="15504"/>
                    <a:pt x="38074" y="10716"/>
                    <a:pt x="32147" y="10716"/>
                  </a:cubicBezTo>
                  <a:lnTo>
                    <a:pt x="10716" y="10716"/>
                  </a:ln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3695700" y="3771900"/>
              <a:ext cx="122872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2006.07 – 2010.06</a:t>
              </a:r>
              <a:endParaRPr lang="en-US" sz="160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3695700" y="4029075"/>
              <a:ext cx="120491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975" dirty="0">
                  <a:solidFill>
                    <a:srgbClr val="8D99A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上汽大众</a:t>
              </a:r>
              <a:endParaRPr lang="en-US" sz="1600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3238500" y="4291013"/>
              <a:ext cx="22669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零件筹措 &amp; 物料计划员</a:t>
              </a:r>
              <a:endParaRPr lang="en-US" sz="1600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3162300" y="4336256"/>
              <a:ext cx="2343150" cy="1624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主导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ERP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落地：重塑数据决策机制，推动管理范式数字化转型。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重构供应模式：建立标准化作业流程，大幅提升生态链协同效率。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构建交付防线：支撑产线极速爬坡，确保供应零中断。</a:t>
              </a:r>
            </a:p>
          </p:txBody>
        </p:sp>
        <p:sp>
          <p:nvSpPr>
            <p:cNvPr id="28" name="Text 24"/>
            <p:cNvSpPr/>
            <p:nvPr/>
          </p:nvSpPr>
          <p:spPr>
            <a:xfrm>
              <a:off x="3371850" y="5081588"/>
              <a:ext cx="2114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endParaRPr lang="en-US" sz="160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3371850" y="5324475"/>
              <a:ext cx="2114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endParaRPr lang="en-US" sz="1600" dirty="0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44AF285-D905-A5DB-EDF3-6BB499076FE4}"/>
              </a:ext>
            </a:extLst>
          </p:cNvPr>
          <p:cNvGrpSpPr/>
          <p:nvPr/>
        </p:nvGrpSpPr>
        <p:grpSpPr>
          <a:xfrm>
            <a:off x="5799534" y="2723269"/>
            <a:ext cx="3028950" cy="2711045"/>
            <a:chOff x="5734050" y="2095500"/>
            <a:chExt cx="3028950" cy="2711045"/>
          </a:xfrm>
        </p:grpSpPr>
        <p:sp>
          <p:nvSpPr>
            <p:cNvPr id="31" name="Shape 27"/>
            <p:cNvSpPr/>
            <p:nvPr/>
          </p:nvSpPr>
          <p:spPr>
            <a:xfrm>
              <a:off x="5734050" y="2095500"/>
              <a:ext cx="3028950" cy="2711045"/>
            </a:xfrm>
            <a:custGeom>
              <a:avLst/>
              <a:gdLst/>
              <a:ahLst/>
              <a:cxnLst/>
              <a:rect l="l" t="t" r="r" b="b"/>
              <a:pathLst>
                <a:path w="3028950" h="2419350">
                  <a:moveTo>
                    <a:pt x="38100" y="0"/>
                  </a:moveTo>
                  <a:lnTo>
                    <a:pt x="2952740" y="0"/>
                  </a:lnTo>
                  <a:cubicBezTo>
                    <a:pt x="2994830" y="0"/>
                    <a:pt x="3028950" y="34120"/>
                    <a:pt x="3028950" y="76210"/>
                  </a:cubicBezTo>
                  <a:lnTo>
                    <a:pt x="3028950" y="2343140"/>
                  </a:lnTo>
                  <a:cubicBezTo>
                    <a:pt x="3028950" y="2385230"/>
                    <a:pt x="2994830" y="2419350"/>
                    <a:pt x="2952740" y="2419350"/>
                  </a:cubicBezTo>
                  <a:lnTo>
                    <a:pt x="38100" y="2419350"/>
                  </a:lnTo>
                  <a:cubicBezTo>
                    <a:pt x="17072" y="2419350"/>
                    <a:pt x="0" y="2402278"/>
                    <a:pt x="0" y="238125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Shape 28"/>
            <p:cNvSpPr/>
            <p:nvPr/>
          </p:nvSpPr>
          <p:spPr>
            <a:xfrm>
              <a:off x="5734050" y="2095500"/>
              <a:ext cx="38100" cy="2711045"/>
            </a:xfrm>
            <a:custGeom>
              <a:avLst/>
              <a:gdLst/>
              <a:ahLst/>
              <a:cxnLst/>
              <a:rect l="l" t="t" r="r" b="b"/>
              <a:pathLst>
                <a:path w="38100" h="2419350">
                  <a:moveTo>
                    <a:pt x="38100" y="0"/>
                  </a:moveTo>
                  <a:lnTo>
                    <a:pt x="38100" y="0"/>
                  </a:lnTo>
                  <a:lnTo>
                    <a:pt x="38100" y="2419350"/>
                  </a:lnTo>
                  <a:lnTo>
                    <a:pt x="38100" y="2419350"/>
                  </a:lnTo>
                  <a:cubicBezTo>
                    <a:pt x="17072" y="2419350"/>
                    <a:pt x="0" y="2402278"/>
                    <a:pt x="0" y="238125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Shape 29"/>
            <p:cNvSpPr/>
            <p:nvPr/>
          </p:nvSpPr>
          <p:spPr>
            <a:xfrm>
              <a:off x="5905500" y="22788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Shape 30"/>
            <p:cNvSpPr/>
            <p:nvPr/>
          </p:nvSpPr>
          <p:spPr>
            <a:xfrm>
              <a:off x="6012656" y="238363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21431" y="21431"/>
                  </a:moveTo>
                  <a:cubicBezTo>
                    <a:pt x="21431" y="15504"/>
                    <a:pt x="16643" y="10716"/>
                    <a:pt x="10716" y="10716"/>
                  </a:cubicBezTo>
                  <a:cubicBezTo>
                    <a:pt x="4789" y="10716"/>
                    <a:pt x="0" y="15504"/>
                    <a:pt x="0" y="21431"/>
                  </a:cubicBezTo>
                  <a:lnTo>
                    <a:pt x="0" y="133945"/>
                  </a:lnTo>
                  <a:cubicBezTo>
                    <a:pt x="0" y="148746"/>
                    <a:pt x="11988" y="160734"/>
                    <a:pt x="26789" y="160734"/>
                  </a:cubicBezTo>
                  <a:lnTo>
                    <a:pt x="160734" y="160734"/>
                  </a:lnTo>
                  <a:cubicBezTo>
                    <a:pt x="166661" y="160734"/>
                    <a:pt x="171450" y="155946"/>
                    <a:pt x="171450" y="150019"/>
                  </a:cubicBezTo>
                  <a:cubicBezTo>
                    <a:pt x="171450" y="144092"/>
                    <a:pt x="166661" y="139303"/>
                    <a:pt x="160734" y="139303"/>
                  </a:cubicBezTo>
                  <a:lnTo>
                    <a:pt x="26789" y="139303"/>
                  </a:lnTo>
                  <a:cubicBezTo>
                    <a:pt x="23842" y="139303"/>
                    <a:pt x="21431" y="136892"/>
                    <a:pt x="21431" y="133945"/>
                  </a:cubicBezTo>
                  <a:lnTo>
                    <a:pt x="21431" y="21431"/>
                  </a:lnTo>
                  <a:close/>
                  <a:moveTo>
                    <a:pt x="157587" y="50430"/>
                  </a:moveTo>
                  <a:cubicBezTo>
                    <a:pt x="161772" y="46245"/>
                    <a:pt x="161772" y="39447"/>
                    <a:pt x="157587" y="35261"/>
                  </a:cubicBezTo>
                  <a:cubicBezTo>
                    <a:pt x="153401" y="31075"/>
                    <a:pt x="146603" y="31075"/>
                    <a:pt x="142417" y="35261"/>
                  </a:cubicBezTo>
                  <a:lnTo>
                    <a:pt x="107156" y="70556"/>
                  </a:lnTo>
                  <a:lnTo>
                    <a:pt x="87935" y="51368"/>
                  </a:lnTo>
                  <a:cubicBezTo>
                    <a:pt x="83749" y="47182"/>
                    <a:pt x="76952" y="47182"/>
                    <a:pt x="72766" y="51368"/>
                  </a:cubicBezTo>
                  <a:lnTo>
                    <a:pt x="40619" y="83515"/>
                  </a:lnTo>
                  <a:cubicBezTo>
                    <a:pt x="36433" y="87701"/>
                    <a:pt x="36433" y="94498"/>
                    <a:pt x="40619" y="98684"/>
                  </a:cubicBezTo>
                  <a:cubicBezTo>
                    <a:pt x="44805" y="102870"/>
                    <a:pt x="51602" y="102870"/>
                    <a:pt x="55788" y="98684"/>
                  </a:cubicBezTo>
                  <a:lnTo>
                    <a:pt x="80367" y="74105"/>
                  </a:lnTo>
                  <a:lnTo>
                    <a:pt x="99588" y="93326"/>
                  </a:lnTo>
                  <a:cubicBezTo>
                    <a:pt x="103774" y="97512"/>
                    <a:pt x="110572" y="97512"/>
                    <a:pt x="114758" y="93326"/>
                  </a:cubicBezTo>
                  <a:lnTo>
                    <a:pt x="157620" y="50464"/>
                  </a:ln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1"/>
            <p:cNvSpPr/>
            <p:nvPr/>
          </p:nvSpPr>
          <p:spPr>
            <a:xfrm>
              <a:off x="6362700" y="2247900"/>
              <a:ext cx="12001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2010.07 – 2022.05</a:t>
              </a:r>
              <a:endParaRPr lang="en-US" sz="1600" dirty="0"/>
            </a:p>
          </p:txBody>
        </p:sp>
        <p:sp>
          <p:nvSpPr>
            <p:cNvPr id="36" name="Text 32"/>
            <p:cNvSpPr/>
            <p:nvPr/>
          </p:nvSpPr>
          <p:spPr>
            <a:xfrm>
              <a:off x="6362700" y="2505075"/>
              <a:ext cx="11763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975" dirty="0">
                  <a:solidFill>
                    <a:srgbClr val="8D99A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上汽大众</a:t>
              </a:r>
              <a:endParaRPr lang="en-US" sz="1600" dirty="0"/>
            </a:p>
          </p:txBody>
        </p:sp>
        <p:sp>
          <p:nvSpPr>
            <p:cNvPr id="37" name="Text 33"/>
            <p:cNvSpPr/>
            <p:nvPr/>
          </p:nvSpPr>
          <p:spPr>
            <a:xfrm>
              <a:off x="5905500" y="2767013"/>
              <a:ext cx="2781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供应链管理专家</a:t>
              </a:r>
              <a:endParaRPr lang="en-US" sz="1600" dirty="0"/>
            </a:p>
          </p:txBody>
        </p:sp>
        <p:sp>
          <p:nvSpPr>
            <p:cNvPr id="39" name="Text 35"/>
            <p:cNvSpPr/>
            <p:nvPr/>
          </p:nvSpPr>
          <p:spPr>
            <a:xfrm>
              <a:off x="5820478" y="2928617"/>
              <a:ext cx="2781300" cy="18329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打通全链协同：统筹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S&amp;OP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决策，消除上下游瓶颈，实现端到端高效贯通。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赋能供应生态：全程主导新供应商“从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0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到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1”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建厂，快速形成战略产能支撑。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量化绩效管理：重塑供应商评估体系，以数据驱动绩效透明化与优胜劣汰。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强化韧性风控：整合多维度供应风险元素，构建高韧性供应链防御机制。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D0508917-9DD8-F219-EE24-10074A6C3C95}"/>
              </a:ext>
            </a:extLst>
          </p:cNvPr>
          <p:cNvGrpSpPr/>
          <p:nvPr/>
        </p:nvGrpSpPr>
        <p:grpSpPr>
          <a:xfrm>
            <a:off x="9077325" y="2246376"/>
            <a:ext cx="3028950" cy="2923317"/>
            <a:chOff x="8782050" y="1333500"/>
            <a:chExt cx="3028950" cy="2923317"/>
          </a:xfrm>
        </p:grpSpPr>
        <p:sp>
          <p:nvSpPr>
            <p:cNvPr id="46" name="Shape 42"/>
            <p:cNvSpPr/>
            <p:nvPr/>
          </p:nvSpPr>
          <p:spPr>
            <a:xfrm>
              <a:off x="8782050" y="1333500"/>
              <a:ext cx="3028950" cy="2923317"/>
            </a:xfrm>
            <a:custGeom>
              <a:avLst/>
              <a:gdLst/>
              <a:ahLst/>
              <a:cxnLst/>
              <a:rect l="l" t="t" r="r" b="b"/>
              <a:pathLst>
                <a:path w="3028950" h="2600325">
                  <a:moveTo>
                    <a:pt x="38100" y="0"/>
                  </a:moveTo>
                  <a:lnTo>
                    <a:pt x="2952760" y="0"/>
                  </a:lnTo>
                  <a:cubicBezTo>
                    <a:pt x="2994839" y="0"/>
                    <a:pt x="3028950" y="34111"/>
                    <a:pt x="3028950" y="76190"/>
                  </a:cubicBezTo>
                  <a:lnTo>
                    <a:pt x="3028950" y="2524135"/>
                  </a:lnTo>
                  <a:cubicBezTo>
                    <a:pt x="3028950" y="2566214"/>
                    <a:pt x="2994839" y="2600325"/>
                    <a:pt x="2952760" y="2600325"/>
                  </a:cubicBezTo>
                  <a:lnTo>
                    <a:pt x="38100" y="2600325"/>
                  </a:lnTo>
                  <a:cubicBezTo>
                    <a:pt x="17072" y="2600325"/>
                    <a:pt x="0" y="2583253"/>
                    <a:pt x="0" y="256222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Shape 43"/>
            <p:cNvSpPr/>
            <p:nvPr/>
          </p:nvSpPr>
          <p:spPr>
            <a:xfrm>
              <a:off x="8782050" y="1333500"/>
              <a:ext cx="38100" cy="2923317"/>
            </a:xfrm>
            <a:custGeom>
              <a:avLst/>
              <a:gdLst/>
              <a:ahLst/>
              <a:cxnLst/>
              <a:rect l="l" t="t" r="r" b="b"/>
              <a:pathLst>
                <a:path w="38100" h="2600325">
                  <a:moveTo>
                    <a:pt x="38100" y="0"/>
                  </a:moveTo>
                  <a:lnTo>
                    <a:pt x="38100" y="0"/>
                  </a:lnTo>
                  <a:lnTo>
                    <a:pt x="38100" y="2600325"/>
                  </a:lnTo>
                  <a:lnTo>
                    <a:pt x="38100" y="2600325"/>
                  </a:lnTo>
                  <a:cubicBezTo>
                    <a:pt x="17072" y="2600325"/>
                    <a:pt x="0" y="2583253"/>
                    <a:pt x="0" y="256222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Shape 44"/>
            <p:cNvSpPr/>
            <p:nvPr/>
          </p:nvSpPr>
          <p:spPr>
            <a:xfrm>
              <a:off x="8953500" y="15168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Shape 45"/>
            <p:cNvSpPr/>
            <p:nvPr/>
          </p:nvSpPr>
          <p:spPr>
            <a:xfrm>
              <a:off x="9060656" y="162163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6743" y="95369"/>
                  </a:moveTo>
                  <a:cubicBezTo>
                    <a:pt x="18150" y="96072"/>
                    <a:pt x="19757" y="96441"/>
                    <a:pt x="21431" y="96441"/>
                  </a:cubicBezTo>
                  <a:lnTo>
                    <a:pt x="38409" y="96441"/>
                  </a:lnTo>
                  <a:cubicBezTo>
                    <a:pt x="41255" y="96441"/>
                    <a:pt x="43968" y="97579"/>
                    <a:pt x="45977" y="99588"/>
                  </a:cubicBezTo>
                  <a:lnTo>
                    <a:pt x="50430" y="104042"/>
                  </a:lnTo>
                  <a:cubicBezTo>
                    <a:pt x="52440" y="106051"/>
                    <a:pt x="55152" y="107190"/>
                    <a:pt x="57998" y="107190"/>
                  </a:cubicBezTo>
                  <a:lnTo>
                    <a:pt x="64260" y="107190"/>
                  </a:lnTo>
                  <a:cubicBezTo>
                    <a:pt x="70187" y="107190"/>
                    <a:pt x="74976" y="102401"/>
                    <a:pt x="74976" y="96474"/>
                  </a:cubicBezTo>
                  <a:lnTo>
                    <a:pt x="74976" y="83080"/>
                  </a:lnTo>
                  <a:cubicBezTo>
                    <a:pt x="74976" y="78626"/>
                    <a:pt x="78559" y="75043"/>
                    <a:pt x="83013" y="75043"/>
                  </a:cubicBezTo>
                  <a:cubicBezTo>
                    <a:pt x="87466" y="75043"/>
                    <a:pt x="91049" y="71460"/>
                    <a:pt x="91049" y="67006"/>
                  </a:cubicBezTo>
                  <a:lnTo>
                    <a:pt x="91049" y="52707"/>
                  </a:lnTo>
                  <a:cubicBezTo>
                    <a:pt x="91049" y="49861"/>
                    <a:pt x="92188" y="47149"/>
                    <a:pt x="94197" y="45140"/>
                  </a:cubicBezTo>
                  <a:lnTo>
                    <a:pt x="98651" y="40686"/>
                  </a:lnTo>
                  <a:cubicBezTo>
                    <a:pt x="100660" y="38677"/>
                    <a:pt x="101798" y="35964"/>
                    <a:pt x="101798" y="33118"/>
                  </a:cubicBezTo>
                  <a:lnTo>
                    <a:pt x="101798" y="19087"/>
                  </a:lnTo>
                  <a:cubicBezTo>
                    <a:pt x="101798" y="18685"/>
                    <a:pt x="101765" y="18317"/>
                    <a:pt x="101731" y="17915"/>
                  </a:cubicBezTo>
                  <a:cubicBezTo>
                    <a:pt x="96575" y="16710"/>
                    <a:pt x="91217" y="16073"/>
                    <a:pt x="85725" y="16073"/>
                  </a:cubicBezTo>
                  <a:cubicBezTo>
                    <a:pt x="47249" y="16073"/>
                    <a:pt x="16073" y="47249"/>
                    <a:pt x="16073" y="85725"/>
                  </a:cubicBezTo>
                  <a:cubicBezTo>
                    <a:pt x="16073" y="89007"/>
                    <a:pt x="16308" y="92221"/>
                    <a:pt x="16743" y="95369"/>
                  </a:cubicBezTo>
                  <a:close/>
                  <a:moveTo>
                    <a:pt x="151794" y="107859"/>
                  </a:moveTo>
                  <a:cubicBezTo>
                    <a:pt x="150722" y="107391"/>
                    <a:pt x="149550" y="107156"/>
                    <a:pt x="148277" y="107156"/>
                  </a:cubicBezTo>
                  <a:lnTo>
                    <a:pt x="144661" y="107156"/>
                  </a:lnTo>
                  <a:cubicBezTo>
                    <a:pt x="141714" y="107156"/>
                    <a:pt x="139303" y="104745"/>
                    <a:pt x="139303" y="101798"/>
                  </a:cubicBezTo>
                  <a:cubicBezTo>
                    <a:pt x="139303" y="98852"/>
                    <a:pt x="136892" y="96441"/>
                    <a:pt x="133945" y="96441"/>
                  </a:cubicBezTo>
                  <a:lnTo>
                    <a:pt x="122326" y="96441"/>
                  </a:lnTo>
                  <a:cubicBezTo>
                    <a:pt x="119479" y="96441"/>
                    <a:pt x="116767" y="97579"/>
                    <a:pt x="114758" y="99588"/>
                  </a:cubicBezTo>
                  <a:lnTo>
                    <a:pt x="99588" y="114758"/>
                  </a:lnTo>
                  <a:cubicBezTo>
                    <a:pt x="97579" y="116767"/>
                    <a:pt x="96441" y="119479"/>
                    <a:pt x="96441" y="122326"/>
                  </a:cubicBezTo>
                  <a:lnTo>
                    <a:pt x="96441" y="128588"/>
                  </a:lnTo>
                  <a:cubicBezTo>
                    <a:pt x="96441" y="134515"/>
                    <a:pt x="101229" y="139303"/>
                    <a:pt x="107156" y="139303"/>
                  </a:cubicBezTo>
                  <a:lnTo>
                    <a:pt x="113418" y="139303"/>
                  </a:lnTo>
                  <a:cubicBezTo>
                    <a:pt x="116265" y="139303"/>
                    <a:pt x="118977" y="140442"/>
                    <a:pt x="120986" y="142451"/>
                  </a:cubicBezTo>
                  <a:cubicBezTo>
                    <a:pt x="121723" y="143188"/>
                    <a:pt x="122560" y="143824"/>
                    <a:pt x="123431" y="144293"/>
                  </a:cubicBezTo>
                  <a:cubicBezTo>
                    <a:pt x="136591" y="135787"/>
                    <a:pt x="146704" y="122995"/>
                    <a:pt x="151760" y="107859"/>
                  </a:cubicBezTo>
                  <a:close/>
                  <a:moveTo>
                    <a:pt x="0" y="85725"/>
                  </a:moveTo>
                  <a:cubicBezTo>
                    <a:pt x="0" y="38412"/>
                    <a:pt x="38412" y="0"/>
                    <a:pt x="85725" y="0"/>
                  </a:cubicBezTo>
                  <a:cubicBezTo>
                    <a:pt x="133038" y="0"/>
                    <a:pt x="171450" y="38412"/>
                    <a:pt x="171450" y="85725"/>
                  </a:cubicBezTo>
                  <a:cubicBezTo>
                    <a:pt x="171450" y="133038"/>
                    <a:pt x="133038" y="171450"/>
                    <a:pt x="85725" y="171450"/>
                  </a:cubicBezTo>
                  <a:cubicBezTo>
                    <a:pt x="38412" y="171450"/>
                    <a:pt x="0" y="133038"/>
                    <a:pt x="0" y="85725"/>
                  </a:cubicBezTo>
                  <a:close/>
                  <a:moveTo>
                    <a:pt x="42863" y="123230"/>
                  </a:moveTo>
                  <a:cubicBezTo>
                    <a:pt x="42863" y="126176"/>
                    <a:pt x="45274" y="128588"/>
                    <a:pt x="48220" y="128588"/>
                  </a:cubicBezTo>
                  <a:lnTo>
                    <a:pt x="58936" y="128588"/>
                  </a:lnTo>
                  <a:cubicBezTo>
                    <a:pt x="61883" y="128588"/>
                    <a:pt x="64294" y="126176"/>
                    <a:pt x="64294" y="123230"/>
                  </a:cubicBezTo>
                  <a:cubicBezTo>
                    <a:pt x="64294" y="120283"/>
                    <a:pt x="61883" y="117872"/>
                    <a:pt x="58936" y="117872"/>
                  </a:cubicBezTo>
                  <a:lnTo>
                    <a:pt x="48220" y="117872"/>
                  </a:lnTo>
                  <a:cubicBezTo>
                    <a:pt x="45274" y="117872"/>
                    <a:pt x="42863" y="120283"/>
                    <a:pt x="42863" y="123230"/>
                  </a:cubicBezTo>
                  <a:close/>
                  <a:moveTo>
                    <a:pt x="91083" y="85725"/>
                  </a:moveTo>
                  <a:cubicBezTo>
                    <a:pt x="88136" y="85725"/>
                    <a:pt x="85725" y="88136"/>
                    <a:pt x="85725" y="91083"/>
                  </a:cubicBezTo>
                  <a:lnTo>
                    <a:pt x="85725" y="101798"/>
                  </a:lnTo>
                  <a:cubicBezTo>
                    <a:pt x="85725" y="104745"/>
                    <a:pt x="88136" y="107156"/>
                    <a:pt x="91083" y="107156"/>
                  </a:cubicBezTo>
                  <a:cubicBezTo>
                    <a:pt x="94030" y="107156"/>
                    <a:pt x="96441" y="104745"/>
                    <a:pt x="96441" y="101798"/>
                  </a:cubicBezTo>
                  <a:lnTo>
                    <a:pt x="96441" y="91083"/>
                  </a:lnTo>
                  <a:cubicBezTo>
                    <a:pt x="96441" y="88136"/>
                    <a:pt x="94030" y="85725"/>
                    <a:pt x="91083" y="85725"/>
                  </a:cubicBezTo>
                  <a:close/>
                  <a:moveTo>
                    <a:pt x="107156" y="48220"/>
                  </a:moveTo>
                  <a:lnTo>
                    <a:pt x="107156" y="58936"/>
                  </a:lnTo>
                  <a:cubicBezTo>
                    <a:pt x="107156" y="61883"/>
                    <a:pt x="109567" y="64294"/>
                    <a:pt x="112514" y="64294"/>
                  </a:cubicBezTo>
                  <a:cubicBezTo>
                    <a:pt x="115461" y="64294"/>
                    <a:pt x="117872" y="61883"/>
                    <a:pt x="117872" y="58936"/>
                  </a:cubicBezTo>
                  <a:lnTo>
                    <a:pt x="117872" y="48220"/>
                  </a:lnTo>
                  <a:cubicBezTo>
                    <a:pt x="117872" y="45274"/>
                    <a:pt x="115461" y="42863"/>
                    <a:pt x="112514" y="42863"/>
                  </a:cubicBezTo>
                  <a:cubicBezTo>
                    <a:pt x="109567" y="42863"/>
                    <a:pt x="107156" y="45274"/>
                    <a:pt x="107156" y="4822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46"/>
            <p:cNvSpPr/>
            <p:nvPr/>
          </p:nvSpPr>
          <p:spPr>
            <a:xfrm>
              <a:off x="9410700" y="1485900"/>
              <a:ext cx="99060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2022.05 – 至今</a:t>
              </a:r>
              <a:endParaRPr lang="en-US" sz="1600" dirty="0"/>
            </a:p>
          </p:txBody>
        </p:sp>
        <p:sp>
          <p:nvSpPr>
            <p:cNvPr id="51" name="Text 47"/>
            <p:cNvSpPr/>
            <p:nvPr/>
          </p:nvSpPr>
          <p:spPr>
            <a:xfrm>
              <a:off x="9410700" y="1743075"/>
              <a:ext cx="9667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975" dirty="0">
                  <a:solidFill>
                    <a:srgbClr val="8D99A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奥迪（中国）</a:t>
              </a:r>
              <a:endParaRPr lang="en-US" sz="1600" dirty="0"/>
            </a:p>
          </p:txBody>
        </p:sp>
        <p:sp>
          <p:nvSpPr>
            <p:cNvPr id="52" name="Text 48"/>
            <p:cNvSpPr/>
            <p:nvPr/>
          </p:nvSpPr>
          <p:spPr>
            <a:xfrm>
              <a:off x="8953500" y="2005013"/>
              <a:ext cx="2781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 err="1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供应链技术管理专家</a:t>
              </a:r>
              <a:endParaRPr lang="en-US" sz="1600" dirty="0"/>
            </a:p>
          </p:txBody>
        </p:sp>
        <p:sp>
          <p:nvSpPr>
            <p:cNvPr id="54" name="Text 50"/>
            <p:cNvSpPr/>
            <p:nvPr/>
          </p:nvSpPr>
          <p:spPr>
            <a:xfrm>
              <a:off x="8885986" y="2098524"/>
              <a:ext cx="2821078" cy="2158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重塑评价准则：基于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VDA6.8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标准重构适配不同企业的差异化评价技术方案，提升审核深度与实效。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保障战略交付：赋能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PPE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新能源生态从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0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到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1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快速成型，确保奥迪首款电车按时上市，支撑集团电动化转型。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实现商业变现：构建内部咨询业务，将管理智慧转化为可盈利的商业产品，创造额外经济价值。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驱动业、技融合：将供应链逻辑代码化，自研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Python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决策模型；重构生产目标，实现供应链动态最优平衡，消除无效成本。</a:t>
              </a:r>
              <a:endParaRPr lang="en-US" altLang="zh-CN" sz="900" dirty="0">
                <a:solidFill>
                  <a:srgbClr val="EDF2F4">
                    <a:alpha val="90000"/>
                  </a:srgbClr>
                </a:solidFill>
                <a:latin typeface="MiSans" pitchFamily="34" charset="0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8E148C1-7EA9-243C-86E9-72AA5530B26D}"/>
              </a:ext>
            </a:extLst>
          </p:cNvPr>
          <p:cNvGrpSpPr/>
          <p:nvPr/>
        </p:nvGrpSpPr>
        <p:grpSpPr>
          <a:xfrm>
            <a:off x="1227362" y="4362450"/>
            <a:ext cx="1194709" cy="670655"/>
            <a:chOff x="1227362" y="4362450"/>
            <a:chExt cx="1194709" cy="67065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D187952-E197-0944-59B5-66EFC440CF46}"/>
                </a:ext>
              </a:extLst>
            </p:cNvPr>
            <p:cNvSpPr/>
            <p:nvPr/>
          </p:nvSpPr>
          <p:spPr>
            <a:xfrm>
              <a:off x="1962150" y="4438650"/>
              <a:ext cx="266700" cy="2667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C9BC7979-81C3-E015-78C9-07AE6B2ED43D}"/>
                </a:ext>
              </a:extLst>
            </p:cNvPr>
            <p:cNvSpPr/>
            <p:nvPr/>
          </p:nvSpPr>
          <p:spPr>
            <a:xfrm>
              <a:off x="1885950" y="4362450"/>
              <a:ext cx="419100" cy="4191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61"/>
            <p:cNvSpPr/>
            <p:nvPr/>
          </p:nvSpPr>
          <p:spPr>
            <a:xfrm>
              <a:off x="1227362" y="4868800"/>
              <a:ext cx="1194709" cy="164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工程思维筑基期</a:t>
              </a:r>
              <a:endParaRPr lang="en-US" sz="1200" dirty="0">
                <a:solidFill>
                  <a:schemeClr val="bg1"/>
                </a:solidFill>
                <a:latin typeface="MiSans" pitchFamily="34" charset="0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4C20338-12B6-4213-75C5-E0021AB74D8E}"/>
              </a:ext>
            </a:extLst>
          </p:cNvPr>
          <p:cNvGrpSpPr/>
          <p:nvPr/>
        </p:nvGrpSpPr>
        <p:grpSpPr>
          <a:xfrm>
            <a:off x="4169771" y="2952750"/>
            <a:ext cx="1354003" cy="685800"/>
            <a:chOff x="4169771" y="2952750"/>
            <a:chExt cx="1354003" cy="685800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F952B02-F7C9-1B96-F0EF-77931FC19BE7}"/>
                </a:ext>
              </a:extLst>
            </p:cNvPr>
            <p:cNvSpPr/>
            <p:nvPr/>
          </p:nvSpPr>
          <p:spPr>
            <a:xfrm>
              <a:off x="4248150" y="3295650"/>
              <a:ext cx="266700" cy="2667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9726FD0A-301C-6E8A-DF15-0AE9541C5475}"/>
                </a:ext>
              </a:extLst>
            </p:cNvPr>
            <p:cNvSpPr/>
            <p:nvPr/>
          </p:nvSpPr>
          <p:spPr>
            <a:xfrm>
              <a:off x="4171950" y="3219450"/>
              <a:ext cx="419100" cy="4191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63"/>
            <p:cNvSpPr/>
            <p:nvPr/>
          </p:nvSpPr>
          <p:spPr>
            <a:xfrm>
              <a:off x="4169771" y="2952750"/>
              <a:ext cx="1354003" cy="164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数字化效能突破期</a:t>
              </a:r>
              <a:endParaRPr lang="en-US" sz="1200" dirty="0">
                <a:solidFill>
                  <a:schemeClr val="bg1"/>
                </a:solidFill>
                <a:latin typeface="MiSans" pitchFamily="34" charset="0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9D4B270-3BDE-7BAC-18C8-E99E8FEEB710}"/>
              </a:ext>
            </a:extLst>
          </p:cNvPr>
          <p:cNvGrpSpPr/>
          <p:nvPr/>
        </p:nvGrpSpPr>
        <p:grpSpPr>
          <a:xfrm>
            <a:off x="6532959" y="1850828"/>
            <a:ext cx="1221582" cy="796336"/>
            <a:chOff x="6969918" y="1546814"/>
            <a:chExt cx="1221582" cy="796336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9E6BAA78-D86E-BA4A-00CE-1E55C902D24F}"/>
                </a:ext>
              </a:extLst>
            </p:cNvPr>
            <p:cNvSpPr/>
            <p:nvPr/>
          </p:nvSpPr>
          <p:spPr>
            <a:xfrm>
              <a:off x="7086600" y="1943100"/>
              <a:ext cx="304800" cy="3048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690899E4-E8A5-9954-A420-E08F3194E192}"/>
                </a:ext>
              </a:extLst>
            </p:cNvPr>
            <p:cNvSpPr/>
            <p:nvPr/>
          </p:nvSpPr>
          <p:spPr>
            <a:xfrm>
              <a:off x="6991350" y="1847850"/>
              <a:ext cx="495300" cy="4953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65"/>
            <p:cNvSpPr/>
            <p:nvPr/>
          </p:nvSpPr>
          <p:spPr>
            <a:xfrm>
              <a:off x="6969918" y="1546814"/>
              <a:ext cx="1221582" cy="1930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全链生态构建期</a:t>
              </a:r>
              <a:endParaRPr lang="en-US" sz="1200" dirty="0">
                <a:solidFill>
                  <a:schemeClr val="bg1"/>
                </a:solidFill>
                <a:latin typeface="MiSans" pitchFamily="34" charset="0"/>
              </a:endParaRP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E266F74E-90DA-3EFA-C562-19F9661843D4}"/>
              </a:ext>
            </a:extLst>
          </p:cNvPr>
          <p:cNvGrpSpPr/>
          <p:nvPr/>
        </p:nvGrpSpPr>
        <p:grpSpPr>
          <a:xfrm>
            <a:off x="9781358" y="1135285"/>
            <a:ext cx="1972491" cy="889635"/>
            <a:chOff x="9810749" y="1238250"/>
            <a:chExt cx="1972491" cy="88963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1ECD7914-824E-70B8-020A-721037A35D56}"/>
                </a:ext>
              </a:extLst>
            </p:cNvPr>
            <p:cNvSpPr/>
            <p:nvPr/>
          </p:nvSpPr>
          <p:spPr>
            <a:xfrm>
              <a:off x="9925050" y="1352550"/>
              <a:ext cx="342900" cy="3429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66725C12-48A8-F9E2-9A4E-C6ADBE03E4C1}"/>
                </a:ext>
              </a:extLst>
            </p:cNvPr>
            <p:cNvSpPr/>
            <p:nvPr/>
          </p:nvSpPr>
          <p:spPr>
            <a:xfrm>
              <a:off x="9810750" y="1238250"/>
              <a:ext cx="571500" cy="5715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6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67"/>
            <p:cNvSpPr/>
            <p:nvPr/>
          </p:nvSpPr>
          <p:spPr>
            <a:xfrm>
              <a:off x="9810749" y="1904048"/>
              <a:ext cx="1972491" cy="2238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战略治理与智创期</a:t>
              </a:r>
              <a:endParaRPr lang="en-US" sz="1200" dirty="0">
                <a:solidFill>
                  <a:schemeClr val="bg1"/>
                </a:solidFill>
                <a:latin typeface="MiSans" pitchFamily="34" charset="0"/>
              </a:endParaRPr>
            </a:p>
          </p:txBody>
        </p:sp>
      </p:grpSp>
      <p:sp>
        <p:nvSpPr>
          <p:cNvPr id="72" name="Text 68"/>
          <p:cNvSpPr/>
          <p:nvPr/>
        </p:nvSpPr>
        <p:spPr>
          <a:xfrm>
            <a:off x="438150" y="482824"/>
            <a:ext cx="4259961" cy="690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kern="0" spc="53" dirty="0" err="1">
                <a:solidFill>
                  <a:schemeClr val="bg1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李嘉俊</a:t>
            </a:r>
            <a:endParaRPr lang="en-US" sz="2400" b="1" kern="0" spc="53" dirty="0">
              <a:solidFill>
                <a:schemeClr val="bg1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+86</a:t>
            </a:r>
            <a:r>
              <a:rPr lang="zh-CN" altLang="en-US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13761058893</a:t>
            </a:r>
            <a:r>
              <a:rPr lang="zh-CN" altLang="en-US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zh-CN" altLang="zh-CN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Lijiajun_vwpt@163.com</a:t>
            </a:r>
            <a:r>
              <a:rPr lang="zh-CN" altLang="zh-CN" sz="1600" kern="0" spc="60" dirty="0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kern="0" spc="60" dirty="0">
              <a:solidFill>
                <a:srgbClr val="8D99A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310</Words>
  <Application>Microsoft Macintosh PowerPoint</Application>
  <PresentationFormat>宽屏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得意黑</vt:lpstr>
      <vt:lpstr>Arial</vt:lpstr>
      <vt:lpstr>MiSans</vt:lpstr>
      <vt:lpstr>Custom Theme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个人职业生涯成长图</dc:title>
  <dc:subject>个人职业生涯成长图</dc:subject>
  <dc:creator>Kimi</dc:creator>
  <cp:lastModifiedBy>Li Jiajun</cp:lastModifiedBy>
  <cp:revision>8</cp:revision>
  <dcterms:created xsi:type="dcterms:W3CDTF">2026-03-07T05:11:03Z</dcterms:created>
  <dcterms:modified xsi:type="dcterms:W3CDTF">2026-03-07T13:55:46Z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{"Label":"个人职业生涯成长图","ContentProducer":"001191110108MACG2KBH8F10000","ProduceID":"19cc68f9-c422-8408-8000-000069bd4fe4","ReservedCode1":"","ContentPropagator":"001191110108MACG2KBH8F20000","PropagateID":"19cc68f9-c422-8408-8000-000069bd4fe4","ReservedCode2":""}</vt:lpwstr>
  </property>
</Properties>
</file>