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 id="2147483687" r:id="rId2"/>
  </p:sldMasterIdLst>
  <p:sldIdLst>
    <p:sldId id="258" r:id="rId3"/>
    <p:sldId id="262" r:id="rId4"/>
  </p:sldIdLst>
  <p:sldSz cx="6858000" cy="9906000" type="A4"/>
  <p:notesSz cx="7315200" cy="96012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96A6C"/>
    <a:srgbClr val="9EA1A2"/>
    <a:srgbClr val="9C9FA0"/>
    <a:srgbClr val="FFFFFF"/>
    <a:srgbClr val="9B9EA0"/>
    <a:srgbClr val="979A9B"/>
    <a:srgbClr val="9DA0A1"/>
    <a:srgbClr val="D3D4D5"/>
    <a:srgbClr val="E6E6E6"/>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238" autoAdjust="0"/>
    <p:restoredTop sz="94709"/>
  </p:normalViewPr>
  <p:slideViewPr>
    <p:cSldViewPr snapToGrid="0">
      <p:cViewPr varScale="1">
        <p:scale>
          <a:sx n="85" d="100"/>
          <a:sy n="85" d="100"/>
        </p:scale>
        <p:origin x="3792"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简历模板">
    <p:spTree>
      <p:nvGrpSpPr>
        <p:cNvPr id="1" name=""/>
        <p:cNvGrpSpPr/>
        <p:nvPr/>
      </p:nvGrpSpPr>
      <p:grpSpPr>
        <a:xfrm>
          <a:off x="0" y="0"/>
          <a:ext cx="0" cy="0"/>
          <a:chOff x="0" y="0"/>
          <a:chExt cx="0" cy="0"/>
        </a:xfrm>
      </p:grpSpPr>
      <p:sp>
        <p:nvSpPr>
          <p:cNvPr id="10" name="矩形 9"/>
          <p:cNvSpPr/>
          <p:nvPr userDrawn="1"/>
        </p:nvSpPr>
        <p:spPr>
          <a:xfrm>
            <a:off x="41672" y="221253"/>
            <a:ext cx="4483944"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1" name="矩形 10"/>
          <p:cNvSpPr/>
          <p:nvPr userDrawn="1"/>
        </p:nvSpPr>
        <p:spPr>
          <a:xfrm>
            <a:off x="6066181" y="221253"/>
            <a:ext cx="720000"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2" name="文本框 11"/>
          <p:cNvSpPr txBox="1"/>
          <p:nvPr userDrawn="1"/>
        </p:nvSpPr>
        <p:spPr>
          <a:xfrm>
            <a:off x="4602056" y="46871"/>
            <a:ext cx="1421552" cy="338554"/>
          </a:xfrm>
          <a:prstGeom prst="rect">
            <a:avLst/>
          </a:prstGeom>
          <a:solidFill>
            <a:schemeClr val="bg1"/>
          </a:solidFill>
        </p:spPr>
        <p:txBody>
          <a:bodyPr wrap="square" rtlCol="0">
            <a:spAutoFit/>
          </a:bodyPr>
          <a:lstStyle/>
          <a:p>
            <a:pPr algn="dist"/>
            <a:r>
              <a:rPr lang="zh-CN" altLang="en-US" sz="1600" b="1" dirty="0">
                <a:solidFill>
                  <a:srgbClr val="9EA1A2"/>
                </a:solidFill>
                <a:latin typeface="微软雅黑" panose="020B0503020204020204" pitchFamily="34" charset="-122"/>
                <a:ea typeface="微软雅黑" panose="020B0503020204020204" pitchFamily="34" charset="-122"/>
              </a:rPr>
              <a:t>个人简历</a:t>
            </a:r>
          </a:p>
        </p:txBody>
      </p:sp>
    </p:spTree>
    <p:extLst>
      <p:ext uri="{BB962C8B-B14F-4D97-AF65-F5344CB8AC3E}">
        <p14:creationId xmlns:p14="http://schemas.microsoft.com/office/powerpoint/2010/main" val="18867327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项目经历">
    <p:spTree>
      <p:nvGrpSpPr>
        <p:cNvPr id="1" name=""/>
        <p:cNvGrpSpPr/>
        <p:nvPr/>
      </p:nvGrpSpPr>
      <p:grpSpPr>
        <a:xfrm>
          <a:off x="0" y="0"/>
          <a:ext cx="0" cy="0"/>
          <a:chOff x="0" y="0"/>
          <a:chExt cx="0" cy="0"/>
        </a:xfrm>
      </p:grpSpPr>
      <p:sp>
        <p:nvSpPr>
          <p:cNvPr id="10" name="矩形 9"/>
          <p:cNvSpPr/>
          <p:nvPr userDrawn="1"/>
        </p:nvSpPr>
        <p:spPr>
          <a:xfrm>
            <a:off x="41672" y="221253"/>
            <a:ext cx="4483944"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1" name="矩形 10"/>
          <p:cNvSpPr/>
          <p:nvPr userDrawn="1"/>
        </p:nvSpPr>
        <p:spPr>
          <a:xfrm>
            <a:off x="6066181" y="221253"/>
            <a:ext cx="720000"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2" name="文本框 11"/>
          <p:cNvSpPr txBox="1"/>
          <p:nvPr userDrawn="1"/>
        </p:nvSpPr>
        <p:spPr>
          <a:xfrm>
            <a:off x="4602056" y="46871"/>
            <a:ext cx="1421552" cy="338554"/>
          </a:xfrm>
          <a:prstGeom prst="rect">
            <a:avLst/>
          </a:prstGeom>
          <a:solidFill>
            <a:schemeClr val="bg1"/>
          </a:solidFill>
        </p:spPr>
        <p:txBody>
          <a:bodyPr wrap="square" rtlCol="0">
            <a:spAutoFit/>
          </a:bodyPr>
          <a:lstStyle/>
          <a:p>
            <a:pPr algn="dist"/>
            <a:r>
              <a:rPr lang="zh-CN" altLang="en-US" sz="1600" b="1" dirty="0">
                <a:solidFill>
                  <a:srgbClr val="9EA1A2"/>
                </a:solidFill>
                <a:latin typeface="微软雅黑" panose="020B0503020204020204" pitchFamily="34" charset="-122"/>
                <a:ea typeface="微软雅黑" panose="020B0503020204020204" pitchFamily="34" charset="-122"/>
              </a:rPr>
              <a:t>项目经历</a:t>
            </a:r>
          </a:p>
        </p:txBody>
      </p:sp>
    </p:spTree>
    <p:extLst>
      <p:ext uri="{BB962C8B-B14F-4D97-AF65-F5344CB8AC3E}">
        <p14:creationId xmlns:p14="http://schemas.microsoft.com/office/powerpoint/2010/main" val="42387131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Resume">
    <p:spTree>
      <p:nvGrpSpPr>
        <p:cNvPr id="1" name=""/>
        <p:cNvGrpSpPr/>
        <p:nvPr/>
      </p:nvGrpSpPr>
      <p:grpSpPr>
        <a:xfrm>
          <a:off x="0" y="0"/>
          <a:ext cx="0" cy="0"/>
          <a:chOff x="0" y="0"/>
          <a:chExt cx="0" cy="0"/>
        </a:xfrm>
      </p:grpSpPr>
      <p:sp>
        <p:nvSpPr>
          <p:cNvPr id="10" name="矩形 9"/>
          <p:cNvSpPr/>
          <p:nvPr userDrawn="1"/>
        </p:nvSpPr>
        <p:spPr>
          <a:xfrm>
            <a:off x="41672" y="221253"/>
            <a:ext cx="4483944"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1" name="矩形 10"/>
          <p:cNvSpPr/>
          <p:nvPr userDrawn="1"/>
        </p:nvSpPr>
        <p:spPr>
          <a:xfrm>
            <a:off x="6066181" y="221253"/>
            <a:ext cx="720000"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2" name="文本框 11"/>
          <p:cNvSpPr txBox="1"/>
          <p:nvPr userDrawn="1"/>
        </p:nvSpPr>
        <p:spPr>
          <a:xfrm>
            <a:off x="4602056" y="73375"/>
            <a:ext cx="1421552" cy="338554"/>
          </a:xfrm>
          <a:prstGeom prst="rect">
            <a:avLst/>
          </a:prstGeom>
          <a:solidFill>
            <a:schemeClr val="bg1"/>
          </a:solidFill>
        </p:spPr>
        <p:txBody>
          <a:bodyPr wrap="square" rtlCol="0">
            <a:spAutoFit/>
          </a:bodyPr>
          <a:lstStyle/>
          <a:p>
            <a:pPr marL="0" algn="ctr" defTabSz="914400" rtl="0" eaLnBrk="1" latinLnBrk="0" hangingPunct="1"/>
            <a:r>
              <a:rPr lang="en-US" altLang="zh-CN" sz="1600" b="1" kern="1200" dirty="0">
                <a:solidFill>
                  <a:srgbClr val="9EA1A2"/>
                </a:solidFill>
                <a:latin typeface="微软雅黑" panose="020B0503020204020204" pitchFamily="34" charset="-122"/>
                <a:ea typeface="微软雅黑" panose="020B0503020204020204" pitchFamily="34" charset="-122"/>
                <a:cs typeface="+mn-cs"/>
              </a:rPr>
              <a:t>Resume</a:t>
            </a:r>
            <a:endParaRPr lang="zh-CN" altLang="en-US" sz="1600" b="1" kern="1200" dirty="0">
              <a:solidFill>
                <a:srgbClr val="9EA1A2"/>
              </a:solidFill>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1230300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roject Experience">
    <p:spTree>
      <p:nvGrpSpPr>
        <p:cNvPr id="1" name=""/>
        <p:cNvGrpSpPr/>
        <p:nvPr/>
      </p:nvGrpSpPr>
      <p:grpSpPr>
        <a:xfrm>
          <a:off x="0" y="0"/>
          <a:ext cx="0" cy="0"/>
          <a:chOff x="0" y="0"/>
          <a:chExt cx="0" cy="0"/>
        </a:xfrm>
      </p:grpSpPr>
      <p:sp>
        <p:nvSpPr>
          <p:cNvPr id="10" name="矩形 9"/>
          <p:cNvSpPr/>
          <p:nvPr userDrawn="1"/>
        </p:nvSpPr>
        <p:spPr>
          <a:xfrm>
            <a:off x="41672" y="221253"/>
            <a:ext cx="4483944"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1" name="矩形 10"/>
          <p:cNvSpPr/>
          <p:nvPr userDrawn="1"/>
        </p:nvSpPr>
        <p:spPr>
          <a:xfrm>
            <a:off x="6066181" y="221253"/>
            <a:ext cx="720000"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2" name="文本框 11"/>
          <p:cNvSpPr txBox="1"/>
          <p:nvPr userDrawn="1"/>
        </p:nvSpPr>
        <p:spPr>
          <a:xfrm>
            <a:off x="4602056" y="7115"/>
            <a:ext cx="1421552" cy="584775"/>
          </a:xfrm>
          <a:prstGeom prst="rect">
            <a:avLst/>
          </a:prstGeom>
          <a:solidFill>
            <a:schemeClr val="bg1"/>
          </a:solidFill>
        </p:spPr>
        <p:txBody>
          <a:bodyPr wrap="square" rtlCol="0">
            <a:spAutoFit/>
          </a:bodyPr>
          <a:lstStyle/>
          <a:p>
            <a:pPr marL="0" algn="ctr" defTabSz="914400" rtl="0" eaLnBrk="1" latinLnBrk="0" hangingPunct="1"/>
            <a:r>
              <a:rPr lang="en-US" altLang="zh-CN" sz="1600" b="1" kern="1200" dirty="0" err="1">
                <a:solidFill>
                  <a:srgbClr val="9EA1A2"/>
                </a:solidFill>
                <a:latin typeface="arial" panose="020B0604020202020204" pitchFamily="34" charset="0"/>
                <a:ea typeface="微软雅黑" panose="020B0503020204020204" pitchFamily="34" charset="-122"/>
                <a:cs typeface="arial" panose="020B0604020202020204" pitchFamily="34" charset="0"/>
              </a:rPr>
              <a:t>ProjectExperience</a:t>
            </a:r>
            <a:endParaRPr lang="zh-CN" altLang="en-US" sz="1600" b="1" kern="1200" dirty="0">
              <a:solidFill>
                <a:srgbClr val="9EA1A2"/>
              </a:solidFill>
              <a:latin typeface="arial" panose="020B0604020202020204" pitchFamily="34" charset="0"/>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23097486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简历模板">
    <p:spTree>
      <p:nvGrpSpPr>
        <p:cNvPr id="1" name=""/>
        <p:cNvGrpSpPr/>
        <p:nvPr/>
      </p:nvGrpSpPr>
      <p:grpSpPr>
        <a:xfrm>
          <a:off x="0" y="0"/>
          <a:ext cx="0" cy="0"/>
          <a:chOff x="0" y="0"/>
          <a:chExt cx="0" cy="0"/>
        </a:xfrm>
      </p:grpSpPr>
      <p:sp>
        <p:nvSpPr>
          <p:cNvPr id="6" name="矩形 5"/>
          <p:cNvSpPr/>
          <p:nvPr userDrawn="1"/>
        </p:nvSpPr>
        <p:spPr>
          <a:xfrm>
            <a:off x="1" y="0"/>
            <a:ext cx="2621279" cy="9906000"/>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userDrawn="1"/>
        </p:nvSpPr>
        <p:spPr>
          <a:xfrm>
            <a:off x="-64344" y="221253"/>
            <a:ext cx="4483944" cy="78788"/>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11" name="矩形 10"/>
          <p:cNvSpPr/>
          <p:nvPr userDrawn="1"/>
        </p:nvSpPr>
        <p:spPr>
          <a:xfrm>
            <a:off x="6172197" y="221253"/>
            <a:ext cx="720000" cy="78788"/>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12" name="文本框 11"/>
          <p:cNvSpPr txBox="1"/>
          <p:nvPr userDrawn="1"/>
        </p:nvSpPr>
        <p:spPr>
          <a:xfrm>
            <a:off x="4602056" y="60123"/>
            <a:ext cx="1421552" cy="369332"/>
          </a:xfrm>
          <a:prstGeom prst="rect">
            <a:avLst/>
          </a:prstGeom>
          <a:noFill/>
        </p:spPr>
        <p:txBody>
          <a:bodyPr wrap="square" rtlCol="0">
            <a:spAutoFit/>
          </a:bodyPr>
          <a:lstStyle/>
          <a:p>
            <a:pPr algn="ctr"/>
            <a:r>
              <a:rPr lang="en-US" altLang="zh-CN" b="1" dirty="0">
                <a:solidFill>
                  <a:srgbClr val="0070C0"/>
                </a:solidFill>
                <a:latin typeface="微软雅黑" panose="020B0503020204020204" pitchFamily="34" charset="-122"/>
                <a:ea typeface="微软雅黑" panose="020B0503020204020204" pitchFamily="34" charset="-122"/>
              </a:rPr>
              <a:t>Resume</a:t>
            </a:r>
            <a:endParaRPr lang="zh-CN" altLang="en-US" b="1" dirty="0">
              <a:solidFill>
                <a:srgbClr val="0070C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251693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项目经历">
    <p:spTree>
      <p:nvGrpSpPr>
        <p:cNvPr id="1" name=""/>
        <p:cNvGrpSpPr/>
        <p:nvPr/>
      </p:nvGrpSpPr>
      <p:grpSpPr>
        <a:xfrm>
          <a:off x="0" y="0"/>
          <a:ext cx="0" cy="0"/>
          <a:chOff x="0" y="0"/>
          <a:chExt cx="0" cy="0"/>
        </a:xfrm>
      </p:grpSpPr>
      <p:sp>
        <p:nvSpPr>
          <p:cNvPr id="7" name="矩形 6"/>
          <p:cNvSpPr/>
          <p:nvPr userDrawn="1"/>
        </p:nvSpPr>
        <p:spPr>
          <a:xfrm>
            <a:off x="-64344" y="221253"/>
            <a:ext cx="4483944" cy="78788"/>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8" name="矩形 7"/>
          <p:cNvSpPr/>
          <p:nvPr userDrawn="1"/>
        </p:nvSpPr>
        <p:spPr>
          <a:xfrm>
            <a:off x="6172197" y="221253"/>
            <a:ext cx="720000" cy="78788"/>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9" name="文本框 8"/>
          <p:cNvSpPr txBox="1"/>
          <p:nvPr userDrawn="1"/>
        </p:nvSpPr>
        <p:spPr>
          <a:xfrm>
            <a:off x="4439714" y="0"/>
            <a:ext cx="1732483" cy="646331"/>
          </a:xfrm>
          <a:prstGeom prst="rect">
            <a:avLst/>
          </a:prstGeom>
          <a:noFill/>
        </p:spPr>
        <p:txBody>
          <a:bodyPr wrap="square" rtlCol="0">
            <a:spAutoFit/>
          </a:bodyPr>
          <a:lstStyle/>
          <a:p>
            <a:pPr algn="ctr"/>
            <a:r>
              <a:rPr lang="en-US" altLang="zh-CN" b="1" dirty="0" err="1">
                <a:solidFill>
                  <a:srgbClr val="0070C0"/>
                </a:solidFill>
                <a:latin typeface="微软雅黑" panose="020B0503020204020204" pitchFamily="34" charset="-122"/>
                <a:ea typeface="微软雅黑" panose="020B0503020204020204" pitchFamily="34" charset="-122"/>
              </a:rPr>
              <a:t>Project</a:t>
            </a:r>
            <a:r>
              <a:rPr lang="en-US" altLang="zh-CN" b="1" baseline="0" dirty="0" err="1">
                <a:solidFill>
                  <a:srgbClr val="0070C0"/>
                </a:solidFill>
                <a:latin typeface="微软雅黑" panose="020B0503020204020204" pitchFamily="34" charset="-122"/>
                <a:ea typeface="微软雅黑" panose="020B0503020204020204" pitchFamily="34" charset="-122"/>
              </a:rPr>
              <a:t>Experience</a:t>
            </a:r>
            <a:endParaRPr lang="zh-CN" altLang="en-US" b="1" dirty="0">
              <a:solidFill>
                <a:srgbClr val="0070C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3036676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slideLayout" Target="../slideLayouts/slideLayout4.xml"/><Relationship Id="rId1" Type="http://schemas.openxmlformats.org/officeDocument/2006/relationships/slideLayout" Target="../slideLayouts/slideLayout3.xml"/><Relationship Id="rId5" Type="http://schemas.openxmlformats.org/officeDocument/2006/relationships/theme" Target="../theme/theme2.xml"/><Relationship Id="rId4"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E7CD01A2-074E-4206-B488-A455663873BA}" type="datetimeFigureOut">
              <a:rPr lang="zh-CN" altLang="en-US" smtClean="0"/>
              <a:t>2026/3/1</a:t>
            </a:fld>
            <a:endParaRPr lang="zh-CN" alt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C8C20162-27D8-449D-A1F7-0EF87D2A24B3}" type="slidenum">
              <a:rPr lang="zh-CN" altLang="en-US" smtClean="0"/>
              <a:t>‹#›</a:t>
            </a:fld>
            <a:endParaRPr lang="zh-CN" altLang="en-US"/>
          </a:p>
        </p:txBody>
      </p:sp>
      <p:sp>
        <p:nvSpPr>
          <p:cNvPr id="3" name="文本框 2">
            <a:extLst>
              <a:ext uri="{FF2B5EF4-FFF2-40B4-BE49-F238E27FC236}">
                <a16:creationId xmlns:a16="http://schemas.microsoft.com/office/drawing/2014/main" id="{C4A4C084-D159-6494-6A2C-8FD5CAC73335}"/>
              </a:ext>
            </a:extLst>
          </p:cNvPr>
          <p:cNvSpPr txBox="1"/>
          <p:nvPr userDrawn="1">
            <p:extLst>
              <p:ext uri="{1162E1C5-73C7-4A58-AE30-91384D911F3F}">
                <p184:classification xmlns:p184="http://schemas.microsoft.com/office/powerpoint/2018/4/main" val="ftr"/>
              </p:ext>
            </p:extLst>
          </p:nvPr>
        </p:nvSpPr>
        <p:spPr>
          <a:xfrm>
            <a:off x="63500" y="9690100"/>
            <a:ext cx="544513" cy="152400"/>
          </a:xfrm>
          <a:prstGeom prst="rect">
            <a:avLst/>
          </a:prstGeom>
        </p:spPr>
        <p:txBody>
          <a:bodyPr horzOverflow="overflow" lIns="0" tIns="0" rIns="0" bIns="0">
            <a:spAutoFit/>
          </a:bodyPr>
          <a:lstStyle/>
          <a:p>
            <a:pPr algn="l"/>
            <a:r>
              <a:rPr lang="zh-CN" altLang="en-US" sz="1000">
                <a:solidFill>
                  <a:srgbClr val="000000">
                    <a:alpha val="50000"/>
                  </a:srgbClr>
                </a:solidFill>
                <a:latin typeface="Calibri" panose="020F0502020204030204" pitchFamily="34" charset="0"/>
                <a:cs typeface="Calibri" panose="020F0502020204030204" pitchFamily="34" charset="0"/>
              </a:rPr>
              <a:t>INTERNAL</a:t>
            </a:r>
          </a:p>
        </p:txBody>
      </p:sp>
    </p:spTree>
    <p:extLst>
      <p:ext uri="{BB962C8B-B14F-4D97-AF65-F5344CB8AC3E}">
        <p14:creationId xmlns:p14="http://schemas.microsoft.com/office/powerpoint/2010/main" val="1121166063"/>
      </p:ext>
    </p:extLst>
  </p:cSld>
  <p:clrMap bg1="lt1" tx1="dk1" bg2="lt2" tx2="dk2" accent1="accent1" accent2="accent2" accent3="accent3" accent4="accent4" accent5="accent5" accent6="accent6" hlink="hlink" folHlink="folHlink"/>
  <p:sldLayoutIdLst>
    <p:sldLayoutId id="2147483685" r:id="rId1"/>
    <p:sldLayoutId id="2147483686" r:id="rId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E7CD01A2-074E-4206-B488-A455663873BA}" type="datetimeFigureOut">
              <a:rPr lang="zh-CN" altLang="en-US" smtClean="0"/>
              <a:t>2026/3/1</a:t>
            </a:fld>
            <a:endParaRPr lang="zh-CN" alt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C8C20162-27D8-449D-A1F7-0EF87D2A24B3}" type="slidenum">
              <a:rPr lang="zh-CN" altLang="en-US" smtClean="0"/>
              <a:t>‹#›</a:t>
            </a:fld>
            <a:endParaRPr lang="zh-CN" altLang="en-US"/>
          </a:p>
        </p:txBody>
      </p:sp>
      <p:sp>
        <p:nvSpPr>
          <p:cNvPr id="3" name="文本框 2">
            <a:extLst>
              <a:ext uri="{FF2B5EF4-FFF2-40B4-BE49-F238E27FC236}">
                <a16:creationId xmlns:a16="http://schemas.microsoft.com/office/drawing/2014/main" id="{D03A1A15-18BF-D8BA-AC03-FD816A7069E5}"/>
              </a:ext>
            </a:extLst>
          </p:cNvPr>
          <p:cNvSpPr txBox="1"/>
          <p:nvPr userDrawn="1">
            <p:extLst>
              <p:ext uri="{1162E1C5-73C7-4A58-AE30-91384D911F3F}">
                <p184:classification xmlns:p184="http://schemas.microsoft.com/office/powerpoint/2018/4/main" val="ftr"/>
              </p:ext>
            </p:extLst>
          </p:nvPr>
        </p:nvSpPr>
        <p:spPr>
          <a:xfrm>
            <a:off x="63500" y="9690100"/>
            <a:ext cx="544513" cy="152400"/>
          </a:xfrm>
          <a:prstGeom prst="rect">
            <a:avLst/>
          </a:prstGeom>
        </p:spPr>
        <p:txBody>
          <a:bodyPr horzOverflow="overflow" lIns="0" tIns="0" rIns="0" bIns="0">
            <a:spAutoFit/>
          </a:bodyPr>
          <a:lstStyle/>
          <a:p>
            <a:pPr algn="l"/>
            <a:r>
              <a:rPr lang="zh-CN" altLang="en-US" sz="1000">
                <a:solidFill>
                  <a:srgbClr val="000000">
                    <a:alpha val="50000"/>
                  </a:srgbClr>
                </a:solidFill>
                <a:latin typeface="Calibri" panose="020F0502020204030204" pitchFamily="34" charset="0"/>
                <a:cs typeface="Calibri" panose="020F0502020204030204" pitchFamily="34" charset="0"/>
              </a:rPr>
              <a:t>INTERNAL</a:t>
            </a:r>
          </a:p>
        </p:txBody>
      </p:sp>
    </p:spTree>
    <p:extLst>
      <p:ext uri="{BB962C8B-B14F-4D97-AF65-F5344CB8AC3E}">
        <p14:creationId xmlns:p14="http://schemas.microsoft.com/office/powerpoint/2010/main" val="3497534163"/>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p:cNvGrpSpPr/>
          <p:nvPr/>
        </p:nvGrpSpPr>
        <p:grpSpPr>
          <a:xfrm>
            <a:off x="130669" y="290111"/>
            <a:ext cx="4091437" cy="715176"/>
            <a:chOff x="130669" y="387481"/>
            <a:chExt cx="4091437" cy="715176"/>
          </a:xfrm>
        </p:grpSpPr>
        <p:sp>
          <p:nvSpPr>
            <p:cNvPr id="4" name="文本框 3"/>
            <p:cNvSpPr txBox="1"/>
            <p:nvPr/>
          </p:nvSpPr>
          <p:spPr>
            <a:xfrm>
              <a:off x="178048" y="619383"/>
              <a:ext cx="2234514" cy="483274"/>
            </a:xfrm>
            <a:prstGeom prst="rect">
              <a:avLst/>
            </a:prstGeom>
            <a:noFill/>
          </p:spPr>
          <p:txBody>
            <a:bodyPr wrap="square" rtlCol="0">
              <a:spAutoFit/>
            </a:bodyPr>
            <a:lstStyle/>
            <a:p>
              <a:pPr>
                <a:lnSpc>
                  <a:spcPct val="150000"/>
                </a:lnSpc>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性别：男</a:t>
              </a:r>
              <a:endPar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a:p>
              <a:pPr>
                <a:lnSpc>
                  <a:spcPct val="150000"/>
                </a:lnSpc>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联系电话：</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13761058893</a:t>
              </a:r>
            </a:p>
          </p:txBody>
        </p:sp>
        <p:sp>
          <p:nvSpPr>
            <p:cNvPr id="10" name="文本框 9"/>
            <p:cNvSpPr txBox="1"/>
            <p:nvPr/>
          </p:nvSpPr>
          <p:spPr>
            <a:xfrm>
              <a:off x="1987592" y="609426"/>
              <a:ext cx="2234514" cy="483274"/>
            </a:xfrm>
            <a:prstGeom prst="rect">
              <a:avLst/>
            </a:prstGeom>
            <a:noFill/>
          </p:spPr>
          <p:txBody>
            <a:bodyPr wrap="square" rtlCol="0">
              <a:spAutoFit/>
            </a:bodyPr>
            <a:lstStyle/>
            <a:p>
              <a:pPr>
                <a:lnSpc>
                  <a:spcPct val="150000"/>
                </a:lnSpc>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出生年月</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:1983</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年</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12</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月</a:t>
              </a:r>
              <a:endPar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a:p>
              <a:pPr>
                <a:lnSpc>
                  <a:spcPct val="150000"/>
                </a:lnSpc>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邮箱：</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lijiajun_vwpt@163.com</a:t>
              </a:r>
              <a:endPar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p:txBody>
        </p:sp>
        <p:sp>
          <p:nvSpPr>
            <p:cNvPr id="11" name="文本框 10"/>
            <p:cNvSpPr txBox="1"/>
            <p:nvPr/>
          </p:nvSpPr>
          <p:spPr>
            <a:xfrm>
              <a:off x="130669" y="387481"/>
              <a:ext cx="757080" cy="261610"/>
            </a:xfrm>
            <a:prstGeom prst="rect">
              <a:avLst/>
            </a:prstGeom>
            <a:noFill/>
          </p:spPr>
          <p:txBody>
            <a:bodyPr wrap="square" rtlCol="0">
              <a:spAutoFit/>
            </a:bodyPr>
            <a:lstStyle/>
            <a:p>
              <a:pPr algn="ctr"/>
              <a:r>
                <a:rPr lang="zh-CN" altLang="en-US" sz="105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李嘉俊</a:t>
              </a:r>
            </a:p>
          </p:txBody>
        </p:sp>
      </p:grpSp>
      <p:grpSp>
        <p:nvGrpSpPr>
          <p:cNvPr id="19" name="组合 18"/>
          <p:cNvGrpSpPr/>
          <p:nvPr/>
        </p:nvGrpSpPr>
        <p:grpSpPr>
          <a:xfrm>
            <a:off x="282539" y="4756016"/>
            <a:ext cx="6383304" cy="4850805"/>
            <a:chOff x="185153" y="1175281"/>
            <a:chExt cx="6383304" cy="4850805"/>
          </a:xfrm>
        </p:grpSpPr>
        <p:sp>
          <p:nvSpPr>
            <p:cNvPr id="20" name="文本框 19">
              <a:extLst>
                <a:ext uri="{FF2B5EF4-FFF2-40B4-BE49-F238E27FC236}">
                  <a16:creationId xmlns:a16="http://schemas.microsoft.com/office/drawing/2014/main" id="{6328BBE5-BD67-4242-90DC-5145D59E3704}"/>
                </a:ext>
              </a:extLst>
            </p:cNvPr>
            <p:cNvSpPr txBox="1"/>
            <p:nvPr/>
          </p:nvSpPr>
          <p:spPr>
            <a:xfrm>
              <a:off x="185153" y="1175281"/>
              <a:ext cx="796876" cy="275525"/>
            </a:xfrm>
            <a:prstGeom prst="rect">
              <a:avLst/>
            </a:prstGeom>
            <a:noFill/>
          </p:spPr>
          <p:txBody>
            <a:bodyPr wrap="square" rtlCol="0">
              <a:spAutoFit/>
            </a:bodyPr>
            <a:lstStyle/>
            <a:p>
              <a:pPr>
                <a:lnSpc>
                  <a:spcPct val="150000"/>
                </a:lnSpc>
              </a:pPr>
              <a:r>
                <a:rPr lang="zh-CN" altLang="en-US" sz="900" b="1" u="sng"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工作经历</a:t>
              </a:r>
              <a:endParaRPr lang="en-US" altLang="zh-CN" sz="900" b="1" u="sng"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p:txBody>
        </p:sp>
        <p:sp>
          <p:nvSpPr>
            <p:cNvPr id="21" name="文本框 20">
              <a:extLst>
                <a:ext uri="{FF2B5EF4-FFF2-40B4-BE49-F238E27FC236}">
                  <a16:creationId xmlns:a16="http://schemas.microsoft.com/office/drawing/2014/main" id="{CC1EBB91-CDFE-B640-B2D6-B8BB71CC595B}"/>
                </a:ext>
              </a:extLst>
            </p:cNvPr>
            <p:cNvSpPr txBox="1"/>
            <p:nvPr/>
          </p:nvSpPr>
          <p:spPr>
            <a:xfrm>
              <a:off x="873916" y="1177643"/>
              <a:ext cx="5694541" cy="4848443"/>
            </a:xfrm>
            <a:prstGeom prst="rect">
              <a:avLst/>
            </a:prstGeom>
            <a:noFill/>
          </p:spPr>
          <p:txBody>
            <a:bodyPr wrap="square" rtlCol="0">
              <a:spAutoFit/>
            </a:bodyPr>
            <a:lstStyle/>
            <a:p>
              <a:pPr>
                <a:lnSpc>
                  <a:spcPct val="150000"/>
                </a:lnSpc>
              </a:pP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2022.05</a:t>
              </a: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a:t>
              </a:r>
              <a:r>
                <a:rPr lang="zh-CN"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至今</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		</a:t>
              </a: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奥迪（中国）企业管理有限公司</a:t>
              </a:r>
              <a:endPar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a:p>
              <a:pPr lvl="4">
                <a:lnSpc>
                  <a:spcPct val="150000"/>
                </a:lnSpc>
              </a:pP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（亚太区）供应链审核与规划员</a:t>
              </a:r>
              <a:endPar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a:p>
              <a:pPr>
                <a:lnSpc>
                  <a:spcPct val="150000"/>
                </a:lnSpc>
              </a:pPr>
              <a:r>
                <a:rPr lang="zh-CN" altLang="en-US" sz="900" dirty="0">
                  <a:solidFill>
                    <a:srgbClr val="696A6C"/>
                  </a:solidFill>
                  <a:latin typeface="Audi Type" panose="020B0503040202060203" pitchFamily="34" charset="0"/>
                  <a:ea typeface="微软雅黑" panose="020B0503020204020204" pitchFamily="34" charset="-122"/>
                </a:rPr>
                <a:t>作为连接大众集团全球标准与中国供应链落地的关键枢纽，负责将欧洲总部的运营意志转化为亚太区供应商的实际能力。不仅是标准的执行者，更是运营模式的优化者与传播者。</a:t>
              </a:r>
              <a:endParaRPr lang="en-US" altLang="zh-CN" sz="900" dirty="0">
                <a:solidFill>
                  <a:srgbClr val="696A6C"/>
                </a:solidFill>
                <a:latin typeface="Audi Type" panose="020B0503040202060203" pitchFamily="34" charset="0"/>
                <a:ea typeface="微软雅黑" panose="020B0503020204020204" pitchFamily="34" charset="-122"/>
              </a:endParaRPr>
            </a:p>
            <a:p>
              <a:pPr marL="171450" indent="-171450">
                <a:lnSpc>
                  <a:spcPct val="150000"/>
                </a:lnSpc>
                <a:buFont typeface="Wingdings" panose="05000000000000000000" pitchFamily="2" charset="2"/>
                <a:buChar char="Ø"/>
              </a:pP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全球供应商资格认证 </a:t>
              </a: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(VDA 6.8)</a:t>
              </a: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 </a:t>
              </a:r>
            </a:p>
            <a:p>
              <a:pPr marL="171450" lvl="1"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rPr>
                <a:t>主导亚太区 </a:t>
              </a:r>
              <a:r>
                <a:rPr lang="en-US" altLang="zh-CN" sz="900" dirty="0">
                  <a:solidFill>
                    <a:srgbClr val="696A6C"/>
                  </a:solidFill>
                  <a:latin typeface="Audi Type" panose="020B0503040202060203" pitchFamily="34" charset="0"/>
                  <a:ea typeface="微软雅黑" panose="020B0503020204020204" pitchFamily="34" charset="-122"/>
                </a:rPr>
                <a:t>100+ </a:t>
              </a:r>
              <a:r>
                <a:rPr lang="zh-CN" altLang="en-US" sz="900" dirty="0">
                  <a:solidFill>
                    <a:srgbClr val="696A6C"/>
                  </a:solidFill>
                  <a:latin typeface="Audi Type" panose="020B0503040202060203" pitchFamily="34" charset="0"/>
                  <a:ea typeface="微软雅黑" panose="020B0503020204020204" pitchFamily="34" charset="-122"/>
                </a:rPr>
                <a:t>家供应商的端到端供应链能力提升，严格执行</a:t>
              </a:r>
              <a:r>
                <a:rPr lang="en-US" altLang="zh-CN" sz="900" dirty="0">
                  <a:solidFill>
                    <a:srgbClr val="696A6C"/>
                  </a:solidFill>
                  <a:latin typeface="Audi Type" panose="020B0503040202060203" pitchFamily="34" charset="0"/>
                  <a:ea typeface="微软雅黑" panose="020B0503020204020204" pitchFamily="34" charset="-122"/>
                </a:rPr>
                <a:t>VDA 6.8/</a:t>
              </a:r>
              <a:r>
                <a:rPr lang="en-US" altLang="zh-CN" sz="900" dirty="0" err="1">
                  <a:solidFill>
                    <a:srgbClr val="696A6C"/>
                  </a:solidFill>
                  <a:latin typeface="Audi Type" panose="020B0503040202060203" pitchFamily="34" charset="0"/>
                  <a:ea typeface="微软雅黑" panose="020B0503020204020204" pitchFamily="34" charset="-122"/>
                </a:rPr>
                <a:t>QPNi</a:t>
              </a:r>
              <a:r>
                <a:rPr lang="zh-CN" altLang="en-US" sz="900" dirty="0">
                  <a:solidFill>
                    <a:srgbClr val="696A6C"/>
                  </a:solidFill>
                  <a:latin typeface="Audi Type" panose="020B0503040202060203" pitchFamily="34" charset="0"/>
                  <a:ea typeface="微软雅黑" panose="020B0503020204020204" pitchFamily="34" charset="-122"/>
                </a:rPr>
                <a:t>标准。这不仅是为了通过审核，更是为了在国内打造一批具备“欧洲基因”的标杆供应商。 </a:t>
              </a:r>
              <a:endParaRPr lang="en-US" altLang="zh-CN" sz="900" dirty="0">
                <a:solidFill>
                  <a:srgbClr val="696A6C"/>
                </a:solidFill>
                <a:latin typeface="Audi Type" panose="020B0503040202060203" pitchFamily="34" charset="0"/>
                <a:ea typeface="微软雅黑" panose="020B0503020204020204" pitchFamily="34" charset="-122"/>
              </a:endParaRPr>
            </a:p>
            <a:p>
              <a:pPr marL="171450" lvl="1"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rPr>
                <a:t>价值转化：这套在国内验证成功的“高标准落地方法论”，可直接复制到企业未来的海外工厂，确保海外基地从一开始就运行在高起点的轨道上，避免低水平重复建设。 </a:t>
              </a:r>
              <a:endParaRPr lang="en-US" altLang="zh-CN" sz="900" dirty="0">
                <a:solidFill>
                  <a:srgbClr val="696A6C"/>
                </a:solidFill>
                <a:latin typeface="Audi Type" panose="020B0503040202060203" pitchFamily="34" charset="0"/>
                <a:ea typeface="微软雅黑" panose="020B0503020204020204" pitchFamily="34" charset="-122"/>
              </a:endParaRPr>
            </a:p>
            <a:p>
              <a:pPr marL="171450" lvl="1" indent="-171450">
                <a:lnSpc>
                  <a:spcPct val="150000"/>
                </a:lnSpc>
                <a:buFont typeface="Wingdings" pitchFamily="2" charset="2"/>
                <a:buChar char="Ø"/>
              </a:pP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战略供应商开发与成熟度管理 </a:t>
              </a: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a:t>
              </a:r>
              <a:r>
                <a:rPr lang="en-US" altLang="zh-CN" sz="900" b="1" dirty="0" err="1">
                  <a:solidFill>
                    <a:srgbClr val="696A6C"/>
                  </a:solidFill>
                  <a:latin typeface="Audi Type" panose="020B0503040202060203" pitchFamily="34" charset="0"/>
                  <a:ea typeface="微软雅黑" panose="020B0503020204020204" pitchFamily="34" charset="-122"/>
                  <a:cs typeface="Audi Type" panose="020B0503040202060203" pitchFamily="34" charset="0"/>
                </a:rPr>
                <a:t>QPNi</a:t>
              </a: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a:t>
              </a: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 </a:t>
              </a:r>
            </a:p>
            <a:p>
              <a:pPr marL="171450" lvl="1"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rPr>
                <a:t>在</a:t>
              </a:r>
              <a:r>
                <a:rPr lang="en-US" altLang="zh-CN" sz="900" dirty="0">
                  <a:solidFill>
                    <a:srgbClr val="696A6C"/>
                  </a:solidFill>
                  <a:latin typeface="Audi Type" panose="020B0503040202060203" pitchFamily="34" charset="0"/>
                  <a:ea typeface="微软雅黑" panose="020B0503020204020204" pitchFamily="34" charset="-122"/>
                </a:rPr>
                <a:t>PPE</a:t>
              </a:r>
              <a:r>
                <a:rPr lang="zh-CN" altLang="en-US" sz="900" dirty="0">
                  <a:solidFill>
                    <a:srgbClr val="696A6C"/>
                  </a:solidFill>
                  <a:latin typeface="Audi Type" panose="020B0503040202060203" pitchFamily="34" charset="0"/>
                  <a:ea typeface="微软雅黑" panose="020B0503020204020204" pitchFamily="34" charset="-122"/>
                </a:rPr>
                <a:t>中国项目关键零部件管理中，通过深度诊断与流程重构。协助关键件供应商将诊断结果固化为标准作业程序 </a:t>
              </a:r>
              <a:r>
                <a:rPr lang="en-US" altLang="zh-CN" sz="900" dirty="0">
                  <a:solidFill>
                    <a:srgbClr val="696A6C"/>
                  </a:solidFill>
                  <a:latin typeface="Audi Type" panose="020B0503040202060203" pitchFamily="34" charset="0"/>
                  <a:ea typeface="微软雅黑" panose="020B0503020204020204" pitchFamily="34" charset="-122"/>
                </a:rPr>
                <a:t>(SOP)</a:t>
              </a:r>
              <a:r>
                <a:rPr lang="zh-CN" altLang="en-US" sz="900" dirty="0">
                  <a:solidFill>
                    <a:srgbClr val="696A6C"/>
                  </a:solidFill>
                  <a:latin typeface="Audi Type" panose="020B0503040202060203" pitchFamily="34" charset="0"/>
                  <a:ea typeface="微软雅黑" panose="020B0503020204020204" pitchFamily="34" charset="-122"/>
                </a:rPr>
                <a:t>，并推广至其他工厂。 </a:t>
              </a:r>
              <a:endParaRPr lang="en-US" altLang="zh-CN" sz="900" dirty="0">
                <a:solidFill>
                  <a:srgbClr val="696A6C"/>
                </a:solidFill>
                <a:latin typeface="Audi Type" panose="020B0503040202060203" pitchFamily="34" charset="0"/>
                <a:ea typeface="微软雅黑" panose="020B0503020204020204" pitchFamily="34" charset="-122"/>
              </a:endParaRPr>
            </a:p>
            <a:p>
              <a:pPr marL="171450" lvl="1"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rPr>
                <a:t>价值转化：这种“发现 </a:t>
              </a:r>
              <a:r>
                <a:rPr lang="en-US" altLang="zh-CN" sz="900" dirty="0">
                  <a:solidFill>
                    <a:srgbClr val="696A6C"/>
                  </a:solidFill>
                  <a:latin typeface="Audi Type" panose="020B0503040202060203" pitchFamily="34" charset="0"/>
                  <a:ea typeface="微软雅黑" panose="020B0503020204020204" pitchFamily="34" charset="-122"/>
                </a:rPr>
                <a:t>- </a:t>
              </a:r>
              <a:r>
                <a:rPr lang="zh-CN" altLang="en-US" sz="900" dirty="0">
                  <a:solidFill>
                    <a:srgbClr val="696A6C"/>
                  </a:solidFill>
                  <a:latin typeface="Audi Type" panose="020B0503040202060203" pitchFamily="34" charset="0"/>
                  <a:ea typeface="微软雅黑" panose="020B0503020204020204" pitchFamily="34" charset="-122"/>
                </a:rPr>
                <a:t>优化 </a:t>
              </a:r>
              <a:r>
                <a:rPr lang="en-US" altLang="zh-CN" sz="900" dirty="0">
                  <a:solidFill>
                    <a:srgbClr val="696A6C"/>
                  </a:solidFill>
                  <a:latin typeface="Audi Type" panose="020B0503040202060203" pitchFamily="34" charset="0"/>
                  <a:ea typeface="微软雅黑" panose="020B0503020204020204" pitchFamily="34" charset="-122"/>
                </a:rPr>
                <a:t>- </a:t>
              </a:r>
              <a:r>
                <a:rPr lang="zh-CN" altLang="en-US" sz="900" dirty="0">
                  <a:solidFill>
                    <a:srgbClr val="696A6C"/>
                  </a:solidFill>
                  <a:latin typeface="Audi Type" panose="020B0503040202060203" pitchFamily="34" charset="0"/>
                  <a:ea typeface="微软雅黑" panose="020B0503020204020204" pitchFamily="34" charset="-122"/>
                </a:rPr>
                <a:t>固化 </a:t>
              </a:r>
              <a:r>
                <a:rPr lang="en-US" altLang="zh-CN" sz="900" dirty="0">
                  <a:solidFill>
                    <a:srgbClr val="696A6C"/>
                  </a:solidFill>
                  <a:latin typeface="Audi Type" panose="020B0503040202060203" pitchFamily="34" charset="0"/>
                  <a:ea typeface="微软雅黑" panose="020B0503020204020204" pitchFamily="34" charset="-122"/>
                </a:rPr>
                <a:t>- </a:t>
              </a:r>
              <a:r>
                <a:rPr lang="zh-CN" altLang="en-US" sz="900" dirty="0">
                  <a:solidFill>
                    <a:srgbClr val="696A6C"/>
                  </a:solidFill>
                  <a:latin typeface="Audi Type" panose="020B0503040202060203" pitchFamily="34" charset="0"/>
                  <a:ea typeface="微软雅黑" panose="020B0503020204020204" pitchFamily="34" charset="-122"/>
                </a:rPr>
                <a:t>复制”的闭环能力，正是企业全球化过程中最稀缺的</a:t>
              </a:r>
              <a:r>
                <a:rPr lang="en-US" altLang="zh-CN" sz="900" dirty="0">
                  <a:solidFill>
                    <a:srgbClr val="696A6C"/>
                  </a:solidFill>
                  <a:latin typeface="Audi Type" panose="020B0503040202060203" pitchFamily="34" charset="0"/>
                  <a:ea typeface="微软雅黑" panose="020B0503020204020204" pitchFamily="34" charset="-122"/>
                </a:rPr>
                <a:t>——</a:t>
              </a:r>
              <a:r>
                <a:rPr lang="zh-CN" altLang="en-US" sz="900" dirty="0">
                  <a:solidFill>
                    <a:srgbClr val="696A6C"/>
                  </a:solidFill>
                  <a:latin typeface="Audi Type" panose="020B0503040202060203" pitchFamily="34" charset="0"/>
                  <a:ea typeface="微软雅黑" panose="020B0503020204020204" pitchFamily="34" charset="-122"/>
                </a:rPr>
                <a:t>确保每一个新工厂都能自动继承最佳实践，而非重新构建运营地基。</a:t>
              </a:r>
              <a:endParaRPr lang="en-US" altLang="zh-CN" sz="900" dirty="0">
                <a:solidFill>
                  <a:srgbClr val="696A6C"/>
                </a:solidFill>
                <a:latin typeface="Audi Type" panose="020B0503040202060203" pitchFamily="34" charset="0"/>
                <a:ea typeface="微软雅黑" panose="020B0503020204020204" pitchFamily="34" charset="-122"/>
              </a:endParaRPr>
            </a:p>
            <a:p>
              <a:pPr marL="171450" lvl="1" indent="-171450">
                <a:lnSpc>
                  <a:spcPct val="150000"/>
                </a:lnSpc>
                <a:buFont typeface="Wingdings" pitchFamily="2" charset="2"/>
                <a:buChar char="Ø"/>
              </a:pPr>
              <a:r>
                <a:rPr lang="zh-CN" altLang="en-US" sz="900" b="1" dirty="0">
                  <a:solidFill>
                    <a:srgbClr val="696A6C"/>
                  </a:solidFill>
                  <a:latin typeface="Audi Type" panose="020B0503040202060203" pitchFamily="34" charset="0"/>
                  <a:ea typeface="微软雅黑" panose="020B0503020204020204" pitchFamily="34" charset="-122"/>
                </a:rPr>
                <a:t>弥合文化与标准鸿沟，降低沟通内耗： </a:t>
              </a:r>
              <a:br>
                <a:rPr lang="zh-CN" altLang="en-US" sz="900" dirty="0"/>
              </a:br>
              <a:r>
                <a:rPr lang="zh-CN" altLang="en-US" sz="900" dirty="0">
                  <a:solidFill>
                    <a:srgbClr val="696A6C"/>
                  </a:solidFill>
                  <a:latin typeface="Audi Type" panose="020B0503040202060203" pitchFamily="34" charset="0"/>
                  <a:ea typeface="微软雅黑" panose="020B0503020204020204" pitchFamily="34" charset="-122"/>
                </a:rPr>
                <a:t>长期向德国管理层汇报，深谙德系思维逻辑。成功将模糊的欧洲客户需求“翻译”为清晰的国内执行指令，消除了大量因文化差异导致的误解与返工。 </a:t>
              </a:r>
              <a:endParaRPr lang="en-US" altLang="zh-CN" sz="900" dirty="0">
                <a:solidFill>
                  <a:srgbClr val="696A6C"/>
                </a:solidFill>
                <a:latin typeface="Audi Type" panose="020B0503040202060203" pitchFamily="34" charset="0"/>
                <a:ea typeface="微软雅黑" panose="020B0503020204020204" pitchFamily="34" charset="-122"/>
              </a:endParaRPr>
            </a:p>
            <a:p>
              <a:pPr marL="171450" lvl="1"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rPr>
                <a:t>价值转化：在企业出海后，我将充当“文化转换器”，确保总部指令在海外不走样，海外反馈在总部被准确理解，极大降低跨国管理的摩擦成本。</a:t>
              </a:r>
              <a:endParaRPr lang="en-US" altLang="zh-CN" sz="900" dirty="0">
                <a:solidFill>
                  <a:srgbClr val="696A6C"/>
                </a:solidFill>
                <a:latin typeface="Audi Type" panose="020B0503040202060203" pitchFamily="34" charset="0"/>
                <a:ea typeface="微软雅黑" panose="020B0503020204020204" pitchFamily="34" charset="-122"/>
              </a:endParaRPr>
            </a:p>
            <a:p>
              <a:pPr marL="171450" lvl="1" indent="-171450">
                <a:lnSpc>
                  <a:spcPct val="150000"/>
                </a:lnSpc>
                <a:buFont typeface="Wingdings" pitchFamily="2" charset="2"/>
                <a:buChar char="Ø"/>
              </a:pPr>
              <a:r>
                <a:rPr lang="zh-CN" altLang="en-US" sz="900" b="1" dirty="0">
                  <a:solidFill>
                    <a:srgbClr val="696A6C"/>
                  </a:solidFill>
                  <a:latin typeface="Audi Type" panose="020B0503040202060203" pitchFamily="34" charset="0"/>
                  <a:ea typeface="微软雅黑" panose="020B0503020204020204" pitchFamily="34" charset="-122"/>
                </a:rPr>
                <a:t>赋能数据化决策，打破信息孤岛</a:t>
              </a: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 </a:t>
              </a:r>
            </a:p>
            <a:p>
              <a:pPr marL="171450" lvl="1"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rPr>
                <a:t>在审核与规划中，敏锐识别流程中的信息与数据断点，推动供应商将物理生产数据准确映射到管理系统。 </a:t>
              </a:r>
              <a:endParaRPr lang="en-US" altLang="zh-CN" sz="900" dirty="0">
                <a:solidFill>
                  <a:srgbClr val="696A6C"/>
                </a:solidFill>
                <a:latin typeface="Audi Type" panose="020B0503040202060203" pitchFamily="34" charset="0"/>
                <a:ea typeface="微软雅黑" panose="020B0503020204020204" pitchFamily="34" charset="-122"/>
              </a:endParaRPr>
            </a:p>
            <a:p>
              <a:pPr marL="171450" lvl="1"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rPr>
                <a:t>价值转化：为企业解决“系统老旧、数据不准”的痛点提供思路</a:t>
              </a:r>
              <a:r>
                <a:rPr lang="en-US" altLang="zh-CN" sz="900" dirty="0">
                  <a:solidFill>
                    <a:srgbClr val="696A6C"/>
                  </a:solidFill>
                  <a:latin typeface="Audi Type" panose="020B0503040202060203" pitchFamily="34" charset="0"/>
                  <a:ea typeface="微软雅黑" panose="020B0503020204020204" pitchFamily="34" charset="-122"/>
                </a:rPr>
                <a:t>——</a:t>
              </a:r>
              <a:r>
                <a:rPr lang="zh-CN" altLang="en-US" sz="900" dirty="0">
                  <a:solidFill>
                    <a:srgbClr val="696A6C"/>
                  </a:solidFill>
                  <a:latin typeface="Audi Type" panose="020B0503040202060203" pitchFamily="34" charset="0"/>
                  <a:ea typeface="微软雅黑" panose="020B0503020204020204" pitchFamily="34" charset="-122"/>
                </a:rPr>
                <a:t>不一定要换系统，而是要理顺产生数据的流程，让现有 </a:t>
              </a:r>
              <a:r>
                <a:rPr lang="en-US" altLang="zh-CN" sz="900" dirty="0">
                  <a:solidFill>
                    <a:srgbClr val="696A6C"/>
                  </a:solidFill>
                  <a:latin typeface="Audi Type" panose="020B0503040202060203" pitchFamily="34" charset="0"/>
                  <a:ea typeface="微软雅黑" panose="020B0503020204020204" pitchFamily="34" charset="-122"/>
                </a:rPr>
                <a:t>ERP</a:t>
              </a:r>
              <a:r>
                <a:rPr lang="zh-CN" altLang="en-US" sz="900" dirty="0">
                  <a:solidFill>
                    <a:srgbClr val="696A6C"/>
                  </a:solidFill>
                  <a:latin typeface="Audi Type" panose="020B0503040202060203" pitchFamily="34" charset="0"/>
                  <a:ea typeface="微软雅黑" panose="020B0503020204020204" pitchFamily="34" charset="-122"/>
                </a:rPr>
                <a:t>等管理系统发挥最大价值，实现真实的数据化及未来的智能化管理。</a:t>
              </a:r>
            </a:p>
          </p:txBody>
        </p:sp>
      </p:grpSp>
      <p:grpSp>
        <p:nvGrpSpPr>
          <p:cNvPr id="5" name="组合 4">
            <a:extLst>
              <a:ext uri="{FF2B5EF4-FFF2-40B4-BE49-F238E27FC236}">
                <a16:creationId xmlns:a16="http://schemas.microsoft.com/office/drawing/2014/main" id="{D49E7037-9BF5-BCB5-D9B9-37F4F4B2175D}"/>
              </a:ext>
            </a:extLst>
          </p:cNvPr>
          <p:cNvGrpSpPr/>
          <p:nvPr/>
        </p:nvGrpSpPr>
        <p:grpSpPr>
          <a:xfrm>
            <a:off x="185153" y="1000652"/>
            <a:ext cx="6480690" cy="3767941"/>
            <a:chOff x="185153" y="1062437"/>
            <a:chExt cx="6480690" cy="3767941"/>
          </a:xfrm>
        </p:grpSpPr>
        <p:sp>
          <p:nvSpPr>
            <p:cNvPr id="9" name="文本框 8">
              <a:extLst>
                <a:ext uri="{FF2B5EF4-FFF2-40B4-BE49-F238E27FC236}">
                  <a16:creationId xmlns:a16="http://schemas.microsoft.com/office/drawing/2014/main" id="{CC1EBB91-CDFE-B640-B2D6-B8BB71CC595B}"/>
                </a:ext>
              </a:extLst>
            </p:cNvPr>
            <p:cNvSpPr txBox="1"/>
            <p:nvPr/>
          </p:nvSpPr>
          <p:spPr>
            <a:xfrm>
              <a:off x="878996" y="1066206"/>
              <a:ext cx="5786847" cy="3764172"/>
            </a:xfrm>
            <a:prstGeom prst="rect">
              <a:avLst/>
            </a:prstGeom>
            <a:noFill/>
          </p:spPr>
          <p:txBody>
            <a:bodyPr wrap="square" rtlCol="0">
              <a:spAutoFit/>
            </a:bodyPr>
            <a:lstStyle/>
            <a:p>
              <a:pPr>
                <a:lnSpc>
                  <a:spcPts val="1600"/>
                </a:lnSpc>
              </a:pPr>
              <a:r>
                <a:rPr lang="en-US" altLang="zh-CN" sz="900" dirty="0">
                  <a:solidFill>
                    <a:srgbClr val="696A6C"/>
                  </a:solidFill>
                  <a:latin typeface="Audi Type" panose="020B0503040202060203" pitchFamily="34" charset="0"/>
                  <a:ea typeface="微软雅黑" panose="020B0503020204020204" pitchFamily="34" charset="-122"/>
                </a:rPr>
                <a:t>20 </a:t>
              </a:r>
              <a:r>
                <a:rPr lang="zh-CN" altLang="en-US" sz="900" dirty="0">
                  <a:solidFill>
                    <a:srgbClr val="696A6C"/>
                  </a:solidFill>
                  <a:latin typeface="Audi Type" panose="020B0503040202060203" pitchFamily="34" charset="0"/>
                  <a:ea typeface="微软雅黑" panose="020B0503020204020204" pitchFamily="34" charset="-122"/>
                </a:rPr>
                <a:t>年大众汽车集团（</a:t>
              </a:r>
              <a:r>
                <a:rPr lang="en-US" altLang="zh-CN" sz="900" dirty="0">
                  <a:solidFill>
                    <a:srgbClr val="696A6C"/>
                  </a:solidFill>
                  <a:latin typeface="Audi Type" panose="020B0503040202060203" pitchFamily="34" charset="0"/>
                  <a:ea typeface="微软雅黑" panose="020B0503020204020204" pitchFamily="34" charset="-122"/>
                </a:rPr>
                <a:t>VW Group</a:t>
              </a:r>
              <a:r>
                <a:rPr lang="zh-CN" altLang="en-US" sz="900" dirty="0">
                  <a:solidFill>
                    <a:srgbClr val="696A6C"/>
                  </a:solidFill>
                  <a:latin typeface="Audi Type" panose="020B0503040202060203" pitchFamily="34" charset="0"/>
                  <a:ea typeface="微软雅黑" panose="020B0503020204020204" pitchFamily="34" charset="-122"/>
                </a:rPr>
                <a:t>）核心供应链管理经验，深谙德系制造业严谨、高效、标准化的运营基因。作为大众集团认证的 </a:t>
              </a:r>
              <a:r>
                <a:rPr lang="en-US" altLang="zh-CN" sz="900" dirty="0">
                  <a:solidFill>
                    <a:srgbClr val="696A6C"/>
                  </a:solidFill>
                  <a:latin typeface="Audi Type" panose="020B0503040202060203" pitchFamily="34" charset="0"/>
                  <a:ea typeface="微软雅黑" panose="020B0503020204020204" pitchFamily="34" charset="-122"/>
                </a:rPr>
                <a:t>VDA 6.8 </a:t>
              </a:r>
              <a:r>
                <a:rPr lang="zh-CN" altLang="en-US" sz="900" dirty="0">
                  <a:solidFill>
                    <a:srgbClr val="696A6C"/>
                  </a:solidFill>
                  <a:latin typeface="Audi Type" panose="020B0503040202060203" pitchFamily="34" charset="0"/>
                  <a:ea typeface="微软雅黑" panose="020B0503020204020204" pitchFamily="34" charset="-122"/>
                </a:rPr>
                <a:t>主审员及 </a:t>
              </a:r>
              <a:r>
                <a:rPr lang="en-US" altLang="zh-CN" sz="900" dirty="0" err="1">
                  <a:solidFill>
                    <a:srgbClr val="696A6C"/>
                  </a:solidFill>
                  <a:latin typeface="Audi Type" panose="020B0503040202060203" pitchFamily="34" charset="0"/>
                  <a:ea typeface="微软雅黑" panose="020B0503020204020204" pitchFamily="34" charset="-122"/>
                </a:rPr>
                <a:t>QPNi</a:t>
              </a:r>
              <a:r>
                <a:rPr lang="en-US" altLang="zh-CN" sz="900" dirty="0">
                  <a:solidFill>
                    <a:srgbClr val="696A6C"/>
                  </a:solidFill>
                  <a:latin typeface="Audi Type" panose="020B0503040202060203" pitchFamily="34" charset="0"/>
                  <a:ea typeface="微软雅黑" panose="020B0503020204020204" pitchFamily="34" charset="-122"/>
                </a:rPr>
                <a:t> </a:t>
              </a:r>
              <a:r>
                <a:rPr lang="zh-CN" altLang="en-US" sz="900" dirty="0">
                  <a:solidFill>
                    <a:srgbClr val="696A6C"/>
                  </a:solidFill>
                  <a:latin typeface="Audi Type" panose="020B0503040202060203" pitchFamily="34" charset="0"/>
                  <a:ea typeface="微软雅黑" panose="020B0503020204020204" pitchFamily="34" charset="-122"/>
                </a:rPr>
                <a:t>专家，不仅精通国际顶尖标准，更具备将这套“世界级操作系统”成功移植并扎根于中国本土环境的实战能力。</a:t>
              </a:r>
            </a:p>
            <a:p>
              <a:pPr>
                <a:lnSpc>
                  <a:spcPts val="1600"/>
                </a:lnSpc>
              </a:pPr>
              <a:r>
                <a:rPr lang="zh-CN" altLang="en-US" sz="900" dirty="0">
                  <a:solidFill>
                    <a:srgbClr val="696A6C"/>
                  </a:solidFill>
                  <a:latin typeface="Audi Type" panose="020B0503040202060203" pitchFamily="34" charset="0"/>
                  <a:ea typeface="微软雅黑" panose="020B0503020204020204" pitchFamily="34" charset="-122"/>
                </a:rPr>
                <a:t>致力于成为中国出海企业的“运营压舱石”与“全球扩张加速器”：</a:t>
              </a:r>
            </a:p>
            <a:p>
              <a:pPr marL="171450" indent="-171450">
                <a:lnSpc>
                  <a:spcPts val="16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rPr>
                <a:t>守护“中国内核”，构建全球统一语言：擅长将欧洲 </a:t>
              </a:r>
              <a:r>
                <a:rPr lang="en-US" altLang="zh-CN" sz="900" dirty="0">
                  <a:solidFill>
                    <a:srgbClr val="696A6C"/>
                  </a:solidFill>
                  <a:latin typeface="Audi Type" panose="020B0503040202060203" pitchFamily="34" charset="0"/>
                  <a:ea typeface="微软雅黑" panose="020B0503020204020204" pitchFamily="34" charset="-122"/>
                </a:rPr>
                <a:t>OEM </a:t>
              </a:r>
              <a:r>
                <a:rPr lang="zh-CN" altLang="en-US" sz="900" dirty="0">
                  <a:solidFill>
                    <a:srgbClr val="696A6C"/>
                  </a:solidFill>
                  <a:latin typeface="Audi Type" panose="020B0503040202060203" pitchFamily="34" charset="0"/>
                  <a:ea typeface="微软雅黑" panose="020B0503020204020204" pitchFamily="34" charset="-122"/>
                </a:rPr>
                <a:t>的严苛标准（</a:t>
              </a:r>
              <a:r>
                <a:rPr lang="en-US" altLang="zh-CN" sz="900" dirty="0">
                  <a:solidFill>
                    <a:srgbClr val="696A6C"/>
                  </a:solidFill>
                  <a:latin typeface="Audi Type" panose="020B0503040202060203" pitchFamily="34" charset="0"/>
                  <a:ea typeface="微软雅黑" panose="020B0503020204020204" pitchFamily="34" charset="-122"/>
                </a:rPr>
                <a:t>VDA/Formel-Q</a:t>
              </a:r>
              <a:r>
                <a:rPr lang="zh-CN" altLang="en-US" sz="900" dirty="0">
                  <a:solidFill>
                    <a:srgbClr val="696A6C"/>
                  </a:solidFill>
                  <a:latin typeface="Audi Type" panose="020B0503040202060203" pitchFamily="34" charset="0"/>
                  <a:ea typeface="微软雅黑" panose="020B0503020204020204" pitchFamily="34" charset="-122"/>
                </a:rPr>
                <a:t>）转化为适合中国企业的管理逻辑与执行体系。确保企业在走向欧洲的过程中，不丢失本土高效灵活的优势，同时建立起与国际接轨的标准化管控框架，实现总部对全球基地的“可视、可控、可复制”。</a:t>
              </a:r>
            </a:p>
            <a:p>
              <a:pPr marL="171450" indent="-171450">
                <a:lnSpc>
                  <a:spcPts val="16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rPr>
                <a:t>打造“本土标杆”，驱动全球无缝复制：主张“根在中国，花开全球”。优先利用国际标准升级国内工厂，打造“世界级本土标杆”，再将其作为母版向海外基地输出。避免海外建厂“从零开始”或“重复试错”，确保新基地开业即成熟，大幅缩短盈利周期。</a:t>
              </a:r>
            </a:p>
            <a:p>
              <a:pPr marL="171450" indent="-171450">
                <a:lnSpc>
                  <a:spcPts val="16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rPr>
                <a:t>消除“管理黑盒”，实现数据化透明管控：针对跨国管理中的信息不对称痛点，具备极强的业务流程数据化重构能力。能将一线复杂的生产现状转化为精准的数字信号，打通 </a:t>
              </a:r>
              <a:r>
                <a:rPr lang="en-US" altLang="zh-CN" sz="900" dirty="0">
                  <a:solidFill>
                    <a:srgbClr val="696A6C"/>
                  </a:solidFill>
                  <a:latin typeface="Audi Type" panose="020B0503040202060203" pitchFamily="34" charset="0"/>
                  <a:ea typeface="微软雅黑" panose="020B0503020204020204" pitchFamily="34" charset="-122"/>
                </a:rPr>
                <a:t>ERP </a:t>
              </a:r>
              <a:r>
                <a:rPr lang="zh-CN" altLang="en-US" sz="900" dirty="0">
                  <a:solidFill>
                    <a:srgbClr val="696A6C"/>
                  </a:solidFill>
                  <a:latin typeface="Audi Type" panose="020B0503040202060203" pitchFamily="34" charset="0"/>
                  <a:ea typeface="微软雅黑" panose="020B0503020204020204" pitchFamily="34" charset="-122"/>
                </a:rPr>
                <a:t>系统与现场执行的断点，让总部管理者无论身在何处，都能基于真实数据做出果断决策，杜绝“将在外君命有所不受”。</a:t>
              </a:r>
            </a:p>
            <a:p>
              <a:pPr marL="171450" indent="-171450">
                <a:lnSpc>
                  <a:spcPts val="16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rPr>
                <a:t>从“合规”到“效益”，驱动结构性降本：超越单纯的审核合规，专注于将标准转化为真金白银的利润。善于将一次性改善成果固化为企业长效资产，确保在规模扩张中边际效益递增而非管理成本失控。</a:t>
              </a:r>
            </a:p>
            <a:p>
              <a:pPr>
                <a:lnSpc>
                  <a:spcPts val="1600"/>
                </a:lnSpc>
              </a:pPr>
              <a:r>
                <a:rPr lang="zh-CN" altLang="en-US" sz="900" dirty="0">
                  <a:solidFill>
                    <a:srgbClr val="696A6C"/>
                  </a:solidFill>
                  <a:latin typeface="Audi Type" panose="020B0503040202060203" pitchFamily="34" charset="0"/>
                  <a:ea typeface="微软雅黑" panose="020B0503020204020204" pitchFamily="34" charset="-122"/>
                </a:rPr>
                <a:t>愿景：作为“企业人”深度融入组织，将 </a:t>
              </a:r>
              <a:r>
                <a:rPr lang="en-US" altLang="zh-CN" sz="900" dirty="0">
                  <a:solidFill>
                    <a:srgbClr val="696A6C"/>
                  </a:solidFill>
                  <a:latin typeface="Audi Type" panose="020B0503040202060203" pitchFamily="34" charset="0"/>
                  <a:ea typeface="微软雅黑" panose="020B0503020204020204" pitchFamily="34" charset="-122"/>
                </a:rPr>
                <a:t>20 </a:t>
              </a:r>
              <a:r>
                <a:rPr lang="zh-CN" altLang="en-US" sz="900" dirty="0">
                  <a:solidFill>
                    <a:srgbClr val="696A6C"/>
                  </a:solidFill>
                  <a:latin typeface="Audi Type" panose="020B0503040202060203" pitchFamily="34" charset="0"/>
                  <a:ea typeface="微软雅黑" panose="020B0503020204020204" pitchFamily="34" charset="-122"/>
                </a:rPr>
                <a:t>年德系精益基因与中国企业家的奋斗精神深度融合，助力企业在全球舞台上构建“一个标准、一种声音、一致行动”的卓越运营体系，实现从“产品出海”到“能力出海”的战略跃迁。</a:t>
              </a:r>
            </a:p>
          </p:txBody>
        </p:sp>
        <p:sp>
          <p:nvSpPr>
            <p:cNvPr id="2" name="文本框 1">
              <a:extLst>
                <a:ext uri="{FF2B5EF4-FFF2-40B4-BE49-F238E27FC236}">
                  <a16:creationId xmlns:a16="http://schemas.microsoft.com/office/drawing/2014/main" id="{F48A679A-E077-2E81-566F-A484A09D218E}"/>
                </a:ext>
              </a:extLst>
            </p:cNvPr>
            <p:cNvSpPr txBox="1"/>
            <p:nvPr/>
          </p:nvSpPr>
          <p:spPr>
            <a:xfrm>
              <a:off x="185153" y="1062437"/>
              <a:ext cx="796876" cy="275525"/>
            </a:xfrm>
            <a:prstGeom prst="rect">
              <a:avLst/>
            </a:prstGeom>
            <a:noFill/>
          </p:spPr>
          <p:txBody>
            <a:bodyPr wrap="square" rtlCol="0">
              <a:spAutoFit/>
            </a:bodyPr>
            <a:lstStyle/>
            <a:p>
              <a:pPr>
                <a:lnSpc>
                  <a:spcPct val="150000"/>
                </a:lnSpc>
              </a:pPr>
              <a:r>
                <a:rPr lang="zh-CN" altLang="en-US" sz="900" b="1" u="sng"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职业总结</a:t>
              </a:r>
              <a:endParaRPr lang="en-US" altLang="zh-CN" sz="900" b="1" u="sng"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p:txBody>
        </p:sp>
      </p:grpSp>
    </p:spTree>
    <p:extLst>
      <p:ext uri="{BB962C8B-B14F-4D97-AF65-F5344CB8AC3E}">
        <p14:creationId xmlns:p14="http://schemas.microsoft.com/office/powerpoint/2010/main" val="35110222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48F0B766-33F7-CC74-F5B3-0746407F6C4C}"/>
              </a:ext>
            </a:extLst>
          </p:cNvPr>
          <p:cNvGrpSpPr/>
          <p:nvPr/>
        </p:nvGrpSpPr>
        <p:grpSpPr>
          <a:xfrm>
            <a:off x="158617" y="2842263"/>
            <a:ext cx="6540767" cy="1106521"/>
            <a:chOff x="190233" y="9241051"/>
            <a:chExt cx="6540767" cy="1106521"/>
          </a:xfrm>
        </p:grpSpPr>
        <p:sp>
          <p:nvSpPr>
            <p:cNvPr id="3" name="文本框 2">
              <a:extLst>
                <a:ext uri="{FF2B5EF4-FFF2-40B4-BE49-F238E27FC236}">
                  <a16:creationId xmlns:a16="http://schemas.microsoft.com/office/drawing/2014/main" id="{78C82FCF-2223-E748-9F59-65662898D0BD}"/>
                </a:ext>
              </a:extLst>
            </p:cNvPr>
            <p:cNvSpPr txBox="1"/>
            <p:nvPr/>
          </p:nvSpPr>
          <p:spPr>
            <a:xfrm>
              <a:off x="190233" y="9241051"/>
              <a:ext cx="796876" cy="275525"/>
            </a:xfrm>
            <a:prstGeom prst="rect">
              <a:avLst/>
            </a:prstGeom>
            <a:noFill/>
          </p:spPr>
          <p:txBody>
            <a:bodyPr wrap="square" rtlCol="0">
              <a:spAutoFit/>
            </a:bodyPr>
            <a:lstStyle/>
            <a:p>
              <a:pPr>
                <a:lnSpc>
                  <a:spcPct val="150000"/>
                </a:lnSpc>
              </a:pPr>
              <a:r>
                <a:rPr lang="zh-CN" altLang="en-US" sz="900" b="1" u="sng"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核心竞争力</a:t>
              </a:r>
              <a:endParaRPr lang="en-US" altLang="zh-CN" sz="900" b="1" u="sng"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p:txBody>
        </p:sp>
        <p:sp>
          <p:nvSpPr>
            <p:cNvPr id="4" name="文本框 3">
              <a:extLst>
                <a:ext uri="{FF2B5EF4-FFF2-40B4-BE49-F238E27FC236}">
                  <a16:creationId xmlns:a16="http://schemas.microsoft.com/office/drawing/2014/main" id="{FC4675F5-E586-730D-5000-2276FCE4E47C}"/>
                </a:ext>
              </a:extLst>
            </p:cNvPr>
            <p:cNvSpPr txBox="1"/>
            <p:nvPr/>
          </p:nvSpPr>
          <p:spPr>
            <a:xfrm>
              <a:off x="887750" y="9241051"/>
              <a:ext cx="5843250" cy="1106521"/>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供应链审核：</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VDA 6.8, VDA 6.3, </a:t>
              </a:r>
              <a:r>
                <a:rPr lang="en-US" altLang="zh-CN" sz="900" dirty="0" err="1">
                  <a:solidFill>
                    <a:srgbClr val="696A6C"/>
                  </a:solidFill>
                  <a:latin typeface="Audi Type" panose="020B0503040202060203" pitchFamily="34" charset="0"/>
                  <a:ea typeface="微软雅黑" panose="020B0503020204020204" pitchFamily="34" charset="-122"/>
                  <a:cs typeface="Audi Type" panose="020B0503040202060203" pitchFamily="34" charset="0"/>
                </a:rPr>
                <a:t>QPNi</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 </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成熟度管理</a:t>
              </a:r>
            </a:p>
            <a:p>
              <a:pPr marL="171450"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供应商开发：产能规划，</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SOP</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（量产启动）爬坡支持</a:t>
              </a:r>
            </a:p>
            <a:p>
              <a:pPr marL="171450"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风险管理：</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S&amp;OP</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（销售与运营规划）集成，中断缓解，连续性计划</a:t>
              </a:r>
            </a:p>
            <a:p>
              <a:pPr marL="171450"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咨询与战略：商业模式搭建（从</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0</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到</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1</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），成本优化，流程再造</a:t>
              </a:r>
            </a:p>
            <a:p>
              <a:pPr marL="171450"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全球利益相关者管理：跨文化谈判，主机厂 </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(OEM) </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与一级供应商 </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(Tier-1) </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对接</a:t>
              </a:r>
            </a:p>
          </p:txBody>
        </p:sp>
      </p:grpSp>
      <p:grpSp>
        <p:nvGrpSpPr>
          <p:cNvPr id="8" name="组合 7">
            <a:extLst>
              <a:ext uri="{FF2B5EF4-FFF2-40B4-BE49-F238E27FC236}">
                <a16:creationId xmlns:a16="http://schemas.microsoft.com/office/drawing/2014/main" id="{B892CCD4-D3B2-E1C4-9FBC-1208FFB76AA0}"/>
              </a:ext>
            </a:extLst>
          </p:cNvPr>
          <p:cNvGrpSpPr/>
          <p:nvPr/>
        </p:nvGrpSpPr>
        <p:grpSpPr>
          <a:xfrm>
            <a:off x="185154" y="4072314"/>
            <a:ext cx="6545846" cy="277887"/>
            <a:chOff x="185153" y="1175281"/>
            <a:chExt cx="6545846" cy="277887"/>
          </a:xfrm>
        </p:grpSpPr>
        <p:sp>
          <p:nvSpPr>
            <p:cNvPr id="9" name="文本框 8">
              <a:extLst>
                <a:ext uri="{FF2B5EF4-FFF2-40B4-BE49-F238E27FC236}">
                  <a16:creationId xmlns:a16="http://schemas.microsoft.com/office/drawing/2014/main" id="{24810E15-0C82-516B-3EED-F8CB5295D5E3}"/>
                </a:ext>
              </a:extLst>
            </p:cNvPr>
            <p:cNvSpPr txBox="1"/>
            <p:nvPr/>
          </p:nvSpPr>
          <p:spPr>
            <a:xfrm>
              <a:off x="185153" y="1175281"/>
              <a:ext cx="796876" cy="275525"/>
            </a:xfrm>
            <a:prstGeom prst="rect">
              <a:avLst/>
            </a:prstGeom>
            <a:noFill/>
          </p:spPr>
          <p:txBody>
            <a:bodyPr wrap="square" rtlCol="0">
              <a:spAutoFit/>
            </a:bodyPr>
            <a:lstStyle/>
            <a:p>
              <a:pPr>
                <a:lnSpc>
                  <a:spcPct val="150000"/>
                </a:lnSpc>
              </a:pPr>
              <a:r>
                <a:rPr lang="zh-CN" altLang="en-US" sz="900" b="1" u="sng"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教育背景</a:t>
              </a:r>
              <a:endParaRPr lang="en-US" altLang="zh-CN" sz="900" b="1" u="sng"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p:txBody>
        </p:sp>
        <p:sp>
          <p:nvSpPr>
            <p:cNvPr id="10" name="文本框 9">
              <a:extLst>
                <a:ext uri="{FF2B5EF4-FFF2-40B4-BE49-F238E27FC236}">
                  <a16:creationId xmlns:a16="http://schemas.microsoft.com/office/drawing/2014/main" id="{416E1EFA-CB1C-0BF8-BD7B-2C492C1DB07C}"/>
                </a:ext>
              </a:extLst>
            </p:cNvPr>
            <p:cNvSpPr txBox="1"/>
            <p:nvPr/>
          </p:nvSpPr>
          <p:spPr>
            <a:xfrm>
              <a:off x="878997" y="1177643"/>
              <a:ext cx="5852002" cy="275525"/>
            </a:xfrm>
            <a:prstGeom prst="rect">
              <a:avLst/>
            </a:prstGeom>
            <a:noFill/>
          </p:spPr>
          <p:txBody>
            <a:bodyPr wrap="square" rtlCol="0">
              <a:spAutoFit/>
            </a:bodyPr>
            <a:lstStyle/>
            <a:p>
              <a:pPr>
                <a:lnSpc>
                  <a:spcPct val="150000"/>
                </a:lnSpc>
              </a:pP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2002/Sep</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2006/Jul	</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上海海事大学</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	</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轮机工程专业</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	</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本科（工学学士）</a:t>
              </a:r>
              <a:endPar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p:txBody>
        </p:sp>
      </p:grpSp>
      <p:grpSp>
        <p:nvGrpSpPr>
          <p:cNvPr id="5" name="组合 4">
            <a:extLst>
              <a:ext uri="{FF2B5EF4-FFF2-40B4-BE49-F238E27FC236}">
                <a16:creationId xmlns:a16="http://schemas.microsoft.com/office/drawing/2014/main" id="{92D42D25-BCFC-B213-C8EA-AE3D2773887F}"/>
              </a:ext>
            </a:extLst>
          </p:cNvPr>
          <p:cNvGrpSpPr/>
          <p:nvPr/>
        </p:nvGrpSpPr>
        <p:grpSpPr>
          <a:xfrm>
            <a:off x="158617" y="458166"/>
            <a:ext cx="6540766" cy="2357815"/>
            <a:chOff x="185153" y="1175281"/>
            <a:chExt cx="6540766" cy="2357815"/>
          </a:xfrm>
        </p:grpSpPr>
        <p:sp>
          <p:nvSpPr>
            <p:cNvPr id="6" name="文本框 5">
              <a:extLst>
                <a:ext uri="{FF2B5EF4-FFF2-40B4-BE49-F238E27FC236}">
                  <a16:creationId xmlns:a16="http://schemas.microsoft.com/office/drawing/2014/main" id="{2B762A5A-2508-83F4-39B8-84BF6713FE81}"/>
                </a:ext>
              </a:extLst>
            </p:cNvPr>
            <p:cNvSpPr txBox="1"/>
            <p:nvPr/>
          </p:nvSpPr>
          <p:spPr>
            <a:xfrm>
              <a:off x="185153" y="1175281"/>
              <a:ext cx="796876" cy="275525"/>
            </a:xfrm>
            <a:prstGeom prst="rect">
              <a:avLst/>
            </a:prstGeom>
            <a:noFill/>
          </p:spPr>
          <p:txBody>
            <a:bodyPr wrap="square" rtlCol="0">
              <a:spAutoFit/>
            </a:bodyPr>
            <a:lstStyle/>
            <a:p>
              <a:pPr>
                <a:lnSpc>
                  <a:spcPct val="150000"/>
                </a:lnSpc>
              </a:pPr>
              <a:r>
                <a:rPr lang="zh-CN" altLang="en-US" sz="900" b="1" u="sng"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工作经历</a:t>
              </a:r>
              <a:endParaRPr lang="en-US" altLang="zh-CN" sz="900" b="1" u="sng"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p:txBody>
        </p:sp>
        <p:sp>
          <p:nvSpPr>
            <p:cNvPr id="7" name="文本框 6">
              <a:extLst>
                <a:ext uri="{FF2B5EF4-FFF2-40B4-BE49-F238E27FC236}">
                  <a16:creationId xmlns:a16="http://schemas.microsoft.com/office/drawing/2014/main" id="{C2A1A1DE-A328-1418-FC7F-0C68311F57AA}"/>
                </a:ext>
              </a:extLst>
            </p:cNvPr>
            <p:cNvSpPr txBox="1"/>
            <p:nvPr/>
          </p:nvSpPr>
          <p:spPr>
            <a:xfrm>
              <a:off x="873916" y="1177643"/>
              <a:ext cx="5852003" cy="2355453"/>
            </a:xfrm>
            <a:prstGeom prst="rect">
              <a:avLst/>
            </a:prstGeom>
            <a:noFill/>
          </p:spPr>
          <p:txBody>
            <a:bodyPr wrap="square" rtlCol="0">
              <a:spAutoFit/>
            </a:bodyPr>
            <a:lstStyle/>
            <a:p>
              <a:pPr>
                <a:lnSpc>
                  <a:spcPct val="150000"/>
                </a:lnSpc>
              </a:pP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2006/Jul.</a:t>
              </a: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a:t>
              </a: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2022/May</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	</a:t>
              </a:r>
              <a:r>
                <a:rPr lang="zh-CN"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上</a:t>
              </a: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汽</a:t>
              </a:r>
              <a:r>
                <a:rPr lang="zh-CN"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大众</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（原</a:t>
              </a:r>
              <a:r>
                <a:rPr lang="zh-CN"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上海大众动力总成有限公司</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a:t>
              </a:r>
              <a:endPar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a:p>
              <a:pPr>
                <a:lnSpc>
                  <a:spcPct val="150000"/>
                </a:lnSpc>
              </a:pP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2010/Feb.~2022/May	</a:t>
              </a: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供应链管理</a:t>
              </a:r>
              <a:r>
                <a:rPr lang="zh-CN"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专家</a:t>
              </a:r>
              <a:endPar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a:p>
              <a:pPr marL="171450" lvl="1" indent="-171450">
                <a:lnSpc>
                  <a:spcPct val="150000"/>
                </a:lnSpc>
                <a:buFont typeface="Wingdings" panose="05000000000000000000" pitchFamily="2" charset="2"/>
                <a:buChar char="Ø"/>
              </a:pPr>
              <a:r>
                <a:rPr lang="zh-CN" altLang="en-US" sz="900" b="1" dirty="0">
                  <a:solidFill>
                    <a:srgbClr val="696A6C"/>
                  </a:solidFill>
                  <a:latin typeface="Audi Type" panose="020B0503040202060203" pitchFamily="34" charset="0"/>
                  <a:ea typeface="微软雅黑" panose="020B0503020204020204" pitchFamily="34" charset="-122"/>
                </a:rPr>
                <a:t>构建抗风险的供应链韧性体系：</a:t>
              </a:r>
            </a:p>
            <a:p>
              <a:pPr marL="171450" lvl="1"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rPr>
                <a:t>在芯片短缺等极端危机下，通过建立动态风险模型与多级响应机制，保障了德国合资项目的业务连续性。在复杂环境下，以标准化的应急体系替代个人管理所缺失的可靠性。</a:t>
              </a:r>
              <a:endParaRPr lang="en-US" altLang="zh-CN" sz="900" dirty="0">
                <a:solidFill>
                  <a:srgbClr val="696A6C"/>
                </a:solidFill>
                <a:latin typeface="Audi Type" panose="020B0503040202060203" pitchFamily="34" charset="0"/>
                <a:ea typeface="微软雅黑" panose="020B0503020204020204" pitchFamily="34" charset="-122"/>
              </a:endParaRPr>
            </a:p>
            <a:p>
              <a:pPr marL="171450" lvl="1" indent="-171450">
                <a:lnSpc>
                  <a:spcPct val="150000"/>
                </a:lnSpc>
                <a:buFont typeface="Wingdings" pitchFamily="2" charset="2"/>
                <a:buChar char="Ø"/>
              </a:pPr>
              <a:r>
                <a:rPr lang="zh-CN" altLang="en-US" sz="900" b="1" dirty="0">
                  <a:solidFill>
                    <a:srgbClr val="696A6C"/>
                  </a:solidFill>
                  <a:latin typeface="Audi Type" panose="020B0503040202060203" pitchFamily="34" charset="0"/>
                  <a:ea typeface="微软雅黑" panose="020B0503020204020204" pitchFamily="34" charset="-122"/>
                </a:rPr>
                <a:t>深化 </a:t>
              </a:r>
              <a:r>
                <a:rPr lang="en-US" altLang="zh-CN" sz="900" b="1" dirty="0">
                  <a:solidFill>
                    <a:srgbClr val="696A6C"/>
                  </a:solidFill>
                  <a:latin typeface="Audi Type" panose="020B0503040202060203" pitchFamily="34" charset="0"/>
                  <a:ea typeface="微软雅黑" panose="020B0503020204020204" pitchFamily="34" charset="-122"/>
                </a:rPr>
                <a:t>S&amp;OP </a:t>
              </a:r>
              <a:r>
                <a:rPr lang="zh-CN" altLang="en-US" sz="900" b="1" dirty="0">
                  <a:solidFill>
                    <a:srgbClr val="696A6C"/>
                  </a:solidFill>
                  <a:latin typeface="Audi Type" panose="020B0503040202060203" pitchFamily="34" charset="0"/>
                  <a:ea typeface="微软雅黑" panose="020B0503020204020204" pitchFamily="34" charset="-122"/>
                </a:rPr>
                <a:t>协同机制：</a:t>
              </a:r>
            </a:p>
            <a:p>
              <a:pPr marL="171450" lvl="1"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rPr>
                <a:t>优化销售与运营计划流程，有效平衡了市场需求波动与制造稳定性之间的矛盾，为后续引入更高级的数字化计划工具奠定了坚实的流程基础。</a:t>
              </a:r>
              <a:endParaRPr lang="en-US" altLang="zh-CN" sz="900" dirty="0">
                <a:solidFill>
                  <a:srgbClr val="696A6C"/>
                </a:solidFill>
                <a:latin typeface="Audi Type" panose="020B0503040202060203" pitchFamily="34" charset="0"/>
                <a:ea typeface="微软雅黑" panose="020B0503020204020204" pitchFamily="34" charset="-122"/>
              </a:endParaRPr>
            </a:p>
            <a:p>
              <a:pPr marL="0" lvl="1">
                <a:lnSpc>
                  <a:spcPct val="150000"/>
                </a:lnSpc>
              </a:pP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2006/Jul.</a:t>
              </a: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a:t>
              </a: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2010/Jan	</a:t>
              </a: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零</a:t>
              </a:r>
              <a:r>
                <a:rPr lang="zh-CN"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件筹措</a:t>
              </a: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&amp;</a:t>
              </a: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物料计划员</a:t>
              </a:r>
              <a:endPar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a:p>
              <a:pPr marL="171450" lvl="1" indent="-171450">
                <a:lnSpc>
                  <a:spcPct val="150000"/>
                </a:lnSpc>
                <a:buSzPct val="100000"/>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负责动力总成组件的日常物料计划与生产调度，为后续在供应链风险与战略领域的专家级角色奠定了坚实的运营基础。</a:t>
              </a:r>
              <a:endPar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p:txBody>
        </p:sp>
      </p:grpSp>
    </p:spTree>
    <p:extLst>
      <p:ext uri="{BB962C8B-B14F-4D97-AF65-F5344CB8AC3E}">
        <p14:creationId xmlns:p14="http://schemas.microsoft.com/office/powerpoint/2010/main" val="2168422566"/>
      </p:ext>
    </p:extLst>
  </p:cSld>
  <p:clrMapOvr>
    <a:masterClrMapping/>
  </p:clrMapOvr>
</p:sld>
</file>

<file path=ppt/theme/theme1.xml><?xml version="1.0" encoding="utf-8"?>
<a:theme xmlns:a="http://schemas.openxmlformats.org/drawingml/2006/main" name="简历​​">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Resume​​">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b0ff92c5-92ff-43fe-a760-6a9303f9073d}" enabled="1" method="Standard" siteId="{1272ef7d-0a4c-4c35-8f4b-416e283c5d59}" contentBits="3" removed="0"/>
</clbl:labelList>
</file>

<file path=docProps/app.xml><?xml version="1.0" encoding="utf-8"?>
<Properties xmlns="http://schemas.openxmlformats.org/officeDocument/2006/extended-properties" xmlns:vt="http://schemas.openxmlformats.org/officeDocument/2006/docPropsVTypes">
  <Template>Office Theme</Template>
  <TotalTime>224</TotalTime>
  <Words>1202</Words>
  <Application>Microsoft Macintosh PowerPoint</Application>
  <PresentationFormat>A4 纸张(210x297 毫米)</PresentationFormat>
  <Paragraphs>45</Paragraphs>
  <Slides>2</Slides>
  <Notes>0</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2</vt:i4>
      </vt:variant>
    </vt:vector>
  </HeadingPairs>
  <TitlesOfParts>
    <vt:vector size="10" baseType="lpstr">
      <vt:lpstr>微软雅黑</vt:lpstr>
      <vt:lpstr>Audi Type</vt:lpstr>
      <vt:lpstr>Arial</vt:lpstr>
      <vt:lpstr>Arial</vt:lpstr>
      <vt:lpstr>Calibri</vt:lpstr>
      <vt:lpstr>Wingdings</vt:lpstr>
      <vt:lpstr>简历​​</vt:lpstr>
      <vt:lpstr>Resume​​</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 Jiajun (VWPT)</dc:creator>
  <cp:lastModifiedBy>Li Jiajun</cp:lastModifiedBy>
  <cp:revision>295</cp:revision>
  <dcterms:created xsi:type="dcterms:W3CDTF">2021-08-12T03:08:11Z</dcterms:created>
  <dcterms:modified xsi:type="dcterms:W3CDTF">2026-03-01T07:15:28Z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简历​​:3\Resume​​:3</vt:lpwstr>
  </property>
  <property fmtid="{D5CDD505-2E9C-101B-9397-08002B2CF9AE}" pid="3" name="ClassificationContentMarkingFooterText">
    <vt:lpwstr>INTERNAL</vt:lpwstr>
  </property>
</Properties>
</file>