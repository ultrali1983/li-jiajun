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7" r:id="rId2"/>
  </p:sldMasterIdLst>
  <p:sldIdLst>
    <p:sldId id="258" r:id="rId3"/>
    <p:sldId id="262" r:id="rId4"/>
    <p:sldId id="263" r:id="rId5"/>
    <p:sldId id="264" r:id="rId6"/>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62" autoAdjust="0"/>
    <p:restoredTop sz="94709"/>
  </p:normalViewPr>
  <p:slideViewPr>
    <p:cSldViewPr snapToGrid="0">
      <p:cViewPr>
        <p:scale>
          <a:sx n="131" d="100"/>
          <a:sy n="131" d="100"/>
        </p:scale>
        <p:origin x="283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29481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3030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115"/>
            <a:ext cx="1421552" cy="584775"/>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err="1">
                <a:solidFill>
                  <a:srgbClr val="9EA1A2"/>
                </a:solidFill>
                <a:latin typeface="arial" panose="020B0604020202020204" pitchFamily="34" charset="0"/>
                <a:ea typeface="微软雅黑" panose="020B0503020204020204" pitchFamily="34" charset="-122"/>
                <a:cs typeface="arial" panose="020B0604020202020204" pitchFamily="34" charset="0"/>
              </a:rPr>
              <a:t>ProjectExperience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no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4439714" y="0"/>
            <a:ext cx="1732483" cy="646331"/>
          </a:xfrm>
          <a:prstGeom prst="rect">
            <a:avLst/>
          </a:prstGeom>
          <a:noFill/>
        </p:spPr>
        <p:txBody>
          <a:bodyPr wrap="square" rtlCol="0">
            <a:spAutoFit/>
          </a:bodyPr>
          <a:lstStyle/>
          <a:p>
            <a:pPr algn="ctr"/>
            <a:r>
              <a:rPr lang="en-US" altLang="zh-CN" b="1" dirty="0" err="1">
                <a:solidFill>
                  <a:srgbClr val="0070C0"/>
                </a:solidFill>
                <a:latin typeface="微软雅黑" panose="020B0503020204020204" pitchFamily="34" charset="-122"/>
                <a:ea typeface="微软雅黑" panose="020B0503020204020204" pitchFamily="34" charset="-122"/>
              </a:rPr>
              <a:t>Project</a:t>
            </a:r>
            <a:r>
              <a:rPr lang="en-US" altLang="zh-CN" b="1" baseline="0" dirty="0" err="1">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C4A4C084-D159-6494-6A2C-8FD5CAC7333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2"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D03A1A15-18BF-D8BA-AC03-FD816A7069E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power.c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power.co/"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21916" y="301987"/>
            <a:ext cx="4100190" cy="703300"/>
            <a:chOff x="121916" y="399357"/>
            <a:chExt cx="4100190" cy="703300"/>
          </a:xfrm>
        </p:grpSpPr>
        <p:sp>
          <p:nvSpPr>
            <p:cNvPr id="4" name="文本框 3"/>
            <p:cNvSpPr txBox="1"/>
            <p:nvPr/>
          </p:nvSpPr>
          <p:spPr>
            <a:xfrm>
              <a:off x="178048" y="619383"/>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性别：男</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联系电话：</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13761058893</a:t>
              </a:r>
            </a:p>
          </p:txBody>
        </p:sp>
        <p:sp>
          <p:nvSpPr>
            <p:cNvPr id="10" name="文本框 9"/>
            <p:cNvSpPr txBox="1"/>
            <p:nvPr/>
          </p:nvSpPr>
          <p:spPr>
            <a:xfrm>
              <a:off x="1987592" y="609426"/>
              <a:ext cx="2234514" cy="277961"/>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邮箱：</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lijiajun_vwpt@163.com</a:t>
              </a:r>
              <a:endPar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1" name="文本框 10"/>
            <p:cNvSpPr txBox="1"/>
            <p:nvPr/>
          </p:nvSpPr>
          <p:spPr>
            <a:xfrm>
              <a:off x="121916" y="399357"/>
              <a:ext cx="757080" cy="261610"/>
            </a:xfrm>
            <a:prstGeom prst="rect">
              <a:avLst/>
            </a:prstGeom>
            <a:noFill/>
          </p:spPr>
          <p:txBody>
            <a:bodyPr wrap="square" rtlCol="0">
              <a:spAutoFit/>
            </a:bodyPr>
            <a:lstStyle/>
            <a:p>
              <a:pPr algn="ctr"/>
              <a:r>
                <a:rPr lang="zh-CN" altLang="en-US" sz="105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李嘉俊</a:t>
              </a:r>
            </a:p>
          </p:txBody>
        </p:sp>
      </p:grpSp>
      <p:grpSp>
        <p:nvGrpSpPr>
          <p:cNvPr id="19" name="组合 18"/>
          <p:cNvGrpSpPr/>
          <p:nvPr/>
        </p:nvGrpSpPr>
        <p:grpSpPr>
          <a:xfrm>
            <a:off x="190233" y="1998157"/>
            <a:ext cx="6540766" cy="7343987"/>
            <a:chOff x="185153" y="1175281"/>
            <a:chExt cx="6540766" cy="7343987"/>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852003" cy="7341625"/>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2022.05</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至今</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奥迪（中国）</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lvl="4">
                <a:lnSpc>
                  <a:spcPct val="150000"/>
                </a:lnSpc>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（亚太区）供应链审核与规划员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全球供应商资格认证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 6.8)</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担任大众集团认证的</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 6.8</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专家，作为主审核员，负责奥迪、保时捷、兰博基尼及 </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hlinkClick r:id="rId2">
                    <a:extLst>
                      <a:ext uri="{A12FA001-AC4F-418D-AE19-62706E023703}">
                        <ahyp:hlinkClr xmlns:ahyp="http://schemas.microsoft.com/office/drawing/2018/hyperlinkcolor" val="tx"/>
                      </a:ext>
                    </a:extLst>
                  </a:hlinkClick>
                </a:rPr>
                <a:t>Power.Co</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新项目目标供应商的端到端供应链流程（涵盖信息流与实物流）审核。</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在亚太地区执行了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100+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家供应商的全过程审核，对象包括本土顶尖企业（如联想、三花）及国际知名企业（如大同金属、百乐仕、日本理研）。</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提供关键的审核结论，作为项目定点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(Project Sourcing)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决策的必要前提条件，直接影响大众集团高端全球项目的供应链合作伙伴选择。</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战略供应商开发与成熟度管理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在大众集团成本优化与电气化转型战略背景下，主导针对表现不佳或跨行业供应商的专项改进计划。成功辅导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家供应商达到集团严苛标准，确保了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6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个新项目的顺利启动。</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作为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PPE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中国项目 的核心成员，依据 </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框架管理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11+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家关键供应商（包括三花集团、舍弗勒）的供应链成熟度，确保按时完成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SOP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搭建并达成项目里程碑。</a:t>
              </a:r>
            </a:p>
            <a:p>
              <a:pPr marL="171450" lvl="1"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产能全生命周期管理与优化：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通过现场技术指导，领导新项目的产能规划与爬坡支持。实现了显著的效率提升，例如：将某德资制动卡钳工厂的装配线节拍从</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35.4</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秒</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件 优化至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27.3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秒</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件（提升</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），确保了生产稳定性及爬坡就绪状态。</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在量产阶段主动介入，解决产能瓶颈与供应中断问题，保障生产连续性。</a:t>
              </a:r>
            </a:p>
            <a:p>
              <a:pPr marL="171450" lvl="1"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供应链咨询业务搭建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从</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从零开始创立并启动了奥迪中国的外部供应链咨询业务单元，在</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个月内完成了框架设计、流程定义与落地实施。</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为外部客户提供定制化优化解决方案，并取得可量化的成果：通过流程与仓储优化，成功帮助某德资大客户将供应链总运营成本降低了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17%</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（从人民币</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千</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6</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百万降至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千万元）。</a:t>
              </a: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2022/May</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汽大众</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2016/Feb.~2022/May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供应链管理</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专家</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lvl="1"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供应链风险预测与决策支持：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领导前瞻性风险评估，监控覆盖</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500+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关键零部件的</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150+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物料组 的产能、供需动态及市场趋势。</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成功预判中断风险（如芯片短缺、产能极限），并为</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S&amp;OP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（销售与运营规划）流程提供关键输入，驱动产能调整与生产排程优化。</a:t>
              </a:r>
            </a:p>
            <a:p>
              <a:pPr marL="171450" lvl="1"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风险缓解体系搭建： </a:t>
              </a:r>
            </a:p>
            <a:p>
              <a:pPr marL="171450" lvl="1"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建立了稳健的供应链风险分析模型，并制定了全面的应急预案，包括二供开发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(Second-source qualification)</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和安全库存策略，确保在全球危机期间生产不间断。</a:t>
              </a:r>
            </a:p>
            <a:p>
              <a:pPr>
                <a:lnSpc>
                  <a:spcPct val="150000"/>
                </a:lnSpc>
                <a:buSzPct val="100000"/>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2016/Jan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零</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件筹措</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&amp;</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物料计划员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lvl="1" indent="-171450">
                <a:lnSpc>
                  <a:spcPct val="150000"/>
                </a:lnSpc>
                <a:buSzPct val="100000"/>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负责动力总成组件的日常物料计划与生产调度，为后续在供应链风险与战略领域的专家级角色奠定了坚实的运营基础。</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5" name="组合 4">
            <a:extLst>
              <a:ext uri="{FF2B5EF4-FFF2-40B4-BE49-F238E27FC236}">
                <a16:creationId xmlns:a16="http://schemas.microsoft.com/office/drawing/2014/main" id="{D49E7037-9BF5-BCB5-D9B9-37F4F4B2175D}"/>
              </a:ext>
            </a:extLst>
          </p:cNvPr>
          <p:cNvGrpSpPr/>
          <p:nvPr/>
        </p:nvGrpSpPr>
        <p:grpSpPr>
          <a:xfrm>
            <a:off x="185153" y="1062437"/>
            <a:ext cx="6566166" cy="905170"/>
            <a:chOff x="185153" y="1062437"/>
            <a:chExt cx="6566166" cy="905170"/>
          </a:xfrm>
        </p:grpSpPr>
        <p:sp>
          <p:nvSpPr>
            <p:cNvPr id="9" name="文本框 8">
              <a:extLst>
                <a:ext uri="{FF2B5EF4-FFF2-40B4-BE49-F238E27FC236}">
                  <a16:creationId xmlns:a16="http://schemas.microsoft.com/office/drawing/2014/main" id="{CC1EBB91-CDFE-B640-B2D6-B8BB71CC595B}"/>
                </a:ext>
              </a:extLst>
            </p:cNvPr>
            <p:cNvSpPr txBox="1"/>
            <p:nvPr/>
          </p:nvSpPr>
          <p:spPr>
            <a:xfrm>
              <a:off x="878996" y="1066206"/>
              <a:ext cx="5872323" cy="901401"/>
            </a:xfrm>
            <a:prstGeom prst="rect">
              <a:avLst/>
            </a:prstGeom>
            <a:noFill/>
          </p:spPr>
          <p:txBody>
            <a:bodyPr wrap="square" rtlCol="0">
              <a:spAutoFit/>
            </a:bodyPr>
            <a:lstStyle/>
            <a:p>
              <a:pPr>
                <a:lnSpc>
                  <a:spcPct val="150000"/>
                </a:lnSpc>
              </a:pPr>
              <a:r>
                <a:rPr lang="zh-CN" altLang="en-US" sz="900" dirty="0">
                  <a:solidFill>
                    <a:srgbClr val="696A6C"/>
                  </a:solidFill>
                  <a:latin typeface="Microsoft YaHei" panose="020B0503020204020204" pitchFamily="34" charset="-122"/>
                  <a:ea typeface="Microsoft YaHei" panose="020B0503020204020204" pitchFamily="34" charset="-122"/>
                </a:rPr>
                <a:t>结果导向的供应链管理者，在大众集团体系内拥有超过 </a:t>
              </a:r>
              <a:r>
                <a:rPr lang="en-US" altLang="zh-CN" sz="900" dirty="0">
                  <a:solidFill>
                    <a:srgbClr val="696A6C"/>
                  </a:solidFill>
                  <a:latin typeface="Microsoft YaHei" panose="020B0503020204020204" pitchFamily="34" charset="-122"/>
                  <a:ea typeface="Microsoft YaHei" panose="020B0503020204020204" pitchFamily="34" charset="-122"/>
                </a:rPr>
                <a:t>20 </a:t>
              </a:r>
              <a:r>
                <a:rPr lang="zh-CN" altLang="en-US" sz="900" dirty="0">
                  <a:solidFill>
                    <a:srgbClr val="696A6C"/>
                  </a:solidFill>
                  <a:latin typeface="Microsoft YaHei" panose="020B0503020204020204" pitchFamily="34" charset="-122"/>
                  <a:ea typeface="Microsoft YaHei" panose="020B0503020204020204" pitchFamily="34" charset="-122"/>
                </a:rPr>
                <a:t>年的深厚经验，专注于在亚太地区建立符合欧洲质量的供应链标准。作为认证的 </a:t>
              </a:r>
              <a:r>
                <a:rPr lang="en-US" altLang="zh-CN" sz="900" dirty="0">
                  <a:solidFill>
                    <a:srgbClr val="696A6C"/>
                  </a:solidFill>
                  <a:latin typeface="Microsoft YaHei" panose="020B0503020204020204" pitchFamily="34" charset="-122"/>
                  <a:ea typeface="Microsoft YaHei" panose="020B0503020204020204" pitchFamily="34" charset="-122"/>
                </a:rPr>
                <a:t>VDA 6.8 </a:t>
              </a:r>
              <a:r>
                <a:rPr lang="zh-CN" altLang="en-US" sz="900" dirty="0">
                  <a:solidFill>
                    <a:srgbClr val="696A6C"/>
                  </a:solidFill>
                  <a:latin typeface="Microsoft YaHei" panose="020B0503020204020204" pitchFamily="34" charset="-122"/>
                  <a:ea typeface="Microsoft YaHei" panose="020B0503020204020204" pitchFamily="34" charset="-122"/>
                </a:rPr>
                <a:t>审核员 和 </a:t>
              </a:r>
              <a:r>
                <a:rPr lang="en-US" altLang="zh-CN" sz="900" dirty="0" err="1">
                  <a:solidFill>
                    <a:srgbClr val="696A6C"/>
                  </a:solidFill>
                  <a:latin typeface="Microsoft YaHei" panose="020B0503020204020204" pitchFamily="34" charset="-122"/>
                  <a:ea typeface="Microsoft YaHei" panose="020B0503020204020204" pitchFamily="34" charset="-122"/>
                </a:rPr>
                <a:t>QPNi</a:t>
              </a:r>
              <a:r>
                <a:rPr lang="en-US" altLang="zh-CN" sz="900" dirty="0">
                  <a:solidFill>
                    <a:srgbClr val="696A6C"/>
                  </a:solidFill>
                  <a:latin typeface="Microsoft YaHei" panose="020B0503020204020204" pitchFamily="34" charset="-122"/>
                  <a:ea typeface="Microsoft YaHei" panose="020B0503020204020204" pitchFamily="34" charset="-122"/>
                </a:rPr>
                <a:t> </a:t>
              </a:r>
              <a:r>
                <a:rPr lang="zh-CN" altLang="en-US" sz="900" dirty="0">
                  <a:solidFill>
                    <a:srgbClr val="696A6C"/>
                  </a:solidFill>
                  <a:latin typeface="Microsoft YaHei" panose="020B0503020204020204" pitchFamily="34" charset="-122"/>
                  <a:ea typeface="Microsoft YaHei" panose="020B0503020204020204" pitchFamily="34" charset="-122"/>
                </a:rPr>
                <a:t>成熟度管理专家，在管理奥迪、保时捷、兰博基尼等高端品牌的供应商资格认证方面拥有卓越的业绩记录。精通端到端供应链审核、战略供应商开发、产能优化及风险管理。成功从零开始搭建了奥迪中国的外部供应链咨询业务，为全球客户实现了显著的成本降低和效率提升。</a:t>
              </a:r>
              <a:endParaRPr lang="en-US" altLang="zh-CN" sz="900" dirty="0">
                <a:solidFill>
                  <a:srgbClr val="696A6C"/>
                </a:solidFill>
                <a:latin typeface="Microsoft YaHei" panose="020B0503020204020204" pitchFamily="34" charset="-122"/>
                <a:ea typeface="Microsoft YaHei" panose="020B0503020204020204" pitchFamily="34" charset="-122"/>
                <a:cs typeface="Audi Type" panose="020B0503040202060203" pitchFamily="34" charset="0"/>
              </a:endParaRPr>
            </a:p>
          </p:txBody>
        </p:sp>
        <p:sp>
          <p:nvSpPr>
            <p:cNvPr id="2" name="文本框 1">
              <a:extLst>
                <a:ext uri="{FF2B5EF4-FFF2-40B4-BE49-F238E27FC236}">
                  <a16:creationId xmlns:a16="http://schemas.microsoft.com/office/drawing/2014/main" id="{F48A679A-E077-2E81-566F-A484A09D218E}"/>
                </a:ext>
              </a:extLst>
            </p:cNvPr>
            <p:cNvSpPr txBox="1"/>
            <p:nvPr/>
          </p:nvSpPr>
          <p:spPr>
            <a:xfrm>
              <a:off x="185153" y="1062437"/>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职业总结</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8F0B766-33F7-CC74-F5B3-0746407F6C4C}"/>
              </a:ext>
            </a:extLst>
          </p:cNvPr>
          <p:cNvGrpSpPr/>
          <p:nvPr/>
        </p:nvGrpSpPr>
        <p:grpSpPr>
          <a:xfrm>
            <a:off x="158616" y="527575"/>
            <a:ext cx="6540767" cy="1106521"/>
            <a:chOff x="190233" y="9241051"/>
            <a:chExt cx="6540767" cy="1106521"/>
          </a:xfrm>
        </p:grpSpPr>
        <p:sp>
          <p:nvSpPr>
            <p:cNvPr id="3" name="文本框 2">
              <a:extLst>
                <a:ext uri="{FF2B5EF4-FFF2-40B4-BE49-F238E27FC236}">
                  <a16:creationId xmlns:a16="http://schemas.microsoft.com/office/drawing/2014/main" id="{78C82FCF-2223-E748-9F59-65662898D0BD}"/>
                </a:ext>
              </a:extLst>
            </p:cNvPr>
            <p:cNvSpPr txBox="1"/>
            <p:nvPr/>
          </p:nvSpPr>
          <p:spPr>
            <a:xfrm>
              <a:off x="190233" y="924105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核心竞争力</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4" name="文本框 3">
              <a:extLst>
                <a:ext uri="{FF2B5EF4-FFF2-40B4-BE49-F238E27FC236}">
                  <a16:creationId xmlns:a16="http://schemas.microsoft.com/office/drawing/2014/main" id="{FC4675F5-E586-730D-5000-2276FCE4E47C}"/>
                </a:ext>
              </a:extLst>
            </p:cNvPr>
            <p:cNvSpPr txBox="1"/>
            <p:nvPr/>
          </p:nvSpPr>
          <p:spPr>
            <a:xfrm>
              <a:off x="887750" y="9241051"/>
              <a:ext cx="5843250" cy="110652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供应链审核：</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 6.8, VDA 6.3, </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成熟度管理</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供应商开发：产能规划，</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（量产启动）爬坡支持</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风险管理：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S&amp;OP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（销售与运营规划）集成，中断缓解，连续性计划</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咨询与战略：商业模式搭建（从</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），成本优化，流程再造</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全球利益相关者管理：跨文化谈判，主机厂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(OEM)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与一级供应商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(Tier-1)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对接</a:t>
              </a:r>
            </a:p>
          </p:txBody>
        </p:sp>
      </p:grpSp>
      <p:grpSp>
        <p:nvGrpSpPr>
          <p:cNvPr id="8" name="组合 7">
            <a:extLst>
              <a:ext uri="{FF2B5EF4-FFF2-40B4-BE49-F238E27FC236}">
                <a16:creationId xmlns:a16="http://schemas.microsoft.com/office/drawing/2014/main" id="{B892CCD4-D3B2-E1C4-9FBC-1208FFB76AA0}"/>
              </a:ext>
            </a:extLst>
          </p:cNvPr>
          <p:cNvGrpSpPr/>
          <p:nvPr/>
        </p:nvGrpSpPr>
        <p:grpSpPr>
          <a:xfrm>
            <a:off x="185153" y="1671045"/>
            <a:ext cx="6545846" cy="277887"/>
            <a:chOff x="185153" y="1175281"/>
            <a:chExt cx="6545846" cy="277887"/>
          </a:xfrm>
        </p:grpSpPr>
        <p:sp>
          <p:nvSpPr>
            <p:cNvPr id="9" name="文本框 8">
              <a:extLst>
                <a:ext uri="{FF2B5EF4-FFF2-40B4-BE49-F238E27FC236}">
                  <a16:creationId xmlns:a16="http://schemas.microsoft.com/office/drawing/2014/main" id="{24810E15-0C82-516B-3EED-F8CB5295D5E3}"/>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教育背景</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0" name="文本框 9">
              <a:extLst>
                <a:ext uri="{FF2B5EF4-FFF2-40B4-BE49-F238E27FC236}">
                  <a16:creationId xmlns:a16="http://schemas.microsoft.com/office/drawing/2014/main" id="{416E1EFA-CB1C-0BF8-BD7B-2C492C1DB07C}"/>
                </a:ext>
              </a:extLst>
            </p:cNvPr>
            <p:cNvSpPr txBox="1"/>
            <p:nvPr/>
          </p:nvSpPr>
          <p:spPr>
            <a:xfrm>
              <a:off x="878997" y="1177643"/>
              <a:ext cx="5852002" cy="275525"/>
            </a:xfrm>
            <a:prstGeom prst="rect">
              <a:avLst/>
            </a:prstGeom>
            <a:noFill/>
          </p:spPr>
          <p:txBody>
            <a:bodyPr wrap="square" rtlCol="0">
              <a:spAutoFit/>
            </a:bodyPr>
            <a:lstStyle/>
            <a:p>
              <a:pPr>
                <a:lnSpc>
                  <a:spcPct val="150000"/>
                </a:lnSpc>
              </a:pP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2002/Sep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上海海事大学</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轮机工程专业</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本科（工学学士）</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spTree>
    <p:extLst>
      <p:ext uri="{BB962C8B-B14F-4D97-AF65-F5344CB8AC3E}">
        <p14:creationId xmlns:p14="http://schemas.microsoft.com/office/powerpoint/2010/main" val="2168422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18F5-B91E-619B-4E0E-F06D8A2B13F4}"/>
            </a:ext>
          </a:extLst>
        </p:cNvPr>
        <p:cNvGrpSpPr/>
        <p:nvPr/>
      </p:nvGrpSpPr>
      <p:grpSpPr>
        <a:xfrm>
          <a:off x="0" y="0"/>
          <a:ext cx="0" cy="0"/>
          <a:chOff x="0" y="0"/>
          <a:chExt cx="0" cy="0"/>
        </a:xfrm>
      </p:grpSpPr>
      <p:sp>
        <p:nvSpPr>
          <p:cNvPr id="34" name="文本框 33">
            <a:extLst>
              <a:ext uri="{FF2B5EF4-FFF2-40B4-BE49-F238E27FC236}">
                <a16:creationId xmlns:a16="http://schemas.microsoft.com/office/drawing/2014/main" id="{A3DA7A87-C43E-A1CF-3392-1887FDAA9C7C}"/>
              </a:ext>
            </a:extLst>
          </p:cNvPr>
          <p:cNvSpPr txBox="1"/>
          <p:nvPr/>
        </p:nvSpPr>
        <p:spPr>
          <a:xfrm>
            <a:off x="-6062108" y="372938"/>
            <a:ext cx="1320800" cy="261610"/>
          </a:xfrm>
          <a:prstGeom prst="rect">
            <a:avLst/>
          </a:prstGeom>
          <a:noFill/>
        </p:spPr>
        <p:txBody>
          <a:bodyPr wrap="square" rtlCol="0" anchor="ctr">
            <a:spAutoFit/>
          </a:bodyPr>
          <a:lstStyle/>
          <a:p>
            <a:pPr algn="ctr"/>
            <a:r>
              <a:rPr lang="en-US" altLang="zh-CN"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rPr>
              <a:t>Certification</a:t>
            </a:r>
            <a:endParaRPr lang="zh-CN" altLang="en-US"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endParaRPr>
          </a:p>
        </p:txBody>
      </p:sp>
      <p:grpSp>
        <p:nvGrpSpPr>
          <p:cNvPr id="2" name="组合 1">
            <a:extLst>
              <a:ext uri="{FF2B5EF4-FFF2-40B4-BE49-F238E27FC236}">
                <a16:creationId xmlns:a16="http://schemas.microsoft.com/office/drawing/2014/main" id="{03489C8B-CBE6-5FD4-FE8E-0E0A517A87B7}"/>
              </a:ext>
            </a:extLst>
          </p:cNvPr>
          <p:cNvGrpSpPr/>
          <p:nvPr/>
        </p:nvGrpSpPr>
        <p:grpSpPr>
          <a:xfrm>
            <a:off x="170637" y="350174"/>
            <a:ext cx="6326942" cy="988219"/>
            <a:chOff x="37495" y="337813"/>
            <a:chExt cx="6326942" cy="1030956"/>
          </a:xfrm>
        </p:grpSpPr>
        <p:sp>
          <p:nvSpPr>
            <p:cNvPr id="10" name="文本框 9">
              <a:extLst>
                <a:ext uri="{FF2B5EF4-FFF2-40B4-BE49-F238E27FC236}">
                  <a16:creationId xmlns:a16="http://schemas.microsoft.com/office/drawing/2014/main" id="{9160D1C7-40BD-3AE8-3D23-CC892CB6B0F6}"/>
                </a:ext>
              </a:extLst>
            </p:cNvPr>
            <p:cNvSpPr txBox="1"/>
            <p:nvPr/>
          </p:nvSpPr>
          <p:spPr>
            <a:xfrm>
              <a:off x="37495" y="337813"/>
              <a:ext cx="3089831" cy="1030956"/>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Name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a:t>
              </a:r>
              <a:r>
                <a:rPr lang="zh-CN" altLang="en-US" sz="1000" dirty="0">
                  <a:latin typeface="Arial" panose="020B0604020202020204" pitchFamily="34" charset="0"/>
                  <a:ea typeface="微软雅黑" panose="020B0503020204020204" pitchFamily="34" charset="-122"/>
                  <a:cs typeface="Arial" panose="020B0604020202020204" pitchFamily="34" charset="0"/>
                </a:rPr>
                <a:t> </a:t>
              </a:r>
              <a:r>
                <a:rPr lang="en-US" altLang="zh-CN" sz="1000" dirty="0" err="1">
                  <a:latin typeface="Arial" panose="020B0604020202020204" pitchFamily="34" charset="0"/>
                  <a:ea typeface="微软雅黑" panose="020B0503020204020204" pitchFamily="34" charset="-122"/>
                  <a:cs typeface="Arial" panose="020B0604020202020204" pitchFamily="34" charset="0"/>
                </a:rPr>
                <a:t>Jiajun</a:t>
              </a:r>
              <a:endParaRPr lang="en-US" altLang="zh-CN" sz="100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Birthday:	Dec.1983</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Status</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Married</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Mail</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lijiajun_vwpt@163.com</a:t>
              </a:r>
              <a:endParaRPr lang="zh-CN" altLang="en-US" sz="10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E8CED473-158F-AFE3-0FA2-6581BD95E2D9}"/>
                </a:ext>
              </a:extLst>
            </p:cNvPr>
            <p:cNvSpPr txBox="1"/>
            <p:nvPr/>
          </p:nvSpPr>
          <p:spPr>
            <a:xfrm>
              <a:off x="3208353" y="337813"/>
              <a:ext cx="3156084" cy="790141"/>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Gender</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Male</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Location</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Shanghai, China</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Telephone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+86-13761058893</a:t>
              </a:r>
            </a:p>
          </p:txBody>
        </p:sp>
      </p:grpSp>
      <p:grpSp>
        <p:nvGrpSpPr>
          <p:cNvPr id="4" name="组合 3">
            <a:extLst>
              <a:ext uri="{FF2B5EF4-FFF2-40B4-BE49-F238E27FC236}">
                <a16:creationId xmlns:a16="http://schemas.microsoft.com/office/drawing/2014/main" id="{D0CF933D-8DED-371F-C5CC-234E22C9E351}"/>
              </a:ext>
            </a:extLst>
          </p:cNvPr>
          <p:cNvGrpSpPr/>
          <p:nvPr/>
        </p:nvGrpSpPr>
        <p:grpSpPr>
          <a:xfrm>
            <a:off x="189748" y="2768104"/>
            <a:ext cx="6462225" cy="6100543"/>
            <a:chOff x="156235" y="2052015"/>
            <a:chExt cx="6462225" cy="4675799"/>
          </a:xfrm>
        </p:grpSpPr>
        <p:sp>
          <p:nvSpPr>
            <p:cNvPr id="20" name="文本框 19">
              <a:extLst>
                <a:ext uri="{FF2B5EF4-FFF2-40B4-BE49-F238E27FC236}">
                  <a16:creationId xmlns:a16="http://schemas.microsoft.com/office/drawing/2014/main" id="{68095A53-EEFC-300B-ACB3-A5EBF9F0CD21}"/>
                </a:ext>
              </a:extLst>
            </p:cNvPr>
            <p:cNvSpPr txBox="1"/>
            <p:nvPr/>
          </p:nvSpPr>
          <p:spPr>
            <a:xfrm>
              <a:off x="172513" y="2272845"/>
              <a:ext cx="6445947" cy="4454969"/>
            </a:xfrm>
            <a:prstGeom prst="rect">
              <a:avLst/>
            </a:prstGeom>
            <a:noFill/>
          </p:spPr>
          <p:txBody>
            <a:bodyPr wrap="square" rtlCol="0">
              <a:spAutoFit/>
            </a:bodyPr>
            <a:lstStyle/>
            <a:p>
              <a:pPr>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Present	Audi</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China</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Supply</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Chain</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Great</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Asia</a:t>
              </a:r>
            </a:p>
            <a:p>
              <a:pPr lvl="2">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Supply Chain Auditor and Planner</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Global Supplier Qualification (VDA 6.8): </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Serve as the certified VDA 6.8 Expert for the Volkswagen Group, acting as the lead auditor for end-to-end supply chain processes (information &amp; material flow) for new project targets across Audi, Porsche, Lamborghini, and </a:t>
              </a:r>
              <a:r>
                <a:rPr lang="en-US" sz="900" dirty="0" err="1">
                  <a:latin typeface="Arial" panose="020B0604020202020204" pitchFamily="34" charset="0"/>
                  <a:ea typeface="微软雅黑" panose="020B0503020204020204" pitchFamily="34" charset="-122"/>
                  <a:cs typeface="Arial" panose="020B0604020202020204" pitchFamily="34" charset="0"/>
                  <a:hlinkClick r:id="rId2">
                    <a:extLst>
                      <a:ext uri="{A12FA001-AC4F-418D-AE19-62706E023703}">
                        <ahyp:hlinkClr xmlns:ahyp="http://schemas.microsoft.com/office/drawing/2018/hyperlinkcolor" val="tx"/>
                      </a:ext>
                    </a:extLst>
                  </a:hlinkClick>
                </a:rPr>
                <a:t>Power.Co</a:t>
              </a:r>
              <a:r>
                <a:rPr lang="en-US" sz="900" dirty="0">
                  <a:latin typeface="Arial" panose="020B0604020202020204" pitchFamily="34" charset="0"/>
                  <a:ea typeface="微软雅黑" panose="020B0503020204020204" pitchFamily="34" charset="-122"/>
                  <a:cs typeface="Arial" panose="020B0604020202020204" pitchFamily="34" charset="0"/>
                </a:rPr>
                <a:t>.</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Executed comprehensive audits for 100+ suppliers in the Asia-Pacific region, including top-tier local firms (e.g., Lenovo, </a:t>
              </a:r>
              <a:r>
                <a:rPr lang="en-US" sz="900" dirty="0" err="1">
                  <a:latin typeface="Arial" panose="020B0604020202020204" pitchFamily="34" charset="0"/>
                  <a:ea typeface="微软雅黑" panose="020B0503020204020204" pitchFamily="34" charset="-122"/>
                  <a:cs typeface="Arial" panose="020B0604020202020204" pitchFamily="34" charset="0"/>
                </a:rPr>
                <a:t>Sanhua</a:t>
              </a:r>
              <a:r>
                <a:rPr lang="en-US" sz="900" dirty="0">
                  <a:latin typeface="Arial" panose="020B0604020202020204" pitchFamily="34" charset="0"/>
                  <a:ea typeface="微软雅黑" panose="020B0503020204020204" pitchFamily="34" charset="-122"/>
                  <a:cs typeface="Arial" panose="020B0604020202020204" pitchFamily="34" charset="0"/>
                </a:rPr>
                <a:t>) and international enterprise (e.g., Daido Metal, Pilz, Riken Japan).</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Deliver critical audit conclusions that serve as the mandatory prerequisite for Project Sourcing decisions, directly influencing the selection of supply chain partners for high-end global programs.</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Strategic Supplier Development &amp; Maturity Management (</a:t>
              </a:r>
              <a:r>
                <a:rPr lang="en-US" sz="900" b="1" dirty="0" err="1">
                  <a:latin typeface="Arial" panose="020B0604020202020204" pitchFamily="34" charset="0"/>
                  <a:ea typeface="微软雅黑" panose="020B0503020204020204" pitchFamily="34" charset="-122"/>
                  <a:cs typeface="Arial" panose="020B0604020202020204" pitchFamily="34" charset="0"/>
                </a:rPr>
                <a:t>QPNi</a:t>
              </a:r>
              <a:r>
                <a:rPr lang="en-US" sz="900" b="1" dirty="0">
                  <a:latin typeface="Arial" panose="020B0604020202020204" pitchFamily="34" charset="0"/>
                  <a:ea typeface="微软雅黑" panose="020B0503020204020204" pitchFamily="34" charset="-122"/>
                  <a:cs typeface="Arial" panose="020B0604020202020204" pitchFamily="34" charset="0"/>
                </a:rPr>
                <a:t>): </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Spearhead targeted improvement initiatives for underperforming or cross-industry suppliers under VW Group's cost optimization and electrification strategy. Successfully coached 13 suppliers to meet stringent group standards, securing the launch of 6 new projects.</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As a core member of the PPE China Project, managed supply chain maturity for 11+** **key suppliers (including </a:t>
              </a:r>
              <a:r>
                <a:rPr lang="en-US" sz="900" dirty="0" err="1">
                  <a:latin typeface="Arial" panose="020B0604020202020204" pitchFamily="34" charset="0"/>
                  <a:ea typeface="微软雅黑" panose="020B0503020204020204" pitchFamily="34" charset="-122"/>
                  <a:cs typeface="Arial" panose="020B0604020202020204" pitchFamily="34" charset="0"/>
                </a:rPr>
                <a:t>Sanhua</a:t>
              </a:r>
              <a:r>
                <a:rPr lang="en-US" sz="900" dirty="0">
                  <a:latin typeface="Arial" panose="020B0604020202020204" pitchFamily="34" charset="0"/>
                  <a:ea typeface="微软雅黑" panose="020B0503020204020204" pitchFamily="34" charset="-122"/>
                  <a:cs typeface="Arial" panose="020B0604020202020204" pitchFamily="34" charset="0"/>
                </a:rPr>
                <a:t> Group, Schaeffler) per </a:t>
              </a:r>
              <a:r>
                <a:rPr lang="en-US" sz="900" dirty="0" err="1">
                  <a:latin typeface="Arial" panose="020B0604020202020204" pitchFamily="34" charset="0"/>
                  <a:ea typeface="微软雅黑" panose="020B0503020204020204" pitchFamily="34" charset="-122"/>
                  <a:cs typeface="Arial" panose="020B0604020202020204" pitchFamily="34" charset="0"/>
                </a:rPr>
                <a:t>QPNi</a:t>
              </a:r>
              <a:r>
                <a:rPr lang="en-US" sz="900" dirty="0">
                  <a:latin typeface="Arial" panose="020B0604020202020204" pitchFamily="34" charset="0"/>
                  <a:ea typeface="微软雅黑" panose="020B0503020204020204" pitchFamily="34" charset="-122"/>
                  <a:cs typeface="Arial" panose="020B0604020202020204" pitchFamily="34" charset="0"/>
                </a:rPr>
                <a:t> frameworks, ensuring on-time completion of SOP setup and milestone achievement.</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Capacity Lifecycle Management &amp; Optimization: </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Lead capacity planning and ramp-up support for new projects through on-site technical guidance. Achieved significant efficiency gains, such as optimizing assembly line cycle-time for a German brake caliper plant from 35.4s/pcs to 27.3s/pcs (22% improvement), ensuring stability and (ramp-up) readiness.</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Proactively intervene in mass production phases to resolve capacity bottlenecks and supply disruptions, guaranteeing production continuity.</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Supply Chain Consulting Business Setup (0-to-1): </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Founded and launched Audi China's external supply chain consulting business unit from scratch, completing framework design, process definition, and implementation within 3 months.</a:t>
              </a:r>
            </a:p>
            <a:p>
              <a:pPr marL="0" lvl="1">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Delivered tailored optimization solutions for external clients, achieving measurable results: successfully reduced total supply chain operating costs by 17% (from RMB 36million to 30million) for a major German client through process and warehousing optimization.</a:t>
              </a:r>
              <a:br>
                <a:rPr lang="en-US" altLang="zh-CN" sz="900" dirty="0">
                  <a:solidFill>
                    <a:srgbClr val="81858C"/>
                  </a:solidFill>
                  <a:effectLst/>
                  <a:latin typeface="Arial" panose="020B0604020202020204" pitchFamily="34" charset="0"/>
                  <a:cs typeface="Arial" panose="020B0604020202020204" pitchFamily="34" charset="0"/>
                </a:rPr>
              </a:br>
              <a:endParaRPr lang="en-US" altLang="zh-CN" sz="900" dirty="0">
                <a:solidFill>
                  <a:srgbClr val="81858C"/>
                </a:solidFill>
                <a:effectLst/>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A4860F7C-EFC0-016A-3D5C-2F60F448E51B}"/>
                </a:ext>
              </a:extLst>
            </p:cNvPr>
            <p:cNvSpPr txBox="1"/>
            <p:nvPr/>
          </p:nvSpPr>
          <p:spPr>
            <a:xfrm>
              <a:off x="156235" y="2052015"/>
              <a:ext cx="2241486" cy="220830"/>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Working</a:t>
              </a:r>
              <a:r>
                <a:rPr lang="zh-CN" altLang="en-US" sz="1100" b="1" dirty="0">
                  <a:solidFill>
                    <a:srgbClr val="696A6C"/>
                  </a:solidFill>
                  <a:effectLst/>
                  <a:latin typeface="Arial" panose="020B0604020202020204" pitchFamily="34" charset="0"/>
                  <a:cs typeface="Arial" panose="020B0604020202020204" pitchFamily="34" charset="0"/>
                </a:rPr>
                <a:t> </a:t>
              </a:r>
              <a:r>
                <a:rPr lang="en-US" altLang="zh-CN" sz="1100" b="1" dirty="0">
                  <a:solidFill>
                    <a:srgbClr val="696A6C"/>
                  </a:solidFill>
                  <a:effectLst/>
                  <a:latin typeface="Arial" panose="020B0604020202020204" pitchFamily="34" charset="0"/>
                  <a:cs typeface="Arial" panose="020B0604020202020204" pitchFamily="34" charset="0"/>
                </a:rPr>
                <a:t>experience</a:t>
              </a:r>
            </a:p>
          </p:txBody>
        </p:sp>
      </p:grpSp>
      <p:grpSp>
        <p:nvGrpSpPr>
          <p:cNvPr id="3" name="组合 2">
            <a:extLst>
              <a:ext uri="{FF2B5EF4-FFF2-40B4-BE49-F238E27FC236}">
                <a16:creationId xmlns:a16="http://schemas.microsoft.com/office/drawing/2014/main" id="{B04AD02D-56E2-57A6-8ED9-A2CC90AEF992}"/>
              </a:ext>
            </a:extLst>
          </p:cNvPr>
          <p:cNvGrpSpPr/>
          <p:nvPr/>
        </p:nvGrpSpPr>
        <p:grpSpPr>
          <a:xfrm>
            <a:off x="159007" y="1312945"/>
            <a:ext cx="6507431" cy="1455159"/>
            <a:chOff x="158885" y="1462198"/>
            <a:chExt cx="6575668" cy="1561658"/>
          </a:xfrm>
        </p:grpSpPr>
        <p:sp>
          <p:nvSpPr>
            <p:cNvPr id="36" name="矩形 35">
              <a:extLst>
                <a:ext uri="{FF2B5EF4-FFF2-40B4-BE49-F238E27FC236}">
                  <a16:creationId xmlns:a16="http://schemas.microsoft.com/office/drawing/2014/main" id="{017DBABD-B5BE-E302-2492-D67CE2CC3C01}"/>
                </a:ext>
              </a:extLst>
            </p:cNvPr>
            <p:cNvSpPr/>
            <p:nvPr/>
          </p:nvSpPr>
          <p:spPr>
            <a:xfrm>
              <a:off x="170637" y="1630463"/>
              <a:ext cx="6563916" cy="1393393"/>
            </a:xfrm>
            <a:prstGeom prst="rect">
              <a:avLst/>
            </a:prstGeom>
          </p:spPr>
          <p:txBody>
            <a:bodyPr wrap="square">
              <a:spAutoFit/>
            </a:bodyPr>
            <a:lstStyle/>
            <a:p>
              <a:pPr>
                <a:lnSpc>
                  <a:spcPts val="1600"/>
                </a:lnSpc>
              </a:pPr>
              <a:r>
                <a:rPr lang="en-US" sz="900" dirty="0">
                  <a:latin typeface="Arial" panose="020B0604020202020204" pitchFamily="34" charset="0"/>
                  <a:cs typeface="Arial" panose="020B0604020202020204" pitchFamily="34" charset="0"/>
                </a:rPr>
                <a:t>Results-driven Supply Chain Executive with over 20 years of expertise within the Volkswagen Group ecosystem, specializing in establishing European-quality supply chain standards across the Asia-Pacific region. Certified VDA 6.8 Auditor and </a:t>
              </a:r>
              <a:r>
                <a:rPr lang="en-US" sz="900" dirty="0" err="1">
                  <a:latin typeface="Arial" panose="020B0604020202020204" pitchFamily="34" charset="0"/>
                  <a:cs typeface="Arial" panose="020B0604020202020204" pitchFamily="34" charset="0"/>
                </a:rPr>
                <a:t>QPNi</a:t>
              </a:r>
              <a:r>
                <a:rPr lang="en-US" sz="900" dirty="0">
                  <a:latin typeface="Arial" panose="020B0604020202020204" pitchFamily="34" charset="0"/>
                  <a:cs typeface="Arial" panose="020B0604020202020204" pitchFamily="34" charset="0"/>
                </a:rPr>
                <a:t> Maturity Expert with a proven track record of managing supplier qualification for premium brands (Audi, Porsche, Lamborghini). Expert in end-to-end supply chain auditing, strategic supplier development, capacity optimization, and risk management. Successfully built Audi China's external supply chain consulting business from scratch, delivering significant cost reductions and efficiency gains for global clients.</a:t>
              </a:r>
              <a:endParaRPr lang="en-US" altLang="zh-CN" sz="900" dirty="0">
                <a:latin typeface="Arial" panose="020B0604020202020204" pitchFamily="34" charset="0"/>
                <a:ea typeface="微软雅黑" panose="020B0503020204020204" pitchFamily="34" charset="-122"/>
                <a:cs typeface="Arial" panose="020B0604020202020204" pitchFamily="34" charset="0"/>
              </a:endParaRPr>
            </a:p>
          </p:txBody>
        </p:sp>
        <p:sp>
          <p:nvSpPr>
            <p:cNvPr id="25" name="文本框 24">
              <a:extLst>
                <a:ext uri="{FF2B5EF4-FFF2-40B4-BE49-F238E27FC236}">
                  <a16:creationId xmlns:a16="http://schemas.microsoft.com/office/drawing/2014/main" id="{8D6B2A49-6A18-1BD6-19CF-2B068F5C352F}"/>
                </a:ext>
              </a:extLst>
            </p:cNvPr>
            <p:cNvSpPr txBox="1"/>
            <p:nvPr/>
          </p:nvSpPr>
          <p:spPr>
            <a:xfrm>
              <a:off x="158885" y="1462198"/>
              <a:ext cx="2241486" cy="280757"/>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Professional</a:t>
              </a:r>
              <a:r>
                <a:rPr lang="zh-CN" altLang="en-US" sz="1100" b="1" dirty="0">
                  <a:solidFill>
                    <a:srgbClr val="696A6C"/>
                  </a:solidFill>
                  <a:effectLst/>
                  <a:latin typeface="Arial" panose="020B0604020202020204" pitchFamily="34" charset="0"/>
                  <a:cs typeface="Arial" panose="020B0604020202020204" pitchFamily="34" charset="0"/>
                </a:rPr>
                <a:t> </a:t>
              </a:r>
              <a:r>
                <a:rPr lang="en-US" altLang="zh-CN" sz="1100" b="1" dirty="0">
                  <a:solidFill>
                    <a:srgbClr val="696A6C"/>
                  </a:solidFill>
                  <a:latin typeface="Arial" panose="020B0604020202020204" pitchFamily="34" charset="0"/>
                  <a:cs typeface="Arial" panose="020B0604020202020204" pitchFamily="34" charset="0"/>
                </a:rPr>
                <a:t>S</a:t>
              </a:r>
              <a:r>
                <a:rPr lang="en-US" altLang="zh-CN" sz="1100" b="1" dirty="0">
                  <a:solidFill>
                    <a:srgbClr val="696A6C"/>
                  </a:solidFill>
                  <a:effectLst/>
                  <a:latin typeface="Arial" panose="020B0604020202020204" pitchFamily="34" charset="0"/>
                  <a:cs typeface="Arial" panose="020B0604020202020204" pitchFamily="34" charset="0"/>
                </a:rPr>
                <a:t>ummary</a:t>
              </a:r>
            </a:p>
          </p:txBody>
        </p:sp>
      </p:grpSp>
    </p:spTree>
    <p:extLst>
      <p:ext uri="{BB962C8B-B14F-4D97-AF65-F5344CB8AC3E}">
        <p14:creationId xmlns:p14="http://schemas.microsoft.com/office/powerpoint/2010/main" val="797032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725BA52-0742-6996-181D-A1A34C71EF59}"/>
              </a:ext>
            </a:extLst>
          </p:cNvPr>
          <p:cNvGrpSpPr/>
          <p:nvPr/>
        </p:nvGrpSpPr>
        <p:grpSpPr>
          <a:xfrm>
            <a:off x="200211" y="485243"/>
            <a:ext cx="6445947" cy="3218726"/>
            <a:chOff x="156235" y="2064156"/>
            <a:chExt cx="6445947" cy="2467013"/>
          </a:xfrm>
        </p:grpSpPr>
        <p:sp>
          <p:nvSpPr>
            <p:cNvPr id="3" name="文本框 2">
              <a:extLst>
                <a:ext uri="{FF2B5EF4-FFF2-40B4-BE49-F238E27FC236}">
                  <a16:creationId xmlns:a16="http://schemas.microsoft.com/office/drawing/2014/main" id="{970B93DC-0C3F-5227-D8A2-FE3294267764}"/>
                </a:ext>
              </a:extLst>
            </p:cNvPr>
            <p:cNvSpPr txBox="1"/>
            <p:nvPr/>
          </p:nvSpPr>
          <p:spPr>
            <a:xfrm>
              <a:off x="156235" y="2272845"/>
              <a:ext cx="6445947" cy="2258324"/>
            </a:xfrm>
            <a:prstGeom prst="rect">
              <a:avLst/>
            </a:prstGeom>
            <a:noFill/>
          </p:spPr>
          <p:txBody>
            <a:bodyPr wrap="square" rtlCol="0">
              <a:spAutoFit/>
            </a:bodyPr>
            <a:lstStyle/>
            <a:p>
              <a:pPr>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Shanghai Volkswagen Powertrain Co., Ltd. / SAIC Volkswagen</a:t>
              </a:r>
            </a:p>
            <a:p>
              <a:pPr>
                <a:lnSpc>
                  <a:spcPts val="1600"/>
                </a:lnSpc>
              </a:pP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2010.07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2022.05</a:t>
              </a:r>
              <a:r>
                <a:rPr lang="en-US" altLang="zh-CN" sz="10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Expert of supply chain management</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Supply Chain Risk Prediction &amp; Decision Support:</a:t>
              </a:r>
              <a:r>
                <a:rPr lang="en-US" sz="900" dirty="0">
                  <a:latin typeface="Arial" panose="020B0604020202020204" pitchFamily="34" charset="0"/>
                  <a:cs typeface="Arial" panose="020B0604020202020204" pitchFamily="34" charset="0"/>
                </a:rPr>
                <a:t> </a:t>
              </a:r>
            </a:p>
            <a:p>
              <a:pPr>
                <a:lnSpc>
                  <a:spcPts val="1600"/>
                </a:lnSpc>
              </a:pPr>
              <a:r>
                <a:rPr lang="en-US" sz="900" dirty="0">
                  <a:latin typeface="Arial" panose="020B0604020202020204" pitchFamily="34" charset="0"/>
                  <a:cs typeface="Arial" panose="020B0604020202020204" pitchFamily="34" charset="0"/>
                </a:rPr>
                <a:t>Led proactive risk assessment by monitoring capacity, supply-demand dynamics, and market trends for 150+ material groups covering 500+ critical components. Successfully predicted disruption risks (e.g., chip shortage, capacity limits) and provided key inputs to S&amp;OP (Sales &amp; Operations Planning) processes, driving capacity adjustments and production schedule optimizations.</a:t>
              </a:r>
            </a:p>
            <a:p>
              <a:pPr marL="171450" indent="-171450">
                <a:lnSpc>
                  <a:spcPts val="1600"/>
                </a:lnSpc>
                <a:buFont typeface="Arial" panose="020B0604020202020204" pitchFamily="34" charset="0"/>
                <a:buChar char="•"/>
              </a:pPr>
              <a:r>
                <a:rPr lang="en-US" sz="900" b="1" dirty="0">
                  <a:latin typeface="Arial" panose="020B0604020202020204" pitchFamily="34" charset="0"/>
                  <a:cs typeface="Arial" panose="020B0604020202020204" pitchFamily="34" charset="0"/>
                </a:rPr>
                <a:t>Risk Mitigation Framework Development:</a:t>
              </a:r>
              <a:r>
                <a:rPr lang="en-US" sz="900" dirty="0">
                  <a:latin typeface="Arial" panose="020B0604020202020204" pitchFamily="34" charset="0"/>
                  <a:cs typeface="Arial" panose="020B0604020202020204" pitchFamily="34" charset="0"/>
                </a:rPr>
                <a:t> </a:t>
              </a:r>
            </a:p>
            <a:p>
              <a:pPr>
                <a:lnSpc>
                  <a:spcPts val="1600"/>
                </a:lnSpc>
              </a:pPr>
              <a:r>
                <a:rPr lang="en-US" sz="900" dirty="0">
                  <a:latin typeface="Arial" panose="020B0604020202020204" pitchFamily="34" charset="0"/>
                  <a:cs typeface="Arial" panose="020B0604020202020204" pitchFamily="34" charset="0"/>
                </a:rPr>
                <a:t>Established a robust supply chain risk analysis model and developed comprehensive contingency plans, including second-source qualification and safety stock strategies, ensuring uninterrupted production continuity during global crises.</a:t>
              </a:r>
            </a:p>
            <a:p>
              <a:pPr>
                <a:lnSpc>
                  <a:spcPts val="1600"/>
                </a:lnSpc>
              </a:pPr>
              <a:endParaRPr lang="en-US" sz="900" dirty="0">
                <a:latin typeface="Arial" panose="020B0604020202020204" pitchFamily="34" charset="0"/>
                <a:ea typeface="微软雅黑" panose="020B0503020204020204" pitchFamily="34" charset="-122"/>
                <a:cs typeface="Arial" panose="020B0604020202020204" pitchFamily="34" charset="0"/>
              </a:endParaRPr>
            </a:p>
            <a:p>
              <a:pPr>
                <a:lnSpc>
                  <a:spcPts val="1600"/>
                </a:lnSpc>
              </a:pP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2010.06</a:t>
              </a:r>
              <a:r>
                <a:rPr lang="en-US" altLang="zh-CN" sz="10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Disposition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Material</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planner</a:t>
              </a:r>
            </a:p>
            <a:p>
              <a:pPr>
                <a:lnSpc>
                  <a:spcPts val="1600"/>
                </a:lnSpc>
              </a:pPr>
              <a:r>
                <a:rPr lang="en-US" sz="900" dirty="0">
                  <a:latin typeface="Arial" panose="020B0604020202020204" pitchFamily="34" charset="0"/>
                  <a:cs typeface="Arial" panose="020B0604020202020204" pitchFamily="34" charset="0"/>
                </a:rPr>
                <a:t>Managed daily material planning and production scheduling for powertrain components, laying the foundational operational expertise for subsequent expert-level roles in supply chain risk and strategy.</a:t>
              </a:r>
              <a:endParaRPr lang="en-US" altLang="zh-CN" sz="900" dirty="0">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88203EF0-0092-7E57-F1B0-11F52931108D}"/>
                </a:ext>
              </a:extLst>
            </p:cNvPr>
            <p:cNvSpPr txBox="1"/>
            <p:nvPr/>
          </p:nvSpPr>
          <p:spPr>
            <a:xfrm>
              <a:off x="156235" y="2064156"/>
              <a:ext cx="2241486" cy="220830"/>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Working</a:t>
              </a:r>
              <a:r>
                <a:rPr lang="zh-CN" altLang="en-US" sz="1100" b="1" dirty="0">
                  <a:solidFill>
                    <a:srgbClr val="696A6C"/>
                  </a:solidFill>
                  <a:effectLst/>
                  <a:latin typeface="Arial" panose="020B0604020202020204" pitchFamily="34" charset="0"/>
                  <a:cs typeface="Arial" panose="020B0604020202020204" pitchFamily="34" charset="0"/>
                </a:rPr>
                <a:t> </a:t>
              </a:r>
              <a:r>
                <a:rPr lang="en-US" altLang="zh-CN" sz="1100" b="1" dirty="0">
                  <a:solidFill>
                    <a:srgbClr val="696A6C"/>
                  </a:solidFill>
                  <a:effectLst/>
                  <a:latin typeface="Arial" panose="020B0604020202020204" pitchFamily="34" charset="0"/>
                  <a:cs typeface="Arial" panose="020B0604020202020204" pitchFamily="34" charset="0"/>
                </a:rPr>
                <a:t>experience</a:t>
              </a:r>
            </a:p>
          </p:txBody>
        </p:sp>
      </p:grpSp>
      <p:grpSp>
        <p:nvGrpSpPr>
          <p:cNvPr id="5" name="组合 4">
            <a:extLst>
              <a:ext uri="{FF2B5EF4-FFF2-40B4-BE49-F238E27FC236}">
                <a16:creationId xmlns:a16="http://schemas.microsoft.com/office/drawing/2014/main" id="{187D57CF-5133-CD7B-BADD-4DDB8C147594}"/>
              </a:ext>
            </a:extLst>
          </p:cNvPr>
          <p:cNvGrpSpPr/>
          <p:nvPr/>
        </p:nvGrpSpPr>
        <p:grpSpPr>
          <a:xfrm>
            <a:off x="159571" y="3826710"/>
            <a:ext cx="6486587" cy="1314119"/>
            <a:chOff x="115595" y="2109356"/>
            <a:chExt cx="6486587" cy="1007215"/>
          </a:xfrm>
        </p:grpSpPr>
        <p:sp>
          <p:nvSpPr>
            <p:cNvPr id="6" name="文本框 5">
              <a:extLst>
                <a:ext uri="{FF2B5EF4-FFF2-40B4-BE49-F238E27FC236}">
                  <a16:creationId xmlns:a16="http://schemas.microsoft.com/office/drawing/2014/main" id="{1355F89B-91C5-CD0E-0842-B0EFEBA51822}"/>
                </a:ext>
              </a:extLst>
            </p:cNvPr>
            <p:cNvSpPr txBox="1"/>
            <p:nvPr/>
          </p:nvSpPr>
          <p:spPr>
            <a:xfrm>
              <a:off x="156235" y="2272845"/>
              <a:ext cx="6445947" cy="843726"/>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1000" b="1" dirty="0">
                  <a:latin typeface="Arial" panose="020B0604020202020204" pitchFamily="34" charset="0"/>
                  <a:cs typeface="Arial" panose="020B0604020202020204" pitchFamily="34" charset="0"/>
                </a:rPr>
                <a:t>Supply Chain Auditing:</a:t>
              </a:r>
              <a:r>
                <a:rPr lang="en-US" sz="1000" dirty="0">
                  <a:latin typeface="Arial" panose="020B0604020202020204" pitchFamily="34" charset="0"/>
                  <a:cs typeface="Arial" panose="020B0604020202020204" pitchFamily="34" charset="0"/>
                </a:rPr>
                <a:t> VDA 6.8, VDA 6.3, </a:t>
              </a:r>
              <a:r>
                <a:rPr lang="en-US" sz="1000" dirty="0" err="1">
                  <a:latin typeface="Arial" panose="020B0604020202020204" pitchFamily="34" charset="0"/>
                  <a:cs typeface="Arial" panose="020B0604020202020204" pitchFamily="34" charset="0"/>
                </a:rPr>
                <a:t>QPNi</a:t>
              </a:r>
              <a:r>
                <a:rPr lang="en-US" sz="1000" dirty="0">
                  <a:latin typeface="Arial" panose="020B0604020202020204" pitchFamily="34" charset="0"/>
                  <a:cs typeface="Arial" panose="020B0604020202020204" pitchFamily="34" charset="0"/>
                </a:rPr>
                <a:t> Maturity Management</a:t>
              </a:r>
            </a:p>
            <a:p>
              <a:pPr marL="171450" indent="-171450">
                <a:lnSpc>
                  <a:spcPts val="1600"/>
                </a:lnSpc>
                <a:buFont typeface="Arial" panose="020B0604020202020204" pitchFamily="34" charset="0"/>
                <a:buChar char="•"/>
              </a:pPr>
              <a:r>
                <a:rPr lang="en-US" sz="1000" b="1" dirty="0">
                  <a:latin typeface="Arial" panose="020B0604020202020204" pitchFamily="34" charset="0"/>
                  <a:cs typeface="Arial" panose="020B0604020202020204" pitchFamily="34" charset="0"/>
                </a:rPr>
                <a:t>Supplier Development:</a:t>
              </a:r>
              <a:r>
                <a:rPr lang="en-US" sz="1000" dirty="0">
                  <a:latin typeface="Arial" panose="020B0604020202020204" pitchFamily="34" charset="0"/>
                  <a:cs typeface="Arial" panose="020B0604020202020204" pitchFamily="34" charset="0"/>
                </a:rPr>
                <a:t> Capacity Planning, SOP Ramp-up</a:t>
              </a:r>
            </a:p>
            <a:p>
              <a:pPr marL="171450" indent="-171450">
                <a:lnSpc>
                  <a:spcPts val="1600"/>
                </a:lnSpc>
                <a:buFont typeface="Arial" panose="020B0604020202020204" pitchFamily="34" charset="0"/>
                <a:buChar char="•"/>
              </a:pPr>
              <a:r>
                <a:rPr lang="en-US" sz="1000" b="1" dirty="0">
                  <a:latin typeface="Arial" panose="020B0604020202020204" pitchFamily="34" charset="0"/>
                  <a:cs typeface="Arial" panose="020B0604020202020204" pitchFamily="34" charset="0"/>
                </a:rPr>
                <a:t>Risk Management:</a:t>
              </a:r>
              <a:r>
                <a:rPr lang="en-US" sz="1000" dirty="0">
                  <a:latin typeface="Arial" panose="020B0604020202020204" pitchFamily="34" charset="0"/>
                  <a:cs typeface="Arial" panose="020B0604020202020204" pitchFamily="34" charset="0"/>
                </a:rPr>
                <a:t> S&amp;OP Integration, Disruption Mitigation, Continuity Planning</a:t>
              </a:r>
            </a:p>
            <a:p>
              <a:pPr marL="171450" indent="-171450">
                <a:lnSpc>
                  <a:spcPts val="1600"/>
                </a:lnSpc>
                <a:buFont typeface="Arial" panose="020B0604020202020204" pitchFamily="34" charset="0"/>
                <a:buChar char="•"/>
              </a:pPr>
              <a:r>
                <a:rPr lang="en-US" sz="1000" b="1" dirty="0">
                  <a:latin typeface="Arial" panose="020B0604020202020204" pitchFamily="34" charset="0"/>
                  <a:cs typeface="Arial" panose="020B0604020202020204" pitchFamily="34" charset="0"/>
                </a:rPr>
                <a:t>Consulting &amp; Strategy:</a:t>
              </a:r>
              <a:r>
                <a:rPr lang="en-US" sz="1000" dirty="0">
                  <a:latin typeface="Arial" panose="020B0604020202020204" pitchFamily="34" charset="0"/>
                  <a:cs typeface="Arial" panose="020B0604020202020204" pitchFamily="34" charset="0"/>
                </a:rPr>
                <a:t> Business Model Setup (0-to-1), Cost Optimization, Process Re-engineering</a:t>
              </a:r>
            </a:p>
            <a:p>
              <a:pPr marL="171450" indent="-171450">
                <a:lnSpc>
                  <a:spcPts val="1600"/>
                </a:lnSpc>
                <a:buFont typeface="Arial" panose="020B0604020202020204" pitchFamily="34" charset="0"/>
                <a:buChar char="•"/>
              </a:pPr>
              <a:r>
                <a:rPr lang="en-US" sz="1000" b="1" dirty="0">
                  <a:latin typeface="Arial" panose="020B0604020202020204" pitchFamily="34" charset="0"/>
                  <a:cs typeface="Arial" panose="020B0604020202020204" pitchFamily="34" charset="0"/>
                </a:rPr>
                <a:t>Global Stakeholder Management:</a:t>
              </a:r>
              <a:r>
                <a:rPr lang="en-US" sz="1000" dirty="0">
                  <a:latin typeface="Arial" panose="020B0604020202020204" pitchFamily="34" charset="0"/>
                  <a:cs typeface="Arial" panose="020B0604020202020204" pitchFamily="34" charset="0"/>
                </a:rPr>
                <a:t> Cross-cultural Negotiation, OEM &amp; Tier-1 Interface</a:t>
              </a:r>
            </a:p>
          </p:txBody>
        </p:sp>
        <p:sp>
          <p:nvSpPr>
            <p:cNvPr id="7" name="文本框 6">
              <a:extLst>
                <a:ext uri="{FF2B5EF4-FFF2-40B4-BE49-F238E27FC236}">
                  <a16:creationId xmlns:a16="http://schemas.microsoft.com/office/drawing/2014/main" id="{33A0D540-390F-63A5-C801-792981B343AF}"/>
                </a:ext>
              </a:extLst>
            </p:cNvPr>
            <p:cNvSpPr txBox="1"/>
            <p:nvPr/>
          </p:nvSpPr>
          <p:spPr>
            <a:xfrm>
              <a:off x="115595" y="2109356"/>
              <a:ext cx="2241486" cy="200513"/>
            </a:xfrm>
            <a:prstGeom prst="rect">
              <a:avLst/>
            </a:prstGeom>
            <a:noFill/>
          </p:spPr>
          <p:txBody>
            <a:bodyPr wrap="square" rtlCol="0" anchor="ctr">
              <a:spAutoFit/>
            </a:bodyPr>
            <a:lstStyle/>
            <a:p>
              <a:r>
                <a:rPr lang="en-US" sz="1100" b="1" dirty="0">
                  <a:solidFill>
                    <a:srgbClr val="696A6C"/>
                  </a:solidFill>
                  <a:latin typeface="Arial" panose="020B0604020202020204" pitchFamily="34" charset="0"/>
                  <a:cs typeface="Arial" panose="020B0604020202020204" pitchFamily="34" charset="0"/>
                </a:rPr>
                <a:t>Core Competencies</a:t>
              </a:r>
              <a:endParaRPr lang="en-US" altLang="zh-CN" sz="1100" b="1" dirty="0">
                <a:solidFill>
                  <a:srgbClr val="696A6C"/>
                </a:solidFill>
                <a:latin typeface="Arial" panose="020B0604020202020204" pitchFamily="34" charset="0"/>
                <a:cs typeface="Arial" panose="020B0604020202020204" pitchFamily="34" charset="0"/>
              </a:endParaRPr>
            </a:p>
          </p:txBody>
        </p:sp>
      </p:grpSp>
      <p:grpSp>
        <p:nvGrpSpPr>
          <p:cNvPr id="8" name="组合 7">
            <a:extLst>
              <a:ext uri="{FF2B5EF4-FFF2-40B4-BE49-F238E27FC236}">
                <a16:creationId xmlns:a16="http://schemas.microsoft.com/office/drawing/2014/main" id="{D93D545F-9071-4B1B-B8F6-16C606014E7C}"/>
              </a:ext>
            </a:extLst>
          </p:cNvPr>
          <p:cNvGrpSpPr/>
          <p:nvPr/>
        </p:nvGrpSpPr>
        <p:grpSpPr>
          <a:xfrm>
            <a:off x="200211" y="5476875"/>
            <a:ext cx="6016413" cy="446484"/>
            <a:chOff x="237527" y="8425667"/>
            <a:chExt cx="6379058" cy="446484"/>
          </a:xfrm>
        </p:grpSpPr>
        <p:sp>
          <p:nvSpPr>
            <p:cNvPr id="9" name="矩形 8">
              <a:extLst>
                <a:ext uri="{FF2B5EF4-FFF2-40B4-BE49-F238E27FC236}">
                  <a16:creationId xmlns:a16="http://schemas.microsoft.com/office/drawing/2014/main" id="{D1B34F95-0DEC-0799-077D-8ED1E3F22D03}"/>
                </a:ext>
              </a:extLst>
            </p:cNvPr>
            <p:cNvSpPr/>
            <p:nvPr/>
          </p:nvSpPr>
          <p:spPr>
            <a:xfrm>
              <a:off x="237528" y="8622304"/>
              <a:ext cx="6379057" cy="249847"/>
            </a:xfrm>
            <a:prstGeom prst="rect">
              <a:avLst/>
            </a:prstGeom>
          </p:spPr>
          <p:txBody>
            <a:bodyPr wrap="square">
              <a:spAutoFit/>
            </a:bodyPr>
            <a:lstStyle/>
            <a:p>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2002.09</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2006.06	Shanghai</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Maritime</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University	</a:t>
              </a:r>
              <a:r>
                <a:rPr lang="en-US" altLang="zh-CN" sz="1000" dirty="0">
                  <a:latin typeface="Arial" panose="020B0604020202020204" pitchFamily="34" charset="0"/>
                  <a:ea typeface="Microsoft YaHei" panose="020B0503020204020204" pitchFamily="34" charset="-122"/>
                  <a:cs typeface="Arial" panose="020B0604020202020204" pitchFamily="34" charset="0"/>
                </a:rPr>
                <a:t>Bachelor</a:t>
              </a:r>
              <a:r>
                <a:rPr lang="zh-CN" altLang="en-US" sz="1000" dirty="0">
                  <a:latin typeface="Arial" panose="020B0604020202020204" pitchFamily="34" charset="0"/>
                  <a:ea typeface="Microsoft YaHei" panose="020B0503020204020204" pitchFamily="34" charset="-122"/>
                  <a:cs typeface="Arial" panose="020B0604020202020204" pitchFamily="34" charset="0"/>
                </a:rPr>
                <a:t> </a:t>
              </a:r>
              <a:r>
                <a:rPr lang="en-US" altLang="zh-CN" sz="1000" dirty="0">
                  <a:latin typeface="Arial" panose="020B0604020202020204" pitchFamily="34" charset="0"/>
                  <a:ea typeface="Microsoft YaHei" panose="020B0503020204020204" pitchFamily="34" charset="-122"/>
                  <a:cs typeface="Arial" panose="020B0604020202020204" pitchFamily="34" charset="0"/>
                </a:rPr>
                <a:t>in</a:t>
              </a:r>
              <a:r>
                <a:rPr lang="zh-CN" altLang="en-US" sz="1000" dirty="0">
                  <a:latin typeface="Arial" panose="020B0604020202020204" pitchFamily="34" charset="0"/>
                  <a:ea typeface="Microsoft YaHei" panose="020B0503020204020204" pitchFamily="34" charset="-122"/>
                  <a:cs typeface="Arial" panose="020B0604020202020204" pitchFamily="34" charset="0"/>
                </a:rPr>
                <a:t> </a:t>
              </a:r>
              <a:r>
                <a:rPr lang="en-US" altLang="zh-CN" sz="1000" dirty="0">
                  <a:latin typeface="Arial" panose="020B0604020202020204" pitchFamily="34" charset="0"/>
                  <a:ea typeface="Microsoft YaHei" panose="020B0503020204020204" pitchFamily="34" charset="-122"/>
                  <a:cs typeface="Arial" panose="020B0604020202020204" pitchFamily="34" charset="0"/>
                </a:rPr>
                <a:t>Marine</a:t>
              </a:r>
              <a:r>
                <a:rPr lang="zh-CN" altLang="en-US" sz="1000" dirty="0">
                  <a:latin typeface="Arial" panose="020B0604020202020204" pitchFamily="34" charset="0"/>
                  <a:ea typeface="Microsoft YaHei" panose="020B0503020204020204" pitchFamily="34" charset="-122"/>
                  <a:cs typeface="Arial" panose="020B0604020202020204" pitchFamily="34" charset="0"/>
                </a:rPr>
                <a:t> </a:t>
              </a:r>
              <a:r>
                <a:rPr lang="en-US" altLang="zh-CN" sz="1000" dirty="0">
                  <a:latin typeface="Arial" panose="020B0604020202020204" pitchFamily="34" charset="0"/>
                  <a:ea typeface="Microsoft YaHei" panose="020B0503020204020204" pitchFamily="34" charset="-122"/>
                  <a:cs typeface="Arial" panose="020B0604020202020204" pitchFamily="34" charset="0"/>
                </a:rPr>
                <a:t>engineering</a:t>
              </a:r>
              <a:endParaRPr lang="en-US" altLang="zh-CN" sz="1000" kern="100" dirty="0">
                <a:latin typeface="Arial" panose="020B0604020202020204" pitchFamily="34" charset="0"/>
                <a:ea typeface="Microsoft YaHei" panose="020B0503020204020204" pitchFamily="34" charset="-122"/>
                <a:cs typeface="Arial" panose="020B0604020202020204" pitchFamily="34" charset="0"/>
              </a:endParaRPr>
            </a:p>
          </p:txBody>
        </p:sp>
        <p:sp>
          <p:nvSpPr>
            <p:cNvPr id="10" name="文本框 9">
              <a:extLst>
                <a:ext uri="{FF2B5EF4-FFF2-40B4-BE49-F238E27FC236}">
                  <a16:creationId xmlns:a16="http://schemas.microsoft.com/office/drawing/2014/main" id="{59235B98-0A60-6C48-7438-CF6373BB0C02}"/>
                </a:ext>
              </a:extLst>
            </p:cNvPr>
            <p:cNvSpPr txBox="1"/>
            <p:nvPr/>
          </p:nvSpPr>
          <p:spPr>
            <a:xfrm>
              <a:off x="237527" y="8425667"/>
              <a:ext cx="2241486" cy="261610"/>
            </a:xfrm>
            <a:prstGeom prst="rect">
              <a:avLst/>
            </a:prstGeom>
            <a:noFill/>
          </p:spPr>
          <p:txBody>
            <a:bodyPr wrap="square" rtlCol="0" anchor="ctr">
              <a:spAutoFit/>
            </a:bodyPr>
            <a:lstStyle/>
            <a:p>
              <a:r>
                <a:rPr lang="en-US" altLang="zh-CN" sz="1100" b="1" dirty="0">
                  <a:solidFill>
                    <a:srgbClr val="696A6C"/>
                  </a:solidFill>
                  <a:effectLst/>
                  <a:latin typeface="Arial" panose="020B0604020202020204" pitchFamily="34" charset="0"/>
                  <a:cs typeface="Arial" panose="020B0604020202020204" pitchFamily="34" charset="0"/>
                </a:rPr>
                <a:t>Education</a:t>
              </a:r>
            </a:p>
          </p:txBody>
        </p:sp>
      </p:grpSp>
    </p:spTree>
    <p:extLst>
      <p:ext uri="{BB962C8B-B14F-4D97-AF65-F5344CB8AC3E}">
        <p14:creationId xmlns:p14="http://schemas.microsoft.com/office/powerpoint/2010/main" val="374682081"/>
      </p:ext>
    </p:extLst>
  </p:cSld>
  <p:clrMapOvr>
    <a:masterClrMapping/>
  </p:clrMapOvr>
</p:sld>
</file>

<file path=ppt/theme/theme1.xml><?xml version="1.0" encoding="utf-8"?>
<a:theme xmlns:a="http://schemas.openxmlformats.org/drawingml/2006/main" name="简历​​">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9</TotalTime>
  <Words>1601</Words>
  <Application>Microsoft Macintosh PowerPoint</Application>
  <PresentationFormat>A4 纸张(210x297 毫米)</PresentationFormat>
  <Paragraphs>83</Paragraphs>
  <Slides>4</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vt:i4>
      </vt:variant>
    </vt:vector>
  </HeadingPairs>
  <TitlesOfParts>
    <vt:vector size="13" baseType="lpstr">
      <vt:lpstr>微软雅黑</vt:lpstr>
      <vt:lpstr>微软雅黑</vt:lpstr>
      <vt:lpstr>Audi Type</vt:lpstr>
      <vt:lpstr>Arial</vt:lpstr>
      <vt:lpstr>Arial</vt:lpstr>
      <vt:lpstr>Calibri</vt:lpstr>
      <vt:lpstr>Wingdings</vt:lpstr>
      <vt:lpstr>简历​​</vt:lpstr>
      <vt:lpstr>Resume​​</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292</cp:revision>
  <dcterms:created xsi:type="dcterms:W3CDTF">2021-08-12T03:08:11Z</dcterms:created>
  <dcterms:modified xsi:type="dcterms:W3CDTF">2026-03-01T07:48:36Z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简历​​:3\Resume​​:3</vt:lpwstr>
  </property>
  <property fmtid="{D5CDD505-2E9C-101B-9397-08002B2CF9AE}" pid="3" name="ClassificationContentMarkingFooterText">
    <vt:lpwstr>INTERNAL</vt:lpwstr>
  </property>
</Properties>
</file>