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9881" y="413999"/>
            <a:ext cx="12700" cy="6102001"/>
          </a:xfrm>
          <a:prstGeom prst="rect">
            <a:avLst/>
          </a:prstGeom>
          <a:solidFill>
            <a:srgbClr val="E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3999" y="673199"/>
            <a:ext cx="6746233" cy="12700"/>
          </a:xfrm>
          <a:prstGeom prst="rect">
            <a:avLst/>
          </a:prstGeom>
          <a:solidFill>
            <a:srgbClr val="D6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413999"/>
            <a:ext cx="252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B6258"/>
                </a:solidFill>
                <a:latin typeface="Helvetica Neue"/>
              </a:rPr>
              <a:t>—  供应链课程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0232" y="413999"/>
            <a:ext cx="216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2026 · 企业公开课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791999"/>
            <a:ext cx="6746233" cy="12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Supply Chain · VDA 6.8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953999"/>
            <a:ext cx="6746233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3600" b="0">
                <a:solidFill>
                  <a:srgbClr val="2C2C2C"/>
                </a:solidFill>
                <a:latin typeface="Helvetica Neue"/>
              </a:rPr>
              <a:t>供应链管理</a:t>
            </a:r>
          </a:p>
          <a:p>
            <a:pPr>
              <a:lnSpc>
                <a:spcPct val="112000"/>
              </a:lnSpc>
            </a:pPr>
            <a:r>
              <a:rPr sz="3600" b="1">
                <a:solidFill>
                  <a:srgbClr val="6B6258"/>
                </a:solidFill>
                <a:latin typeface="Helvetica Neue"/>
              </a:rPr>
              <a:t>体系课程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1871998"/>
            <a:ext cx="6746233" cy="4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200" b="0">
                <a:solidFill>
                  <a:srgbClr val="6B6258"/>
                </a:solidFill>
                <a:latin typeface="Noto Serif SC"/>
              </a:rPr>
              <a:t>从概念到体系，从审核到降本</a:t>
            </a:r>
          </a:p>
          <a:p>
            <a:pPr algn="l">
              <a:lnSpc>
                <a:spcPct val="165000"/>
              </a:lnSpc>
            </a:pPr>
            <a:r>
              <a:rPr sz="1200" b="0">
                <a:solidFill>
                  <a:srgbClr val="6B6258"/>
                </a:solidFill>
                <a:latin typeface="Noto Serif SC"/>
              </a:rPr>
              <a:t>四层递进，覆盖企业供应链能力提升全路径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3999" y="2393998"/>
            <a:ext cx="360000" cy="254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3999" y="2591998"/>
            <a:ext cx="2116744" cy="12700"/>
          </a:xfrm>
          <a:prstGeom prst="rect">
            <a:avLst/>
          </a:prstGeom>
          <a:solidFill>
            <a:srgbClr val="D6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999" y="2717997"/>
            <a:ext cx="2116744" cy="12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999" y="2861998"/>
            <a:ext cx="2116744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00" b="0">
                <a:solidFill>
                  <a:srgbClr val="2C2C2C"/>
                </a:solidFill>
                <a:latin typeface="Noto Serif SC"/>
              </a:rPr>
              <a:t>1 – 5 天</a:t>
            </a:r>
          </a:p>
          <a:p>
            <a:pPr algn="l">
              <a:lnSpc>
                <a:spcPct val="160000"/>
              </a:lnSpc>
            </a:pPr>
            <a:r>
              <a:rPr sz="1000" b="0">
                <a:solidFill>
                  <a:srgbClr val="2C2C2C"/>
                </a:solidFill>
                <a:latin typeface="Noto Serif SC"/>
              </a:rPr>
              <a:t>基础包 3天 · 落地包 5天</a:t>
            </a:r>
          </a:p>
          <a:p>
            <a:pPr algn="l">
              <a:lnSpc>
                <a:spcPct val="160000"/>
              </a:lnSpc>
            </a:pPr>
            <a:r>
              <a:rPr sz="1000" b="0">
                <a:solidFill>
                  <a:srgbClr val="2C2C2C"/>
                </a:solidFill>
                <a:latin typeface="Noto Serif SC"/>
              </a:rPr>
              <a:t>按企业需求灵活组合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8743" y="2591998"/>
            <a:ext cx="2116744" cy="12700"/>
          </a:xfrm>
          <a:prstGeom prst="rect">
            <a:avLst/>
          </a:prstGeom>
          <a:solidFill>
            <a:srgbClr val="D6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8743" y="2717997"/>
            <a:ext cx="2116744" cy="12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8743" y="2861998"/>
            <a:ext cx="2116744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00" b="0">
                <a:solidFill>
                  <a:srgbClr val="2C2C2C"/>
                </a:solidFill>
                <a:latin typeface="Noto Serif SC"/>
              </a:rPr>
              <a:t>公开课 · 企业内训</a:t>
            </a:r>
          </a:p>
          <a:p>
            <a:pPr algn="l">
              <a:lnSpc>
                <a:spcPct val="160000"/>
              </a:lnSpc>
            </a:pPr>
            <a:r>
              <a:rPr sz="1000" b="0">
                <a:solidFill>
                  <a:srgbClr val="2C2C2C"/>
                </a:solidFill>
                <a:latin typeface="Noto Serif SC"/>
              </a:rPr>
              <a:t>培训 + 咨询混合模式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3487" y="2591998"/>
            <a:ext cx="2116744" cy="12700"/>
          </a:xfrm>
          <a:prstGeom prst="rect">
            <a:avLst/>
          </a:prstGeom>
          <a:solidFill>
            <a:srgbClr val="D6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3487" y="2717997"/>
            <a:ext cx="2116744" cy="12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3487" y="2861998"/>
            <a:ext cx="2116744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00" b="0">
                <a:solidFill>
                  <a:srgbClr val="2C2C2C"/>
                </a:solidFill>
                <a:latin typeface="Noto Serif SC"/>
              </a:rPr>
              <a:t>零部件企业 · 主机厂</a:t>
            </a:r>
          </a:p>
          <a:p>
            <a:pPr algn="l">
              <a:lnSpc>
                <a:spcPct val="160000"/>
              </a:lnSpc>
            </a:pPr>
            <a:r>
              <a:rPr sz="1000" b="0">
                <a:solidFill>
                  <a:srgbClr val="2C2C2C"/>
                </a:solidFill>
                <a:latin typeface="Noto Serif SC"/>
              </a:rPr>
              <a:t>采购 · 物流 · 中高层管理者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3365998"/>
            <a:ext cx="6746233" cy="12700"/>
          </a:xfrm>
          <a:prstGeom prst="rect">
            <a:avLst/>
          </a:prstGeom>
          <a:solidFill>
            <a:srgbClr val="D6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3999" y="3481198"/>
            <a:ext cx="6746233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课程架构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999" y="3679198"/>
            <a:ext cx="1596558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Level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999" y="3794398"/>
            <a:ext cx="1596558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2C2C2C"/>
                </a:solidFill>
                <a:latin typeface="Noto Serif SC"/>
              </a:rPr>
              <a:t>供应链概念体系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999" y="3974398"/>
            <a:ext cx="1596558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通识基础 · 全链路逻辑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84207" y="3679198"/>
            <a:ext cx="12700" cy="594000"/>
          </a:xfrm>
          <a:prstGeom prst="rect">
            <a:avLst/>
          </a:prstGeom>
          <a:solidFill>
            <a:srgbClr val="E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0557" y="3679198"/>
            <a:ext cx="1596558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Level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557" y="3794398"/>
            <a:ext cx="1596558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2C2C2C"/>
                </a:solidFill>
                <a:latin typeface="Noto Serif SC"/>
              </a:rPr>
              <a:t>VDA 6.8 体系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0557" y="3974398"/>
            <a:ext cx="1596558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标准解读 · 企业定制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70765" y="3679198"/>
            <a:ext cx="12700" cy="594000"/>
          </a:xfrm>
          <a:prstGeom prst="rect">
            <a:avLst/>
          </a:prstGeom>
          <a:solidFill>
            <a:srgbClr val="E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77115" y="3679198"/>
            <a:ext cx="1596558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Level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7115" y="3794398"/>
            <a:ext cx="1596558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2C2C2C"/>
                </a:solidFill>
                <a:latin typeface="Noto Serif SC"/>
              </a:rPr>
              <a:t>预审核与问题整改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7115" y="3974398"/>
            <a:ext cx="1596558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实战落地 · 改善方案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57323" y="3679198"/>
            <a:ext cx="12700" cy="594000"/>
          </a:xfrm>
          <a:prstGeom prst="rect">
            <a:avLst/>
          </a:prstGeom>
          <a:solidFill>
            <a:srgbClr val="E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63673" y="3679198"/>
            <a:ext cx="1596558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Level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3673" y="3794398"/>
            <a:ext cx="1596558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2C2C2C"/>
                </a:solidFill>
                <a:latin typeface="Noto Serif SC"/>
              </a:rPr>
              <a:t>端到端降本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63673" y="3974398"/>
            <a:ext cx="1596558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00" b="0">
                <a:solidFill>
                  <a:srgbClr val="8B7E74"/>
                </a:solidFill>
                <a:latin typeface="Helvetica Neue"/>
              </a:rPr>
              <a:t>高阶实践 · 成本优化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3999" y="6138000"/>
            <a:ext cx="6746233" cy="254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3999" y="6217200"/>
            <a:ext cx="1152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C2C2C"/>
                </a:solidFill>
                <a:latin typeface="Helvetica Neue"/>
              </a:rPr>
              <a:t>李嘉俊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3999" y="6202800"/>
            <a:ext cx="5666233" cy="3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5000"/>
              </a:lnSpc>
            </a:pPr>
            <a:r>
              <a:rPr sz="900" b="0">
                <a:solidFill>
                  <a:srgbClr val="2C2C2C"/>
                </a:solidFill>
                <a:latin typeface="Noto Serif SC"/>
              </a:rPr>
              <a:t>VDA 6.8 / VDA 6.3 双认证审核员 · 20年大众/奥迪供应链体系经验</a:t>
            </a:r>
          </a:p>
          <a:p>
            <a:pPr algn="r">
              <a:lnSpc>
                <a:spcPct val="155000"/>
              </a:lnSpc>
            </a:pPr>
            <a:r>
              <a:rPr sz="900" b="0">
                <a:solidFill>
                  <a:srgbClr val="2C2C2C"/>
                </a:solidFill>
                <a:latin typeface="Noto Serif SC"/>
              </a:rPr>
              <a:t>上汽集团外聘讲师 · 奥迪中国供应链咨询创始负责人</a:t>
            </a:r>
          </a:p>
        </p:txBody>
      </p:sp>
      <p:pic>
        <p:nvPicPr>
          <p:cNvPr id="40" name="Picture 39" descr="讲师照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2429" y="2702249"/>
            <a:ext cx="1163491" cy="152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