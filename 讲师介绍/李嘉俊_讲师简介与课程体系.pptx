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E74"/>
                </a:solidFill>
              </a:defRPr>
            </a:pPr>
            <a:r>
              <a:t>供应链课程  —  2026 · 企业公开课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36576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2C2C2C"/>
                </a:solidFill>
              </a:defRPr>
            </a:pPr>
            <a:r>
              <a:t>讲师简介与课程体系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C2C"/>
                </a:solidFill>
              </a:defRPr>
            </a:pPr>
            <a:r>
              <a:t>李嘉俊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258"/>
                </a:solidFill>
              </a:defRPr>
            </a:pPr>
            <a:r>
              <a:t>中欧供应链体系与管理专家  ·  VDA 6.8 认证专家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拥有超过20年大众汽车集团（奥迪/大众）供应链管理体系深度工作经验。</a:t>
            </a:r>
            <a:br/>
            <a:r>
              <a:t>兼具中国视野与欧洲供应链标准的双重背景。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4864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VDA 6.8 / VDA 6.3 双认证审核员，代表奥迪、保时捷、兰博基尼等欧洲顶级品牌，对亚太区超过100家目标供应商进行供应链全过程准入审核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4864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050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上汽集团外聘讲师（2020-2022）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54864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537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供应链咨询业务从0到1搭建：主导奥迪中国对外供应链咨询业务，三个月内完成框架设计、流程制定与落地实施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20640"/>
            <a:ext cx="54864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023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QPNi 供应商成熟度管理：PPE中国项目核心成员，管理三花集团、敏实集团、蒂森克虏伯等11+家关键供应商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54864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509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供应商产能全生命周期管理：优化关键工序节拍（卡钳工厂 35.4s→27.3s，-22%）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097280"/>
            <a:ext cx="3383280" cy="420624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097280"/>
            <a:ext cx="3383280" cy="4206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D6CDC2"/>
                </a:solidFill>
              </a:defRPr>
            </a:pPr>
            <a:r>
              <a:t>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926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E74"/>
                </a:solidFill>
              </a:defRPr>
            </a:pPr>
            <a:r>
              <a:t>请在此处插入照片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E74"/>
                </a:solidFill>
              </a:defRPr>
            </a:pPr>
            <a:r>
              <a:t>建议 3:4 比例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2648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E74"/>
                </a:solidFill>
              </a:defRPr>
            </a:pPr>
            <a:r>
              <a:t>2026.05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供应链概念体系 + VDA 6.8 体系课程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从概念建立到体系掌握 — 3天连贯课程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720840"/>
            <a:ext cx="1069848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2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383280" cy="38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914400" cy="32004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2C2C"/>
                </a:solidFill>
              </a:defRPr>
            </a:pPr>
            <a: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供应链概念体系（通识）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063240"/>
            <a:ext cx="54864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供应链全局观：从订单接收到交付回收的全链路逻辑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信息流与实物流的协同关系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供应链绩效目标与职能定位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案例讨论与课堂练习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92024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920240"/>
            <a:ext cx="3383280" cy="38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194560"/>
            <a:ext cx="914400" cy="32004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212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2C2C"/>
                </a:solidFill>
              </a:defRPr>
            </a:pPr>
            <a:r>
              <a:t>Day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VDA 6.8 体系标准解读（上）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063240"/>
            <a:ext cx="54864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91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VDA 6.8 标准背景与框架结构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840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供应链过程审核条款逐项拆解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89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真实审核案例穿插讲解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92024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1920240"/>
            <a:ext cx="3383280" cy="38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194560"/>
            <a:ext cx="914400" cy="32004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212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2C2C"/>
                </a:solidFill>
              </a:defRPr>
            </a:pPr>
            <a:r>
              <a:t>Day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VDA 6.8 体系标准解读（下）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063240"/>
            <a:ext cx="54864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291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重点条款深度解析与常见不符合项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40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审核技巧与应对策略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389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C2C2C"/>
                </a:solidFill>
              </a:defRPr>
            </a:pPr>
            <a:r>
              <a:t>▸ 模拟审核演练与答疑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258"/>
                </a:solidFill>
              </a:defRPr>
            </a:pPr>
            <a:r>
              <a:t>💡 建议时长：3天（6-7小时/天）  |  已包含Level 1与Level 2A全部核心内容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Level 3：VDA 6.8 预审核与问题整改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培训 + 咨询混合模式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720840"/>
            <a:ext cx="1069848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3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03520" cy="137160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</a:defRPr>
            </a:pPr>
            <a:r>
              <a:t>目标学员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即将面临VDA 6.8审核的企业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审核未通过需要整改的企业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303520" cy="10972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</a:defRPr>
            </a:pPr>
            <a:r>
              <a:t>课程形式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现场预审核 → 输出问题清单 → 制定改善方案与行动计划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建议时长：3-5天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77440"/>
            <a:ext cx="914400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现场审核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017520"/>
            <a:ext cx="914400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1-2天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整理输出与根因分析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657600"/>
            <a:ext cx="914400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1-2天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方案制定与汇报讨论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Level 4：供应链端到端降本实战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项目制 — 基于客户需求，理论 + 实地展开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720840"/>
            <a:ext cx="1069848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4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03520" cy="10972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</a:defRPr>
            </a:pPr>
            <a: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区别于传统采购视角的压价降本，以主机厂视角的端到端降本为主线。</a:t>
            </a:r>
            <a:br/>
            <a:r>
              <a:t>基于企业实际需求定制，结合理论培训与现场实地诊断，输出可落地的降本方案。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303520" cy="164592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</a:defRPr>
            </a:pPr>
            <a:r>
              <a:t>项目流程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</a:defRPr>
            </a:pPr>
            <a:r>
              <a:t>▸ 需求对接与项目范围界定（0.5天）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</a:defRPr>
            </a:pPr>
            <a:r>
              <a:t>▸ 理论导入与工具方法培训（1天）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</a:defRPr>
            </a:pPr>
            <a:r>
              <a:t>▸ 现场诊断与数据采集（1-2天）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25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</a:defRPr>
            </a:pPr>
            <a:r>
              <a:t>▸ 分析诊断与降本方案设计（1天）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817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</a:defRPr>
            </a:pPr>
            <a:r>
              <a:t>▸ 方案汇报与落地路径讨论（0.5天）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5029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5029200" cy="38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2C2C"/>
                </a:solidFill>
              </a:defRPr>
            </a:pPr>
            <a:r>
              <a:t>核心能力模块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• 供应链总成本结构分析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700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258"/>
                </a:solidFill>
              </a:defRPr>
            </a:pPr>
            <a:r>
              <a:t>150+材料组监控经验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• 生产过程降本：节拍优化与产能提升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272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258"/>
                </a:solidFill>
              </a:defRPr>
            </a:pPr>
            <a:r>
              <a:t>卡钳工厂 35.4s→27.3s（-22%）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• 物流与仓储降本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844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258"/>
                </a:solidFill>
              </a:defRPr>
            </a:pPr>
            <a:r>
              <a:t>德资客户降本17%案例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40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• VDA 6.8审核视角下的浪费识别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416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258"/>
                </a:solidFill>
              </a:defRPr>
            </a:pPr>
            <a:r>
              <a:t>100+供应商审核洞察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976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• 降本方案设计与落地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988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258"/>
                </a:solidFill>
              </a:defRPr>
            </a:pPr>
            <a:r>
              <a:t>咨询业务方法论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029200"/>
            <a:ext cx="5029200" cy="4572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⏱ 课程时长：3-5天（视项目范围而定）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6258"/>
                </a:solidFill>
              </a:defRPr>
            </a:pPr>
            <a:r>
              <a:t>💡 本课程以项目制运作，前期沟通需求后定制方案，适合已有VDA 6.8基础的企业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课程组合建议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灵活组合 · 按需选择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720840"/>
            <a:ext cx="1069848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5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2560320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75104"/>
            <a:ext cx="256032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</a:defRPr>
            </a:pPr>
            <a:r>
              <a:t>基础包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</a:defRPr>
            </a:pPr>
            <a:r>
              <a:t>L1+L2</a:t>
            </a:r>
            <a:br/>
            <a:r>
              <a:t>供应链概念+VDA 6.8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258"/>
                </a:solidFill>
              </a:defRPr>
            </a:pPr>
            <a:r>
              <a:t>⏱ 3天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200"/>
            <a:ext cx="4572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258"/>
                </a:solidFill>
              </a:defRPr>
            </a:pPr>
            <a:r>
              <a:t>适用场景：</a:t>
            </a:r>
            <a:br/>
            <a:r>
              <a:t>初次导入VDA 6.8</a:t>
            </a:r>
            <a:br/>
            <a:r>
              <a:t>体系的企业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92024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1920240"/>
            <a:ext cx="2560320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975104"/>
            <a:ext cx="256032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</a:defRPr>
            </a:pPr>
            <a:r>
              <a:t>落地包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</a:defRPr>
            </a:pPr>
            <a:r>
              <a:t>L1+L2 + L3</a:t>
            </a:r>
            <a:br/>
            <a:r>
              <a:t>体系+预审核整改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258"/>
                </a:solidFill>
              </a:defRPr>
            </a:pPr>
            <a:r>
              <a:t>⏱ 6-8天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3886200"/>
            <a:ext cx="4572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258"/>
                </a:solidFill>
              </a:defRPr>
            </a:pPr>
            <a:r>
              <a:t>适用场景：</a:t>
            </a:r>
            <a:br/>
            <a:r>
              <a:t>需要体系搭建并</a:t>
            </a:r>
            <a:br/>
            <a:r>
              <a:t>通过认证的企业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920240"/>
            <a:ext cx="2560320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975104"/>
            <a:ext cx="256032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</a:defRPr>
            </a:pPr>
            <a:r>
              <a:t>进阶包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</a:defRPr>
            </a:pPr>
            <a:r>
              <a:t>L1+L2 + L4</a:t>
            </a:r>
            <a:br/>
            <a:r>
              <a:t>体系+端到端降本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258"/>
                </a:solidFill>
              </a:defRPr>
            </a:pPr>
            <a:r>
              <a:t>⏱ 6-8天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886200"/>
            <a:ext cx="4572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258"/>
                </a:solidFill>
              </a:defRPr>
            </a:pPr>
            <a:r>
              <a:t>适用场景：</a:t>
            </a:r>
            <a:br/>
            <a:r>
              <a:t>概念+体系+</a:t>
            </a:r>
            <a:br/>
            <a:r>
              <a:t>降本三合一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92024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1920240"/>
            <a:ext cx="2560320" cy="54864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975104"/>
            <a:ext cx="256032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</a:defRPr>
            </a:pPr>
            <a:r>
              <a:t>完整包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2C2C"/>
                </a:solidFill>
              </a:defRPr>
            </a:pPr>
            <a:r>
              <a:t>L1+L2+L3+L4</a:t>
            </a:r>
            <a:br/>
            <a:r>
              <a:t>全流程系统提升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258"/>
                </a:solidFill>
              </a:defRPr>
            </a:pPr>
            <a:r>
              <a:t>⏱ 分阶段执行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886200"/>
            <a:ext cx="4572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258"/>
                </a:solidFill>
              </a:defRPr>
            </a:pPr>
            <a:r>
              <a:t>适用场景：</a:t>
            </a:r>
            <a:br/>
            <a:r>
              <a:t>想系统提升供应链</a:t>
            </a:r>
            <a:br/>
            <a:r>
              <a:t>能力的企业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培训时间安排与课程定价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258"/>
                </a:solidFill>
              </a:defRPr>
            </a:pPr>
            <a:r>
              <a:t>定额费用 · 透明报价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720840"/>
            <a:ext cx="10698480" cy="1270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6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单次课程节奏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标准授课日：6-7小时/天（9:00-12:00 + 13:30-17:00）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含审核/研讨课程：半天现场 + 半天辅导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建议安排在周二至周四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</a:defRPr>
            </a:pPr>
            <a:r>
              <a:t>▸ 完整包建议分两阶段执行，间隔2-4周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5303520" cy="91440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6258"/>
                </a:solidFill>
              </a:defRPr>
            </a:pPr>
            <a:r>
              <a:t>💡 企业内训建议安排在周二至周四，避开周一事务性高峰和周五收尾节奏。</a:t>
            </a:r>
            <a:br/>
            <a:r>
              <a:t>完整包建议分两阶段执行，间隔2-4周，给企业消化和实践时间。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</a:defRPr>
            </a:pPr>
            <a:r>
              <a:t>课程定价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2560320" cy="640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9572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课程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286000"/>
            <a:ext cx="1554480" cy="640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395728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公开课（元/人/天）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2286000"/>
            <a:ext cx="1828800" cy="640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88752" y="23957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企业内训（元/天）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26080"/>
            <a:ext cx="2560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03580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L1+L2  供应链概念+VDA 6.8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926080"/>
            <a:ext cx="1554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3035808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3,800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292608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8752" y="303580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20,000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66160"/>
            <a:ext cx="256032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67588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L3  预审核与问题整改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566160"/>
            <a:ext cx="155448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3675888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3566160"/>
            <a:ext cx="1828800" cy="640080"/>
          </a:xfrm>
          <a:prstGeom prst="rect">
            <a:avLst/>
          </a:prstGeom>
          <a:solidFill>
            <a:srgbClr val="EE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88752" y="367588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50,000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06240"/>
            <a:ext cx="2560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31596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L4  端到端降本（项目制）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206240"/>
            <a:ext cx="1554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4315968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420624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88752" y="43159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</a:defRPr>
            </a:pPr>
            <a:r>
              <a:t>30,000（按项目报价）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E74"/>
                </a:solidFill>
              </a:defRPr>
            </a:pPr>
            <a:r>
              <a:t>说明：以上为定额报价，基于VDA 6.8认证审核员资质</a:t>
            </a:r>
            <a:br/>
            <a:r>
              <a:t>及大众体系20年经验。L4项目制按实际范围评估报价。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828800" cy="1905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课程体系总结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1270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97280" cy="41148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39696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2C2C"/>
                </a:solidFill>
              </a:defRPr>
            </a:pPr>
            <a:r>
              <a:t>L1+L2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39696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8D0"/>
                </a:solidFill>
              </a:defRPr>
            </a:pPr>
            <a:r>
              <a:t>供应链概念 + VDA 6.8体系 — 3天连贯课程，从建立全局观到掌握审核标准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97280" cy="41148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16936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2C2C"/>
                </a:solidFill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16936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8D0"/>
                </a:solidFill>
              </a:defRPr>
            </a:pPr>
            <a:r>
              <a:t>预审核与问题整改 — 培训+咨询混合模式，确保通过认证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97280" cy="41148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2C2C"/>
                </a:solidFill>
              </a:defRPr>
            </a:pPr>
            <a:r>
              <a:t>L4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94176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8D0"/>
                </a:solidFill>
              </a:defRPr>
            </a:pPr>
            <a:r>
              <a:t>端到端降本实战 — 项目制运作，理论+实地诊断，输出可落地方案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54880"/>
            <a:ext cx="7589520" cy="502920"/>
          </a:xfrm>
          <a:prstGeom prst="rect">
            <a:avLst/>
          </a:prstGeom>
          <a:solidFill>
            <a:srgbClr val="C4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8006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</a:defRPr>
            </a:pPr>
            <a:r>
              <a:t>从概念建立到实战落地  ·  一站式供应链能力提升方案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1905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2C2C2C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6258"/>
                </a:solidFill>
              </a:defRPr>
            </a:pPr>
            <a:r>
              <a:t>李嘉俊  ·  中欧供应链体系与管理专家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2743200" cy="127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258"/>
                </a:solidFill>
              </a:defRPr>
            </a:pPr>
            <a:r>
              <a:t>VDA 6.8 / VDA 6.3 双认证审核员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258"/>
                </a:solidFill>
              </a:defRPr>
            </a:pPr>
            <a:r>
              <a:t>20+年大众汽车集团供应链管理经验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258"/>
                </a:solidFill>
              </a:defRPr>
            </a:pPr>
            <a:r>
              <a:t>100+家供应商准入审核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698480" cy="6350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7E74"/>
                </a:solidFill>
              </a:defRPr>
            </a:pPr>
            <a:r>
              <a:t>欢迎联系  ·  期待与您的企业深入合作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7E74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