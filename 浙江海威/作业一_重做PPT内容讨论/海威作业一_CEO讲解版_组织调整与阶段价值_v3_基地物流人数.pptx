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79008"/>
            <a:ext cx="8503920" cy="566928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33104" y="5779008"/>
            <a:ext cx="3355848" cy="566928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0768" y="5760720"/>
            <a:ext cx="438912" cy="60350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40080" y="594360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作业一  /  CEO 深度交流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9966960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F3746"/>
                </a:solidFill>
                <a:latin typeface="PingFang SC"/>
              </a:rPr>
              <a:t>从组织补位
走向全球运营复制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944368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76974"/>
                </a:solidFill>
                <a:latin typeface="PingFang SC"/>
              </a:rPr>
              <a:t>集团供应链与数字化组织建议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3977639"/>
            <a:ext cx="3172968" cy="71323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4105656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746"/>
                </a:solidFill>
                <a:latin typeface="PingFang SC"/>
              </a:rPr>
              <a:t>组织能力与基线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4105656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3977639"/>
            <a:ext cx="3172968" cy="71323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4105656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746"/>
                </a:solidFill>
                <a:latin typeface="PingFang SC"/>
              </a:rPr>
              <a:t>先导项目收益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7264" y="4105656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3977639"/>
            <a:ext cx="3172968" cy="71323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58784" y="4105656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746"/>
                </a:solidFill>
                <a:latin typeface="PingFang SC"/>
              </a:rPr>
              <a:t>方法沉淀与复制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1846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8B94"/>
                </a:solidFill>
                <a:latin typeface="PingFang SC"/>
              </a:rPr>
              <a:t>讨论稿｜岗位人数、IE 归属与收益金额待现场核实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先把两条业务链连起来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让计划指令落实为现场动作，让现场事实反过来修正经营判断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3562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海威作业一  /  组织调整与阶段价值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01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463040"/>
            <a:ext cx="2971800" cy="3456432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" y="1682496"/>
            <a:ext cx="1106424" cy="310896"/>
          </a:xfrm>
          <a:prstGeom prst="roundRect">
            <a:avLst/>
          </a:prstGeom>
          <a:solidFill>
            <a:srgbClr val="2C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6916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</a:rPr>
              <a:t>当前断点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231136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信息流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633472"/>
            <a:ext cx="2322576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客户／生产／物料计划
缺少集团统筹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" y="3538728"/>
            <a:ext cx="2359152" cy="0"/>
          </a:xfrm>
          <a:prstGeom prst="line">
            <a:avLst/>
          </a:prstGeom>
          <a:ln w="127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0392" y="3712463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实物流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105656"/>
            <a:ext cx="23225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仓储管理与物料移动
缺少统一规划和评价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8496" y="1508760"/>
            <a:ext cx="7296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集团统筹的业务闭环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50208" y="2148840"/>
            <a:ext cx="1316736" cy="1371600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2423160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客户需求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2935224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明确交付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633472"/>
            <a:ext cx="164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68112" y="2148840"/>
            <a:ext cx="1316736" cy="1371600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59552" y="2423160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可执行计划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2935224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匹配约束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4" y="2633472"/>
            <a:ext cx="164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86016" y="2148840"/>
            <a:ext cx="1316736" cy="1371600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7456" y="2423160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生产与实物流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2935224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现场兑现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2633472"/>
            <a:ext cx="164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2148840"/>
            <a:ext cx="1316736" cy="1371600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2423160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真实反馈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935224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识别偏差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2633472"/>
            <a:ext cx="164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21824" y="2148840"/>
            <a:ext cx="1316736" cy="1371600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13264" y="2423160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经营判断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3264" y="2935224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持续改进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68496" y="3931920"/>
            <a:ext cx="7516368" cy="98755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78808" y="4087368"/>
            <a:ext cx="13898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8C22F"/>
                </a:solidFill>
                <a:latin typeface="PingFang SC"/>
              </a:rPr>
              <a:t>组织的价值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1264" y="4069080"/>
            <a:ext cx="56692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数据对应动作，动作产生结果，结果可被解释和改善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32180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制造执行仍由运营 VP 负责；新团队负责计划、实物流、数字化及集团共性规则。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组织调整：建立清晰的责任链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集团建立能力与共同标准；基地对交付和现场执行负责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3562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海威作业一  /  组织调整与阶段价值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02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3752" y="1344168"/>
            <a:ext cx="2423160" cy="502920"/>
          </a:xfrm>
          <a:prstGeom prst="roundRect">
            <a:avLst/>
          </a:prstGeom>
          <a:solidFill>
            <a:srgbClr val="1F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4264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CEO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9904" y="1847088"/>
            <a:ext cx="0" cy="228600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32304" y="2075688"/>
            <a:ext cx="7141464" cy="0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32304" y="2075688"/>
            <a:ext cx="0" cy="201168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73768" y="2075688"/>
            <a:ext cx="0" cy="201168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3504" y="2267712"/>
            <a:ext cx="3657600" cy="1874519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496312"/>
            <a:ext cx="312724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运营 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026664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76974"/>
                </a:solidFill>
                <a:latin typeface="PingFang SC"/>
              </a:rPr>
              <a:t>制造执行｜工艺与设备｜现场生产结果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18304" y="2267712"/>
            <a:ext cx="6858000" cy="1874519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450592"/>
            <a:ext cx="6318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746"/>
                </a:solidFill>
                <a:latin typeface="PingFang SC"/>
              </a:rPr>
              <a:t>集团供应链与数字化负责人（拟）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2624" y="2999232"/>
            <a:ext cx="7315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A4D9"/>
                </a:solidFill>
                <a:latin typeface="PingFang SC"/>
              </a:rPr>
              <a:t>信息流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9864" y="2999232"/>
            <a:ext cx="22677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客户／生产／物料计划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999232"/>
            <a:ext cx="7315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8C22F"/>
                </a:solidFill>
                <a:latin typeface="PingFang SC"/>
              </a:rPr>
              <a:t>实物流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999232"/>
            <a:ext cx="22677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仓储／厂内物流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3511296"/>
            <a:ext cx="7315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A4D9"/>
                </a:solidFill>
                <a:latin typeface="PingFang SC"/>
              </a:rPr>
              <a:t>数字化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9864" y="3511296"/>
            <a:ext cx="22677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业务＋开发／集成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511296"/>
            <a:ext cx="7315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8C22F"/>
                </a:solidFill>
                <a:latin typeface="PingFang SC"/>
              </a:rPr>
              <a:t>体系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511296"/>
            <a:ext cx="22677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客户要求与控制点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4453128"/>
            <a:ext cx="10972800" cy="106984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645152"/>
            <a:ext cx="11612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8C22F"/>
                </a:solidFill>
                <a:latin typeface="PingFang SC"/>
              </a:rPr>
              <a:t>现场接口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0824" y="4636008"/>
            <a:ext cx="92811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计划提出可执行指令 → 制造兑现 → 物流保障 → 数据反馈与异常闭环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70585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IE：前期以项目协作／虚线参与现场测量和方案验证，组织归属待讨论。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前 12 个月：先建能力，再核实收益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人数是岗位覆盖设想；净新增编制须在现状盘点后确定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3562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海威作业一  /  组织调整与阶段价值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03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417320"/>
            <a:ext cx="5312664" cy="4270248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4496" y="1417320"/>
            <a:ext cx="5312664" cy="427024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636776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A4D9"/>
                </a:solidFill>
                <a:latin typeface="PingFang SC"/>
              </a:rPr>
              <a:t>阶段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956816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F3746"/>
                </a:solidFill>
                <a:latin typeface="PingFang SC"/>
              </a:rPr>
              <a:t>前 3—6 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651760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746"/>
                </a:solidFill>
                <a:latin typeface="PingFang SC"/>
              </a:rPr>
              <a:t>建能力与基线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172968"/>
            <a:ext cx="46177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明确组织边界；计划、仓储、数字化共同进入现场；以宁德先导建立需求、产能、产出、质量与物料流基线。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" y="4526280"/>
            <a:ext cx="4718304" cy="0"/>
          </a:xfrm>
          <a:prstGeom prst="line">
            <a:avLst/>
          </a:prstGeom>
          <a:ln w="127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6968" y="4690872"/>
            <a:ext cx="11430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A4D9"/>
                </a:solidFill>
                <a:latin typeface="PingFang SC"/>
              </a:rPr>
              <a:t>覆盖设想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7672" y="4663440"/>
            <a:ext cx="3639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3746"/>
                </a:solidFill>
                <a:latin typeface="PingFang SC"/>
              </a:rPr>
              <a:t>计划 2—3｜数字化业务 1—2｜开发 1｜实物流负责人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1636776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8C22F"/>
                </a:solidFill>
                <a:latin typeface="PingFang SC"/>
              </a:rPr>
              <a:t>阶段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1956816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F3746"/>
                </a:solidFill>
                <a:latin typeface="PingFang SC"/>
              </a:rPr>
              <a:t>6—12 个月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651760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746"/>
                </a:solidFill>
                <a:latin typeface="PingFang SC"/>
              </a:rPr>
              <a:t>形成并核实先导收益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172968"/>
            <a:ext cx="46177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围绕交付、设备时间、质量、损伤和库存持续改善；业务、运营与财务共同核实归因及经济结果。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28816" y="4526280"/>
            <a:ext cx="4727448" cy="0"/>
          </a:xfrm>
          <a:prstGeom prst="line">
            <a:avLst/>
          </a:prstGeom>
          <a:ln w="127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28816" y="4690872"/>
            <a:ext cx="11430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8C22F"/>
                </a:solidFill>
                <a:latin typeface="PingFang SC"/>
              </a:rPr>
              <a:t>覆盖设想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663440"/>
            <a:ext cx="364845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3746"/>
                </a:solidFill>
                <a:latin typeface="PingFang SC"/>
              </a:rPr>
              <a:t>计划 4—6｜数字化业务 2—3｜开发 1—2｜体系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8795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8B94"/>
                </a:solidFill>
                <a:latin typeface="PingFang SC"/>
              </a:rPr>
              <a:t>仓储与 IE 人数按业务量、现场工作及组织归属核定；此页不是招聘计划。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人员演化：职能归位，人数随业务成熟调整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现有人数待盘点；以下为功能覆盖设想，派驻与岗位融合均不等于净新增编制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3562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海威作业一  /  组织调整与阶段价值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04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325880"/>
            <a:ext cx="23408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A4D9"/>
                </a:solidFill>
                <a:latin typeface="PingFang SC"/>
              </a:rPr>
              <a:t>现有岗位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1325880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A4D9"/>
                </a:solidFill>
                <a:latin typeface="PingFang SC"/>
              </a:rPr>
              <a:t>前 3—6 个月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1325880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8C22F"/>
                </a:solidFill>
                <a:latin typeface="PingFang SC"/>
              </a:rPr>
              <a:t>6—12 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1325880"/>
            <a:ext cx="31455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8C22F"/>
                </a:solidFill>
                <a:latin typeface="PingFang SC"/>
              </a:rPr>
              <a:t>基地／平台阶段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" y="1737360"/>
            <a:ext cx="2340864" cy="1042415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18688" y="1737360"/>
            <a:ext cx="2359152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88152" y="1737360"/>
            <a:ext cx="2359152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75904" y="1737360"/>
            <a:ext cx="3145536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1874519"/>
            <a:ext cx="19933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信息化／计划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286000"/>
            <a:ext cx="20116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评估转向信息流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1883664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计划 2—3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6704" y="231343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客户＋生产＋物料计划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1883664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计划 4—6 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6168" y="231343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与系统／AI 协同计算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1883664"/>
            <a:ext cx="28712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每基地计划 1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313432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集团标准进入平台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088" y="2066543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066543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2066543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8C22F"/>
                </a:solidFill>
                <a:latin typeface="PingFang S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" y="2971800"/>
            <a:ext cx="2340864" cy="1042415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18688" y="2971800"/>
            <a:ext cx="2359152" cy="1042415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88152" y="2971800"/>
            <a:ext cx="2359152" cy="1042415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75904" y="2971800"/>
            <a:ext cx="3145536" cy="1042415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3108960"/>
            <a:ext cx="19933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仓储／物流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3520440"/>
            <a:ext cx="20116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从操作走向规划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5848" y="3118104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集团统筹 1 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6704" y="354787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基地现场岗位另列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5312" y="3118104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集团统筹 1—2 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16168" y="354787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现场覆盖至少 4 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3118104"/>
            <a:ext cx="28712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基地现场 4 → 5 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547872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墨 1／宁 1／嵊 2；罗 1 待投产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0088" y="3300984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3300984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4736" y="3300984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8C22F"/>
                </a:solidFill>
                <a:latin typeface="PingFang SC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" y="4206240"/>
            <a:ext cx="2340864" cy="1042415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218688" y="4206240"/>
            <a:ext cx="2359152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788152" y="4206240"/>
            <a:ext cx="2359152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75904" y="4206240"/>
            <a:ext cx="3145536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4343400"/>
            <a:ext cx="19933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工程／体系／IE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8" y="4754879"/>
            <a:ext cx="20116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协作进入现场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4352544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业务 1—2｜开发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46704" y="478231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IE 协作 1 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25312" y="4352544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数字业务 2—3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16168" y="478231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开发 1—2＋体系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13064" y="4352544"/>
            <a:ext cx="28712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融合团队约 5 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4782312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至少 2 人通全系统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90088" y="4535424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4535424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74736" y="4535424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8C22F"/>
                </a:solidFill>
                <a:latin typeface="PingFang SC"/>
              </a:rP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936" y="5650992"/>
            <a:ext cx="10890504" cy="420624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3816" y="5733288"/>
            <a:ext cx="105064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集团统筹与基地现场为两类岗位；可由基地骨干转型或兼任，不直接相加为净新增编制。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12 个月后：人走向基地，规则进入平台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计划与实物流本来服务基地；集团前期统筹是为了培养人员并统一方法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3562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海威作业一  /  组织调整与阶段价值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05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417320"/>
            <a:ext cx="3410712" cy="2185416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636776"/>
            <a:ext cx="29443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1—2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066543"/>
            <a:ext cx="2944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沉淀与复制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624328"/>
            <a:ext cx="29443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业务规则、数据口径、
软件配置、培训与验收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273552"/>
            <a:ext cx="2944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746"/>
                </a:solidFill>
                <a:latin typeface="PingFang SC"/>
              </a:rPr>
              <a:t>集团核心：延续阶段 B 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1" y="2368296"/>
            <a:ext cx="2651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417320"/>
            <a:ext cx="3410712" cy="2185416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1636776"/>
            <a:ext cx="29443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8C22F"/>
                </a:solidFill>
                <a:latin typeface="PingFang SC"/>
              </a:rPr>
              <a:t>2—3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066543"/>
            <a:ext cx="2944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基地嵌入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624328"/>
            <a:ext cx="29443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集团培养骨干进入基地，
带教当地团队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273552"/>
            <a:ext cx="2944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746"/>
                </a:solidFill>
                <a:latin typeface="PingFang SC"/>
              </a:rPr>
              <a:t>现场岗位：现有基地需 4；罗马尼亚后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2368296"/>
            <a:ext cx="2651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410712" cy="2185416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636776"/>
            <a:ext cx="29443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3 年后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066543"/>
            <a:ext cx="2944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平台治理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2624328"/>
            <a:ext cx="29443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轮换与晋升；共性规则、
评价方法进入平台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3273552"/>
            <a:ext cx="2944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746"/>
                </a:solidFill>
                <a:latin typeface="PingFang SC"/>
              </a:rPr>
              <a:t>融合团队约 5；至少 2 人通全系统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950208"/>
            <a:ext cx="107716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3746"/>
                </a:solidFill>
                <a:latin typeface="PingFang SC"/>
              </a:rPr>
              <a:t>驻基地人员的双线责任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89704"/>
            <a:ext cx="5239512" cy="97840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72784" y="4489704"/>
            <a:ext cx="5239512" cy="978408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672584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实线｜基地负责人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4096" y="4681728"/>
            <a:ext cx="25694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日常交付、现场资源与异常处置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672584"/>
            <a:ext cx="299008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虚线｜集团供应链负责人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4681728"/>
            <a:ext cx="19933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业务方法、指标口径与绩效评价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705856"/>
            <a:ext cx="107716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基地位置改变，业务动作与评价标准仍由统一平台承接；海外节奏取决于实际项目节点。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以收益和人效，验证组织调整是否有效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先导项目在 6—12 个月核实；复制项目逐基地建立基线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3562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海威作业一  /  组织调整与阶段价值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06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463040"/>
            <a:ext cx="5266944" cy="130759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45920"/>
            <a:ext cx="4700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增量贡献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30552"/>
            <a:ext cx="470001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真实需求下的良品交付与供货提升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463040"/>
            <a:ext cx="5266944" cy="130759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645920"/>
            <a:ext cx="4700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8C22F"/>
                </a:solidFill>
                <a:latin typeface="PingFang SC"/>
              </a:rPr>
              <a:t>实际成本节约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5" y="2130552"/>
            <a:ext cx="470001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时间损失、报废返工、搬运损伤下降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990088"/>
            <a:ext cx="5266944" cy="130759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172968"/>
            <a:ext cx="4700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8C22F"/>
                </a:solidFill>
                <a:latin typeface="PingFang SC"/>
              </a:rPr>
              <a:t>库存与现金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657600"/>
            <a:ext cx="470001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库存占用释放与持有成本分开核算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1" y="2990088"/>
            <a:ext cx="5266944" cy="130759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5" y="3172968"/>
            <a:ext cx="4700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单位业务量人效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5" y="3657600"/>
            <a:ext cx="470001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同等业务量所需人数与人工工时下降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709160"/>
            <a:ext cx="10844784" cy="786384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485546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核算原则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0552" y="4846320"/>
            <a:ext cx="9098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校正需求与班次等条件变化；扣除实施投入；库存释放不直接计入利润。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33288"/>
            <a:ext cx="1078077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8B94"/>
                </a:solidFill>
                <a:latin typeface="PingFang SC"/>
              </a:rPr>
              <a:t>待核实：现状编制与权限边界｜宁德业务基线｜海外投产节点｜IE 归属｜平台成熟门槛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五阶段讨论｜无品牌底板</dc:title>
  <dc:subject>白底、天蓝与草绿的无品牌演示底板</dc:subject>
  <dc:creator>Codex</dc:creator>
  <cp:lastModifiedBy>Codex</cp:lastModifiedBy>
  <cp:revision>1</cp:revision>
  <dcterms:created xsi:type="dcterms:W3CDTF">2026-09-30T06:57:32Z</dcterms:created>
  <dcterms:modified xsi:type="dcterms:W3CDTF">2026-09-30T06:57:32Z</dcterms:modified>
</cp:coreProperties>
</file>