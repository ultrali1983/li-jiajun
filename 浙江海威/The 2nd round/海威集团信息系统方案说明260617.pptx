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72" r:id="rId3"/>
  </p:sldIdLst>
  <p:sldSz cx="12192000" cy="6858000"/>
  <p:notesSz cx="6858000" cy="9144000"/>
  <p:custDataLst>
    <p:tags r:id="rId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5"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887">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2CA4D9"/>
    <a:srgbClr val="88C2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86" d="100"/>
          <a:sy n="86" d="100"/>
        </p:scale>
        <p:origin x="514" y="48"/>
      </p:cViewPr>
      <p:guideLst>
        <p:guide orient="horz" pos="2165"/>
        <p:guide pos="3839"/>
      </p:guideLst>
    </p:cSldViewPr>
  </p:slideViewPr>
  <p:notesTextViewPr>
    <p:cViewPr>
      <p:scale>
        <a:sx n="1" d="1"/>
        <a:sy n="1" d="1"/>
      </p:scale>
      <p:origin x="0" y="0"/>
    </p:cViewPr>
  </p:notesTextViewPr>
  <p:notesViewPr>
    <p:cSldViewPr snapToGrid="0">
      <p:cViewPr varScale="1">
        <p:scale>
          <a:sx n="65" d="100"/>
          <a:sy n="65" d="100"/>
        </p:scale>
        <p:origin x="-3158" y="-72"/>
      </p:cViewPr>
      <p:guideLst>
        <p:guide orient="horz" pos="2887"/>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notesMaster" Target="notesMasters/notesMaster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descr="d:/Eda/Desktop/PPT模板/封面4.jpg封面4"/>
          <p:cNvPicPr>
            <a:picLocks noChangeAspect="1"/>
          </p:cNvPicPr>
          <p:nvPr userDrawn="1"/>
        </p:nvPicPr>
        <p:blipFill>
          <a:blip r:embed="rId2"/>
          <a:srcRect l="5" r="5"/>
          <a:stretch>
            <a:fillRect/>
          </a:stretch>
        </p:blipFill>
        <p:spPr>
          <a:xfrm>
            <a:off x="0" y="0"/>
            <a:ext cx="12191365" cy="6858000"/>
          </a:xfrm>
          <a:prstGeom prst="rect">
            <a:avLst/>
          </a:prstGeom>
        </p:spPr>
      </p:pic>
      <p:sp>
        <p:nvSpPr>
          <p:cNvPr id="2" name="标题 1"/>
          <p:cNvSpPr>
            <a:spLocks noGrp="1"/>
          </p:cNvSpPr>
          <p:nvPr>
            <p:ph type="ctrTitle" hasCustomPrompt="1"/>
          </p:nvPr>
        </p:nvSpPr>
        <p:spPr>
          <a:xfrm>
            <a:off x="1524000" y="2209801"/>
            <a:ext cx="9144000" cy="1300162"/>
          </a:xfrm>
        </p:spPr>
        <p:txBody>
          <a:bodyPr anchor="b">
            <a:normAutofit/>
          </a:bodyPr>
          <a:lstStyle>
            <a:lvl1pPr algn="ctr">
              <a:defRPr sz="4000"/>
            </a:lvl1pPr>
          </a:lstStyle>
          <a:p>
            <a:r>
              <a:rPr lang="zh-CN" altLang="en-US" dirty="0"/>
              <a:t>单击此处编辑母版标题样式</a:t>
            </a:r>
            <a:br>
              <a:rPr lang="en-US" altLang="zh-CN" dirty="0"/>
            </a:br>
            <a:endParaRPr lang="zh-CN" altLang="en-US" dirty="0"/>
          </a:p>
        </p:txBody>
      </p:sp>
      <p:sp>
        <p:nvSpPr>
          <p:cNvPr id="3" name="副标题 2"/>
          <p:cNvSpPr>
            <a:spLocks noGrp="1"/>
          </p:cNvSpPr>
          <p:nvPr>
            <p:ph type="subTitle" idx="1"/>
          </p:nvPr>
        </p:nvSpPr>
        <p:spPr>
          <a:xfrm>
            <a:off x="3949700" y="3602038"/>
            <a:ext cx="4356100" cy="1198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4B3E664F-FB73-46E2-B09D-C521AE27EE88}" type="datetime1">
              <a:rPr lang="zh-CN" altLang="en-US" smtClean="0"/>
              <a:t>2026/6/18</a:t>
            </a:fld>
            <a:endParaRPr lang="zh-CN" altLang="en-US"/>
          </a:p>
        </p:txBody>
      </p:sp>
      <p:sp>
        <p:nvSpPr>
          <p:cNvPr id="5" name="页脚占位符 4"/>
          <p:cNvSpPr>
            <a:spLocks noGrp="1"/>
          </p:cNvSpPr>
          <p:nvPr>
            <p:ph type="ftr" sz="quarter" idx="11"/>
          </p:nvPr>
        </p:nvSpPr>
        <p:spPr>
          <a:xfrm>
            <a:off x="3267075" y="6356350"/>
            <a:ext cx="4114800" cy="365125"/>
          </a:xfrm>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21985FE-106B-4C61-9563-FFFCD97A9A6D}" type="datetime1">
              <a:rPr lang="zh-CN" altLang="en-US" smtClean="0"/>
              <a:t>2026/6/18</a:t>
            </a:fld>
            <a:endParaRPr lang="zh-CN" altLang="en-US"/>
          </a:p>
        </p:txBody>
      </p:sp>
      <p:sp>
        <p:nvSpPr>
          <p:cNvPr id="5" name="页脚占位符 4"/>
          <p:cNvSpPr>
            <a:spLocks noGrp="1"/>
          </p:cNvSpPr>
          <p:nvPr>
            <p:ph type="ftr" sz="quarter" idx="11"/>
          </p:nvPr>
        </p:nvSpPr>
        <p:spPr>
          <a:xfrm>
            <a:off x="4394200" y="6343650"/>
            <a:ext cx="4114800" cy="365125"/>
          </a:xfrm>
        </p:spPr>
        <p:txBody>
          <a:bodyPr/>
          <a:lstStyle/>
          <a:p>
            <a:endParaRPr lang="zh-CN" altLang="en-US" dirty="0"/>
          </a:p>
        </p:txBody>
      </p:sp>
      <p:sp>
        <p:nvSpPr>
          <p:cNvPr id="6" name="灯片编号占位符 5"/>
          <p:cNvSpPr>
            <a:spLocks noGrp="1"/>
          </p:cNvSpPr>
          <p:nvPr>
            <p:ph type="sldNum" sz="quarter" idx="12"/>
          </p:nvPr>
        </p:nvSpPr>
        <p:spPr>
          <a:xfrm>
            <a:off x="1522730" y="6427470"/>
            <a:ext cx="2743200" cy="365125"/>
          </a:xfrm>
        </p:spPr>
        <p:txBody>
          <a:bodyPr/>
          <a:lstStyle>
            <a:lvl1pPr>
              <a:defRPr sz="1600" b="1">
                <a:latin typeface="Arial" panose="020B0604020202020204" pitchFamily="34" charset="0"/>
                <a:cs typeface="Arial" panose="020B0604020202020204" pitchFamily="34" charset="0"/>
              </a:defRPr>
            </a:lvl1pPr>
          </a:lstStyle>
          <a:p>
            <a:fld id="{565CE74E-AB26-4998-AD42-012C4C1AD076}" type="slidenum">
              <a:rPr lang="zh-CN" altLang="en-US" smtClean="0"/>
              <a:t>‹#›</a:t>
            </a:fld>
            <a:endParaRPr lang="zh-CN" altLang="en-US" dirty="0"/>
          </a:p>
        </p:txBody>
      </p:sp>
      <p:pic>
        <p:nvPicPr>
          <p:cNvPr id="8" name="图片 7" descr="D:/Eda/Desktop/PPT模板/底43.jpg底43"/>
          <p:cNvPicPr>
            <a:picLocks noChangeAspect="1"/>
          </p:cNvPicPr>
          <p:nvPr userDrawn="1"/>
        </p:nvPicPr>
        <p:blipFill>
          <a:blip r:embed="rId2"/>
          <a:srcRect l="5" r="5"/>
          <a:stretch>
            <a:fillRect/>
          </a:stretch>
        </p:blipFill>
        <p:spPr>
          <a:xfrm>
            <a:off x="-635" y="8890"/>
            <a:ext cx="12192635" cy="6858635"/>
          </a:xfrm>
          <a:prstGeom prst="rect">
            <a:avLst/>
          </a:prstGeom>
        </p:spPr>
      </p:pic>
      <p:sp>
        <p:nvSpPr>
          <p:cNvPr id="7" name="灯片编号占位符 5"/>
          <p:cNvSpPr>
            <a:spLocks noGrp="1"/>
          </p:cNvSpPr>
          <p:nvPr userDrawn="1"/>
        </p:nvSpPr>
        <p:spPr>
          <a:xfrm>
            <a:off x="3253105" y="6511925"/>
            <a:ext cx="97917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z="1400" b="1" smtClean="0"/>
              <a:t>‹#›</a:t>
            </a:fld>
            <a:endParaRPr lang="zh-CN" altLang="en-US" sz="1400" b="1"/>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798A24F-C1EC-4603-BA68-B877F170BE5F}" type="datetime1">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21EEB85-4D6F-4ABE-B390-4597CABED9F0}" type="datetime1">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7E3F112-B0D3-44A0-8B38-45C6BAFF967B}" type="datetime1">
              <a:rPr lang="zh-CN" altLang="en-US" smtClean="0"/>
              <a:t>2026/6/18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2F205E3-D0CD-4FFC-A8D3-20E9FDC88DD4}" type="datetime1">
              <a:rPr lang="zh-CN" altLang="en-US" smtClean="0"/>
              <a:t>2026/6/18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4FD916-2FB5-48DC-B066-2EB9A052FA05}" type="datetime1">
              <a:rPr lang="zh-CN" altLang="en-US" smtClean="0"/>
              <a:t>2026/6/18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050A71F-FD15-4924-B74C-C9A87F8B95D3}" type="datetime1">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2AA2167-1025-451A-BC8D-3B61919CF2BF}" type="datetime1">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059B518-E57D-482A-BCBA-949DF143F1FE}" type="datetime1">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4B094D-5CFE-4D8F-9110-96E177C1E7C2}" type="datetime1">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2E51A7-4E44-4E78-92FA-3FE164E00C02}" type="datetime1">
              <a:rPr lang="zh-CN" altLang="en-US" smtClean="0"/>
              <a:t>2026/6/18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485964" y="2506980"/>
            <a:ext cx="7220073" cy="1428750"/>
          </a:xfrm>
          <a:prstGeom prst="rect">
            <a:avLst/>
          </a:prstGeom>
          <a:noFill/>
        </p:spPr>
        <p:txBody>
          <a:bodyPr wrap="square" rtlCol="0" anchor="ctr">
            <a:noAutofit/>
          </a:bodyPr>
          <a:lstStyle/>
          <a:p>
            <a:pPr algn="ctr"/>
            <a:r>
              <a:rPr lang="zh-CN" altLang="en-US" sz="4700" b="1" kern="2000" spc="600" dirty="0">
                <a:latin typeface="Arial" panose="020B0604020202020204" pitchFamily="34" charset="0"/>
                <a:ea typeface="宋体" panose="02010600030101010101" pitchFamily="2" charset="-122"/>
                <a:cs typeface="Arial" panose="020B0604020202020204" pitchFamily="34" charset="0"/>
              </a:rPr>
              <a:t>集团信息系统方案说明</a:t>
            </a:r>
            <a:endParaRPr lang="zh-CN" sz="4700" b="1" kern="2000" spc="600" dirty="0">
              <a:solidFill>
                <a:schemeClr val="tx1"/>
              </a:solidFill>
              <a:uFillTx/>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表格 21">
            <a:extLst>
              <a:ext uri="{FF2B5EF4-FFF2-40B4-BE49-F238E27FC236}">
                <a16:creationId xmlns:a16="http://schemas.microsoft.com/office/drawing/2014/main" id="{189786D2-959C-58AA-98C3-A5994F45A088}"/>
              </a:ext>
            </a:extLst>
          </p:cNvPr>
          <p:cNvGraphicFramePr>
            <a:graphicFrameLocks noGrp="1"/>
          </p:cNvGraphicFramePr>
          <p:nvPr>
            <p:extLst>
              <p:ext uri="{D42A27DB-BD31-4B8C-83A1-F6EECF244321}">
                <p14:modId xmlns:p14="http://schemas.microsoft.com/office/powerpoint/2010/main" val="1511043846"/>
              </p:ext>
            </p:extLst>
          </p:nvPr>
        </p:nvGraphicFramePr>
        <p:xfrm>
          <a:off x="389630" y="257670"/>
          <a:ext cx="11453182" cy="6187289"/>
        </p:xfrm>
        <a:graphic>
          <a:graphicData uri="http://schemas.openxmlformats.org/drawingml/2006/table">
            <a:tbl>
              <a:tblPr firstRow="1" bandRow="1">
                <a:tableStyleId>{5C22544A-7EE6-4342-B048-85BDC9FD1C3A}</a:tableStyleId>
              </a:tblPr>
              <a:tblGrid>
                <a:gridCol w="5726591">
                  <a:extLst>
                    <a:ext uri="{9D8B030D-6E8A-4147-A177-3AD203B41FA5}">
                      <a16:colId xmlns:a16="http://schemas.microsoft.com/office/drawing/2014/main" val="109277538"/>
                    </a:ext>
                  </a:extLst>
                </a:gridCol>
                <a:gridCol w="5726591">
                  <a:extLst>
                    <a:ext uri="{9D8B030D-6E8A-4147-A177-3AD203B41FA5}">
                      <a16:colId xmlns:a16="http://schemas.microsoft.com/office/drawing/2014/main" val="3658700309"/>
                    </a:ext>
                  </a:extLst>
                </a:gridCol>
              </a:tblGrid>
              <a:tr h="417027">
                <a:tc>
                  <a:txBody>
                    <a:bodyPr/>
                    <a:lstStyle/>
                    <a:p>
                      <a:pPr algn="ctr"/>
                      <a:r>
                        <a:rPr lang="zh-CN" altLang="en-US" sz="1400" dirty="0">
                          <a:solidFill>
                            <a:schemeClr val="tx1"/>
                          </a:solidFill>
                        </a:rPr>
                        <a:t>变更前</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变更后</a:t>
                      </a:r>
                    </a:p>
                  </a:txBody>
                  <a:tcPr anchor="ctr">
                    <a:lnL w="6350" cap="flat" cmpd="sng" algn="ctr">
                      <a:solidFill>
                        <a:schemeClr val="tx1"/>
                      </a:solidFill>
                      <a:prstDash val="lgDash"/>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3000"/>
                      </a:schemeClr>
                    </a:solidFill>
                  </a:tcPr>
                </a:tc>
                <a:extLst>
                  <a:ext uri="{0D108BD9-81ED-4DB2-BD59-A6C34878D82A}">
                    <a16:rowId xmlns:a16="http://schemas.microsoft.com/office/drawing/2014/main" val="1486280765"/>
                  </a:ext>
                </a:extLst>
              </a:tr>
              <a:tr h="417027">
                <a:tc>
                  <a:txBody>
                    <a:bodyPr/>
                    <a:lstStyle/>
                    <a:p>
                      <a:pPr algn="ctr"/>
                      <a:r>
                        <a:rPr lang="zh-CN" altLang="en-US" sz="1400" dirty="0">
                          <a:solidFill>
                            <a:schemeClr val="tx1"/>
                          </a:solidFill>
                        </a:rPr>
                        <a:t>按照两期实施整个</a:t>
                      </a:r>
                      <a:r>
                        <a:rPr lang="en-US" altLang="zh-CN" sz="1400" dirty="0">
                          <a:solidFill>
                            <a:schemeClr val="tx1"/>
                          </a:solidFill>
                        </a:rPr>
                        <a:t>MOM</a:t>
                      </a:r>
                      <a:r>
                        <a:rPr lang="zh-CN" altLang="en-US" sz="1400" dirty="0">
                          <a:solidFill>
                            <a:schemeClr val="tx1"/>
                          </a:solidFill>
                        </a:rPr>
                        <a:t>系统，应用于宁波海威与浙江海威</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宁波海威维持原实施方案，浙江海威</a:t>
                      </a:r>
                      <a:r>
                        <a:rPr lang="en-US" altLang="zh-CN" sz="1400" dirty="0">
                          <a:solidFill>
                            <a:schemeClr val="tx1"/>
                          </a:solidFill>
                        </a:rPr>
                        <a:t>&amp;</a:t>
                      </a:r>
                      <a:r>
                        <a:rPr lang="zh-CN" altLang="en-US" sz="1400" dirty="0">
                          <a:solidFill>
                            <a:schemeClr val="tx1"/>
                          </a:solidFill>
                        </a:rPr>
                        <a:t>浩威</a:t>
                      </a:r>
                      <a:r>
                        <a:rPr lang="en-US" altLang="zh-CN" sz="1400" dirty="0">
                          <a:solidFill>
                            <a:schemeClr val="tx1"/>
                          </a:solidFill>
                        </a:rPr>
                        <a:t>&amp;</a:t>
                      </a:r>
                      <a:r>
                        <a:rPr lang="zh-CN" altLang="en-US" sz="1400" dirty="0">
                          <a:solidFill>
                            <a:schemeClr val="tx1"/>
                          </a:solidFill>
                        </a:rPr>
                        <a:t>海创按客户需求实施</a:t>
                      </a:r>
                    </a:p>
                  </a:txBody>
                  <a:tcPr anchor="ctr">
                    <a:lnL w="6350" cap="flat" cmpd="sng" algn="ctr">
                      <a:solidFill>
                        <a:schemeClr val="tx1"/>
                      </a:solidFill>
                      <a:prstDash val="lgDash"/>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3000"/>
                      </a:schemeClr>
                    </a:solidFill>
                  </a:tcPr>
                </a:tc>
                <a:extLst>
                  <a:ext uri="{0D108BD9-81ED-4DB2-BD59-A6C34878D82A}">
                    <a16:rowId xmlns:a16="http://schemas.microsoft.com/office/drawing/2014/main" val="2258208953"/>
                  </a:ext>
                </a:extLst>
              </a:tr>
              <a:tr h="4900474">
                <a:tc>
                  <a:txBody>
                    <a:bodyPr/>
                    <a:lstStyle/>
                    <a:p>
                      <a:pPr algn="ctr"/>
                      <a:endParaRPr lang="zh-CN" altLang="en-US" sz="14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6350" cap="flat" cmpd="sng" algn="ctr">
                      <a:solidFill>
                        <a:schemeClr val="tx1"/>
                      </a:solidFill>
                      <a:prstDash val="lgDash"/>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3000"/>
                      </a:schemeClr>
                    </a:solidFill>
                  </a:tcPr>
                </a:tc>
                <a:extLst>
                  <a:ext uri="{0D108BD9-81ED-4DB2-BD59-A6C34878D82A}">
                    <a16:rowId xmlns:a16="http://schemas.microsoft.com/office/drawing/2014/main" val="3224617231"/>
                  </a:ext>
                </a:extLst>
              </a:tr>
              <a:tr h="452761">
                <a:tc gridSpan="2">
                  <a:txBody>
                    <a:bodyPr/>
                    <a:lstStyle/>
                    <a:p>
                      <a:pPr algn="l"/>
                      <a:r>
                        <a:rPr lang="zh-CN" altLang="en-US" sz="1300" dirty="0">
                          <a:solidFill>
                            <a:schemeClr val="tx1"/>
                          </a:solidFill>
                        </a:rPr>
                        <a:t>下一步工作：鉴于当前</a:t>
                      </a:r>
                      <a:r>
                        <a:rPr lang="en-US" altLang="zh-CN" sz="1300" dirty="0">
                          <a:solidFill>
                            <a:schemeClr val="tx1"/>
                          </a:solidFill>
                        </a:rPr>
                        <a:t>CATL</a:t>
                      </a:r>
                      <a:r>
                        <a:rPr lang="zh-CN" altLang="en-US" sz="1300" dirty="0">
                          <a:solidFill>
                            <a:schemeClr val="tx1"/>
                          </a:solidFill>
                        </a:rPr>
                        <a:t>的要求不断变化，建议浙江海威、浙江浩威、浙江海创采用开口合同的形式并基于客户需求启动系统开发和实施工作。</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dirty="0">
                        <a:solidFill>
                          <a:schemeClr val="tx1"/>
                        </a:solidFill>
                      </a:endParaRPr>
                    </a:p>
                  </a:txBody>
                  <a:tcPr anchor="ctr">
                    <a:lnL w="6350" cap="flat" cmpd="sng" algn="ctr">
                      <a:solidFill>
                        <a:schemeClr val="tx1"/>
                      </a:solidFill>
                      <a:prstDash val="lgDash"/>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3000"/>
                      </a:schemeClr>
                    </a:solidFill>
                  </a:tcPr>
                </a:tc>
                <a:extLst>
                  <a:ext uri="{0D108BD9-81ED-4DB2-BD59-A6C34878D82A}">
                    <a16:rowId xmlns:a16="http://schemas.microsoft.com/office/drawing/2014/main" val="1033715573"/>
                  </a:ext>
                </a:extLst>
              </a:tr>
            </a:tbl>
          </a:graphicData>
        </a:graphic>
      </p:graphicFrame>
      <p:sp>
        <p:nvSpPr>
          <p:cNvPr id="2" name="矩形 1">
            <a:extLst>
              <a:ext uri="{FF2B5EF4-FFF2-40B4-BE49-F238E27FC236}">
                <a16:creationId xmlns:a16="http://schemas.microsoft.com/office/drawing/2014/main" id="{DEB80555-1335-B9CD-A7D6-18A55AE81692}"/>
              </a:ext>
            </a:extLst>
          </p:cNvPr>
          <p:cNvSpPr/>
          <p:nvPr/>
        </p:nvSpPr>
        <p:spPr>
          <a:xfrm>
            <a:off x="1068016" y="2653182"/>
            <a:ext cx="1428299" cy="540129"/>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MES</a:t>
            </a:r>
          </a:p>
          <a:p>
            <a:pPr algn="ctr"/>
            <a:r>
              <a:rPr lang="en-US" altLang="zh-CN" sz="1000" dirty="0">
                <a:latin typeface="Arial" panose="020B0604020202020204" pitchFamily="34" charset="0"/>
                <a:cs typeface="Arial" panose="020B0604020202020204" pitchFamily="34" charset="0"/>
              </a:rPr>
              <a:t>Manufacturing Execution System</a:t>
            </a:r>
            <a:endParaRPr lang="zh-CN" altLang="en-US" sz="1000" dirty="0">
              <a:latin typeface="Arial" panose="020B0604020202020204" pitchFamily="34" charset="0"/>
              <a:cs typeface="Arial" panose="020B0604020202020204" pitchFamily="34" charset="0"/>
            </a:endParaRPr>
          </a:p>
        </p:txBody>
      </p:sp>
      <p:sp>
        <p:nvSpPr>
          <p:cNvPr id="3" name="矩形 2">
            <a:extLst>
              <a:ext uri="{FF2B5EF4-FFF2-40B4-BE49-F238E27FC236}">
                <a16:creationId xmlns:a16="http://schemas.microsoft.com/office/drawing/2014/main" id="{1BC523A0-29A9-555D-5721-E3C759851FD0}"/>
              </a:ext>
            </a:extLst>
          </p:cNvPr>
          <p:cNvSpPr/>
          <p:nvPr/>
        </p:nvSpPr>
        <p:spPr>
          <a:xfrm>
            <a:off x="1068017" y="1886965"/>
            <a:ext cx="1428299" cy="540129"/>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WMS</a:t>
            </a:r>
          </a:p>
          <a:p>
            <a:pPr algn="ctr"/>
            <a:r>
              <a:rPr lang="en-US" altLang="zh-CN" sz="1000" dirty="0">
                <a:latin typeface="Arial" panose="020B0604020202020204" pitchFamily="34" charset="0"/>
                <a:cs typeface="Arial" panose="020B0604020202020204" pitchFamily="34" charset="0"/>
              </a:rPr>
              <a:t>Warehouse Management System</a:t>
            </a:r>
            <a:endParaRPr lang="zh-CN" altLang="en-US" sz="1000" dirty="0">
              <a:latin typeface="Arial" panose="020B0604020202020204" pitchFamily="34" charset="0"/>
              <a:cs typeface="Arial" panose="020B0604020202020204" pitchFamily="34" charset="0"/>
            </a:endParaRPr>
          </a:p>
        </p:txBody>
      </p:sp>
      <p:sp>
        <p:nvSpPr>
          <p:cNvPr id="4" name="矩形 3">
            <a:extLst>
              <a:ext uri="{FF2B5EF4-FFF2-40B4-BE49-F238E27FC236}">
                <a16:creationId xmlns:a16="http://schemas.microsoft.com/office/drawing/2014/main" id="{D58C79EE-9019-E422-A61F-FDB12669D12C}"/>
              </a:ext>
            </a:extLst>
          </p:cNvPr>
          <p:cNvSpPr/>
          <p:nvPr/>
        </p:nvSpPr>
        <p:spPr>
          <a:xfrm>
            <a:off x="1068017" y="3586946"/>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QMS</a:t>
            </a:r>
          </a:p>
          <a:p>
            <a:pPr algn="ctr"/>
            <a:r>
              <a:rPr lang="en-US" altLang="zh-CN" sz="1000" dirty="0">
                <a:latin typeface="Arial" panose="020B0604020202020204" pitchFamily="34" charset="0"/>
                <a:cs typeface="Arial" panose="020B0604020202020204" pitchFamily="34" charset="0"/>
              </a:rPr>
              <a:t>Quality</a:t>
            </a:r>
          </a:p>
          <a:p>
            <a:pPr algn="ctr"/>
            <a:r>
              <a:rPr lang="en-US" altLang="zh-CN" sz="1000" dirty="0">
                <a:latin typeface="Arial" panose="020B0604020202020204" pitchFamily="34" charset="0"/>
                <a:cs typeface="Arial" panose="020B0604020202020204" pitchFamily="34" charset="0"/>
              </a:rPr>
              <a:t> Management System</a:t>
            </a:r>
            <a:endParaRPr lang="zh-CN" altLang="en-US" sz="1000" dirty="0">
              <a:latin typeface="Arial" panose="020B0604020202020204" pitchFamily="34" charset="0"/>
              <a:cs typeface="Arial" panose="020B0604020202020204" pitchFamily="34" charset="0"/>
            </a:endParaRPr>
          </a:p>
        </p:txBody>
      </p:sp>
      <p:sp>
        <p:nvSpPr>
          <p:cNvPr id="7" name="矩形 6">
            <a:extLst>
              <a:ext uri="{FF2B5EF4-FFF2-40B4-BE49-F238E27FC236}">
                <a16:creationId xmlns:a16="http://schemas.microsoft.com/office/drawing/2014/main" id="{1F05139E-3C42-BDB6-90E5-621AAF245277}"/>
              </a:ext>
            </a:extLst>
          </p:cNvPr>
          <p:cNvSpPr/>
          <p:nvPr/>
        </p:nvSpPr>
        <p:spPr>
          <a:xfrm>
            <a:off x="1068017" y="4353163"/>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TPM</a:t>
            </a:r>
          </a:p>
          <a:p>
            <a:pPr algn="ctr"/>
            <a:r>
              <a:rPr lang="en-US" altLang="zh-CN" sz="1000" dirty="0">
                <a:latin typeface="Arial" panose="020B0604020202020204" pitchFamily="34" charset="0"/>
                <a:cs typeface="Arial" panose="020B0604020202020204" pitchFamily="34" charset="0"/>
              </a:rPr>
              <a:t>Total Productive Maintenance</a:t>
            </a:r>
            <a:endParaRPr lang="zh-CN" altLang="en-US" sz="1000" dirty="0">
              <a:latin typeface="Arial" panose="020B0604020202020204" pitchFamily="34" charset="0"/>
              <a:cs typeface="Arial" panose="020B0604020202020204" pitchFamily="34" charset="0"/>
            </a:endParaRPr>
          </a:p>
        </p:txBody>
      </p:sp>
      <p:sp>
        <p:nvSpPr>
          <p:cNvPr id="8" name="矩形 7">
            <a:extLst>
              <a:ext uri="{FF2B5EF4-FFF2-40B4-BE49-F238E27FC236}">
                <a16:creationId xmlns:a16="http://schemas.microsoft.com/office/drawing/2014/main" id="{CE464EC3-7191-1397-ECE2-078C2BE2A1FA}"/>
              </a:ext>
            </a:extLst>
          </p:cNvPr>
          <p:cNvSpPr/>
          <p:nvPr/>
        </p:nvSpPr>
        <p:spPr>
          <a:xfrm>
            <a:off x="1073934" y="5119380"/>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IOT</a:t>
            </a:r>
          </a:p>
          <a:p>
            <a:pPr algn="ctr"/>
            <a:r>
              <a:rPr lang="en-US" altLang="zh-CN" sz="1000" dirty="0">
                <a:latin typeface="Arial" panose="020B0604020202020204" pitchFamily="34" charset="0"/>
                <a:cs typeface="Arial" panose="020B0604020202020204" pitchFamily="34" charset="0"/>
              </a:rPr>
              <a:t>Internet Of</a:t>
            </a:r>
            <a:r>
              <a:rPr lang="zh-CN" altLang="en-US" sz="1000" dirty="0">
                <a:latin typeface="Arial" panose="020B0604020202020204" pitchFamily="34" charset="0"/>
                <a:cs typeface="Arial" panose="020B0604020202020204" pitchFamily="34" charset="0"/>
              </a:rPr>
              <a:t> </a:t>
            </a:r>
            <a:r>
              <a:rPr lang="en-US" altLang="zh-CN" sz="1000" dirty="0">
                <a:latin typeface="Arial" panose="020B0604020202020204" pitchFamily="34" charset="0"/>
                <a:cs typeface="Arial" panose="020B0604020202020204" pitchFamily="34" charset="0"/>
              </a:rPr>
              <a:t>Things</a:t>
            </a:r>
          </a:p>
        </p:txBody>
      </p:sp>
      <p:sp>
        <p:nvSpPr>
          <p:cNvPr id="9" name="矩形 8">
            <a:extLst>
              <a:ext uri="{FF2B5EF4-FFF2-40B4-BE49-F238E27FC236}">
                <a16:creationId xmlns:a16="http://schemas.microsoft.com/office/drawing/2014/main" id="{6264BD19-554B-A479-93D3-88E2D1196DCB}"/>
              </a:ext>
            </a:extLst>
          </p:cNvPr>
          <p:cNvSpPr/>
          <p:nvPr/>
        </p:nvSpPr>
        <p:spPr>
          <a:xfrm>
            <a:off x="760520" y="1447056"/>
            <a:ext cx="2064692" cy="1918056"/>
          </a:xfrm>
          <a:prstGeom prst="rect">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10" name="矩形 9">
            <a:extLst>
              <a:ext uri="{FF2B5EF4-FFF2-40B4-BE49-F238E27FC236}">
                <a16:creationId xmlns:a16="http://schemas.microsoft.com/office/drawing/2014/main" id="{6D3B46BE-74C9-636B-AB22-5CFB7DBBF787}"/>
              </a:ext>
            </a:extLst>
          </p:cNvPr>
          <p:cNvSpPr/>
          <p:nvPr/>
        </p:nvSpPr>
        <p:spPr>
          <a:xfrm>
            <a:off x="935960" y="1176991"/>
            <a:ext cx="1711699" cy="5401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MOM</a:t>
            </a:r>
          </a:p>
          <a:p>
            <a:pPr algn="ctr"/>
            <a:r>
              <a:rPr lang="en-US" altLang="zh-CN" sz="1000" dirty="0">
                <a:latin typeface="Arial" panose="020B0604020202020204" pitchFamily="34" charset="0"/>
                <a:cs typeface="Arial" panose="020B0604020202020204" pitchFamily="34" charset="0"/>
              </a:rPr>
              <a:t>Manufacturing</a:t>
            </a:r>
          </a:p>
          <a:p>
            <a:pPr algn="ctr"/>
            <a:r>
              <a:rPr lang="en-US" altLang="zh-CN" sz="1000" dirty="0">
                <a:latin typeface="Arial" panose="020B0604020202020204" pitchFamily="34" charset="0"/>
                <a:cs typeface="Arial" panose="020B0604020202020204" pitchFamily="34" charset="0"/>
              </a:rPr>
              <a:t>Operations management</a:t>
            </a:r>
            <a:endParaRPr lang="zh-CN" altLang="en-US" sz="1000" dirty="0">
              <a:latin typeface="Arial" panose="020B0604020202020204" pitchFamily="34" charset="0"/>
              <a:cs typeface="Arial" panose="020B0604020202020204" pitchFamily="34" charset="0"/>
            </a:endParaRPr>
          </a:p>
        </p:txBody>
      </p:sp>
      <p:sp>
        <p:nvSpPr>
          <p:cNvPr id="12" name="矩形 11">
            <a:extLst>
              <a:ext uri="{FF2B5EF4-FFF2-40B4-BE49-F238E27FC236}">
                <a16:creationId xmlns:a16="http://schemas.microsoft.com/office/drawing/2014/main" id="{FDE3EB38-7B47-E791-8B8F-C631FDE8804C}"/>
              </a:ext>
            </a:extLst>
          </p:cNvPr>
          <p:cNvSpPr/>
          <p:nvPr/>
        </p:nvSpPr>
        <p:spPr>
          <a:xfrm>
            <a:off x="760520" y="3365112"/>
            <a:ext cx="2064692" cy="2414247"/>
          </a:xfrm>
          <a:prstGeom prst="rect">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23" name="矩形 22">
            <a:extLst>
              <a:ext uri="{FF2B5EF4-FFF2-40B4-BE49-F238E27FC236}">
                <a16:creationId xmlns:a16="http://schemas.microsoft.com/office/drawing/2014/main" id="{E3C05A28-F34A-081E-1D5B-A4448E22475B}"/>
              </a:ext>
            </a:extLst>
          </p:cNvPr>
          <p:cNvSpPr/>
          <p:nvPr/>
        </p:nvSpPr>
        <p:spPr>
          <a:xfrm>
            <a:off x="567907" y="1986228"/>
            <a:ext cx="385226" cy="83971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Arial" panose="020B0604020202020204" pitchFamily="34" charset="0"/>
                <a:cs typeface="Arial" panose="020B0604020202020204" pitchFamily="34" charset="0"/>
              </a:rPr>
              <a:t>第一期</a:t>
            </a:r>
            <a:endParaRPr lang="zh-CN" altLang="en-US" sz="1000" b="1" dirty="0">
              <a:solidFill>
                <a:schemeClr val="tx1"/>
              </a:solidFill>
              <a:latin typeface="Arial" panose="020B0604020202020204" pitchFamily="34" charset="0"/>
              <a:cs typeface="Arial" panose="020B0604020202020204" pitchFamily="34" charset="0"/>
            </a:endParaRPr>
          </a:p>
        </p:txBody>
      </p:sp>
      <p:sp>
        <p:nvSpPr>
          <p:cNvPr id="24" name="矩形 23">
            <a:extLst>
              <a:ext uri="{FF2B5EF4-FFF2-40B4-BE49-F238E27FC236}">
                <a16:creationId xmlns:a16="http://schemas.microsoft.com/office/drawing/2014/main" id="{07B5871E-FD2F-DD19-1A9B-95B0A41DC504}"/>
              </a:ext>
            </a:extLst>
          </p:cNvPr>
          <p:cNvSpPr/>
          <p:nvPr/>
        </p:nvSpPr>
        <p:spPr>
          <a:xfrm>
            <a:off x="572295" y="4203370"/>
            <a:ext cx="385226" cy="83971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Arial" panose="020B0604020202020204" pitchFamily="34" charset="0"/>
                <a:cs typeface="Arial" panose="020B0604020202020204" pitchFamily="34" charset="0"/>
              </a:rPr>
              <a:t>第二期</a:t>
            </a:r>
            <a:endParaRPr lang="zh-CN" altLang="en-US" sz="1000" b="1" dirty="0">
              <a:solidFill>
                <a:schemeClr val="tx1"/>
              </a:solidFill>
              <a:latin typeface="Arial" panose="020B0604020202020204" pitchFamily="34" charset="0"/>
              <a:cs typeface="Arial" panose="020B0604020202020204" pitchFamily="34" charset="0"/>
            </a:endParaRPr>
          </a:p>
        </p:txBody>
      </p:sp>
      <p:sp>
        <p:nvSpPr>
          <p:cNvPr id="25" name="矩形 24">
            <a:extLst>
              <a:ext uri="{FF2B5EF4-FFF2-40B4-BE49-F238E27FC236}">
                <a16:creationId xmlns:a16="http://schemas.microsoft.com/office/drawing/2014/main" id="{D8189668-15D3-182D-E7EA-7DC4F1ED5A88}"/>
              </a:ext>
            </a:extLst>
          </p:cNvPr>
          <p:cNvSpPr/>
          <p:nvPr/>
        </p:nvSpPr>
        <p:spPr>
          <a:xfrm>
            <a:off x="7242569" y="2653182"/>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latin typeface="Arial" panose="020B0604020202020204" pitchFamily="34" charset="0"/>
                <a:cs typeface="Arial" panose="020B0604020202020204" pitchFamily="34" charset="0"/>
              </a:rPr>
              <a:t>MES</a:t>
            </a:r>
            <a:r>
              <a:rPr lang="en-US" altLang="zh-CN" sz="1400" baseline="30000">
                <a:solidFill>
                  <a:schemeClr val="tx1"/>
                </a:solidFill>
                <a:latin typeface="Arial" panose="020B0604020202020204" pitchFamily="34" charset="0"/>
                <a:cs typeface="Arial" panose="020B0604020202020204" pitchFamily="34" charset="0"/>
              </a:rPr>
              <a:t>+</a:t>
            </a:r>
          </a:p>
          <a:p>
            <a:pPr algn="ctr"/>
            <a:r>
              <a:rPr lang="en-US" altLang="zh-CN" sz="1000">
                <a:solidFill>
                  <a:schemeClr val="tx1"/>
                </a:solidFill>
                <a:latin typeface="Arial" panose="020B0604020202020204" pitchFamily="34" charset="0"/>
                <a:cs typeface="Arial" panose="020B0604020202020204" pitchFamily="34" charset="0"/>
              </a:rPr>
              <a:t>Manufacturing Execution System</a:t>
            </a:r>
            <a:endParaRPr lang="zh-CN" altLang="en-US" sz="1000" dirty="0">
              <a:solidFill>
                <a:schemeClr val="tx1"/>
              </a:solidFill>
              <a:latin typeface="Arial" panose="020B0604020202020204" pitchFamily="34" charset="0"/>
              <a:cs typeface="Arial" panose="020B0604020202020204" pitchFamily="34" charset="0"/>
            </a:endParaRPr>
          </a:p>
        </p:txBody>
      </p:sp>
      <p:sp>
        <p:nvSpPr>
          <p:cNvPr id="26" name="矩形 25">
            <a:extLst>
              <a:ext uri="{FF2B5EF4-FFF2-40B4-BE49-F238E27FC236}">
                <a16:creationId xmlns:a16="http://schemas.microsoft.com/office/drawing/2014/main" id="{38C3A0B4-895B-E3DC-9C32-54A4C4BBB92D}"/>
              </a:ext>
            </a:extLst>
          </p:cNvPr>
          <p:cNvSpPr/>
          <p:nvPr/>
        </p:nvSpPr>
        <p:spPr>
          <a:xfrm>
            <a:off x="7242570" y="1886965"/>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WMS</a:t>
            </a:r>
            <a:r>
              <a:rPr lang="en-US" altLang="zh-CN" sz="1400" baseline="30000" dirty="0">
                <a:solidFill>
                  <a:schemeClr val="tx1"/>
                </a:solidFill>
                <a:latin typeface="Arial" panose="020B0604020202020204" pitchFamily="34" charset="0"/>
                <a:cs typeface="Arial" panose="020B0604020202020204" pitchFamily="34" charset="0"/>
              </a:rPr>
              <a:t>+</a:t>
            </a:r>
          </a:p>
          <a:p>
            <a:pPr algn="ctr"/>
            <a:r>
              <a:rPr lang="en-US" altLang="zh-CN" sz="1000" dirty="0">
                <a:solidFill>
                  <a:schemeClr val="tx1"/>
                </a:solidFill>
                <a:latin typeface="Arial" panose="020B0604020202020204" pitchFamily="34" charset="0"/>
                <a:cs typeface="Arial" panose="020B0604020202020204" pitchFamily="34" charset="0"/>
              </a:rPr>
              <a:t>Warehouse Management System</a:t>
            </a:r>
            <a:endParaRPr lang="zh-CN" altLang="en-US" sz="1000" dirty="0">
              <a:solidFill>
                <a:schemeClr val="tx1"/>
              </a:solidFill>
              <a:latin typeface="Arial" panose="020B0604020202020204" pitchFamily="34" charset="0"/>
              <a:cs typeface="Arial" panose="020B0604020202020204" pitchFamily="34" charset="0"/>
            </a:endParaRPr>
          </a:p>
        </p:txBody>
      </p:sp>
      <p:sp>
        <p:nvSpPr>
          <p:cNvPr id="27" name="矩形 26">
            <a:extLst>
              <a:ext uri="{FF2B5EF4-FFF2-40B4-BE49-F238E27FC236}">
                <a16:creationId xmlns:a16="http://schemas.microsoft.com/office/drawing/2014/main" id="{B380CB19-215D-33F0-511A-99B03D601EB1}"/>
              </a:ext>
            </a:extLst>
          </p:cNvPr>
          <p:cNvSpPr/>
          <p:nvPr/>
        </p:nvSpPr>
        <p:spPr>
          <a:xfrm>
            <a:off x="7242570" y="3586946"/>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QMS</a:t>
            </a:r>
            <a:r>
              <a:rPr lang="en-US" altLang="zh-CN" sz="1400" baseline="30000" dirty="0">
                <a:solidFill>
                  <a:schemeClr val="tx1"/>
                </a:solidFill>
                <a:latin typeface="Arial" panose="020B0604020202020204" pitchFamily="34" charset="0"/>
                <a:cs typeface="Arial" panose="020B0604020202020204" pitchFamily="34" charset="0"/>
              </a:rPr>
              <a:t>+</a:t>
            </a:r>
          </a:p>
          <a:p>
            <a:pPr algn="ctr"/>
            <a:r>
              <a:rPr lang="en-US" altLang="zh-CN" sz="1000" dirty="0">
                <a:solidFill>
                  <a:schemeClr val="tx1"/>
                </a:solidFill>
                <a:latin typeface="Arial" panose="020B0604020202020204" pitchFamily="34" charset="0"/>
                <a:cs typeface="Arial" panose="020B0604020202020204" pitchFamily="34" charset="0"/>
              </a:rPr>
              <a:t>Quality</a:t>
            </a:r>
          </a:p>
          <a:p>
            <a:pPr algn="ctr"/>
            <a:r>
              <a:rPr lang="en-US" altLang="zh-CN" sz="1000" dirty="0">
                <a:solidFill>
                  <a:schemeClr val="tx1"/>
                </a:solidFill>
                <a:latin typeface="Arial" panose="020B0604020202020204" pitchFamily="34" charset="0"/>
                <a:cs typeface="Arial" panose="020B0604020202020204" pitchFamily="34" charset="0"/>
              </a:rPr>
              <a:t> Management System</a:t>
            </a:r>
            <a:endParaRPr lang="zh-CN" altLang="en-US" sz="1000" dirty="0">
              <a:solidFill>
                <a:schemeClr val="tx1"/>
              </a:solidFill>
              <a:latin typeface="Arial" panose="020B0604020202020204" pitchFamily="34" charset="0"/>
              <a:cs typeface="Arial" panose="020B0604020202020204" pitchFamily="34" charset="0"/>
            </a:endParaRPr>
          </a:p>
        </p:txBody>
      </p:sp>
      <p:sp>
        <p:nvSpPr>
          <p:cNvPr id="30" name="矩形 29">
            <a:extLst>
              <a:ext uri="{FF2B5EF4-FFF2-40B4-BE49-F238E27FC236}">
                <a16:creationId xmlns:a16="http://schemas.microsoft.com/office/drawing/2014/main" id="{7E4216C2-CCF6-B12B-4420-7F7C0DE4CF2B}"/>
              </a:ext>
            </a:extLst>
          </p:cNvPr>
          <p:cNvSpPr/>
          <p:nvPr/>
        </p:nvSpPr>
        <p:spPr>
          <a:xfrm>
            <a:off x="6935073" y="1447056"/>
            <a:ext cx="2064692" cy="4332303"/>
          </a:xfrm>
          <a:prstGeom prst="rect">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31" name="矩形 30">
            <a:extLst>
              <a:ext uri="{FF2B5EF4-FFF2-40B4-BE49-F238E27FC236}">
                <a16:creationId xmlns:a16="http://schemas.microsoft.com/office/drawing/2014/main" id="{930D7E9D-CDA6-4D96-ABCC-7CA31A33BC11}"/>
              </a:ext>
            </a:extLst>
          </p:cNvPr>
          <p:cNvSpPr/>
          <p:nvPr/>
        </p:nvSpPr>
        <p:spPr>
          <a:xfrm>
            <a:off x="7110513" y="1176991"/>
            <a:ext cx="1711699" cy="5401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Arial" panose="020B0604020202020204" pitchFamily="34" charset="0"/>
                <a:cs typeface="Arial" panose="020B0604020202020204" pitchFamily="34" charset="0"/>
              </a:rPr>
              <a:t>MOM</a:t>
            </a:r>
          </a:p>
          <a:p>
            <a:pPr algn="ctr"/>
            <a:r>
              <a:rPr lang="en-US" altLang="zh-CN" sz="1000" dirty="0">
                <a:latin typeface="Arial" panose="020B0604020202020204" pitchFamily="34" charset="0"/>
                <a:cs typeface="Arial" panose="020B0604020202020204" pitchFamily="34" charset="0"/>
              </a:rPr>
              <a:t>Manufacturing</a:t>
            </a:r>
          </a:p>
          <a:p>
            <a:pPr algn="ctr"/>
            <a:r>
              <a:rPr lang="en-US" altLang="zh-CN" sz="1000" dirty="0">
                <a:latin typeface="Arial" panose="020B0604020202020204" pitchFamily="34" charset="0"/>
                <a:cs typeface="Arial" panose="020B0604020202020204" pitchFamily="34" charset="0"/>
              </a:rPr>
              <a:t>Operations management</a:t>
            </a:r>
            <a:endParaRPr lang="zh-CN" altLang="en-US" sz="1000" dirty="0">
              <a:latin typeface="Arial" panose="020B0604020202020204" pitchFamily="34" charset="0"/>
              <a:cs typeface="Arial" panose="020B0604020202020204" pitchFamily="34" charset="0"/>
            </a:endParaRPr>
          </a:p>
        </p:txBody>
      </p:sp>
      <p:sp>
        <p:nvSpPr>
          <p:cNvPr id="36" name="矩形 35">
            <a:extLst>
              <a:ext uri="{FF2B5EF4-FFF2-40B4-BE49-F238E27FC236}">
                <a16:creationId xmlns:a16="http://schemas.microsoft.com/office/drawing/2014/main" id="{CFEFA4AB-5A9E-1E83-3134-029682C48822}"/>
              </a:ext>
            </a:extLst>
          </p:cNvPr>
          <p:cNvSpPr/>
          <p:nvPr/>
        </p:nvSpPr>
        <p:spPr>
          <a:xfrm>
            <a:off x="3132708" y="1886965"/>
            <a:ext cx="206469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出入库管理、库存管理、盘点、</a:t>
            </a:r>
            <a:r>
              <a:rPr lang="en-US" altLang="zh-CN" sz="1200" dirty="0">
                <a:solidFill>
                  <a:schemeClr val="tx1"/>
                </a:solidFill>
                <a:latin typeface="+mn-ea"/>
                <a:cs typeface="Arial" panose="020B0604020202020204" pitchFamily="34" charset="0"/>
              </a:rPr>
              <a:t>FIFO</a:t>
            </a:r>
            <a:r>
              <a:rPr lang="zh-CN" altLang="en-US" sz="1200" dirty="0">
                <a:solidFill>
                  <a:schemeClr val="tx1"/>
                </a:solidFill>
                <a:latin typeface="+mn-ea"/>
                <a:cs typeface="Arial" panose="020B0604020202020204" pitchFamily="34" charset="0"/>
              </a:rPr>
              <a:t>、报表输出等</a:t>
            </a:r>
          </a:p>
        </p:txBody>
      </p:sp>
      <p:sp>
        <p:nvSpPr>
          <p:cNvPr id="38" name="矩形 37">
            <a:extLst>
              <a:ext uri="{FF2B5EF4-FFF2-40B4-BE49-F238E27FC236}">
                <a16:creationId xmlns:a16="http://schemas.microsoft.com/office/drawing/2014/main" id="{A23B44AB-92A5-FBC9-2D5A-4F9383E580D3}"/>
              </a:ext>
            </a:extLst>
          </p:cNvPr>
          <p:cNvSpPr/>
          <p:nvPr/>
        </p:nvSpPr>
        <p:spPr>
          <a:xfrm>
            <a:off x="3132708" y="2653422"/>
            <a:ext cx="2064692"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生产调度派工、生产进度监控、产品追溯、工序防错等</a:t>
            </a:r>
          </a:p>
        </p:txBody>
      </p:sp>
      <p:sp>
        <p:nvSpPr>
          <p:cNvPr id="40" name="矩形 39">
            <a:extLst>
              <a:ext uri="{FF2B5EF4-FFF2-40B4-BE49-F238E27FC236}">
                <a16:creationId xmlns:a16="http://schemas.microsoft.com/office/drawing/2014/main" id="{64980840-5917-1883-54FA-B36E79081941}"/>
              </a:ext>
            </a:extLst>
          </p:cNvPr>
          <p:cNvSpPr/>
          <p:nvPr/>
        </p:nvSpPr>
        <p:spPr>
          <a:xfrm>
            <a:off x="3132708" y="3586946"/>
            <a:ext cx="206469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来料</a:t>
            </a:r>
            <a:r>
              <a:rPr lang="en-US" altLang="zh-CN" sz="1200" dirty="0">
                <a:solidFill>
                  <a:schemeClr val="tx1"/>
                </a:solidFill>
                <a:latin typeface="+mn-ea"/>
                <a:cs typeface="Arial" panose="020B0604020202020204" pitchFamily="34" charset="0"/>
              </a:rPr>
              <a:t>/</a:t>
            </a:r>
            <a:r>
              <a:rPr lang="zh-CN" altLang="en-US" sz="1200" dirty="0">
                <a:solidFill>
                  <a:schemeClr val="tx1"/>
                </a:solidFill>
                <a:latin typeface="+mn-ea"/>
                <a:cs typeface="Arial" panose="020B0604020202020204" pitchFamily="34" charset="0"/>
              </a:rPr>
              <a:t>制程</a:t>
            </a:r>
            <a:r>
              <a:rPr lang="en-US" altLang="zh-CN" sz="1200" dirty="0">
                <a:solidFill>
                  <a:schemeClr val="tx1"/>
                </a:solidFill>
                <a:latin typeface="+mn-ea"/>
                <a:cs typeface="Arial" panose="020B0604020202020204" pitchFamily="34" charset="0"/>
              </a:rPr>
              <a:t>/</a:t>
            </a:r>
            <a:r>
              <a:rPr lang="zh-CN" altLang="en-US" sz="1200" dirty="0">
                <a:solidFill>
                  <a:schemeClr val="tx1"/>
                </a:solidFill>
                <a:latin typeface="+mn-ea"/>
                <a:cs typeface="Arial" panose="020B0604020202020204" pitchFamily="34" charset="0"/>
              </a:rPr>
              <a:t>出货检验、检验标准管理、不合格品处理等</a:t>
            </a:r>
          </a:p>
        </p:txBody>
      </p:sp>
      <p:sp>
        <p:nvSpPr>
          <p:cNvPr id="42" name="矩形 41">
            <a:extLst>
              <a:ext uri="{FF2B5EF4-FFF2-40B4-BE49-F238E27FC236}">
                <a16:creationId xmlns:a16="http://schemas.microsoft.com/office/drawing/2014/main" id="{5F6177FE-93C0-D92D-3D25-E3BEABFF9EE8}"/>
              </a:ext>
            </a:extLst>
          </p:cNvPr>
          <p:cNvSpPr/>
          <p:nvPr/>
        </p:nvSpPr>
        <p:spPr>
          <a:xfrm>
            <a:off x="3132708" y="4353161"/>
            <a:ext cx="206469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设备状态监控、设备故障记录、设备维护实施监控等</a:t>
            </a:r>
          </a:p>
        </p:txBody>
      </p:sp>
      <p:sp>
        <p:nvSpPr>
          <p:cNvPr id="44" name="矩形 43">
            <a:extLst>
              <a:ext uri="{FF2B5EF4-FFF2-40B4-BE49-F238E27FC236}">
                <a16:creationId xmlns:a16="http://schemas.microsoft.com/office/drawing/2014/main" id="{E4CB857C-BEAA-0DB8-5B0F-3536DA7AF812}"/>
              </a:ext>
            </a:extLst>
          </p:cNvPr>
          <p:cNvSpPr/>
          <p:nvPr/>
        </p:nvSpPr>
        <p:spPr>
          <a:xfrm>
            <a:off x="3132708" y="5123818"/>
            <a:ext cx="206469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核心生产设备数据采集、报表输出、分析及决策协助等</a:t>
            </a:r>
          </a:p>
        </p:txBody>
      </p:sp>
      <p:sp>
        <p:nvSpPr>
          <p:cNvPr id="45" name="矩形 44">
            <a:extLst>
              <a:ext uri="{FF2B5EF4-FFF2-40B4-BE49-F238E27FC236}">
                <a16:creationId xmlns:a16="http://schemas.microsoft.com/office/drawing/2014/main" id="{6203D84B-D558-4D51-39E8-15C38A52AFD0}"/>
              </a:ext>
            </a:extLst>
          </p:cNvPr>
          <p:cNvSpPr/>
          <p:nvPr/>
        </p:nvSpPr>
        <p:spPr>
          <a:xfrm>
            <a:off x="9307261" y="1883950"/>
            <a:ext cx="238463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替代料管理、物流临期预警、按单发料管理、退料特殊管理等</a:t>
            </a:r>
          </a:p>
        </p:txBody>
      </p:sp>
      <p:sp>
        <p:nvSpPr>
          <p:cNvPr id="47" name="矩形 46">
            <a:extLst>
              <a:ext uri="{FF2B5EF4-FFF2-40B4-BE49-F238E27FC236}">
                <a16:creationId xmlns:a16="http://schemas.microsoft.com/office/drawing/2014/main" id="{A7B2616F-EBD1-A933-22C1-6BB6A6845CE7}"/>
              </a:ext>
            </a:extLst>
          </p:cNvPr>
          <p:cNvSpPr/>
          <p:nvPr/>
        </p:nvSpPr>
        <p:spPr>
          <a:xfrm>
            <a:off x="3825581" y="1447056"/>
            <a:ext cx="1083353" cy="3246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Arial" panose="020B0604020202020204" pitchFamily="34" charset="0"/>
                <a:cs typeface="Arial" panose="020B0604020202020204" pitchFamily="34" charset="0"/>
              </a:rPr>
              <a:t>常规功能</a:t>
            </a:r>
            <a:endParaRPr lang="zh-CN" altLang="en-US" sz="1000" dirty="0">
              <a:latin typeface="Arial" panose="020B0604020202020204" pitchFamily="34" charset="0"/>
              <a:cs typeface="Arial" panose="020B0604020202020204" pitchFamily="34" charset="0"/>
            </a:endParaRPr>
          </a:p>
        </p:txBody>
      </p:sp>
      <p:sp>
        <p:nvSpPr>
          <p:cNvPr id="48" name="矩形 47">
            <a:extLst>
              <a:ext uri="{FF2B5EF4-FFF2-40B4-BE49-F238E27FC236}">
                <a16:creationId xmlns:a16="http://schemas.microsoft.com/office/drawing/2014/main" id="{5CFB80D9-39C1-BDB7-1E9F-D605DC560A8F}"/>
              </a:ext>
            </a:extLst>
          </p:cNvPr>
          <p:cNvSpPr/>
          <p:nvPr/>
        </p:nvSpPr>
        <p:spPr>
          <a:xfrm>
            <a:off x="9837976" y="1447055"/>
            <a:ext cx="1407672" cy="324645"/>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CATL</a:t>
            </a:r>
            <a:r>
              <a:rPr lang="zh-CN" altLang="en-US" sz="1400" dirty="0">
                <a:solidFill>
                  <a:schemeClr val="tx1"/>
                </a:solidFill>
                <a:latin typeface="Arial" panose="020B0604020202020204" pitchFamily="34" charset="0"/>
                <a:cs typeface="Arial" panose="020B0604020202020204" pitchFamily="34" charset="0"/>
              </a:rPr>
              <a:t>特殊要求</a:t>
            </a:r>
            <a:endParaRPr lang="zh-CN" altLang="en-US" sz="1000" dirty="0">
              <a:solidFill>
                <a:schemeClr val="tx1"/>
              </a:solidFill>
              <a:latin typeface="Arial" panose="020B0604020202020204" pitchFamily="34" charset="0"/>
              <a:cs typeface="Arial" panose="020B0604020202020204" pitchFamily="34" charset="0"/>
            </a:endParaRPr>
          </a:p>
        </p:txBody>
      </p:sp>
      <p:sp>
        <p:nvSpPr>
          <p:cNvPr id="53" name="矩形 52">
            <a:extLst>
              <a:ext uri="{FF2B5EF4-FFF2-40B4-BE49-F238E27FC236}">
                <a16:creationId xmlns:a16="http://schemas.microsoft.com/office/drawing/2014/main" id="{F1D57F67-E9AC-0183-CBE8-6319906DF17D}"/>
              </a:ext>
            </a:extLst>
          </p:cNvPr>
          <p:cNvSpPr/>
          <p:nvPr/>
        </p:nvSpPr>
        <p:spPr>
          <a:xfrm>
            <a:off x="9307261" y="2653182"/>
            <a:ext cx="238463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开班样件点检、岗位权限、工序参数防呆、工序检测结果联动等</a:t>
            </a:r>
          </a:p>
        </p:txBody>
      </p:sp>
      <p:sp>
        <p:nvSpPr>
          <p:cNvPr id="54" name="矩形 53">
            <a:extLst>
              <a:ext uri="{FF2B5EF4-FFF2-40B4-BE49-F238E27FC236}">
                <a16:creationId xmlns:a16="http://schemas.microsoft.com/office/drawing/2014/main" id="{4DE206F8-8582-D432-D89B-75F597EF48E1}"/>
              </a:ext>
            </a:extLst>
          </p:cNvPr>
          <p:cNvSpPr/>
          <p:nvPr/>
        </p:nvSpPr>
        <p:spPr>
          <a:xfrm>
            <a:off x="9307260" y="3586945"/>
            <a:ext cx="238463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来料跳批次防错、不合格品处理时效、</a:t>
            </a:r>
            <a:r>
              <a:rPr lang="en-US" altLang="zh-CN" sz="1200" dirty="0">
                <a:solidFill>
                  <a:schemeClr val="tx1"/>
                </a:solidFill>
                <a:latin typeface="+mn-ea"/>
                <a:cs typeface="Arial" panose="020B0604020202020204" pitchFamily="34" charset="0"/>
              </a:rPr>
              <a:t>SPC</a:t>
            </a:r>
            <a:r>
              <a:rPr lang="zh-CN" altLang="en-US" sz="1200" dirty="0">
                <a:solidFill>
                  <a:schemeClr val="tx1"/>
                </a:solidFill>
                <a:latin typeface="+mn-ea"/>
                <a:cs typeface="Arial" panose="020B0604020202020204" pitchFamily="34" charset="0"/>
              </a:rPr>
              <a:t>控制图实施输出等</a:t>
            </a:r>
          </a:p>
        </p:txBody>
      </p:sp>
      <p:sp>
        <p:nvSpPr>
          <p:cNvPr id="55" name="矩形 54">
            <a:extLst>
              <a:ext uri="{FF2B5EF4-FFF2-40B4-BE49-F238E27FC236}">
                <a16:creationId xmlns:a16="http://schemas.microsoft.com/office/drawing/2014/main" id="{6197E8AC-BDA6-719F-7601-BD7445E589D1}"/>
              </a:ext>
            </a:extLst>
          </p:cNvPr>
          <p:cNvSpPr/>
          <p:nvPr/>
        </p:nvSpPr>
        <p:spPr>
          <a:xfrm>
            <a:off x="9307260" y="4353160"/>
            <a:ext cx="238463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设备参数管理、生产程序管理、工装</a:t>
            </a:r>
            <a:r>
              <a:rPr lang="en-US" altLang="zh-CN" sz="1200" dirty="0">
                <a:solidFill>
                  <a:schemeClr val="tx1"/>
                </a:solidFill>
                <a:latin typeface="+mn-ea"/>
                <a:cs typeface="Arial" panose="020B0604020202020204" pitchFamily="34" charset="0"/>
              </a:rPr>
              <a:t>/</a:t>
            </a:r>
            <a:r>
              <a:rPr lang="zh-CN" altLang="en-US" sz="1200" dirty="0">
                <a:solidFill>
                  <a:schemeClr val="tx1"/>
                </a:solidFill>
                <a:latin typeface="+mn-ea"/>
                <a:cs typeface="Arial" panose="020B0604020202020204" pitchFamily="34" charset="0"/>
              </a:rPr>
              <a:t>夹具</a:t>
            </a:r>
            <a:r>
              <a:rPr lang="en-US" altLang="zh-CN" sz="1200" dirty="0">
                <a:solidFill>
                  <a:schemeClr val="tx1"/>
                </a:solidFill>
                <a:latin typeface="+mn-ea"/>
                <a:cs typeface="Arial" panose="020B0604020202020204" pitchFamily="34" charset="0"/>
              </a:rPr>
              <a:t>/</a:t>
            </a:r>
            <a:r>
              <a:rPr lang="zh-CN" altLang="en-US" sz="1200" dirty="0">
                <a:solidFill>
                  <a:schemeClr val="tx1"/>
                </a:solidFill>
                <a:latin typeface="+mn-ea"/>
                <a:cs typeface="Arial" panose="020B0604020202020204" pitchFamily="34" charset="0"/>
              </a:rPr>
              <a:t>量具管理等</a:t>
            </a:r>
          </a:p>
        </p:txBody>
      </p:sp>
      <p:sp>
        <p:nvSpPr>
          <p:cNvPr id="56" name="矩形 55">
            <a:extLst>
              <a:ext uri="{FF2B5EF4-FFF2-40B4-BE49-F238E27FC236}">
                <a16:creationId xmlns:a16="http://schemas.microsoft.com/office/drawing/2014/main" id="{1BDC22FD-A359-AAF7-FFD1-D684CA5BA3D3}"/>
              </a:ext>
            </a:extLst>
          </p:cNvPr>
          <p:cNvSpPr/>
          <p:nvPr/>
        </p:nvSpPr>
        <p:spPr>
          <a:xfrm>
            <a:off x="7242569" y="4353159"/>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TPM</a:t>
            </a:r>
          </a:p>
          <a:p>
            <a:pPr algn="ctr"/>
            <a:r>
              <a:rPr lang="en-US" altLang="zh-CN" sz="1000" dirty="0">
                <a:solidFill>
                  <a:schemeClr val="tx1"/>
                </a:solidFill>
                <a:latin typeface="Arial" panose="020B0604020202020204" pitchFamily="34" charset="0"/>
                <a:cs typeface="Arial" panose="020B0604020202020204" pitchFamily="34" charset="0"/>
              </a:rPr>
              <a:t>Total Productive Maintenance</a:t>
            </a:r>
            <a:endParaRPr lang="zh-CN" altLang="en-US" sz="1000" dirty="0">
              <a:solidFill>
                <a:schemeClr val="tx1"/>
              </a:solidFill>
              <a:latin typeface="Arial" panose="020B0604020202020204" pitchFamily="34" charset="0"/>
              <a:cs typeface="Arial" panose="020B0604020202020204" pitchFamily="34" charset="0"/>
            </a:endParaRPr>
          </a:p>
        </p:txBody>
      </p:sp>
      <p:sp>
        <p:nvSpPr>
          <p:cNvPr id="57" name="矩形 56">
            <a:extLst>
              <a:ext uri="{FF2B5EF4-FFF2-40B4-BE49-F238E27FC236}">
                <a16:creationId xmlns:a16="http://schemas.microsoft.com/office/drawing/2014/main" id="{3C640634-8917-095D-98C1-8CDD9E8DFAEB}"/>
              </a:ext>
            </a:extLst>
          </p:cNvPr>
          <p:cNvSpPr/>
          <p:nvPr/>
        </p:nvSpPr>
        <p:spPr>
          <a:xfrm>
            <a:off x="7242569" y="5127889"/>
            <a:ext cx="1428299" cy="54012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IOT</a:t>
            </a:r>
          </a:p>
          <a:p>
            <a:pPr algn="ctr"/>
            <a:r>
              <a:rPr lang="en-US" altLang="zh-CN" sz="1000" dirty="0">
                <a:solidFill>
                  <a:schemeClr val="tx1"/>
                </a:solidFill>
                <a:latin typeface="Arial" panose="020B0604020202020204" pitchFamily="34" charset="0"/>
                <a:cs typeface="Arial" panose="020B0604020202020204" pitchFamily="34" charset="0"/>
              </a:rPr>
              <a:t>Internet Of</a:t>
            </a:r>
            <a:r>
              <a:rPr lang="zh-CN" altLang="en-US" sz="1000" dirty="0">
                <a:solidFill>
                  <a:schemeClr val="tx1"/>
                </a:solidFill>
                <a:latin typeface="Arial" panose="020B0604020202020204" pitchFamily="34" charset="0"/>
                <a:cs typeface="Arial" panose="020B0604020202020204" pitchFamily="34" charset="0"/>
              </a:rPr>
              <a:t> </a:t>
            </a:r>
            <a:r>
              <a:rPr lang="en-US" altLang="zh-CN" sz="1000" dirty="0">
                <a:solidFill>
                  <a:schemeClr val="tx1"/>
                </a:solidFill>
                <a:latin typeface="Arial" panose="020B0604020202020204" pitchFamily="34" charset="0"/>
                <a:cs typeface="Arial" panose="020B0604020202020204" pitchFamily="34" charset="0"/>
              </a:rPr>
              <a:t>Things</a:t>
            </a:r>
          </a:p>
        </p:txBody>
      </p:sp>
      <p:sp>
        <p:nvSpPr>
          <p:cNvPr id="58" name="矩形 57">
            <a:extLst>
              <a:ext uri="{FF2B5EF4-FFF2-40B4-BE49-F238E27FC236}">
                <a16:creationId xmlns:a16="http://schemas.microsoft.com/office/drawing/2014/main" id="{35DDFB25-4CB2-4FCC-B94F-0B4617FC6552}"/>
              </a:ext>
            </a:extLst>
          </p:cNvPr>
          <p:cNvSpPr/>
          <p:nvPr/>
        </p:nvSpPr>
        <p:spPr>
          <a:xfrm>
            <a:off x="9307260" y="5119375"/>
            <a:ext cx="2384631" cy="5401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n-ea"/>
                <a:cs typeface="Arial" panose="020B0604020202020204" pitchFamily="34" charset="0"/>
              </a:rPr>
              <a:t>全工序生产设备需要数据收集等</a:t>
            </a:r>
          </a:p>
        </p:txBody>
      </p:sp>
      <p:cxnSp>
        <p:nvCxnSpPr>
          <p:cNvPr id="61" name="直接箭头连接符 60">
            <a:extLst>
              <a:ext uri="{FF2B5EF4-FFF2-40B4-BE49-F238E27FC236}">
                <a16:creationId xmlns:a16="http://schemas.microsoft.com/office/drawing/2014/main" id="{A893DD5A-C2F7-69DA-0924-CECE3D622A69}"/>
              </a:ext>
            </a:extLst>
          </p:cNvPr>
          <p:cNvCxnSpPr>
            <a:stCxn id="3" idx="3"/>
            <a:endCxn id="36" idx="1"/>
          </p:cNvCxnSpPr>
          <p:nvPr/>
        </p:nvCxnSpPr>
        <p:spPr>
          <a:xfrm>
            <a:off x="2496316" y="2157030"/>
            <a:ext cx="636392" cy="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DB027EC7-A528-2871-CDCF-414BFDC5D1D5}"/>
              </a:ext>
            </a:extLst>
          </p:cNvPr>
          <p:cNvCxnSpPr>
            <a:stCxn id="2" idx="3"/>
            <a:endCxn id="38" idx="1"/>
          </p:cNvCxnSpPr>
          <p:nvPr/>
        </p:nvCxnSpPr>
        <p:spPr>
          <a:xfrm>
            <a:off x="2496315" y="2923247"/>
            <a:ext cx="636393" cy="24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C97CEE56-0FCE-F829-BF8F-88512EA095DD}"/>
              </a:ext>
            </a:extLst>
          </p:cNvPr>
          <p:cNvCxnSpPr>
            <a:stCxn id="4" idx="3"/>
            <a:endCxn id="40" idx="1"/>
          </p:cNvCxnSpPr>
          <p:nvPr/>
        </p:nvCxnSpPr>
        <p:spPr>
          <a:xfrm>
            <a:off x="2496316" y="3857011"/>
            <a:ext cx="636392" cy="0"/>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D172BC63-A8B5-627D-ED4D-5A6550C441A3}"/>
              </a:ext>
            </a:extLst>
          </p:cNvPr>
          <p:cNvCxnSpPr>
            <a:stCxn id="7" idx="3"/>
            <a:endCxn id="42" idx="1"/>
          </p:cNvCxnSpPr>
          <p:nvPr/>
        </p:nvCxnSpPr>
        <p:spPr>
          <a:xfrm flipV="1">
            <a:off x="2496316" y="4623226"/>
            <a:ext cx="636392" cy="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2AF325CE-976B-7C11-9194-CD1871B43EF7}"/>
              </a:ext>
            </a:extLst>
          </p:cNvPr>
          <p:cNvCxnSpPr>
            <a:stCxn id="8" idx="3"/>
            <a:endCxn id="44" idx="1"/>
          </p:cNvCxnSpPr>
          <p:nvPr/>
        </p:nvCxnSpPr>
        <p:spPr>
          <a:xfrm>
            <a:off x="2502233" y="5389445"/>
            <a:ext cx="630475" cy="4438"/>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2DC4A933-F0D9-9FC2-2817-B9CD04CC52C8}"/>
              </a:ext>
            </a:extLst>
          </p:cNvPr>
          <p:cNvCxnSpPr>
            <a:cxnSpLocks/>
            <a:stCxn id="26" idx="3"/>
            <a:endCxn id="45" idx="1"/>
          </p:cNvCxnSpPr>
          <p:nvPr/>
        </p:nvCxnSpPr>
        <p:spPr>
          <a:xfrm flipV="1">
            <a:off x="8670869" y="2154015"/>
            <a:ext cx="636392" cy="30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F826FFA6-7C87-AAF3-D691-3E52CA0312B3}"/>
              </a:ext>
            </a:extLst>
          </p:cNvPr>
          <p:cNvCxnSpPr>
            <a:cxnSpLocks/>
            <a:stCxn id="25" idx="3"/>
            <a:endCxn id="53" idx="1"/>
          </p:cNvCxnSpPr>
          <p:nvPr/>
        </p:nvCxnSpPr>
        <p:spPr>
          <a:xfrm>
            <a:off x="8670868" y="2923247"/>
            <a:ext cx="63639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6BA169BD-FDBC-9158-188F-31A0406539ED}"/>
              </a:ext>
            </a:extLst>
          </p:cNvPr>
          <p:cNvCxnSpPr>
            <a:cxnSpLocks/>
            <a:stCxn id="27" idx="3"/>
            <a:endCxn id="54" idx="1"/>
          </p:cNvCxnSpPr>
          <p:nvPr/>
        </p:nvCxnSpPr>
        <p:spPr>
          <a:xfrm flipV="1">
            <a:off x="8670869" y="3857010"/>
            <a:ext cx="63639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2F802107-012F-E1AC-68FB-C7AE91B33629}"/>
              </a:ext>
            </a:extLst>
          </p:cNvPr>
          <p:cNvCxnSpPr>
            <a:cxnSpLocks/>
            <a:stCxn id="56" idx="3"/>
            <a:endCxn id="55" idx="1"/>
          </p:cNvCxnSpPr>
          <p:nvPr/>
        </p:nvCxnSpPr>
        <p:spPr>
          <a:xfrm>
            <a:off x="8670868" y="4623224"/>
            <a:ext cx="63639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254806D0-B71F-FDEE-9B91-0C1F2D80983B}"/>
              </a:ext>
            </a:extLst>
          </p:cNvPr>
          <p:cNvCxnSpPr>
            <a:cxnSpLocks/>
            <a:stCxn id="57" idx="3"/>
            <a:endCxn id="58" idx="1"/>
          </p:cNvCxnSpPr>
          <p:nvPr/>
        </p:nvCxnSpPr>
        <p:spPr>
          <a:xfrm flipV="1">
            <a:off x="8670868" y="5389440"/>
            <a:ext cx="636392" cy="85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箭头: 右 86">
            <a:extLst>
              <a:ext uri="{FF2B5EF4-FFF2-40B4-BE49-F238E27FC236}">
                <a16:creationId xmlns:a16="http://schemas.microsoft.com/office/drawing/2014/main" id="{EC22D8AD-09EA-B471-D3E8-1A02608D6891}"/>
              </a:ext>
            </a:extLst>
          </p:cNvPr>
          <p:cNvSpPr/>
          <p:nvPr/>
        </p:nvSpPr>
        <p:spPr>
          <a:xfrm>
            <a:off x="5298454" y="3367911"/>
            <a:ext cx="1485698" cy="3323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latin typeface="Arial" panose="020B0604020202020204" pitchFamily="34" charset="0"/>
                <a:cs typeface="Arial" panose="020B0604020202020204" pitchFamily="34" charset="0"/>
              </a:rPr>
              <a:t>变更原因</a:t>
            </a:r>
          </a:p>
        </p:txBody>
      </p:sp>
      <p:sp>
        <p:nvSpPr>
          <p:cNvPr id="88" name="矩形 87">
            <a:extLst>
              <a:ext uri="{FF2B5EF4-FFF2-40B4-BE49-F238E27FC236}">
                <a16:creationId xmlns:a16="http://schemas.microsoft.com/office/drawing/2014/main" id="{C7A029A5-8660-D5B7-A19A-BC11F8913411}"/>
              </a:ext>
            </a:extLst>
          </p:cNvPr>
          <p:cNvSpPr/>
          <p:nvPr/>
        </p:nvSpPr>
        <p:spPr>
          <a:xfrm>
            <a:off x="5298453" y="2939216"/>
            <a:ext cx="1485699" cy="5252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B050"/>
                </a:solidFill>
                <a:latin typeface="Arial" panose="020B0604020202020204" pitchFamily="34" charset="0"/>
                <a:cs typeface="Arial" panose="020B0604020202020204" pitchFamily="34" charset="0"/>
              </a:rPr>
              <a:t>浙江海威零件移转</a:t>
            </a:r>
            <a:endParaRPr lang="en-US" altLang="zh-CN" sz="1200" b="1" dirty="0">
              <a:solidFill>
                <a:srgbClr val="00B050"/>
              </a:solidFill>
              <a:latin typeface="Arial" panose="020B0604020202020204" pitchFamily="34" charset="0"/>
              <a:cs typeface="Arial" panose="020B0604020202020204" pitchFamily="34" charset="0"/>
            </a:endParaRPr>
          </a:p>
          <a:p>
            <a:pPr algn="ctr"/>
            <a:r>
              <a:rPr lang="en-US" altLang="zh-CN" sz="1200" b="1" dirty="0">
                <a:solidFill>
                  <a:srgbClr val="00B050"/>
                </a:solidFill>
                <a:latin typeface="Arial" panose="020B0604020202020204" pitchFamily="34" charset="0"/>
                <a:cs typeface="Arial" panose="020B0604020202020204" pitchFamily="34" charset="0"/>
              </a:rPr>
              <a:t>+CATL</a:t>
            </a:r>
            <a:r>
              <a:rPr lang="zh-CN" altLang="en-US" sz="1200" b="1" dirty="0">
                <a:solidFill>
                  <a:srgbClr val="00B050"/>
                </a:solidFill>
                <a:latin typeface="Arial" panose="020B0604020202020204" pitchFamily="34" charset="0"/>
                <a:cs typeface="Arial" panose="020B0604020202020204" pitchFamily="34" charset="0"/>
              </a:rPr>
              <a:t>特殊要求</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I2YTlhODgzZmJmMTY4MGJjYzgyYzVkMDdkNWE3NW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590</TotalTime>
  <Words>298</Words>
  <Application>Microsoft Office PowerPoint</Application>
  <PresentationFormat>宽屏</PresentationFormat>
  <Paragraphs>51</Paragraphs>
  <Slides>2</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vt:i4>
      </vt:variant>
    </vt:vector>
  </HeadingPairs>
  <TitlesOfParts>
    <vt:vector size="5" baseType="lpstr">
      <vt:lpstr>Arial</vt:lpstr>
      <vt:lpstr>Calibri</vt:lpstr>
      <vt:lpstr>WPS</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AW-PC-508</dc:creator>
  <cp:lastModifiedBy>Administrator</cp:lastModifiedBy>
  <cp:revision>37</cp:revision>
  <dcterms:created xsi:type="dcterms:W3CDTF">2023-08-09T12:44:00Z</dcterms:created>
  <dcterms:modified xsi:type="dcterms:W3CDTF">2026-06-18T09:29:09Z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2052-12.1.0.23542</vt:lpwstr>
  </property>
</Properties>
</file>