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85"/>
    <p:restoredTop sz="96081"/>
  </p:normalViewPr>
  <p:slideViewPr>
    <p:cSldViewPr snapToGrid="0">
      <p:cViewPr varScale="1">
        <p:scale>
          <a:sx n="120" d="100"/>
          <a:sy n="120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进入价值流后才能看清功能发生在哪、解决什么问题、输出什么证据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capa.%20calculation/%E6%8E%92%E4%BA%A7%E6%A8%A1%E5%9E%8B/formal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DEFB513-296D-4E18-9270-3CF848062694}"/>
              </a:ext>
            </a:extLst>
          </p:cNvPr>
          <p:cNvSpPr>
            <a:spLocks noGrp="1"/>
          </p:cNvSpPr>
          <p:nvPr/>
        </p:nvSpPr>
        <p:spPr>
          <a:xfrm>
            <a:off x="1524000" y="2362200"/>
            <a:ext cx="914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CD6A78-BE73-4C56-9049-76094B138B43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37E805-AA32-4752-90D9-86F2D8B5B3F5}"/>
              </a:ext>
            </a:extLst>
          </p:cNvPr>
          <p:cNvSpPr>
            <a:spLocks noGrp="1"/>
          </p:cNvSpPr>
          <p:nvPr/>
        </p:nvSpPr>
        <p:spPr>
          <a:xfrm>
            <a:off x="0" y="6210300"/>
            <a:ext cx="7429500" cy="2857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1DE2678-2547-4DAB-8FE5-3ACC0B3D8912}"/>
              </a:ext>
            </a:extLst>
          </p:cNvPr>
          <p:cNvSpPr>
            <a:spLocks noGrp="1"/>
          </p:cNvSpPr>
          <p:nvPr/>
        </p:nvSpPr>
        <p:spPr>
          <a:xfrm>
            <a:off x="7239000" y="6210300"/>
            <a:ext cx="1143000" cy="285750"/>
          </a:xfrm>
          <a:prstGeom prst="parallelogram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16F003-955B-40F3-AE6B-9F9552BEDD9E}"/>
              </a:ext>
            </a:extLst>
          </p:cNvPr>
          <p:cNvSpPr>
            <a:spLocks noGrp="1"/>
          </p:cNvSpPr>
          <p:nvPr/>
        </p:nvSpPr>
        <p:spPr>
          <a:xfrm>
            <a:off x="8172450" y="6210300"/>
            <a:ext cx="4019550" cy="2857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151859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C895884-3FB8-4F6E-8602-BBFA086BA4D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97325038-C902-4CBB-B8D0-079594590BD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BCBA13-F2CE-4162-92DD-07BB93C1BB9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34290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8F4ACCC-A5FF-4075-AE19-8210529A447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39ED1F-02F0-4D3A-86AC-C344B7D8526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832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C8EBD76-6EF9-48CF-9B6E-644910DBA9A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系统搭建与路径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ED45B83-ADF5-4A8E-A23B-E6DCD98ADA1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F9DB6A-5C3E-4A33-9983-A99C884FDA8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B914E1A-0D61-4B77-8F05-BEEB7EF3E68C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原系统/软件规划路径解读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674FEEC-165E-4C72-95EA-BB5C62F6ECBB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CATL要求进一步补强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C2CCBA1-061C-4A92-BE5D-E37FB10E3187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25F00C9-449E-462B-9C6C-4C679DE17E9D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0ECD985-13C9-416D-A106-CBAE40C334E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8B0BD33-9791-4CF2-B6CE-33CEF8D8AA65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89648C-069F-40C1-B248-1B3157903450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FA3A8E-9A4F-48AF-882E-A6DCABF410F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85339C-FCF4-4B7C-B665-B514380610B3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8885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A91E43E-B65E-403D-9138-2BD49BE136B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原系统规划路径的重新</a:t>
            </a: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解读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A14F536-2D2A-48F4-AEBA-FAB2673282BC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D34EA8-8D8C-472A-B160-183E51BA6CD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8A6F7B1-076B-4366-B7DB-8DF48A329A2D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F2CFE85-4D23-4C8B-B87A-E486EDBBA579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的变化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6C189DA-D9BF-4099-92BA-586F1C2B1B15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1EB332-D7B3-478F-B206-AB82A9678AF5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0BCA495-EC8E-4119-AE16-B45D9F779046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839274-F6BD-42C1-B505-98EDF6D470E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 QMS、TPM、IoT 等能力。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CE0C2FD-96D2-4FEC-84AA-D4FCB94E78AE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822DEE-47BD-4891-AF5C-77D7F2F0D764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原系统/软件规划路径不是从无到有，而是宁波海威与浙江海威共同的一阶段/二阶段系统规划；CATL强化要求（浙江海威）是在浙江海威（嵊州）面向主要客户 CATL 的运营能力补强。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085BFA5-460C-4030-B422-605F05FF6A0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6363E5-BA2C-44B9-819D-80ED0A8D1C4F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CATL要求（浙江海威）把功能清单推向过程控制要求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61C19B5-0E93-494B-995B-ED9A9E78C57F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7B027E-393A-4399-AA4C-0A98752A2ED1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强化项更关注批次、参数、权限、点检、SPC 和全工序数据。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C9D3852-1C8E-4790-86FA-E6EFDC32265F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7B89CF-8BF7-4031-91D9-1C47380E4C80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5A0781-A3F1-4DAD-9907-ECECA54D45C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68C0B1-A999-4F32-A0AB-C2569D70FE1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227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3ED4F02-9AB0-4F98-9D24-EDCE217E039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A1C17AF-3943-4007-B002-BDD30D43D3B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DC21C7-9E5E-4936-8DEA-838C70E579F7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DAD2F85-9DD7-4C59-B581-A11612669207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98DD88D-3D19-4C39-8D8C-63529A2E5D0F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75D7F8C-60CD-4421-8661-FB164FDEC2FC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2E5ADD1-36CF-4087-B0A9-84C7A7C336E3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52C833B-A251-40F5-9949-CE0B0611F175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BCFB786-1A06-4DAC-8B57-A68B28164973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395E95C-8F69-4DBB-A30A-6BE53F178DEB}"/>
              </a:ext>
            </a:extLst>
          </p:cNvPr>
          <p:cNvSpPr>
            <a:spLocks noGrp="1"/>
          </p:cNvSpPr>
          <p:nvPr/>
        </p:nvSpPr>
        <p:spPr>
          <a:xfrm>
            <a:off x="63246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E18EB8E-8024-49A5-A262-5283D18B9EDB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A2C6D6-9D16-46A0-8F62-0DE452CC9EEA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D9D522-EA7D-422A-A493-3F47994333D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3553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61ABFB8-3FD0-45DE-822C-6A689DAE7EA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38124A5-D8C0-43D7-8424-4487EF9BC78A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348EF6-81BD-4EB0-A2C7-0E19E55CB2B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7911748-0B13-48A1-A13D-AF15F8E1FD8E}"/>
              </a:ext>
            </a:extLst>
          </p:cNvPr>
          <p:cNvSpPr>
            <a:spLocks noGrp="1"/>
          </p:cNvSpPr>
          <p:nvPr/>
        </p:nvSpPr>
        <p:spPr>
          <a:xfrm>
            <a:off x="1066800" y="1371600"/>
            <a:ext cx="2857500" cy="323850"/>
          </a:xfrm>
          <a:prstGeom prst="roundRect">
            <a:avLst>
              <a:gd name="adj" fmla="val 17647"/>
            </a:avLst>
          </a:prstGeom>
          <a:solidFill>
            <a:srgbClr val="E9F6FB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3301B33-F71E-44FC-9021-6974EA385593}"/>
              </a:ext>
            </a:extLst>
          </p:cNvPr>
          <p:cNvSpPr>
            <a:spLocks noGrp="1"/>
          </p:cNvSpPr>
          <p:nvPr/>
        </p:nvSpPr>
        <p:spPr>
          <a:xfrm>
            <a:off x="7524750" y="1371600"/>
            <a:ext cx="3143250" cy="323850"/>
          </a:xfrm>
          <a:prstGeom prst="roundRect">
            <a:avLst>
              <a:gd name="adj" fmla="val 17647"/>
            </a:avLst>
          </a:prstGeom>
          <a:solidFill>
            <a:srgbClr val="F0F8E8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EE948D9-F744-4917-A8C2-2AE11F080AF1}"/>
              </a:ext>
            </a:extLst>
          </p:cNvPr>
          <p:cNvSpPr>
            <a:spLocks noGrp="1"/>
          </p:cNvSpPr>
          <p:nvPr/>
        </p:nvSpPr>
        <p:spPr>
          <a:xfrm>
            <a:off x="1428750" y="19812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AF3093C-6506-4A29-AA1C-B9F07F0FEA86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1B090A9A-6D37-4067-85AD-1FAB4DCC3971}"/>
              </a:ext>
            </a:extLst>
          </p:cNvPr>
          <p:cNvSpPr>
            <a:spLocks noGrp="1"/>
          </p:cNvSpPr>
          <p:nvPr/>
        </p:nvSpPr>
        <p:spPr>
          <a:xfrm>
            <a:off x="3714750" y="21812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4A3067C-438C-4403-861C-EF8ABEE506BF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ECA811E-8621-4950-9559-F4AB95AB4C04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81A76A3B-5465-4783-B56D-842CFADA4212}"/>
              </a:ext>
            </a:extLst>
          </p:cNvPr>
          <p:cNvSpPr>
            <a:spLocks noGrp="1"/>
          </p:cNvSpPr>
          <p:nvPr/>
        </p:nvSpPr>
        <p:spPr>
          <a:xfrm>
            <a:off x="3714750" y="28670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A9D4755-EA8E-4F64-A8B7-FA411F5B6F18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A66D25F-31E7-4377-94B4-277E3BE1C6ED}"/>
              </a:ext>
            </a:extLst>
          </p:cNvPr>
          <p:cNvSpPr>
            <a:spLocks noGrp="1"/>
          </p:cNvSpPr>
          <p:nvPr/>
        </p:nvSpPr>
        <p:spPr>
          <a:xfrm>
            <a:off x="7524750" y="33528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8B168371-E015-4180-9190-719538B27614}"/>
              </a:ext>
            </a:extLst>
          </p:cNvPr>
          <p:cNvSpPr>
            <a:spLocks noGrp="1"/>
          </p:cNvSpPr>
          <p:nvPr/>
        </p:nvSpPr>
        <p:spPr>
          <a:xfrm>
            <a:off x="3714750" y="35528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1E69FFE-D843-4898-B84A-4F1E4E44442D}"/>
              </a:ext>
            </a:extLst>
          </p:cNvPr>
          <p:cNvSpPr>
            <a:spLocks noGrp="1"/>
          </p:cNvSpPr>
          <p:nvPr/>
        </p:nvSpPr>
        <p:spPr>
          <a:xfrm>
            <a:off x="1428750" y="40386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D46D5D7-41E2-4FD6-A167-E2703E7A406F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466F1BB8-FEFC-4B02-9463-2463C85396BC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7C62627-ABE5-40AF-9269-11F3D56D6109}"/>
              </a:ext>
            </a:extLst>
          </p:cNvPr>
          <p:cNvSpPr>
            <a:spLocks noGrp="1"/>
          </p:cNvSpPr>
          <p:nvPr/>
        </p:nvSpPr>
        <p:spPr>
          <a:xfrm>
            <a:off x="1428750" y="47244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9A483BA-13AE-47FC-BACE-807A76E566DA}"/>
              </a:ext>
            </a:extLst>
          </p:cNvPr>
          <p:cNvSpPr>
            <a:spLocks noGrp="1"/>
          </p:cNvSpPr>
          <p:nvPr/>
        </p:nvSpPr>
        <p:spPr>
          <a:xfrm>
            <a:off x="7524750" y="47244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51597CBD-8600-4A93-ACBE-C1E68CCE8925}"/>
              </a:ext>
            </a:extLst>
          </p:cNvPr>
          <p:cNvSpPr>
            <a:spLocks noGrp="1"/>
          </p:cNvSpPr>
          <p:nvPr/>
        </p:nvSpPr>
        <p:spPr>
          <a:xfrm>
            <a:off x="3714750" y="49244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23490F-0CF3-4C66-9B97-0D0ED196E9F8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527BC0-B959-4573-A7C3-40750C16CCD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2C1047-ECF8-4607-AB3A-F480AEFF59A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5BD5AA-ED0B-49F0-8BE9-83B3EB73DA5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57846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6CFF8D1-8076-4592-9307-E0C20301FC4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FED9D02-B5CB-4890-BD1C-BEF2C0BE008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803F5-6552-4A26-856D-0BEA59BE0D2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DC3A4A-AC9A-4169-AF55-852EC4E56FC8}"/>
              </a:ext>
            </a:extLst>
          </p:cNvPr>
          <p:cNvSpPr>
            <a:spLocks noGrp="1"/>
          </p:cNvSpPr>
          <p:nvPr/>
        </p:nvSpPr>
        <p:spPr>
          <a:xfrm>
            <a:off x="1600200" y="5095875"/>
            <a:ext cx="899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09951A-3637-44EF-9346-B40EF99AA609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9F64B5-BE86-4698-AC27-923196957E8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9E5A01-FEAD-430E-BEC5-3C13240988E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DADD280-9700-159A-6AB0-79C820669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69" b="26501"/>
          <a:stretch>
            <a:fillRect/>
          </a:stretch>
        </p:blipFill>
        <p:spPr>
          <a:xfrm>
            <a:off x="13851" y="1234781"/>
            <a:ext cx="12185001" cy="356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2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100D70E-4832-4D3B-91EE-15739A1F8C5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294C0EAE-9EA4-4A1C-8789-C5545681A63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17FA57-665B-4139-88B7-4B49201CE34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0D32831-5496-4EFD-9103-3601ED241386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基础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769E4F1-011A-4E68-8332-8FE9B22DB4B9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</a:t>
            </a:r>
            <a:r>
              <a:rPr sz="140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解决</a:t>
            </a:r>
            <a:r>
              <a:rPr lang="zh-CN" altLang="en-US" sz="140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记录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和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基础管控</a:t>
            </a:r>
            <a:r>
              <a:rPr lang="zh-CN" altLang="en-US" sz="14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0E9A72C-4D47-4F4D-97C2-3BD8AAAA302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AA31AB3-BA7F-49DC-8F19-8EC2759DAF7E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等方向，边界在于是否能进入过程动作并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形成反馈</a:t>
            </a:r>
            <a:r>
              <a:rPr lang="zh-CN" altLang="en-US" sz="14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FC182D7-975E-405F-8134-492AC4507816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739AC25-A89D-4E92-AA9B-41ACC0CECACD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ADB356-F043-4ADC-B1A1-66708BA6BD46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EF69D7-74CB-4F8E-90C1-6899FB29A8D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F33ADC-19E9-4CCA-BDF3-A8AD6FCD9F2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09D3E2-4BCE-4434-B75D-26845A5B2656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963468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5616328-A54A-4443-8B41-290967EE505C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一阶段基础</a:t>
            </a: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与二期边界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4F7E97C-D01A-47BE-B346-033AF3368F1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4DDC9B-6433-422F-A3E1-D3C6F02085E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DB5B379-268C-441B-905D-3427BFF327C5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一阶段能力的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落地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A7249D0-6023-4654-9913-97201F16C1D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7F29435-5600-4A65-A6A3-4CF59CA4191E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139A81-449A-4896-8D99-3B35CF3C7261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78C4498-D94A-4ED3-9039-27E817EC90B6}"/>
              </a:ext>
            </a:extLst>
          </p:cNvPr>
          <p:cNvSpPr>
            <a:spLocks noGrp="1"/>
          </p:cNvSpPr>
          <p:nvPr/>
        </p:nvSpPr>
        <p:spPr>
          <a:xfrm>
            <a:off x="1047750" y="2984808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C36900-8BB4-4A11-8E64-91FF2CC291DF}"/>
              </a:ext>
            </a:extLst>
          </p:cNvPr>
          <p:cNvSpPr>
            <a:spLocks noGrp="1"/>
          </p:cNvSpPr>
          <p:nvPr/>
        </p:nvSpPr>
        <p:spPr>
          <a:xfrm>
            <a:off x="1276350" y="2908608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9035B3E-20DD-4564-9B9A-5558DF315EBD}"/>
              </a:ext>
            </a:extLst>
          </p:cNvPr>
          <p:cNvSpPr>
            <a:spLocks noGrp="1"/>
          </p:cNvSpPr>
          <p:nvPr/>
        </p:nvSpPr>
        <p:spPr>
          <a:xfrm>
            <a:off x="1047750" y="3732867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874AB9-23F5-413A-B60B-A174CF790EED}"/>
              </a:ext>
            </a:extLst>
          </p:cNvPr>
          <p:cNvSpPr>
            <a:spLocks noGrp="1"/>
          </p:cNvSpPr>
          <p:nvPr/>
        </p:nvSpPr>
        <p:spPr>
          <a:xfrm>
            <a:off x="1276350" y="3656667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WIP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水位和后工序拉动前工序的判断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7D0184F-7CC4-4F1A-9DD8-72D945C22D3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2B711C-47DB-4EB7-BDC7-F65425C7A6DA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边界：只记录质量结果，只能证明“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发生了什么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”；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能影响隔离、复检、停线、放行等过程动作，才承担“过程控制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A86F29A-9D90-4811-A899-461D6F1DF196}"/>
              </a:ext>
            </a:extLst>
          </p:cNvPr>
          <p:cNvSpPr>
            <a:spLocks noGrp="1"/>
          </p:cNvSpPr>
          <p:nvPr/>
        </p:nvSpPr>
        <p:spPr>
          <a:xfrm>
            <a:off x="6877050" y="300711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DBCAFD-57B6-4FB5-A484-3159FC56E4AD}"/>
              </a:ext>
            </a:extLst>
          </p:cNvPr>
          <p:cNvSpPr>
            <a:spLocks noGrp="1"/>
          </p:cNvSpPr>
          <p:nvPr/>
        </p:nvSpPr>
        <p:spPr>
          <a:xfrm>
            <a:off x="7105650" y="293091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边界：只采集设备状态，只能看到设备变化；与计划、CT、产出、质量关联后，才能解释产出和质量波动。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3D28A50-490F-4ADB-B363-5054F7CD33B5}"/>
              </a:ext>
            </a:extLst>
          </p:cNvPr>
          <p:cNvSpPr>
            <a:spLocks noGrp="1"/>
          </p:cNvSpPr>
          <p:nvPr/>
        </p:nvSpPr>
        <p:spPr>
          <a:xfrm>
            <a:off x="6877050" y="3777471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069185-2C45-418D-A9D8-AE92FA2127B4}"/>
              </a:ext>
            </a:extLst>
          </p:cNvPr>
          <p:cNvSpPr>
            <a:spLocks noGrp="1"/>
          </p:cNvSpPr>
          <p:nvPr/>
        </p:nvSpPr>
        <p:spPr>
          <a:xfrm>
            <a:off x="7105650" y="3701271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二阶段边界：能否承接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CATL要求，取决于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Planning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基准、现场动作和数据反馈是否形成闭环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70B5EC-B6A2-4532-8D31-FD40C38728BB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B2EEC9-686C-460E-B096-4A6ACE8B2BF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87CDFF-715C-4F5A-844C-0E94DA5E21F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627551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227096C-5D2D-4A18-A7A0-DD3862F58F6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5F8A8087-EC9F-4C7C-9B15-8D9338658C11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CE1C04-0B3D-4EFE-8AA3-59F8D7DAA8E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需要小时级计划基准、CT、Performance Rate 和真实执行反馈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AF7ED85-049E-498D-B0C1-9EA789B60D6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440631-AACC-45B6-BBDF-AEA230D3402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592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F5A99B4-F959-461B-9D89-A81F7620355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4DCF124-E02F-4936-9BB2-86B3AC858260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4810AA-C6A2-4099-9182-BAC134D35E1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835E302-61C8-46E5-BDF1-51D729E36D69}"/>
              </a:ext>
            </a:extLst>
          </p:cNvPr>
          <p:cNvSpPr>
            <a:spLocks noGrp="1"/>
          </p:cNvSpPr>
          <p:nvPr/>
        </p:nvSpPr>
        <p:spPr>
          <a:xfrm>
            <a:off x="5095875" y="2628900"/>
            <a:ext cx="2000250" cy="838200"/>
          </a:xfrm>
          <a:prstGeom prst="roundRect">
            <a:avLst>
              <a:gd name="adj" fmla="val 6818"/>
            </a:avLst>
          </a:prstGeom>
          <a:solidFill>
            <a:srgbClr val="76BC21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US"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932BFB0-F007-4179-BFFC-F1DA2BEA843D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直线箭头连接符 27"/>
          <p:cNvCxnSpPr>
            <a:stCxn id="4" idx="1"/>
            <a:endCxn id="5" idx="3"/>
          </p:cNvCxnSpPr>
          <p:nvPr/>
        </p:nvCxnSpPr>
        <p:spPr>
          <a:xfrm flipH="1" flipV="1">
            <a:off x="2781300" y="1752600"/>
            <a:ext cx="231457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FB213448-9DE1-4957-93D3-F7874597E4A4}"/>
              </a:ext>
            </a:extLst>
          </p:cNvPr>
          <p:cNvSpPr>
            <a:spLocks noGrp="1"/>
          </p:cNvSpPr>
          <p:nvPr/>
        </p:nvSpPr>
        <p:spPr>
          <a:xfrm>
            <a:off x="400050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直线箭头连接符 29"/>
          <p:cNvCxnSpPr>
            <a:stCxn id="4" idx="0"/>
            <a:endCxn id="7" idx="3"/>
          </p:cNvCxnSpPr>
          <p:nvPr/>
        </p:nvCxnSpPr>
        <p:spPr>
          <a:xfrm flipH="1" flipV="1">
            <a:off x="5524500" y="1581150"/>
            <a:ext cx="571500" cy="10477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35CDE045-4D4D-4E23-BB41-147F6669CD40}"/>
              </a:ext>
            </a:extLst>
          </p:cNvPr>
          <p:cNvSpPr>
            <a:spLocks noGrp="1"/>
          </p:cNvSpPr>
          <p:nvPr/>
        </p:nvSpPr>
        <p:spPr>
          <a:xfrm>
            <a:off x="714375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直线箭头连接符 31"/>
          <p:cNvCxnSpPr>
            <a:stCxn id="4" idx="3"/>
            <a:endCxn id="9" idx="1"/>
          </p:cNvCxnSpPr>
          <p:nvPr/>
        </p:nvCxnSpPr>
        <p:spPr>
          <a:xfrm flipV="1">
            <a:off x="7096125" y="1581150"/>
            <a:ext cx="476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2C477D1-25DF-45BC-AFBC-ED9F7312C769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直线箭头连接符 33"/>
          <p:cNvCxnSpPr>
            <a:stCxn id="4" idx="3"/>
            <a:endCxn id="11" idx="1"/>
          </p:cNvCxnSpPr>
          <p:nvPr/>
        </p:nvCxnSpPr>
        <p:spPr>
          <a:xfrm flipV="1">
            <a:off x="7096125" y="1752600"/>
            <a:ext cx="252412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EDF7BDE-B7DC-4F7D-BB3C-0F5DEBB9DF27}"/>
              </a:ext>
            </a:extLst>
          </p:cNvPr>
          <p:cNvSpPr>
            <a:spLocks noGrp="1"/>
          </p:cNvSpPr>
          <p:nvPr/>
        </p:nvSpPr>
        <p:spPr>
          <a:xfrm>
            <a:off x="1733550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直线箭头连接符 35"/>
          <p:cNvCxnSpPr>
            <a:stCxn id="4" idx="1"/>
            <a:endCxn id="13" idx="3"/>
          </p:cNvCxnSpPr>
          <p:nvPr/>
        </p:nvCxnSpPr>
        <p:spPr>
          <a:xfrm flipH="1">
            <a:off x="3257550" y="3048000"/>
            <a:ext cx="18383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E03F7F5-29E7-4921-95AD-F91BD9C46DAB}"/>
              </a:ext>
            </a:extLst>
          </p:cNvPr>
          <p:cNvSpPr>
            <a:spLocks noGrp="1"/>
          </p:cNvSpPr>
          <p:nvPr/>
        </p:nvSpPr>
        <p:spPr>
          <a:xfrm>
            <a:off x="5257800" y="47625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直线箭头连接符 37"/>
          <p:cNvCxnSpPr>
            <a:stCxn id="4" idx="2"/>
            <a:endCxn id="15" idx="0"/>
          </p:cNvCxnSpPr>
          <p:nvPr/>
        </p:nvCxnSpPr>
        <p:spPr>
          <a:xfrm flipH="1">
            <a:off x="6019800" y="3467100"/>
            <a:ext cx="76200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D0AAF1F2-E2E0-4BFE-BD8A-D78BC56A1089}"/>
              </a:ext>
            </a:extLst>
          </p:cNvPr>
          <p:cNvSpPr>
            <a:spLocks noGrp="1"/>
          </p:cNvSpPr>
          <p:nvPr/>
        </p:nvSpPr>
        <p:spPr>
          <a:xfrm>
            <a:off x="8620125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直线箭头连接符 39"/>
          <p:cNvCxnSpPr>
            <a:stCxn id="4" idx="3"/>
            <a:endCxn id="17" idx="1"/>
          </p:cNvCxnSpPr>
          <p:nvPr/>
        </p:nvCxnSpPr>
        <p:spPr>
          <a:xfrm>
            <a:off x="7096125" y="3048000"/>
            <a:ext cx="1524000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54BFFD6-4BB2-45CD-923C-90ABDE4C943E}"/>
              </a:ext>
            </a:extLst>
          </p:cNvPr>
          <p:cNvSpPr>
            <a:spLocks noGrp="1"/>
          </p:cNvSpPr>
          <p:nvPr/>
        </p:nvSpPr>
        <p:spPr>
          <a:xfrm>
            <a:off x="1428750" y="57721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A37277-CAC4-41AA-B154-C0262C00129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B9D673-68E6-4B0A-B88D-1377D557AB3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627910-EA15-4ABA-ACD9-AA726766CE64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2010835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B3EB628-2C89-4F63-8701-1DE7C9D1E37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F36A4F0D-FB1F-431B-8B76-8A0347B369E2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5B7AC2-2130-46ED-93C9-4C475296C7D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420A652-2002-4108-BE0F-4A182CF64D79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2F66EE7-AFB9-4CF3-A33D-4A2C60746D94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4EBB210-98FA-47ED-ABF8-31E33D71A99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2A67EBE-35E2-4359-911F-FD9E52F73DE9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AC68DDD-7F43-46EF-A5C3-7B6AB5FD6A0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9898455-BDC2-4197-AA3B-0A803CADFDF2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F42401-5FD5-4968-A239-65CAEB6504C3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94862D-6628-488D-9A4E-6B7E922D18E6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EAFCB8-7101-41EC-93B3-A049AE9128B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153D3E-EFCD-4FC9-803A-1D88B512B930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19157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A658E3F-B418-4805-9756-B26D53475C5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1758A52-EF90-4E90-839C-CC8F42A7C33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D9A9BE-FDA6-4031-94F3-705CBF84270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 CATL强化要求（浙江海威）对稳定性、追溯和闭环的要求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19DED5D-2080-46C8-8670-25ECA7AFF74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E32862-773F-4C6A-94D1-C3869DDC7F05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5903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740FC8D3-E4E6-43DD-A802-96E2B4417B0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D65B631-034B-460F-9795-56A88E3CFF3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BC7647-8327-4D3A-8DE9-54192374228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6DAC114-7138-4E07-A574-34A987A80B31}"/>
              </a:ext>
            </a:extLst>
          </p:cNvPr>
          <p:cNvSpPr>
            <a:spLocks noGrp="1"/>
          </p:cNvSpPr>
          <p:nvPr/>
        </p:nvSpPr>
        <p:spPr>
          <a:xfrm>
            <a:off x="4000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</a:t>
            </a:r>
            <a:r>
              <a:rPr lang="en-US" altLang="zh-CN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day</a:t>
            </a:r>
            <a:r>
              <a:rPr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A748BEE-6746-4874-A839-B8A7F8394860}"/>
              </a:ext>
            </a:extLst>
          </p:cNvPr>
          <p:cNvSpPr>
            <a:spLocks noGrp="1"/>
          </p:cNvSpPr>
          <p:nvPr/>
        </p:nvSpPr>
        <p:spPr>
          <a:xfrm>
            <a:off x="18288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A1BB281-F791-45E9-B4F8-EC0F3D7455AA}"/>
              </a:ext>
            </a:extLst>
          </p:cNvPr>
          <p:cNvSpPr>
            <a:spLocks noGrp="1"/>
          </p:cNvSpPr>
          <p:nvPr/>
        </p:nvSpPr>
        <p:spPr>
          <a:xfrm>
            <a:off x="32575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小时级基准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FA9363D-C4E0-4CD5-B7FB-ACD029DBB935}"/>
              </a:ext>
            </a:extLst>
          </p:cNvPr>
          <p:cNvSpPr>
            <a:spLocks noGrp="1"/>
          </p:cNvSpPr>
          <p:nvPr/>
        </p:nvSpPr>
        <p:spPr>
          <a:xfrm>
            <a:off x="46863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DFDAA9D-2866-4A4D-8A7D-2861F28FB082}"/>
              </a:ext>
            </a:extLst>
          </p:cNvPr>
          <p:cNvSpPr>
            <a:spLocks noGrp="1"/>
          </p:cNvSpPr>
          <p:nvPr/>
        </p:nvSpPr>
        <p:spPr>
          <a:xfrm>
            <a:off x="61150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DAB13B1-6875-4EB0-ABFC-A10EB532D3E6}"/>
              </a:ext>
            </a:extLst>
          </p:cNvPr>
          <p:cNvSpPr>
            <a:spLocks noGrp="1"/>
          </p:cNvSpPr>
          <p:nvPr/>
        </p:nvSpPr>
        <p:spPr>
          <a:xfrm>
            <a:off x="75438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B3DD3F2-49C9-4C47-A1D9-2D91BCDEB533}"/>
              </a:ext>
            </a:extLst>
          </p:cNvPr>
          <p:cNvSpPr>
            <a:spLocks noGrp="1"/>
          </p:cNvSpPr>
          <p:nvPr/>
        </p:nvSpPr>
        <p:spPr>
          <a:xfrm>
            <a:off x="89725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55AEAD7-993A-4F33-A6D7-655320CAD9BC}"/>
              </a:ext>
            </a:extLst>
          </p:cNvPr>
          <p:cNvSpPr>
            <a:spLocks noGrp="1"/>
          </p:cNvSpPr>
          <p:nvPr/>
        </p:nvSpPr>
        <p:spPr>
          <a:xfrm>
            <a:off x="104013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34" name="直线箭头连接符 33"/>
          <p:cNvCxnSpPr>
            <a:stCxn id="4" idx="3"/>
            <a:endCxn id="5" idx="1"/>
          </p:cNvCxnSpPr>
          <p:nvPr/>
        </p:nvCxnSpPr>
        <p:spPr>
          <a:xfrm>
            <a:off x="15240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5" name="直线箭头连接符 34"/>
          <p:cNvCxnSpPr>
            <a:stCxn id="5" idx="3"/>
            <a:endCxn id="6" idx="1"/>
          </p:cNvCxnSpPr>
          <p:nvPr/>
        </p:nvCxnSpPr>
        <p:spPr>
          <a:xfrm>
            <a:off x="29527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6" name="直线箭头连接符 35"/>
          <p:cNvCxnSpPr>
            <a:stCxn id="6" idx="3"/>
            <a:endCxn id="7" idx="1"/>
          </p:cNvCxnSpPr>
          <p:nvPr/>
        </p:nvCxnSpPr>
        <p:spPr>
          <a:xfrm>
            <a:off x="43815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7" name="直线箭头连接符 36"/>
          <p:cNvCxnSpPr>
            <a:stCxn id="7" idx="3"/>
            <a:endCxn id="8" idx="1"/>
          </p:cNvCxnSpPr>
          <p:nvPr/>
        </p:nvCxnSpPr>
        <p:spPr>
          <a:xfrm>
            <a:off x="58102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8" name="直线箭头连接符 37"/>
          <p:cNvCxnSpPr>
            <a:stCxn id="8" idx="3"/>
            <a:endCxn id="9" idx="1"/>
          </p:cNvCxnSpPr>
          <p:nvPr/>
        </p:nvCxnSpPr>
        <p:spPr>
          <a:xfrm>
            <a:off x="72390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9" name="直线箭头连接符 38"/>
          <p:cNvCxnSpPr>
            <a:stCxn id="9" idx="3"/>
            <a:endCxn id="10" idx="1"/>
          </p:cNvCxnSpPr>
          <p:nvPr/>
        </p:nvCxnSpPr>
        <p:spPr>
          <a:xfrm>
            <a:off x="86677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40" name="直线箭头连接符 39"/>
          <p:cNvCxnSpPr>
            <a:stCxn id="10" idx="3"/>
            <a:endCxn id="11" idx="1"/>
          </p:cNvCxnSpPr>
          <p:nvPr/>
        </p:nvCxnSpPr>
        <p:spPr>
          <a:xfrm>
            <a:off x="100965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253D002-C42E-47BB-95E9-4B12E889D6C2}"/>
              </a:ext>
            </a:extLst>
          </p:cNvPr>
          <p:cNvSpPr>
            <a:spLocks noGrp="1"/>
          </p:cNvSpPr>
          <p:nvPr/>
        </p:nvSpPr>
        <p:spPr>
          <a:xfrm>
            <a:off x="1600200" y="4095750"/>
            <a:ext cx="899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小时级计划基准不是把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 ERP </a:t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日计划简单拆细，而是先把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CT、SA、setup、planned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 stop </a:t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与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 R&amp;R </a:t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观察校准成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 Planning </a:t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可用约束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EF779E-A93E-46EE-AE3B-E159D88C5DA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0CC1A4-7405-42CB-93F6-0986B7AAB88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466838-9A4A-419C-BE4A-55D2249BB74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现场穿插：Planning 参数校准工具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42F4F3A-5A19-D670-B478-212197F78AAE}"/>
              </a:ext>
            </a:extLst>
          </p:cNvPr>
          <p:cNvSpPr/>
          <p:nvPr/>
        </p:nvSpPr>
        <p:spPr>
          <a:xfrm>
            <a:off x="234176" y="2174487"/>
            <a:ext cx="4304370" cy="141537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38824E91-9E29-1631-BA84-CA1FBFD55606}"/>
              </a:ext>
            </a:extLst>
          </p:cNvPr>
          <p:cNvSpPr/>
          <p:nvPr/>
        </p:nvSpPr>
        <p:spPr>
          <a:xfrm>
            <a:off x="552450" y="3144485"/>
            <a:ext cx="3552119" cy="2261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44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6059D2F-983D-4DC8-9EA8-EDF86ABDD5B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不同工艺过程的拉动方式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103E625-612A-4980-9641-E70C6345DE0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4C5295-23D3-4EB7-AD11-BAC96128ECF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C1688EF-6DFC-4862-949B-7702BCD2A848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E6472E5-C3AE-4C7F-9ABA-829EFA02C254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E4FCD76-44B9-4105-96DC-641F55E8A9C6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FEEDDC-FFA4-4EFA-A60F-9B11FF7A97EB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86C889D-1B67-49CA-8979-6FAB668C7533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7E5FFE-D689-4E7A-9C7D-5AB53695FAB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34DB312-19FC-4E22-B099-33C9B44F7E12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A6EF3E-7D75-4B71-81D4-5206219EC897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996B6A6-F5FA-4CC4-B883-07E5559F949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100EF8-D624-423A-80A6-8B9F29387410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A3F8A66-270B-4131-A1D0-980AFB3AB2A9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626B47-CB00-4803-B046-22B049F88B7A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B5DCB55-1255-484E-B537-EF83A2B8FAF4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024FA7-5B2C-4D40-ACD3-D8526F43A9B6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279A33-C575-4D81-A13B-5D57BB3E5F05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DE9515-452A-4646-8397-20047E4FFA0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B05D7B-3B4D-473B-99C7-5F97A4E0E433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6494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ACC2065-1079-4159-9830-4787DE51E23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0C7E39AE-BEB3-4C03-B76D-9030CA8260B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B1538B-EDC6-4019-B8A1-FEF1BFF4E72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E35333E-6B0B-40C7-90CA-5BF515AE273D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A48390C-A610-4F2E-B753-6DF20C0BB248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37E40B5-AC9F-4ACB-8A41-397A46796844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486CDB6-3D81-43E6-887B-B104C1900443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82836FB-F5A2-432D-89B9-12DD5260CA2C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7033FB0-0B1B-44BB-9255-F0131E9A26C9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9AB4BC7-CF9F-475C-8A9A-E306B6283FF9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BDB39D5-E532-4644-BD88-3AD20920FD6B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90331A-C479-4EB1-83C7-60CFE720CF9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F35DE2-F724-419D-A620-FC162E409AC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6543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EE4655E-CF1C-4F37-9A32-0456FFDA6BD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的初步落地方案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E8ECB8E-8948-42B1-8359-9027C955A50F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3D7773-8F89-4671-8B6E-FC9A47B40725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D59EC2C-13A3-4E04-B3FA-C1F6C0036A53}"/>
              </a:ext>
            </a:extLst>
          </p:cNvPr>
          <p:cNvSpPr>
            <a:spLocks noGrp="1"/>
          </p:cNvSpPr>
          <p:nvPr/>
        </p:nvSpPr>
        <p:spPr>
          <a:xfrm>
            <a:off x="11620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894CAAB-39ED-4119-AC25-B738B7B2DE24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在状态异常和质量指标偏离时，辅助判断停线、降速、参数切换，并过滤非必要参数。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87EE386-6A3F-4877-9F61-990DD015B3E0}"/>
              </a:ext>
            </a:extLst>
          </p:cNvPr>
          <p:cNvSpPr>
            <a:spLocks noGrp="1"/>
          </p:cNvSpPr>
          <p:nvPr/>
        </p:nvSpPr>
        <p:spPr>
          <a:xfrm>
            <a:off x="449580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服务器模型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A4211F4-56DF-46D9-8B2F-F4E458182244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基于小时级计划基准、跨工序状态和 WIP 水位，生成短周期 replan 建议。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85DBEBA-85B9-449A-BFF9-68781903AAE2}"/>
              </a:ext>
            </a:extLst>
          </p:cNvPr>
          <p:cNvSpPr>
            <a:spLocks noGrp="1"/>
          </p:cNvSpPr>
          <p:nvPr/>
        </p:nvSpPr>
        <p:spPr>
          <a:xfrm>
            <a:off x="78295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协同边界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183AE8C-07D2-4C86-A341-0435751F59AE}"/>
              </a:ext>
            </a:extLst>
          </p:cNvPr>
          <p:cNvSpPr>
            <a:spLocks noGrp="1"/>
          </p:cNvSpPr>
          <p:nvPr/>
        </p:nvSpPr>
        <p:spPr>
          <a:xfrm>
            <a:off x="78295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边缘模型快速处理当前覆盖范围，服务器模型处理全局计划重排和跨工序取舍。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427F0D-77B6-4C1A-BD81-1A12D1DB664B}"/>
              </a:ext>
            </a:extLst>
          </p:cNvPr>
          <p:cNvSpPr>
            <a:spLocks noGrp="1"/>
          </p:cNvSpPr>
          <p:nvPr/>
        </p:nvSpPr>
        <p:spPr>
          <a:xfrm>
            <a:off x="1619250" y="4876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边缘 AI 解决现场快速响应与参数过滤；计划重排更适合由服务器侧模型结合全局约束来判断。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6DEC20-F07F-4FC3-808E-3F3AE278509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D76E16-F9BF-4570-B2F1-7A714EEA7678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3773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B71726F-8BE7-42A6-B79A-2163086F5CE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DF9C3B4-2ED5-44CA-95D1-4A8291DB358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B9145B-7B8D-4273-B8B5-D5EB2BE0908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89CFC1D-20EB-47A3-BDF2-D2C14F740875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11C9372-2849-4FA7-B8F4-0E53AA550C10}"/>
              </a:ext>
            </a:extLst>
          </p:cNvPr>
          <p:cNvSpPr>
            <a:spLocks noGrp="1"/>
          </p:cNvSpPr>
          <p:nvPr/>
        </p:nvSpPr>
        <p:spPr>
          <a:xfrm>
            <a:off x="10001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BD26109-5AD0-48CB-BB40-33D27CCC582D}"/>
              </a:ext>
            </a:extLst>
          </p:cNvPr>
          <p:cNvSpPr>
            <a:spLocks noGrp="1"/>
          </p:cNvSpPr>
          <p:nvPr/>
        </p:nvSpPr>
        <p:spPr>
          <a:xfrm>
            <a:off x="10001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1D99D81-97ED-4B35-9A6B-2DE20259D401}"/>
              </a:ext>
            </a:extLst>
          </p:cNvPr>
          <p:cNvSpPr>
            <a:spLocks noGrp="1"/>
          </p:cNvSpPr>
          <p:nvPr/>
        </p:nvSpPr>
        <p:spPr>
          <a:xfrm>
            <a:off x="45434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B878661-2F2D-4E3E-9522-CF80DE3E8C88}"/>
              </a:ext>
            </a:extLst>
          </p:cNvPr>
          <p:cNvSpPr>
            <a:spLocks noGrp="1"/>
          </p:cNvSpPr>
          <p:nvPr/>
        </p:nvSpPr>
        <p:spPr>
          <a:xfrm>
            <a:off x="45434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860E56D-6DE9-4E3E-A01F-5DDF081AD7DF}"/>
              </a:ext>
            </a:extLst>
          </p:cNvPr>
          <p:cNvSpPr>
            <a:spLocks noGrp="1"/>
          </p:cNvSpPr>
          <p:nvPr/>
        </p:nvSpPr>
        <p:spPr>
          <a:xfrm>
            <a:off x="45434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参数校准、小时级计划基准、拉动物流、replan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C9D562C-458B-46DC-8178-A10C2697AB37}"/>
              </a:ext>
            </a:extLst>
          </p:cNvPr>
          <p:cNvSpPr>
            <a:spLocks noGrp="1"/>
          </p:cNvSpPr>
          <p:nvPr/>
        </p:nvSpPr>
        <p:spPr>
          <a:xfrm>
            <a:off x="80867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2718439E-3229-4B2E-9AF3-66D0789AAD63}"/>
              </a:ext>
            </a:extLst>
          </p:cNvPr>
          <p:cNvSpPr>
            <a:spLocks noGrp="1"/>
          </p:cNvSpPr>
          <p:nvPr/>
        </p:nvSpPr>
        <p:spPr>
          <a:xfrm>
            <a:off x="80867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9D3041B-5478-4F35-8A00-2B3387AB0285}"/>
              </a:ext>
            </a:extLst>
          </p:cNvPr>
          <p:cNvSpPr>
            <a:spLocks noGrp="1"/>
          </p:cNvSpPr>
          <p:nvPr/>
        </p:nvSpPr>
        <p:spPr>
          <a:xfrm>
            <a:off x="80867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E2BA97-39B9-4959-BF6A-5F1460513952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E02459-5151-4B26-9021-1AA9DEB2B8C4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D67B84-0891-4A3A-9CB1-F05B40551BD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3874723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701</Words>
  <Application>Microsoft Macintosh PowerPoint</Application>
  <DocSecurity>0</DocSecurity>
  <PresentationFormat>宽屏</PresentationFormat>
  <Paragraphs>182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Songti SC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 Jiajun</cp:lastModifiedBy>
  <cp:revision>8</cp:revision>
  <dcterms:created xsi:type="dcterms:W3CDTF">2026-09-21T01:42:31Z</dcterms:created>
  <dcterms:modified xsi:type="dcterms:W3CDTF">2026-09-23T08:46:08Z</dcterms:modified>
</cp:coreProperties>
</file>