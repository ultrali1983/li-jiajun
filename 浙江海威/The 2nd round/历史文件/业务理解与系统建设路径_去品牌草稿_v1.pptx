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6"/>
    <p:restoredTop sz="97300"/>
  </p:normalViewPr>
  <p:slideViewPr>
    <p:cSldViewPr snapToGrid="0">
      <p:cViewPr varScale="1">
        <p:scale>
          <a:sx n="167" d="100"/>
          <a:sy n="167" d="100"/>
        </p:scale>
        <p:origin x="2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本页用于对齐董事长真正关心的问题。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现场可打开工作台，展示功能项从系统模块重组为业务能力的过程。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现场打开价值流画板，展示 F 项如何落到过程节点。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本页用于从理解过渡到问题判断。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本页是后续解决方案的关键问题页。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本页建议配合价值流画板点选仓库、发料、WIP 和成品库节点。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本页强调数据采集不是越多越好。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3A955A-8E85-480F-81FE-8C2E6A5B3FB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0D5D64-A6D9-4D48-A04F-A36BD3F75868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围绕业务过程、Planning 能力与最终软件架构的汇报草稿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E90416-DAD8-4F9C-AD41-5064BC7BF6B2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5C6508A-4FCA-4F78-B66A-BB9D9D29BD3F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6A21D6-B6B7-48B4-BB84-BC49D154512C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11078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9F24374-DEC1-4DA1-976C-E32E9FB687D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本次汇报要回答的问题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B4EF99A-0720-4360-82DE-D1E226A2090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61F544-8EB3-405B-90E7-884CB7D44F26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799393B-48B6-4B6C-8DEF-75FC17DD9FE7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业务理解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016FAB9-1F3D-4858-BA99-06EE0130607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展示的功能架构包含已有能力和未来预期，需要先转译成真实业务内容。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3C42B88-8891-4DDC-A3AF-1C764CB37E4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实现路径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43E79A2-9B55-4087-995C-E5082BBB1658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基于当前功能落地状态，判断二阶段功能的意义、目标和叠加顺序。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FB28547-EEB5-414A-89B7-BB62C4097904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最终架构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8FFC421-D479-4FBF-8E86-B675CE6CD4E1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展望功能覆盖、数字投影、成本优化和 AI 引入后的软件形态。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ADA3A2-90A4-4CA0-A1AA-6144A42D86C8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先建立理解，再讨论路径，最后讨论长期软件架构。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B3A669-EDEA-4F4D-8815-BAAEC9FDCA4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8984D7-8C83-40A3-A871-CD918C972D57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703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F04F52F-5900-4A60-BD4B-5EEF687B3B5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从系统模块到业务能力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340BE9AE-0AA4-4F57-B703-EA0CFFA0938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5C86F8-0E77-4F55-8DE8-B0FB037885EC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A754364-C21A-4259-A6A2-219733C471D8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原系统视角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4027347-19D2-4D7F-B9F1-7ECC6B10FFB9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业务能力视角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3E87BA3-1418-4904-AA70-EAEAB059685D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12A99AD-1975-42C9-80FE-C77F42A6A3CA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67CB26B6-45DB-4BCC-B62B-FE311C74B3B0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08DA1F5-0BB0-4742-94C6-FAFC2EE10103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DD885B5-2023-4FFA-A2B4-01C889CD1040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CC8C322C-B4A2-4ADC-899F-5DC2A4282BB0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D108B52-B24C-4486-8FF9-BE9D700B838E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21BB4C2-A580-4741-BBE6-CC440B844992}"/>
              </a:ext>
            </a:extLst>
          </p:cNvPr>
          <p:cNvSpPr>
            <a:spLocks noGrp="1"/>
          </p:cNvSpPr>
          <p:nvPr/>
        </p:nvSpPr>
        <p:spPr>
          <a:xfrm>
            <a:off x="7524750" y="4043362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EFD8FFA5-45BD-425E-8F30-6466D1D830B8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82FF798-6DD0-4CF9-BF37-B86985A6ED66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TPM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D06004D-7895-4097-B7A6-8DF0DDEC3812}"/>
              </a:ext>
            </a:extLst>
          </p:cNvPr>
          <p:cNvSpPr>
            <a:spLocks noGrp="1"/>
          </p:cNvSpPr>
          <p:nvPr/>
        </p:nvSpPr>
        <p:spPr>
          <a:xfrm>
            <a:off x="7524750" y="3352801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D901D0CC-4676-4371-B3E1-73AE5DC07B1A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5BF186A-561A-4901-A75D-72E6C7E3C60E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7DD7191-89F6-4994-AB5E-95ECA290A6D8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10880BFB-C7F4-4367-BD6D-BFAF47CF4A4B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F87AF3-29EC-46F1-AE62-B09FDDA073C4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DB7532-062D-4F71-B067-261C6D6DB58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E083A1-BF6A-446F-827C-B768CE13273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F99700-CD4D-4E88-9D45-DD507F161AB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54769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E910006-0E8E-44B0-A875-57B32EC4A49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价值流视角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2416756-A491-4414-9580-0AE03BB4FED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B3DE0F-982A-41AE-8FE1-5F200A652B0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268A94-DB42-4DC3-BBD6-CE43DCE0344C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244357-D529-476A-B3A6-39A06761A5A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33B709-DF2E-4D28-94AB-ECE3049D87E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102161-ABDB-426D-9ED9-BF5BD6AF50F2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1C66F64-A270-0483-0D25-CCFEA221F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21" b="26609"/>
          <a:stretch>
            <a:fillRect/>
          </a:stretch>
        </p:blipFill>
        <p:spPr>
          <a:xfrm>
            <a:off x="552450" y="1276350"/>
            <a:ext cx="10919599" cy="306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53A6C06-A3AD-40EB-A915-EDDE576604A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当前系统能力判断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A7E8915-95CB-49C4-818F-568B6681038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1C4883-C2D5-4FA5-B466-CD82F6314B6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BDF3BCF-D80D-4CB1-8866-A66F13A67F1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已经具备一定基础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53467A4-C51D-4034-9BD9-568AEB951D1C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需要重新定义重心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27D932D-5B1B-461D-A4E4-EA2CC9266FDC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8D1E1A-21B3-4416-825E-D0FD1CAFE213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仓储、库存、出入库、FIFO 等功能具备基础框架。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9941089-0A79-4016-BB2D-FE1264A75250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45B37E-69F3-4534-A3C4-4018CF55CB81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生产执行、报工、防错和追溯已有功能入口。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CFA93E1-08B8-4892-B93E-76AC5E13691B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5FFF0D-56B8-4FCE-8FD4-4B7C30D52FCB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检验、质量标准、不合格品处理已有明确功能项。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C6921C2-E997-4853-B524-49791B0CA58A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646404-C50E-415C-80D9-EBD98156DF5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当前功能更偏记录和局部管控。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E6F883D-4581-4780-81C4-96240B4782ED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DAB9B7-2351-4F6D-8746-3F06C9033A1B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计划能力弱，导致信息流缺少统一牵引。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C9006C3-F0B2-4A09-BEA4-5B9B69998C58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0580C6-FC8D-4B52-A770-0F183A51A03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设备数据采集需要回到采集目的和后续动作。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D22B04-AA86-4583-BFD7-0D3A864C799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822886-AFF8-4919-8A5F-91D10ECF86C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CD705B-1827-44F5-BED0-190DBFA324A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85065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C17F23A-99CF-4934-B156-4DE3FCC66B2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是信息流的源头能力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3413FC4-C6EC-4D4D-865B-B7101F82B82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DB002A-049A-49BF-87DB-CBBFDBB81D5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803EFEA-E8C4-42DA-8539-659F7883EC3D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5A3C487-F8D8-4374-BD48-AADD6B61B7B9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订单与交期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2F8B3CF9-BD05-46AF-A161-CE18A3119D23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物料齐套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5FC72FCC-65C9-4AC1-AAB2-08FFB3ECA46F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产能负荷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233B97D-23F5-4FDA-877C-DB659B6B2AE8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B009AC9-CE1A-45B8-8429-37B456E08FB1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工序节拍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29011B6-B236-4BD3-91BA-F6D5DCBA30A3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质量要求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BF64335-D94D-4159-B167-F1D04645C64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异常反馈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BEF2B8A-D55A-4284-88DB-A23CEDA050B1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当前 Planning 能力弱，会让系统被动记录已经发生的动作，而难以及时牵引现场。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59D7D6-AE59-4CB2-9F98-E58E3FA9FD37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683984-0CFE-4A57-B3A7-93A48E5844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168062-CB05-4578-AD33-6A79645D909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771055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DE0AC99-43BC-46CF-9B17-54D32879E0F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弱对实物流的影响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6D1DDE6-F564-42A3-B153-D27605C5CA7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C247E0-817B-4B42-92B1-5B47B7C924B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26FAC10-AF2E-4A12-A7BF-80D0EDC12A81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信息流问题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ECE325D-C83E-4736-8892-0E68E95ECE3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实物流后果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5C4D8FE-F77D-4A5B-83F6-CAA07D42271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466CD2-433D-44AD-8F08-BC52F87B6CAD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订单、物料、产能、设备和质量要求之间缺少同一套判断</a:t>
            </a:r>
            <a:r>
              <a:rPr sz="1425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081C71D-6259-4881-A090-B669E976A801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49D2A7-FA77-4F9E-9999-DC191018407B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现场异常无法及时回到计划层重新安排。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F3DFD49-92BD-47FD-922A-836277611F46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EB1F8-9440-4672-B5F8-12BE78B58A8A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设备数据没有计划背景，难以判断对产出的影响。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2670075-12E9-4086-A171-EB0355D737CD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F6EA9B-9369-4B64-9BDE-7E8EA9A8B795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物料齐套状态不清晰，发料节奏容易脱节</a:t>
            </a:r>
            <a:r>
              <a:rPr sz="1425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5C53E74-F2C9-477B-BA65-AFD827C50FE8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011B79-353B-4DF3-AE7E-841E5FC7095E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52"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</a:t>
            </a:r>
            <a:r>
              <a:rPr sz="1425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状态难以及时掌握，现场库存和系统库存出现偏差</a:t>
            </a:r>
            <a:r>
              <a:rPr sz="1425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F3C5A9B-E83A-4DDD-AA66-98C468572DB7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DB010F-5847-45C2-9FB2-36BC45E1B81A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退料、替代料、临期料缺少前置判断</a:t>
            </a:r>
            <a:r>
              <a:rPr sz="1425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729375-F0F8-411D-81B5-7218C24ADB9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B3A965-83EC-4B28-B9F5-05E1208C9D3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FA0921-EA52-4BB3-A937-FB3E7E381C45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76678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FFD0D73-341F-4284-94FA-C5D3CDAF261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下一阶段建设目标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8E0CADD-AD73-43E0-A24D-9469B36074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D6E99C-368A-48CC-AEA9-D7839C2C236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9BFC991-801B-410A-87B2-AF0BEE01601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计划牵引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C9D393B-70DB-474E-9F99-8590E7A03395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让计划成为业务启动和异常反馈的入口。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F0D9329-FA6B-4EB9-9866-C6EB83B1D212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物料闭环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D27FDCB-FE96-4795-A420-C0334B427106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让收货、库存、发料、WIP 和出库围绕计划联动。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F096006-D598-4235-8BE8-327D9DC80CA0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质量过程化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9BD0B31-2493-41B2-83B3-55F5EB2CEAF6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让质量要求进入工序、参数、检验和放行判断。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CE92CE5-97E0-477C-97C7-16CBAA7DCC7A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数据目的化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3642807-9C8F-4C89-A5F0-6D012CDFFFD0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先定义动作，再决定设备数据采集范围。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69C043-8218-40C3-A0C9-0707C52D58A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1D93C1-947C-4614-8E9B-6729FAC732E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660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857960B-FB61-4D44-91BA-E68B08FBA88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叠加路径一：Planning 主线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4163677-64CC-46F4-9DF8-8C686BF0303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993A0E-4DE5-45F4-B329-D98B2C3760EC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B293552-3D6E-4931-900A-4000CF03EBA2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订单需求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0A5BC1B-C899-4545-9625-8ED291856CA8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能力校验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EA6128F-C973-4E68-BBDF-46F026A22139}"/>
              </a:ext>
            </a:extLst>
          </p:cNvPr>
          <p:cNvSpPr>
            <a:spLocks noGrp="1"/>
          </p:cNvSpPr>
          <p:nvPr/>
        </p:nvSpPr>
        <p:spPr>
          <a:xfrm>
            <a:off x="43815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计划分解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01C4B0A-09C0-4F17-A8F8-239B795932E0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现场执行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1B25162-EAE7-4438-B134-F94065E7C111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异常反馈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754CBE3-081C-4A4A-B64B-6971441BD521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计划调整</a:t>
            </a:r>
          </a:p>
        </p:txBody>
      </p:sp>
      <p:cxnSp>
        <p:nvCxnSpPr>
          <p:cNvPr id="28" name="直线箭头连接符 27"/>
          <p:cNvCxnSpPr>
            <a:stCxn id="4" idx="3"/>
            <a:endCxn id="5" idx="1"/>
          </p:cNvCxnSpPr>
          <p:nvPr/>
        </p:nvCxnSpPr>
        <p:spPr>
          <a:xfrm>
            <a:off x="2095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直线箭头连接符 28"/>
          <p:cNvCxnSpPr>
            <a:stCxn id="5" idx="3"/>
            <a:endCxn id="6" idx="1"/>
          </p:cNvCxnSpPr>
          <p:nvPr/>
        </p:nvCxnSpPr>
        <p:spPr>
          <a:xfrm>
            <a:off x="39052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直线箭头连接符 29"/>
          <p:cNvCxnSpPr>
            <a:stCxn id="6" idx="3"/>
            <a:endCxn id="7" idx="1"/>
          </p:cNvCxnSpPr>
          <p:nvPr/>
        </p:nvCxnSpPr>
        <p:spPr>
          <a:xfrm>
            <a:off x="57150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直线箭头连接符 30"/>
          <p:cNvCxnSpPr>
            <a:stCxn id="7" idx="3"/>
            <a:endCxn id="8" idx="1"/>
          </p:cNvCxnSpPr>
          <p:nvPr/>
        </p:nvCxnSpPr>
        <p:spPr>
          <a:xfrm>
            <a:off x="75247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直线箭头连接符 31"/>
          <p:cNvCxnSpPr>
            <a:stCxn id="8" idx="3"/>
            <a:endCxn id="9" idx="1"/>
          </p:cNvCxnSpPr>
          <p:nvPr/>
        </p:nvCxnSpPr>
        <p:spPr>
          <a:xfrm>
            <a:off x="9334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ED1BBE2-D10A-4191-96E1-1E1814D8B03B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Planning 需要连接交期、物料、产能、设备和质量要求。后续它会成为成本展开的入口。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DBB5E1-9673-4474-88AB-FD9A7976126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FE5401-0E7A-482D-B33E-C4A90A17BA5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E1CA4F-8D97-45FB-B260-CFE2208D892F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72831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22B37F2-3041-4903-9903-F188813C9C9F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叠加路径二：物料流掌控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3C6694D-9887-4E00-92E5-367D59E1F89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BCB02-2D63-42F1-9A77-779A6F64236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FACDE0A-0499-4CBB-9F64-583B5DA1BD61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从库存记录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20E4CB6-4586-450A-B936-FC16163486D1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到过程掌控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6679FB0-D748-4A6C-BBBB-5E5A99C681C1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504B8C-AAEB-491B-9E74-073240CBD0D0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账物一致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9977A16-7C50-4734-8872-5C8B79C290FB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F3DCC7-4EA0-45AA-AD2F-75256DCFBEF7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出入库记录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0FD0DB-401C-4532-AB86-C59B5114659F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3D4809-5258-41CC-8F25-B50067EC4453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库存盘点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C7D2B2B-6C09-44FA-96CF-2B588BB28205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513CB8-5898-4546-A4D4-0595FB930DA2}"/>
              </a:ext>
            </a:extLst>
          </p:cNvPr>
          <p:cNvSpPr>
            <a:spLocks noGrp="1"/>
          </p:cNvSpPr>
          <p:nvPr/>
        </p:nvSpPr>
        <p:spPr>
          <a:xfrm>
            <a:off x="1276350" y="41148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报表输出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E522B1B-B833-4306-A067-15D501D632B6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6ED2C3-5226-4775-A6CC-342E14D9A535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齐套判断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AD169D0-016E-4212-AC19-E3411EAA23DE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4CAE24-EE56-41D5-88B0-CE2FE0415828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按单发料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2EBEB8A-A988-478F-A7F1-0B2242BC44E9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1E39F1-1747-4664-9B68-D4D54DCB97AC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退料闭环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4BBBE79-E371-4FE4-A158-DEFBF83898C9}"/>
              </a:ext>
            </a:extLst>
          </p:cNvPr>
          <p:cNvSpPr>
            <a:spLocks noGrp="1"/>
          </p:cNvSpPr>
          <p:nvPr/>
        </p:nvSpPr>
        <p:spPr>
          <a:xfrm>
            <a:off x="6877050" y="41910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56BDCA-AD65-4E27-8647-7565B30467BC}"/>
              </a:ext>
            </a:extLst>
          </p:cNvPr>
          <p:cNvSpPr>
            <a:spLocks noGrp="1"/>
          </p:cNvSpPr>
          <p:nvPr/>
        </p:nvSpPr>
        <p:spPr>
          <a:xfrm>
            <a:off x="7105650" y="41148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可视化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AEFD5F3-C876-4FFD-A238-D66816E26B4E}"/>
              </a:ext>
            </a:extLst>
          </p:cNvPr>
          <p:cNvSpPr>
            <a:spLocks noGrp="1"/>
          </p:cNvSpPr>
          <p:nvPr/>
        </p:nvSpPr>
        <p:spPr>
          <a:xfrm>
            <a:off x="6877050" y="48387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3C0388-81BC-4210-AF1F-04ADD1F7D7AE}"/>
              </a:ext>
            </a:extLst>
          </p:cNvPr>
          <p:cNvSpPr>
            <a:spLocks noGrp="1"/>
          </p:cNvSpPr>
          <p:nvPr/>
        </p:nvSpPr>
        <p:spPr>
          <a:xfrm>
            <a:off x="7105650" y="47625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临期与替代料风险预警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F7C504-2A1D-4C06-B6FF-438311DD050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AF439A-982F-466A-9D1A-2662B49E301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11D6A1-25EC-480C-B0C1-F044D8EF217B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22916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09FF9F4-DF82-4987-B8B5-33EF9401F55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叠加路径三：质量过程化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0B0B00B-20AC-4EC1-B26F-10E4586109A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E8FF41-18F2-4726-8D28-8C193B562886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AE179FE-13F2-4646-B9DB-5E5BCB984B9E}"/>
              </a:ext>
            </a:extLst>
          </p:cNvPr>
          <p:cNvSpPr>
            <a:spLocks noGrp="1"/>
          </p:cNvSpPr>
          <p:nvPr/>
        </p:nvSpPr>
        <p:spPr>
          <a:xfrm>
            <a:off x="1143000" y="1762125"/>
            <a:ext cx="257175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质量要求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A559B6B-71FE-45CF-B06B-B81854DCFAC0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257175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检验标准、参数边界、放行规则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471368C7-9796-4945-9605-54465B2C5FB4}"/>
              </a:ext>
            </a:extLst>
          </p:cNvPr>
          <p:cNvSpPr>
            <a:spLocks noGrp="1"/>
          </p:cNvSpPr>
          <p:nvPr/>
        </p:nvSpPr>
        <p:spPr>
          <a:xfrm>
            <a:off x="3714750" y="3114675"/>
            <a:ext cx="6667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A1A0766-EA52-4555-90F8-BEEC8C5E6830}"/>
              </a:ext>
            </a:extLst>
          </p:cNvPr>
          <p:cNvSpPr>
            <a:spLocks noGrp="1"/>
          </p:cNvSpPr>
          <p:nvPr/>
        </p:nvSpPr>
        <p:spPr>
          <a:xfrm>
            <a:off x="4572000" y="1762125"/>
            <a:ext cx="257175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过程动作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4272815-957E-4FB1-8A58-BB497AFE31AA}"/>
              </a:ext>
            </a:extLst>
          </p:cNvPr>
          <p:cNvSpPr>
            <a:spLocks noGrp="1"/>
          </p:cNvSpPr>
          <p:nvPr/>
        </p:nvSpPr>
        <p:spPr>
          <a:xfrm>
            <a:off x="4572000" y="2457450"/>
            <a:ext cx="257175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来料、工序、设备参数、工艺执行、成品检验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1F38F31F-A87A-49B6-98B5-1EA7983FA850}"/>
              </a:ext>
            </a:extLst>
          </p:cNvPr>
          <p:cNvSpPr>
            <a:spLocks noGrp="1"/>
          </p:cNvSpPr>
          <p:nvPr/>
        </p:nvSpPr>
        <p:spPr>
          <a:xfrm>
            <a:off x="7143750" y="3114675"/>
            <a:ext cx="6667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387FA04-E9A9-4302-9135-FC1DC9B483EB}"/>
              </a:ext>
            </a:extLst>
          </p:cNvPr>
          <p:cNvSpPr>
            <a:spLocks noGrp="1"/>
          </p:cNvSpPr>
          <p:nvPr/>
        </p:nvSpPr>
        <p:spPr>
          <a:xfrm>
            <a:off x="8001000" y="1762125"/>
            <a:ext cx="257175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界面输出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06A3DF3-A969-42B1-9650-22CA99E617D4}"/>
              </a:ext>
            </a:extLst>
          </p:cNvPr>
          <p:cNvSpPr>
            <a:spLocks noGrp="1"/>
          </p:cNvSpPr>
          <p:nvPr/>
        </p:nvSpPr>
        <p:spPr>
          <a:xfrm>
            <a:off x="8001000" y="2457450"/>
            <a:ext cx="257175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状态展示、异常提示、SPC 控制图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FEFFC9-B1D4-483F-A009-79DD72150EF1}"/>
              </a:ext>
            </a:extLst>
          </p:cNvPr>
          <p:cNvSpPr>
            <a:spLocks noGrp="1"/>
          </p:cNvSpPr>
          <p:nvPr/>
        </p:nvSpPr>
        <p:spPr>
          <a:xfrm>
            <a:off x="1428750" y="497205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质量功能的重点放在标定和输出，真正的管理动作由过程承担。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21370A-65DE-4DFF-8D79-21DA3951A5AE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CD0D50-EBE7-48BD-BA74-BA4D6E0C56A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0521B9-738C-474D-8FA0-BA2823CC6438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78965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B49B28E-5B42-4C3B-838D-F3F612CCB91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叠加路径四：设备数据目的化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C6398C7-7ED3-4E24-BBC2-FBB0FA99E2F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2C8A12-914F-47FF-9E39-2BB3AE5FD1C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采集目的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后续动作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判断设备是否支持计划继续执行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参数变化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触发工艺防呆和质量风险提示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故障趋势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安排维护窗口，减少计划扰动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节拍与产能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支持计划模拟和成本分析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4E44096-6FAC-4A77-A5C8-E722269B958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6D3332-DEE7-452E-9E56-38FE7A731FB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E098D9-2BBD-4075-BBCD-BED50EFD686E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376468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8A122F9-C15B-4955-B078-8B779E130E0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最终架构一：Digital Twins 与数据投影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B024A5C-DE95-4C56-92DC-D714358A3CC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0B1AB5-61A3-4A70-9B62-68A26E88859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DF7C2F2-E2CA-46D4-B3AD-3C0B42BA7164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现场过程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E5995C4-C91B-4485-A78C-BC10F8D5C561}"/>
              </a:ext>
            </a:extLst>
          </p:cNvPr>
          <p:cNvSpPr>
            <a:spLocks noGrp="1"/>
          </p:cNvSpPr>
          <p:nvPr/>
        </p:nvSpPr>
        <p:spPr>
          <a:xfrm>
            <a:off x="5048250" y="1714500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数字投影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47AB6EF-D56A-4EFD-84BF-95F7BBBA51B9}"/>
              </a:ext>
            </a:extLst>
          </p:cNvPr>
          <p:cNvSpPr>
            <a:spLocks noGrp="1"/>
          </p:cNvSpPr>
          <p:nvPr/>
        </p:nvSpPr>
        <p:spPr>
          <a:xfrm>
            <a:off x="8972550" y="1714500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管理判断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A735F874-FE8E-4B81-944F-EF3073779F5C}"/>
              </a:ext>
            </a:extLst>
          </p:cNvPr>
          <p:cNvSpPr>
            <a:spLocks noGrp="1"/>
          </p:cNvSpPr>
          <p:nvPr/>
        </p:nvSpPr>
        <p:spPr>
          <a:xfrm>
            <a:off x="3219450" y="2066925"/>
            <a:ext cx="182880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5C6EBE45-2DB3-4E38-BA75-CBD7E3E121CB}"/>
              </a:ext>
            </a:extLst>
          </p:cNvPr>
          <p:cNvSpPr>
            <a:spLocks noGrp="1"/>
          </p:cNvSpPr>
          <p:nvPr/>
        </p:nvSpPr>
        <p:spPr>
          <a:xfrm>
            <a:off x="7143750" y="2066925"/>
            <a:ext cx="182880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4E4B725-1F8E-4377-9CC2-375466FCBE0D}"/>
              </a:ext>
            </a:extLst>
          </p:cNvPr>
          <p:cNvSpPr>
            <a:spLocks noGrp="1"/>
          </p:cNvSpPr>
          <p:nvPr/>
        </p:nvSpPr>
        <p:spPr>
          <a:xfrm>
            <a:off x="1657350" y="31432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订单状态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0BDEDA6-4E3D-4BAE-BCDB-699178BD1CD5}"/>
              </a:ext>
            </a:extLst>
          </p:cNvPr>
          <p:cNvSpPr>
            <a:spLocks noGrp="1"/>
          </p:cNvSpPr>
          <p:nvPr/>
        </p:nvSpPr>
        <p:spPr>
          <a:xfrm>
            <a:off x="4610100" y="31432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物料状态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DC24AD5-A6BD-474E-856F-07935254EEB4}"/>
              </a:ext>
            </a:extLst>
          </p:cNvPr>
          <p:cNvSpPr>
            <a:spLocks noGrp="1"/>
          </p:cNvSpPr>
          <p:nvPr/>
        </p:nvSpPr>
        <p:spPr>
          <a:xfrm>
            <a:off x="7562850" y="31432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69CE61D-DC98-414B-B993-94EA3944B857}"/>
              </a:ext>
            </a:extLst>
          </p:cNvPr>
          <p:cNvSpPr>
            <a:spLocks noGrp="1"/>
          </p:cNvSpPr>
          <p:nvPr/>
        </p:nvSpPr>
        <p:spPr>
          <a:xfrm>
            <a:off x="1657350" y="38290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工序状态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887DBE5-26AA-4097-831F-93C00422B931}"/>
              </a:ext>
            </a:extLst>
          </p:cNvPr>
          <p:cNvSpPr>
            <a:spLocks noGrp="1"/>
          </p:cNvSpPr>
          <p:nvPr/>
        </p:nvSpPr>
        <p:spPr>
          <a:xfrm>
            <a:off x="4610100" y="38290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质量状态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E9B3988-A05E-44A8-8E5E-223888B4BFA4}"/>
              </a:ext>
            </a:extLst>
          </p:cNvPr>
          <p:cNvSpPr>
            <a:spLocks noGrp="1"/>
          </p:cNvSpPr>
          <p:nvPr/>
        </p:nvSpPr>
        <p:spPr>
          <a:xfrm>
            <a:off x="7562850" y="3829050"/>
            <a:ext cx="2000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计划偏差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E3FA64-2105-42F8-932F-CF683E17B391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数字孪生的核心作用，是把现场状态投影成管理层和现场都能使用的同一套事实。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5EF30-A1E3-4EFD-9CC5-83ED25BCAD0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A7225F-4BB2-46A3-A8ED-C2BFD20E8DA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FCE567-5CF2-4119-BA83-7FBF02FBB52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现场穿插：价值流画板，DEMO2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670183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340E36-A997-4814-B666-BC0993F4F47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最终架构二：Planning 定义成本展开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1CEDBF3-F826-4D5C-911E-74585FF344C8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C47072-892E-4E54-B0C7-C330CF0601D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06AE35A-9558-49E6-AD94-4BF1320313AB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计划变化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BEFD10B-F837-4B98-B8AF-76437F04684F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改变物料准备、库存占用和发料节奏。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264BD09-1125-4DA5-813C-CF8763EA7D0F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能力约束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1F7A268-E8DF-4C49-BE06-8452677A7122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改变设备利用率、等待时间和维护窗口。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14901EE-B9BB-4124-BF9B-2606D46B8CF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质量风险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ECDB20A-B592-4361-99D7-C943FEA97E13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改变返工、报废、检验和交付风险。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DCBA6FF-2658-4943-A91E-EF1EE00C38C3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成本输出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C203F15-995E-4677-92E1-A6DED9724ACE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让每一次计划调整对应可解释的成本变化。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A08C62-A187-4D7A-BB6C-5A60DAF8D4A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5175D0-94E8-4997-A651-162C830F2BD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3333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E8E742B-1AC6-47AF-8E5F-EF79C49CEB0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最终架构三：AI 的引入方式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CD68502-6D92-4A51-B92B-86A303F0519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A4B455-47EC-4D91-AA58-F275D726C73D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7C6CC98-E406-4EE1-B9D7-0243592C026B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初期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1DCBF49-0C3A-4832-A827-C023B8833D1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查询助手、报表解释、异常摘要。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CAB5F88-61F1-465B-8B16-70023EEF9E5E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中期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C2BC7F9-2514-42D5-BCE1-507C0FFC6CFC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风险识别、计划冲突提示、质量波动分析。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02D688E-05B0-47D9-9AA6-6CC3075E2200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后期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025877F-80A5-4406-BBEB-A95BC48A948B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结合数字投影和 Planning，生成模拟、预测和优化建议。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41B242-F916-4C36-A737-81D8EEC29561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应嵌入计划、质量、设备、工艺和成本管理场景。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276CC9-BDAB-49D6-94A2-2C26DD93E127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410801-7770-4E49-B77E-FEC861CA572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0738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A180DF9-309D-4E19-A910-975CA3DA8342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阶段性建设路线图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FD49A3B-C634-4444-8395-B514934A55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CFD7F5-FC6E-4E04-80AE-E75DEB71FEA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1933EDE-7C9E-4AA9-83A0-462E99114DED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4498DE0-0EA2-435A-BF85-B1500CF548D8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功能梳理与业务落位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8AE1A58-7314-49B0-ABCD-84538693844C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价值流画板、功能重组表、现状判断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0E7229D-2224-4A3C-8B41-4E81585E7C67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4CD1DDA-BF73-4AA4-B7BB-F20DAD7C0431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围绕 Planning 建立过程闭环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E2A99A-D8A2-44F9-A5EC-003B8A2A63B0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计划牵引、物料联动、质量过程化、设备数据目的化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CB95E84-B590-4AA4-8998-BA2F66C46936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066C095-42A1-432A-B6F7-258EB04DDF56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数字投影与经营优化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435A2D05-0B37-4191-BC0A-5C26056917B9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数字孪生、成本模型、AI 辅助决策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E35A01-4492-4888-8D4E-AFA13400167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63FF24-FDF3-40CE-AA4B-D85375C1B6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326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308F054-B789-444B-9313-96D3A012A25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建议的下一步工作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3B21941-5530-4B21-99D3-8DB7F4675BF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5ABDC1-F9F0-408C-A2E6-EB82DD0840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4B27AC2-DA99-4710-AC7D-1D97711452DB}"/>
              </a:ext>
            </a:extLst>
          </p:cNvPr>
          <p:cNvSpPr>
            <a:spLocks noGrp="1"/>
          </p:cNvSpPr>
          <p:nvPr/>
        </p:nvSpPr>
        <p:spPr>
          <a:xfrm>
            <a:off x="1619250" y="1485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33DF6A-7321-42C8-82F0-C5CA5E93B2C7}"/>
              </a:ext>
            </a:extLst>
          </p:cNvPr>
          <p:cNvSpPr>
            <a:spLocks noGrp="1"/>
          </p:cNvSpPr>
          <p:nvPr/>
        </p:nvSpPr>
        <p:spPr>
          <a:xfrm>
            <a:off x="1847850" y="14097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确认当前功能已落地、部分落地和未落地的边界。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BB40B46-9DBA-4D71-930F-6119B42BE106}"/>
              </a:ext>
            </a:extLst>
          </p:cNvPr>
          <p:cNvSpPr>
            <a:spLocks noGrp="1"/>
          </p:cNvSpPr>
          <p:nvPr/>
        </p:nvSpPr>
        <p:spPr>
          <a:xfrm>
            <a:off x="1619250" y="22098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79A97D-90CA-4181-B6B5-A5BDDAD370D4}"/>
              </a:ext>
            </a:extLst>
          </p:cNvPr>
          <p:cNvSpPr>
            <a:spLocks noGrp="1"/>
          </p:cNvSpPr>
          <p:nvPr/>
        </p:nvSpPr>
        <p:spPr>
          <a:xfrm>
            <a:off x="1847850" y="21336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围绕 Planning 梳理订单、物料、产能、设备和质量之间的关系。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CE2DEA5-0167-497F-BC36-E3681416255D}"/>
              </a:ext>
            </a:extLst>
          </p:cNvPr>
          <p:cNvSpPr>
            <a:spLocks noGrp="1"/>
          </p:cNvSpPr>
          <p:nvPr/>
        </p:nvSpPr>
        <p:spPr>
          <a:xfrm>
            <a:off x="1619250" y="29337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E6BA0A-FE54-4BD0-8755-942A04D48A4F}"/>
              </a:ext>
            </a:extLst>
          </p:cNvPr>
          <p:cNvSpPr>
            <a:spLocks noGrp="1"/>
          </p:cNvSpPr>
          <p:nvPr/>
        </p:nvSpPr>
        <p:spPr>
          <a:xfrm>
            <a:off x="1847850" y="28575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用价值流画板持续补充过程节点和功能落位。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276C1B9-E3EB-4A5C-9329-CE2E21514F7B}"/>
              </a:ext>
            </a:extLst>
          </p:cNvPr>
          <p:cNvSpPr>
            <a:spLocks noGrp="1"/>
          </p:cNvSpPr>
          <p:nvPr/>
        </p:nvSpPr>
        <p:spPr>
          <a:xfrm>
            <a:off x="1619250" y="3657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A5BBB3-9825-43AE-9BA3-16C2479B04C8}"/>
              </a:ext>
            </a:extLst>
          </p:cNvPr>
          <p:cNvSpPr>
            <a:spLocks noGrp="1"/>
          </p:cNvSpPr>
          <p:nvPr/>
        </p:nvSpPr>
        <p:spPr>
          <a:xfrm>
            <a:off x="1847850" y="35814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 DEMO2 展开场地、设备、动线和产能之间的关系。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782D7ED-E74D-419A-8C8A-12BCE510ACF9}"/>
              </a:ext>
            </a:extLst>
          </p:cNvPr>
          <p:cNvSpPr>
            <a:spLocks noGrp="1"/>
          </p:cNvSpPr>
          <p:nvPr/>
        </p:nvSpPr>
        <p:spPr>
          <a:xfrm>
            <a:off x="1619250" y="43815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D9ACFE-D755-4763-88E8-BEBCBC2389E7}"/>
              </a:ext>
            </a:extLst>
          </p:cNvPr>
          <p:cNvSpPr>
            <a:spLocks noGrp="1"/>
          </p:cNvSpPr>
          <p:nvPr/>
        </p:nvSpPr>
        <p:spPr>
          <a:xfrm>
            <a:off x="1847850" y="4305300"/>
            <a:ext cx="834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把二阶段建设拆成可验证的能力包和交付顺序。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4199A-1FF6-4C4A-878A-B33F7A531EE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FF2C71-7607-4B92-8D3E-4FF1347E102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0E971A-0199-4527-831A-CFB191CCBA0E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280791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463</Words>
  <Application>Microsoft Macintosh PowerPoint</Application>
  <DocSecurity>0</DocSecurity>
  <PresentationFormat>宽屏</PresentationFormat>
  <Paragraphs>181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2</cp:revision>
  <dcterms:created xsi:type="dcterms:W3CDTF">2026-09-15T04:54:28Z</dcterms:created>
  <dcterms:modified xsi:type="dcterms:W3CDTF">2026-09-15T09:46:01Z</dcterms:modified>
</cp:coreProperties>
</file>