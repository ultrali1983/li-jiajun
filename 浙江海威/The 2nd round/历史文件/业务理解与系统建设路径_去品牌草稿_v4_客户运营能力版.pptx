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0"/>
  </p:normalViewPr>
  <p:slideViewPr>
    <p:cSldViewPr snapToGrid="0">
      <p:cViewPr varScale="1">
        <p:scale>
          <a:sx n="167" d="100"/>
          <a:sy n="167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 PPT 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这里解释客户需求的由来：客户关心供应商过程是否稳定、可控、可追溯。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回答：后续加强是否能从原二期计划中展开，以及当前条件是否足够。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DE339AA-5504-4ADA-BD1A-806830EA93D1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7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27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</a:t>
            </a:r>
            <a:r>
              <a:rPr lang="zh-CN" altLang="en-US" sz="27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27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</a:t>
            </a:r>
            <a:r>
              <a:rPr lang="zh-CN" altLang="en-US" sz="27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27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下一阶段路径</a:t>
            </a:r>
            <a:r>
              <a:rPr lang="zh-CN" altLang="en-US" sz="27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endParaRPr sz="27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BF2B31-20F4-4906-A545-F7499BF98F0B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  <a:endParaRPr sz="15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BF7097-90E2-4B15-B09D-F13895002C28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2870C25-27F2-43D2-AB9A-15F8409EC470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17D082-8438-47F1-8EE6-5951C040EB3C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54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CF9DB8C-306B-45C0-8CC3-C5B03778A51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1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展开路径</a:t>
            </a:r>
            <a:endParaRPr sz="21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66B2D4-DADB-46C4-B863-E209F67FE45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624EA-7A10-4613-A47B-84D06B32D3A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8770414-0A6C-4F89-9241-204D9E5A1FDB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en-US" altLang="zh-CN" sz="1575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MOM</a:t>
            </a:r>
            <a:r>
              <a:rPr lang="zh-CN" altLang="en-US" sz="1575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理解</a:t>
            </a:r>
            <a:endParaRPr sz="1575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6C51488-DA99-4DCB-8A51-F3DD8AEC32C0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海威已有分期建设想法，客户要求推动原二期内容被强化和具体化</a:t>
            </a:r>
            <a:r>
              <a:rPr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0F4B66A-A154-4DBF-BCF8-60852DDCA8A0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F54B067-AF4B-4858-848D-F22F2213D4B7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</a:t>
            </a:r>
            <a:r>
              <a:rPr lang="zh-CN" altLang="en-US"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：</a:t>
            </a:r>
            <a:r>
              <a:rPr lang="en-US" altLang="zh-CN"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1.</a:t>
            </a:r>
            <a:r>
              <a:rPr lang="zh-CN" altLang="en-US"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</a:t>
            </a:r>
            <a:r>
              <a:rPr lang="zh-CN" altLang="en-US"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的产品</a:t>
            </a: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交付</a:t>
            </a:r>
            <a:endParaRPr lang="en-US" sz="150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en-US" altLang="zh-CN"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2.</a:t>
            </a:r>
            <a:r>
              <a:rPr lang="zh-CN" altLang="en-US"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运营</a:t>
            </a: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  <a:endParaRPr lang="en-US" sz="15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en-US" altLang="zh-CN" sz="15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3.</a:t>
            </a:r>
            <a:r>
              <a:rPr lang="zh-CN" altLang="en-US" sz="15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  <a:endParaRPr sz="15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5BC9650-6C4A-400E-9497-7B2C0F2DC41E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  <a:endParaRPr sz="1575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F9C5C55-EA20-4B71-A2B5-D23D2814B077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</a:t>
            </a:r>
            <a:r>
              <a:rPr lang="zh-CN" altLang="en-US"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数据能力：</a:t>
            </a:r>
            <a:endParaRPr lang="en-US" altLang="zh-CN" sz="15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  <a:p>
            <a:pPr marL="285750" indent="-285750">
              <a:buFontTx/>
              <a:buChar char="-"/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</a:t>
            </a:r>
            <a:endParaRPr lang="en-US" sz="15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  <a:p>
            <a:pPr marL="285750" indent="-285750">
              <a:buFontTx/>
              <a:buChar char="-"/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</a:t>
            </a:r>
            <a:endParaRPr lang="en-US" sz="15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  <a:p>
            <a:pPr marL="285750" indent="-285750">
              <a:buFontTx/>
              <a:buChar char="-"/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</a:t>
            </a:r>
            <a:endParaRPr lang="en-US" sz="15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  <a:p>
            <a:pPr marL="285750" indent="-285750">
              <a:buFontTx/>
              <a:buChar char="-"/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</a:t>
            </a:r>
            <a:r>
              <a:rPr lang="zh-CN" altLang="en-US" sz="15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运维</a:t>
            </a:r>
            <a:endParaRPr lang="en-US" altLang="zh-CN" sz="150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  <a:p>
            <a:pPr marL="285750" indent="-285750">
              <a:buFontTx/>
              <a:buChar char="-"/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工艺</a:t>
            </a:r>
            <a:endParaRPr sz="15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C08AE0-3590-4674-B359-4E6DEEEE779E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</a:t>
            </a:r>
            <a:r>
              <a:rPr sz="165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C633A-6396-469C-91E5-E2327BA547E7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DC2040-F333-4E5A-BC5F-C2E9BE9733E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47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D88CA38-49A7-48E4-A999-F55F01CEBFC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 PPT 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2E28D3B-DAB0-4594-8B76-EFFF256A410E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8D5B9F-745B-4FD1-8942-C6679AC3181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BF44FF7-AEC9-484F-AF97-81CD01B685C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992FD4-069C-48CE-A58A-48260B9017C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63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1E327A3-D975-4705-815E-93743BCC29E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 PPT 的重新理解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F17C36D-37A1-4D05-8DC4-D708AD13320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F13F75-BCE2-4663-8730-F2990A377AA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3E769B0-7706-4DC6-83AB-4B95FFF97EB3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5BE0A63-4E3F-4A06-86D6-6240BC3C531E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客户要求带来的变化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08C9459-2C73-4EE6-8B90-EEDFC0D7E3FC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D23B8B-039A-4FEB-9E9F-D9B4EB2D9393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52"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一期偏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364C68F-650D-437D-9FA8-36B8D75F22DF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091E65-6739-4035-9B90-107343783BA1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二期本来就计划补强 QMS、TPM、IoT 等能力。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639455-A187-4039-BECB-4AE82315106B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3F2736-42C6-4341-A18D-B3D6D8D789E8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不是从无到有，而是已有规划的分期推进</a:t>
            </a:r>
            <a:r>
              <a:rPr sz="1425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810F674-EDE7-44D1-A30B-F1C4D95826F4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5224E1-9346-480D-9A0C-B6808B8DC26C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主要客户要求把功能清单推向过程控制要求。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8114D8E-EBA8-4F98-BFF5-C9D79229CF14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C7DFA5-74B6-483F-A4C2-E0DD0929DD7D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新增项更关注批次、参数、权限、点检、SPC 和全工序数据。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E0BFE81-38A0-4743-B5D3-3768A2AA466C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DE076F-B5B7-4206-83D4-C4A0A03FDC8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系统建设从功能补充，转向运营能力证明。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D111C3-802D-4838-B64D-A5395A3EE20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A1ADAD-B4EE-4882-98AA-4C8DDCBA8BCC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19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EE7AA55-A781-4AD2-8BAD-11CD9C6D4A6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BD3F934D-64BC-40B0-A497-5EB2DA30EDE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DB081E-F016-411A-81C4-01822C3B8EA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E3E9D04-D55F-457C-9963-5F4BEFBC1746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1B181BC-FD20-435D-A356-F24B03958DF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6048093-D92C-40DD-9E99-A7CF7840A160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5409C41-CCE4-438A-ACF6-4B9149DCBE57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5CC91AF-BD9E-438D-B786-CF3077FC28DB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EB0E8BF-CA6B-4DC9-A8CF-8E471A0189EB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13E591F-12DE-42AC-9F53-1CA59A345188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4FAFAF4-20D8-461A-A302-D17A320187E3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3A438D-C8B4-4737-9967-2E9AEB27A40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79A00D-220C-4B99-8AFC-55ACD28A6E1F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4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CC63E299-D30C-4D35-AA12-1E8E6D4359A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A863EFB-D5F3-4E26-A4A3-0CF4C4EDA44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36CE24-EFA0-44EF-B1F0-60F8E448F06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D6AAF02-C3B8-48B4-A2D9-83A233A066F2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08F3B2E-1872-4EDF-919B-EC99E10E13F3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6555347-97AF-4C4D-877A-3F7D2E25E76C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799B39E-2A7C-48F2-B1D1-7638A5F2205C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BD27BC7B-E8A0-4D59-8CC1-2394A9AD494B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DA7E914-E4B6-48C4-9F1A-013A851DF84F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1700CD1-DD2F-4FDC-AE09-87B0D63F1276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2B682C82-6BD4-41C9-AD9A-EFD962693A8A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90AC538-46DC-43A3-A25A-89E4EA74F5DA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FA94647-419F-462F-9DB9-12B88D4E27B1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4A049507-F5BA-483D-B24A-E1F435782063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62F58C0-07D1-4C6C-AC09-78960C357809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41B1E50-C490-418A-B475-33DC7EEED274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51040D1E-731C-455F-A30E-41AF0812D737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0DB66E2-79CF-4C90-BC89-9F65D2ED94B2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DFA3C8F-C749-4270-8189-1EA06209EB84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C6A31008-A8C7-43BD-87C0-60167C34C406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9C2AA7-1644-4C50-8750-5426BDDD3CAA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92E33A2-4C78-4DC6-B909-39BF2F639CC3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26512A2-5DEA-417A-B1D0-758C9C9C55D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AD6B35-BFA2-4273-B258-363E10A0AC0D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925880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0A0A4D3-22B2-4D87-8CAC-8EDF9D09BA9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1398BAD-C0F2-4410-947E-68F90919E43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AB2471-791B-41E6-A7B7-0467E846C9E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651A9E-60C8-4EDF-A7F0-0F7B853C0FB6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9354228-16CA-40EC-9B67-BE7857BC2E4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416D63-AF3A-4E74-B990-D6B89763312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51997F-5211-4796-ADE1-F6AD4DA4B5A5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338256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418B0F1-75B8-4496-8F77-6F40F82F69B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48969C3E-4C40-4F18-84FE-504DAAA6D92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82DCFD-01DB-4AD4-93AC-FBB7DFB2791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92CC53E-551D-4A27-8F1E-C0A742FA8D08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87755DC-304E-4322-982B-2001C746A33A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1E09BDE-6776-4A36-94BE-E7F5A185F314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原二期计划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32E71B3-06B5-4F68-950A-EB2B6D212975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A23CDDB-BD21-4FB8-875F-2B2EA3A860A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F0D840C-67A0-40D6-86BF-956A52C79970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客户要求推动权限、点检、参数、防错、SPC、设备数据和全工序控制继续加深。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916C2D-761F-4F5C-8C0F-99E3BA6665BB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同一个价值流节点上，可能同时存在已有能力、原二期计划和后续加强要求。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B961D0-A8B7-4F8B-97D6-6141137075A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7BFA66-7105-4405-A6C5-43017066D87C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CBC01E-FAC4-414D-9349-DA52F7672F4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6417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8E8E4B6-9227-482A-B2EF-6BB7D5B6D14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20EE12C-427E-41F0-A2F0-3441F6B6EC8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E9FC97-5119-413A-85C2-251B88073B9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6701EC2-8BD0-40EE-9360-B7E8DAB4142B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A1A72A6-CC43-476E-A064-503D15977C1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原二期计划的边界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5F5882A-7AF5-41D8-BBA1-E42842AF1A8B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1D6B79-2B13-40AB-B603-F5BB3675B8BF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319087C-2E7D-4EB1-84D2-AD37477D605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535634-08DD-4835-9EEB-32C87918278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C7C479A-EC8A-4E4D-B62E-6B4B2D4230B6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6CABAC-0557-49AD-B566-549694F192C0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1869E5-072E-4079-B222-05FB92ED0DBD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B9D7B-2CF9-42CF-AC2F-E88D0779DB38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8917489-10C0-4D1F-A8F8-BCC02E9A0256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74EFA8-85ED-42D2-A312-C97E8B8FEDAE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113D842-A272-4E99-B586-ECF9EDE42956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B61F48-016F-4D76-B34D-AC4B3A807E32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二期能否承接客户要求，取决于 Planning、过程动作和数据反馈是否打通。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DA2DC6-9DBB-4491-BF2F-8A795F1D8C7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46E7A7-73BD-461A-A05B-D6716261EC6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7A115A-4702-4CD3-AAED-A888E59E56E8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861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D3853A8-74D7-4B60-B111-024F70FD548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2EFD097-BA8F-4393-BAA5-2DA4DD9E8A3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384168-60C3-46B9-9AC3-22A950E49F56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 24H 计划基准、CT、Performance Rate 和真实执行反馈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9EA726E-1478-43D8-A397-E88C7BCE0C3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4F8DFD-D199-4EDE-88C3-3F936B71A5A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463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DF0E023-ADC8-45F3-A18D-F598E8D49C7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82D1A4D-2496-45B9-88CD-ADC5B4E7041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D396FB-B5BE-4FA1-ADE3-C45496913D4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4D566F4-D31D-40EE-AE1C-07F3DF829D25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78BCDE1-B099-4D0D-B084-A4CEACE56429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E097105-23C2-4EF2-AF62-03C9BF638AD2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8636783E-A2B5-43D5-84DB-3098D5035164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1F5C0B2-0E58-44A3-9633-AE8A4D51BA5F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86A3D2F-86DD-4766-B1F0-D0BFF11C44D7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46678DB-0779-4796-99FD-F004DD649B0D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151E91C-4EE7-4AF7-BE9B-CB7304992856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C41D473-CFD1-48DA-BEE5-5E8A3B940951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 PPT 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82EE0E-15FE-4E3E-844A-A8B460C245B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D0D3C1-6725-42EB-857D-63243EA7F40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0A12B6-B768-4F67-ADA3-A157BC57CC1F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418974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84F0171-4748-4FBA-97CF-835E722D69A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BBAAC57C-06D1-4901-8CA2-5B4EF1A2129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D87E42-07A5-4E3A-95DD-5374A9DA00B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D062184-A102-4F05-9EB4-1B22A17F6AE7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5F46DA3-0EA0-4714-9919-C53197079ABC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5683429-4546-44A8-8BA4-6D4933E4102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04C40F2-35C9-4D33-BDBB-6B8A2E3674E5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B07D5EB-B35A-4CF8-AAFF-E836669BE85A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D6A06B-0B89-41B6-9161-3B400D926347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B4D2E2-536F-4073-877A-3D73145531A4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76F8D3-A655-49DD-9875-6586540F2FD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6BC2E4-2D1E-4484-BFB8-FEEFD6ED752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E89310-AC23-4601-81AA-038B0B22E4DF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9403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012B512-8765-46AA-8565-B4AA4B1614A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6EEC3DA-BF76-40B8-B206-BB1B78168C9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A315F9-ACBB-4499-9314-B778F16E495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用过程证据回应主要客户对稳定性、追溯和闭环的要求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914DDBC-6226-4512-A340-16458370725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D49F24-5F51-4367-8B43-B0B27D34807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636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8D9D6B9-F31A-44A9-8A7A-F55B0DA8B95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F2061AD-E410-4C97-B0B8-E6BEF0FDA54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D5DC3F-84F4-44E6-A0D7-312A845CDEC4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FED5653-4D3E-4101-BA3A-F5EF8A45E9DA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B34B3FC-D296-4141-B798-AAF987BB8508}"/>
              </a:ext>
            </a:extLst>
          </p:cNvPr>
          <p:cNvSpPr>
            <a:spLocks noGrp="1"/>
          </p:cNvSpPr>
          <p:nvPr/>
        </p:nvSpPr>
        <p:spPr>
          <a:xfrm>
            <a:off x="2571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8421C70-C3E9-445A-A9BC-D0C2966551CE}"/>
              </a:ext>
            </a:extLst>
          </p:cNvPr>
          <p:cNvSpPr>
            <a:spLocks noGrp="1"/>
          </p:cNvSpPr>
          <p:nvPr/>
        </p:nvSpPr>
        <p:spPr>
          <a:xfrm>
            <a:off x="43815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1756673-749D-4DF6-BA26-7728CAB76A72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F8A56D6-5D95-4B44-A553-262917406217}"/>
              </a:ext>
            </a:extLst>
          </p:cNvPr>
          <p:cNvSpPr>
            <a:spLocks noGrp="1"/>
          </p:cNvSpPr>
          <p:nvPr/>
        </p:nvSpPr>
        <p:spPr>
          <a:xfrm>
            <a:off x="8001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5DB6075-13CB-4939-BD66-DE004B62B7C9}"/>
              </a:ext>
            </a:extLst>
          </p:cNvPr>
          <p:cNvSpPr>
            <a:spLocks noGrp="1"/>
          </p:cNvSpPr>
          <p:nvPr/>
        </p:nvSpPr>
        <p:spPr>
          <a:xfrm>
            <a:off x="9810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28" name="直线箭头连接符 27"/>
          <p:cNvCxnSpPr>
            <a:stCxn id="4" idx="3"/>
            <a:endCxn id="5" idx="1"/>
          </p:cNvCxnSpPr>
          <p:nvPr/>
        </p:nvCxnSpPr>
        <p:spPr>
          <a:xfrm>
            <a:off x="2095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直线箭头连接符 28"/>
          <p:cNvCxnSpPr>
            <a:stCxn id="5" idx="3"/>
            <a:endCxn id="6" idx="1"/>
          </p:cNvCxnSpPr>
          <p:nvPr/>
        </p:nvCxnSpPr>
        <p:spPr>
          <a:xfrm>
            <a:off x="39052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直线箭头连接符 29"/>
          <p:cNvCxnSpPr>
            <a:stCxn id="6" idx="3"/>
            <a:endCxn id="7" idx="1"/>
          </p:cNvCxnSpPr>
          <p:nvPr/>
        </p:nvCxnSpPr>
        <p:spPr>
          <a:xfrm>
            <a:off x="57150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直线箭头连接符 30"/>
          <p:cNvCxnSpPr>
            <a:stCxn id="7" idx="3"/>
            <a:endCxn id="8" idx="1"/>
          </p:cNvCxnSpPr>
          <p:nvPr/>
        </p:nvCxnSpPr>
        <p:spPr>
          <a:xfrm>
            <a:off x="75247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直线箭头连接符 31"/>
          <p:cNvCxnSpPr>
            <a:stCxn id="8" idx="3"/>
            <a:endCxn id="9" idx="1"/>
          </p:cNvCxnSpPr>
          <p:nvPr/>
        </p:nvCxnSpPr>
        <p:spPr>
          <a:xfrm>
            <a:off x="9334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123582D-F0AA-4E9C-89A8-D3330DBDACFC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没有计划基准，动态数据只能记录现场。有计划基准，数据才能判断偏差，并触发调整。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486DDF-3911-413A-9B8D-02335CDA9AC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817175-5A3D-45C2-AC1B-E15E878F4B3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C695E9-151C-4DDD-8697-CE2CD0F4BD89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772656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332F260-A36B-425F-8854-C67847083DC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6E33640-E3D8-404B-BD2C-C11B2A7267F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B43184-2A44-4DF3-ADFF-5763A17547A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B55FA42-C3E9-4D27-86D6-C01ABF569360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A53862E-083D-4A1D-BC78-C48B036B764A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C8D4461-BFBD-47A9-AD13-0226A017093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DF4AA3-FCB8-4845-88E7-C658A4142AA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3EEBF66-2829-430C-B885-61BD9C00ED90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4505B5-1D5C-4273-B982-951BF6267A77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B2B8782-C082-4FAE-AA10-EAF32DDB26F5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78B660-485C-4825-836D-1D1F1493BBCD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E57766D-3531-4788-A9E0-F3A45B3B4D00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A77DE7-C265-4581-8F27-45DB054906E5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2D28C08-F5E0-4FBD-B87A-FC2B923D3A61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58481D-8CB4-418D-BA58-7477E5117F21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FF65B48-97FD-4D48-BC73-6BD09FF00C6C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A91C62-AD17-4959-B10F-7E8D2F85EAB8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B22122-B959-4672-A205-BADB20D977F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960476-4518-49AF-8518-EF2AAE6AA75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28EBCF-7ED2-4699-BA13-25B5ABEFD34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540514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70945A0-7478-4DBC-87F6-16E966A3809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3539DBC5-61E1-4386-8B5A-6A9C426CEC8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E0AD3E-C992-40E8-AD1E-6D2A9529F8CA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D09A8CA-9A15-43BA-A111-D2079D6B9F36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9F8BC4F-675E-4C0E-8A26-A3B76D5627CB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A3D907E-7A04-49E2-A506-FD566FC6629D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BF340FD-34A7-44FA-84D5-0F6CECBDCF48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CCC3339-6F06-4CC0-A044-3E97DB0A486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2E1DA85-2693-4E4E-B56C-93CF859E301F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A6C48F7-F44C-4525-9B19-7B7F698430C2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19F92B3-F2A4-4EFD-9263-ACD0B0E7705A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369E11-9849-402A-9088-2E0A1B1C340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D7BF51-9D0E-4A5E-B50B-C70D381B85A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428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45F8BCB-AD20-43FE-B3C1-60784EDF458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272D64C-D50C-41EF-8D79-074AB109499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21550F-C38C-477D-8229-594E10CC531A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7E5421F-68AB-4CFB-923E-33DD191ACA84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设备边缘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820EC31-346D-4ADB-A214-F1B460E11FD6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在状态异常和质量指标偏离时，辅助判断停线、降速或参数切换。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372723-B7D0-40B5-B124-12A55C119171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计划重排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60E5E16-1521-4E3F-979E-210BAEA8BFB8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用更小颗粒度监控工序进度，并生成短周期 replan 建议。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53F0933-A297-45D7-BA49-77383F5A5C08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参数过滤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66085B0-DE6A-4035-954B-7B8499E9A84D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过滤非必要数据，保留对产品状态和工艺设定有效的参数。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069D88-AA52-413B-8191-6A627B3584E0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不应先于业务闭环出现。它应建立在计划基准、现场数据和调整手段之上。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070760-0022-4F3E-AB7B-B5B18FA60C5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F71CE3-7B55-488B-9C07-0FBCE5C0523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564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3330F69-7661-4A94-B448-371DD6EA8CE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3F31E87-404F-4908-BC91-D8CE1841939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33A4FC-EE63-454A-B86D-137B768E61D4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4634C3E-7526-4473-B24A-97E07D108158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EF75F45-EBEF-407D-B307-8849F3EE099A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 PPT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665B402-A98A-47CD-B140-F41C1EC410E0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DA4A007-DD04-43D6-9CA0-B7C458F60975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D3C3637-717A-438C-B7CB-43543E511C2F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2827A8B-82A8-4A9F-BB48-04BD70643F2C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551D186-1222-4921-9C23-B0602CD3E89D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5615411-D991-4D4E-BFDE-272C178C48C2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D433D5F-1672-4591-B910-572E7FEB0BBC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63072A-F8CA-4480-882E-555F231E174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63A0AE-2174-4523-A321-235F50E7D1E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7F6FE1-C0AC-42B0-9E69-EF8CF5264FB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503092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586</Words>
  <Application>Microsoft Macintosh PowerPoint</Application>
  <DocSecurity>0</DocSecurity>
  <PresentationFormat>宽屏</PresentationFormat>
  <Paragraphs>186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5</cp:revision>
  <dcterms:created xsi:type="dcterms:W3CDTF">2026-09-20T03:37:32Z</dcterms:created>
  <dcterms:modified xsi:type="dcterms:W3CDTF">2026-09-20T05:32:59Z</dcterms:modified>
</cp:coreProperties>
</file>