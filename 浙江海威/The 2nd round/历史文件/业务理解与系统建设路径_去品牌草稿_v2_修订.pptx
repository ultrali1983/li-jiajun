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700"/>
  </p:normalViewPr>
  <p:slideViewPr>
    <p:cSldViewPr snapToGrid="0">
      <p:cViewPr varScale="1">
        <p:scale>
          <a:sx n="167" d="100"/>
          <a:sy n="167" d="100"/>
        </p:scale>
        <p:origin x="2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封面已去除公司 logo 和名称，仅保留原模板的蓝绿底栏风格。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本页按新的三段式结构重排。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现场可打开工作台，展示功能项从系统模块重组为业务能力的过程。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现场打开价值流画板，展示 F 项如何落到过程节点。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本页用于从理解过渡到问题判断。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本页用于现场展开完整价值流，再引出全工序设备数据收集的目的。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本页对应 2.1。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本页对应 2.2。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本页对应 2.3。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本页引出当前系统架构对拉动式物流能力的弱化。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本页把业务弱项和系统弱项合并表达。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5A7BCB1A-21B1-481E-BE18-E71A06B11D13}"/>
              </a:ext>
            </a:extLst>
          </p:cNvPr>
          <p:cNvSpPr>
            <a:spLocks noGrp="1"/>
          </p:cNvSpPr>
          <p:nvPr/>
        </p:nvSpPr>
        <p:spPr>
          <a:xfrm>
            <a:off x="1524000" y="2362200"/>
            <a:ext cx="9144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ctr">
              <a:defRPr sz="27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7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信息系统建设理解与下一阶段路径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BE50712-0BE5-4A4F-A9AA-EF09874ACB9E}"/>
              </a:ext>
            </a:extLst>
          </p:cNvPr>
          <p:cNvSpPr>
            <a:spLocks noGrp="1"/>
          </p:cNvSpPr>
          <p:nvPr/>
        </p:nvSpPr>
        <p:spPr>
          <a:xfrm>
            <a:off x="2286000" y="3143250"/>
            <a:ext cx="7620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ctr">
              <a:defRPr sz="15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当前功能理解、二阶段数据闭环与最终智能架构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56D23BE-5DB3-49C6-A082-566AF7BFF525}"/>
              </a:ext>
            </a:extLst>
          </p:cNvPr>
          <p:cNvSpPr>
            <a:spLocks noGrp="1"/>
          </p:cNvSpPr>
          <p:nvPr/>
        </p:nvSpPr>
        <p:spPr>
          <a:xfrm>
            <a:off x="0" y="6210300"/>
            <a:ext cx="7429500" cy="2857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</a:ln>
        </p:spPr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D3C2EFFA-4DCF-4A3E-B412-B195E1D4133C}"/>
              </a:ext>
            </a:extLst>
          </p:cNvPr>
          <p:cNvSpPr>
            <a:spLocks noGrp="1"/>
          </p:cNvSpPr>
          <p:nvPr/>
        </p:nvSpPr>
        <p:spPr>
          <a:xfrm>
            <a:off x="7239000" y="6210300"/>
            <a:ext cx="1143000" cy="285750"/>
          </a:xfrm>
          <a:prstGeom prst="parallelogram">
            <a:avLst/>
          </a:prstGeom>
          <a:solidFill>
            <a:srgbClr val="23A8D8"/>
          </a:solidFill>
          <a:ln w="0">
            <a:solidFill>
              <a:srgbClr val="23A8D8"/>
            </a:solidFill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4AE6328-4FE2-40DC-B550-2EDD96492B27}"/>
              </a:ext>
            </a:extLst>
          </p:cNvPr>
          <p:cNvSpPr>
            <a:spLocks noGrp="1"/>
          </p:cNvSpPr>
          <p:nvPr/>
        </p:nvSpPr>
        <p:spPr>
          <a:xfrm>
            <a:off x="8172450" y="6210300"/>
            <a:ext cx="4019550" cy="2857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</a:ln>
        </p:spPr>
      </p:sp>
    </p:spTree>
    <p:extLst>
      <p:ext uri="{BB962C8B-B14F-4D97-AF65-F5344CB8AC3E}">
        <p14:creationId xmlns:p14="http://schemas.microsoft.com/office/powerpoint/2010/main" val="1300023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8F0885FB-E773-493C-9496-59AD7EA7ED0E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汇报结构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6D095B4A-F712-4151-B8D7-78EE7953C624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5D6EDCB-7BF0-4FFE-93D8-E7B5519CFB33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4CCB176C-CD57-49B6-B4C5-B1199A87F98B}"/>
              </a:ext>
            </a:extLst>
          </p:cNvPr>
          <p:cNvSpPr>
            <a:spLocks noGrp="1"/>
          </p:cNvSpPr>
          <p:nvPr/>
        </p:nvSpPr>
        <p:spPr>
          <a:xfrm>
            <a:off x="81915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当前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C4A8192F-1646-49AA-98F6-29B172318CD0}"/>
              </a:ext>
            </a:extLst>
          </p:cNvPr>
          <p:cNvSpPr>
            <a:spLocks noGrp="1"/>
          </p:cNvSpPr>
          <p:nvPr/>
        </p:nvSpPr>
        <p:spPr>
          <a:xfrm>
            <a:off x="81915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把已有和预期功能转译成真实业务能力，确认每项功能服务的过程位置。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747A66D9-BCEA-4AAA-B502-E32C06EB6945}"/>
              </a:ext>
            </a:extLst>
          </p:cNvPr>
          <p:cNvSpPr>
            <a:spLocks noGrp="1"/>
          </p:cNvSpPr>
          <p:nvPr/>
        </p:nvSpPr>
        <p:spPr>
          <a:xfrm>
            <a:off x="453390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阶段二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B8B190FF-2BA9-4867-AF31-26CCE811D6EC}"/>
              </a:ext>
            </a:extLst>
          </p:cNvPr>
          <p:cNvSpPr>
            <a:spLocks noGrp="1"/>
          </p:cNvSpPr>
          <p:nvPr/>
        </p:nvSpPr>
        <p:spPr>
          <a:xfrm>
            <a:off x="453390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围绕全工序设备数据收集，回答收集之后产生哪些可执行动作。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89A5C8B7-EF56-4100-8855-11DAF33E4C9D}"/>
              </a:ext>
            </a:extLst>
          </p:cNvPr>
          <p:cNvSpPr>
            <a:spLocks noGrp="1"/>
          </p:cNvSpPr>
          <p:nvPr/>
        </p:nvSpPr>
        <p:spPr>
          <a:xfrm>
            <a:off x="824865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最终阶段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6B738924-8207-42F6-8AFE-9A7EED225994}"/>
              </a:ext>
            </a:extLst>
          </p:cNvPr>
          <p:cNvSpPr>
            <a:spLocks noGrp="1"/>
          </p:cNvSpPr>
          <p:nvPr/>
        </p:nvSpPr>
        <p:spPr>
          <a:xfrm>
            <a:off x="824865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在计划能力和数字孪生基础上，引入 AI 做调整、过滤和重排。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D8CA10F-DB40-4C48-9B30-5B30CDA1C550}"/>
              </a:ext>
            </a:extLst>
          </p:cNvPr>
          <p:cNvSpPr>
            <a:spLocks noGrp="1"/>
          </p:cNvSpPr>
          <p:nvPr/>
        </p:nvSpPr>
        <p:spPr>
          <a:xfrm>
            <a:off x="1809750" y="4972050"/>
            <a:ext cx="857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ctr">
              <a:defRPr sz="16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6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先建立理解，再讨论路径，最后讨论长期软件架构。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475F1E4-7FCC-40E9-B61A-E8542C344341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297A2E4-ED6A-41D6-9749-331EEE062855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66586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0766E654-BD23-45CA-9BE6-05285A4ABD84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当前系统功能的业务理解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613ADD99-6620-4264-928C-3B6C2CBA0A3F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9BC94AC-B851-4018-ACEC-8D28B196FA02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B4E8E5C5-0708-4525-B438-1847572722D3}"/>
              </a:ext>
            </a:extLst>
          </p:cNvPr>
          <p:cNvSpPr>
            <a:spLocks noGrp="1"/>
          </p:cNvSpPr>
          <p:nvPr/>
        </p:nvSpPr>
        <p:spPr>
          <a:xfrm>
            <a:off x="1066800" y="1371600"/>
            <a:ext cx="2857500" cy="323850"/>
          </a:xfrm>
          <a:prstGeom prst="roundRect">
            <a:avLst>
              <a:gd name="adj" fmla="val 17647"/>
            </a:avLst>
          </a:prstGeom>
          <a:solidFill>
            <a:srgbClr val="E9F6FB"/>
          </a:solidFill>
          <a:ln w="14288">
            <a:noFill/>
            <a:prstDash val="solid"/>
          </a:ln>
        </p:spPr>
        <p:txBody>
          <a:bodyPr>
            <a:normAutofit/>
          </a:bodyPr>
          <a:lstStyle/>
          <a:p>
            <a:pPr algn="ctr">
              <a:def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原系统视角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EC463035-7036-4E61-8292-116997B0B0C8}"/>
              </a:ext>
            </a:extLst>
          </p:cNvPr>
          <p:cNvSpPr>
            <a:spLocks noGrp="1"/>
          </p:cNvSpPr>
          <p:nvPr/>
        </p:nvSpPr>
        <p:spPr>
          <a:xfrm>
            <a:off x="7524750" y="1371600"/>
            <a:ext cx="3143250" cy="323850"/>
          </a:xfrm>
          <a:prstGeom prst="roundRect">
            <a:avLst>
              <a:gd name="adj" fmla="val 17647"/>
            </a:avLst>
          </a:prstGeom>
          <a:solidFill>
            <a:srgbClr val="F0F8E8"/>
          </a:solidFill>
          <a:ln w="14288">
            <a:noFill/>
            <a:prstDash val="solid"/>
          </a:ln>
        </p:spPr>
        <p:txBody>
          <a:bodyPr>
            <a:normAutofit/>
          </a:bodyPr>
          <a:lstStyle/>
          <a:p>
            <a:pPr algn="ctr">
              <a:def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业务能力视角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CA81B0F8-C633-4DA3-A02E-41716DEB34F1}"/>
              </a:ext>
            </a:extLst>
          </p:cNvPr>
          <p:cNvSpPr>
            <a:spLocks noGrp="1"/>
          </p:cNvSpPr>
          <p:nvPr/>
        </p:nvSpPr>
        <p:spPr>
          <a:xfrm>
            <a:off x="1428750" y="1981200"/>
            <a:ext cx="2095500" cy="400050"/>
          </a:xfrm>
          <a:prstGeom prst="roundRect">
            <a:avLst>
              <a:gd name="adj" fmla="val 14286"/>
            </a:avLst>
          </a:prstGeom>
          <a:solidFill>
            <a:srgbClr val="23A8D8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WMS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A4F817FC-9498-4A80-BD5E-4AD7460085CF}"/>
              </a:ext>
            </a:extLst>
          </p:cNvPr>
          <p:cNvSpPr>
            <a:spLocks noGrp="1"/>
          </p:cNvSpPr>
          <p:nvPr/>
        </p:nvSpPr>
        <p:spPr>
          <a:xfrm>
            <a:off x="7524750" y="1981200"/>
            <a:ext cx="314325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实物／物料流管理</a:t>
            </a:r>
          </a:p>
        </p:txBody>
      </p:sp>
      <p:sp>
        <p:nvSpPr>
          <p:cNvPr id="8" name="直线连接符 7">
            <a:extLst>
              <a:ext uri="{FF2B5EF4-FFF2-40B4-BE49-F238E27FC236}">
                <a16:creationId xmlns:a16="http://schemas.microsoft.com/office/drawing/2014/main" id="{EB5136A8-9FDE-40A1-BD7E-33FE9D72E709}"/>
              </a:ext>
            </a:extLst>
          </p:cNvPr>
          <p:cNvSpPr>
            <a:spLocks noGrp="1"/>
          </p:cNvSpPr>
          <p:nvPr/>
        </p:nvSpPr>
        <p:spPr>
          <a:xfrm>
            <a:off x="3714750" y="2181225"/>
            <a:ext cx="3619500" cy="0"/>
          </a:xfrm>
          <a:prstGeom prst="line">
            <a:avLst/>
          </a:prstGeom>
          <a:noFill/>
          <a:ln w="13335">
            <a:solidFill>
              <a:srgbClr val="8DA5AE"/>
            </a:solidFill>
            <a:prstDash val="solid"/>
          </a:ln>
        </p:spPr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1E562732-956E-4720-956A-2FD53675D110}"/>
              </a:ext>
            </a:extLst>
          </p:cNvPr>
          <p:cNvSpPr>
            <a:spLocks noGrp="1"/>
          </p:cNvSpPr>
          <p:nvPr/>
        </p:nvSpPr>
        <p:spPr>
          <a:xfrm>
            <a:off x="1428750" y="2667000"/>
            <a:ext cx="2095500" cy="400050"/>
          </a:xfrm>
          <a:prstGeom prst="roundRect">
            <a:avLst>
              <a:gd name="adj" fmla="val 14286"/>
            </a:avLst>
          </a:prstGeom>
          <a:solidFill>
            <a:srgbClr val="23A8D8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MES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C85ADC23-D743-458E-90E8-313415EA2EA6}"/>
              </a:ext>
            </a:extLst>
          </p:cNvPr>
          <p:cNvSpPr>
            <a:spLocks noGrp="1"/>
          </p:cNvSpPr>
          <p:nvPr/>
        </p:nvSpPr>
        <p:spPr>
          <a:xfrm>
            <a:off x="7524750" y="2667000"/>
            <a:ext cx="314325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生产计划管理</a:t>
            </a:r>
          </a:p>
        </p:txBody>
      </p:sp>
      <p:sp>
        <p:nvSpPr>
          <p:cNvPr id="11" name="直线连接符 10">
            <a:extLst>
              <a:ext uri="{FF2B5EF4-FFF2-40B4-BE49-F238E27FC236}">
                <a16:creationId xmlns:a16="http://schemas.microsoft.com/office/drawing/2014/main" id="{0BA5FE33-C526-4064-8C45-1ED1A3B3042C}"/>
              </a:ext>
            </a:extLst>
          </p:cNvPr>
          <p:cNvSpPr>
            <a:spLocks noGrp="1"/>
          </p:cNvSpPr>
          <p:nvPr/>
        </p:nvSpPr>
        <p:spPr>
          <a:xfrm>
            <a:off x="3714750" y="2867025"/>
            <a:ext cx="3619500" cy="0"/>
          </a:xfrm>
          <a:prstGeom prst="line">
            <a:avLst/>
          </a:prstGeom>
          <a:noFill/>
          <a:ln w="13335">
            <a:solidFill>
              <a:srgbClr val="8DA5AE"/>
            </a:solidFill>
            <a:prstDash val="solid"/>
          </a:ln>
        </p:spPr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A8C5E137-FAF2-457E-98C2-087FC8C122E4}"/>
              </a:ext>
            </a:extLst>
          </p:cNvPr>
          <p:cNvSpPr>
            <a:spLocks noGrp="1"/>
          </p:cNvSpPr>
          <p:nvPr/>
        </p:nvSpPr>
        <p:spPr>
          <a:xfrm>
            <a:off x="1428750" y="3352800"/>
            <a:ext cx="2095500" cy="400050"/>
          </a:xfrm>
          <a:prstGeom prst="roundRect">
            <a:avLst>
              <a:gd name="adj" fmla="val 14286"/>
            </a:avLst>
          </a:prstGeom>
          <a:solidFill>
            <a:srgbClr val="23A8D8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MES / TPM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98701542-E350-4EB9-AD94-1F3C1C6003CF}"/>
              </a:ext>
            </a:extLst>
          </p:cNvPr>
          <p:cNvSpPr>
            <a:spLocks noGrp="1"/>
          </p:cNvSpPr>
          <p:nvPr/>
        </p:nvSpPr>
        <p:spPr>
          <a:xfrm>
            <a:off x="7524750" y="3352800"/>
            <a:ext cx="314325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生产过程与工艺管理</a:t>
            </a:r>
          </a:p>
        </p:txBody>
      </p:sp>
      <p:sp>
        <p:nvSpPr>
          <p:cNvPr id="14" name="直线连接符 13">
            <a:extLst>
              <a:ext uri="{FF2B5EF4-FFF2-40B4-BE49-F238E27FC236}">
                <a16:creationId xmlns:a16="http://schemas.microsoft.com/office/drawing/2014/main" id="{401F8CFE-EEEF-478C-94E3-E91525A02B94}"/>
              </a:ext>
            </a:extLst>
          </p:cNvPr>
          <p:cNvSpPr>
            <a:spLocks noGrp="1"/>
          </p:cNvSpPr>
          <p:nvPr/>
        </p:nvSpPr>
        <p:spPr>
          <a:xfrm>
            <a:off x="3714750" y="3552825"/>
            <a:ext cx="3619500" cy="0"/>
          </a:xfrm>
          <a:prstGeom prst="line">
            <a:avLst/>
          </a:prstGeom>
          <a:noFill/>
          <a:ln w="13335">
            <a:solidFill>
              <a:srgbClr val="8DA5AE"/>
            </a:solidFill>
            <a:prstDash val="solid"/>
          </a:ln>
        </p:spPr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5B0168BE-0567-4316-9312-FE04B8C8D691}"/>
              </a:ext>
            </a:extLst>
          </p:cNvPr>
          <p:cNvSpPr>
            <a:spLocks noGrp="1"/>
          </p:cNvSpPr>
          <p:nvPr/>
        </p:nvSpPr>
        <p:spPr>
          <a:xfrm>
            <a:off x="1428750" y="4038600"/>
            <a:ext cx="2095500" cy="400050"/>
          </a:xfrm>
          <a:prstGeom prst="roundRect">
            <a:avLst>
              <a:gd name="adj" fmla="val 14286"/>
            </a:avLst>
          </a:prstGeom>
          <a:solidFill>
            <a:srgbClr val="23A8D8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QMS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8F1703DE-A44E-473B-9B8A-29915146DA39}"/>
              </a:ext>
            </a:extLst>
          </p:cNvPr>
          <p:cNvSpPr>
            <a:spLocks noGrp="1"/>
          </p:cNvSpPr>
          <p:nvPr/>
        </p:nvSpPr>
        <p:spPr>
          <a:xfrm>
            <a:off x="7524750" y="4038600"/>
            <a:ext cx="314325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QM 相关界面输出</a:t>
            </a:r>
          </a:p>
        </p:txBody>
      </p:sp>
      <p:sp>
        <p:nvSpPr>
          <p:cNvPr id="17" name="直线连接符 16">
            <a:extLst>
              <a:ext uri="{FF2B5EF4-FFF2-40B4-BE49-F238E27FC236}">
                <a16:creationId xmlns:a16="http://schemas.microsoft.com/office/drawing/2014/main" id="{0E7D27CD-B3B0-4C70-9FCA-169DDFD33A15}"/>
              </a:ext>
            </a:extLst>
          </p:cNvPr>
          <p:cNvSpPr>
            <a:spLocks noGrp="1"/>
          </p:cNvSpPr>
          <p:nvPr/>
        </p:nvSpPr>
        <p:spPr>
          <a:xfrm>
            <a:off x="3714750" y="4238625"/>
            <a:ext cx="3619500" cy="0"/>
          </a:xfrm>
          <a:prstGeom prst="line">
            <a:avLst/>
          </a:prstGeom>
          <a:noFill/>
          <a:ln w="13335">
            <a:solidFill>
              <a:srgbClr val="8DA5AE"/>
            </a:solidFill>
            <a:prstDash val="solid"/>
          </a:ln>
        </p:spPr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3B2856B3-D263-4F2C-A95F-42D48565618F}"/>
              </a:ext>
            </a:extLst>
          </p:cNvPr>
          <p:cNvSpPr>
            <a:spLocks noGrp="1"/>
          </p:cNvSpPr>
          <p:nvPr/>
        </p:nvSpPr>
        <p:spPr>
          <a:xfrm>
            <a:off x="1428750" y="4724400"/>
            <a:ext cx="2095500" cy="400050"/>
          </a:xfrm>
          <a:prstGeom prst="roundRect">
            <a:avLst>
              <a:gd name="adj" fmla="val 14286"/>
            </a:avLst>
          </a:prstGeom>
          <a:solidFill>
            <a:srgbClr val="23A8D8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IoT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960AB8C3-6766-44F7-ACEC-D870B7FA0555}"/>
              </a:ext>
            </a:extLst>
          </p:cNvPr>
          <p:cNvSpPr>
            <a:spLocks noGrp="1"/>
          </p:cNvSpPr>
          <p:nvPr/>
        </p:nvSpPr>
        <p:spPr>
          <a:xfrm>
            <a:off x="7524750" y="4724400"/>
            <a:ext cx="314325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设备数据采集</a:t>
            </a:r>
          </a:p>
        </p:txBody>
      </p:sp>
      <p:sp>
        <p:nvSpPr>
          <p:cNvPr id="20" name="直线连接符 19">
            <a:extLst>
              <a:ext uri="{FF2B5EF4-FFF2-40B4-BE49-F238E27FC236}">
                <a16:creationId xmlns:a16="http://schemas.microsoft.com/office/drawing/2014/main" id="{36B06E0A-0B83-4587-8B34-2139C1BE0246}"/>
              </a:ext>
            </a:extLst>
          </p:cNvPr>
          <p:cNvSpPr>
            <a:spLocks noGrp="1"/>
          </p:cNvSpPr>
          <p:nvPr/>
        </p:nvSpPr>
        <p:spPr>
          <a:xfrm>
            <a:off x="3714750" y="4924425"/>
            <a:ext cx="3619500" cy="0"/>
          </a:xfrm>
          <a:prstGeom prst="line">
            <a:avLst/>
          </a:prstGeom>
          <a:noFill/>
          <a:ln w="13335">
            <a:solidFill>
              <a:srgbClr val="8DA5AE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8FFFACF-2354-4E86-8375-9596BA110BB7}"/>
              </a:ext>
            </a:extLst>
          </p:cNvPr>
          <p:cNvSpPr>
            <a:spLocks noGrp="1"/>
          </p:cNvSpPr>
          <p:nvPr/>
        </p:nvSpPr>
        <p:spPr>
          <a:xfrm>
            <a:off x="2190750" y="5657850"/>
            <a:ext cx="781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6825"/>
          </a:bodyPr>
          <a:lstStyle/>
          <a:p>
            <a:pPr algn="ctr">
              <a:defRPr sz="1575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575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这一步把系统清单转成经营和现场能讨论的业务语言。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7612F94-80AF-4CEC-9909-B24BECADBAFD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3BFACCA-9DBA-43E4-9705-E313C6A03A46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DC7E709-5243-4DBF-93E5-9581B269F04C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714"/>
          </a:bodyPr>
          <a:lstStyle/>
          <a:p>
            <a:pPr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现场穿插：业务过程与功能重组工作台</a:t>
            </a:r>
          </a:p>
        </p:txBody>
      </p:sp>
    </p:spTree>
    <p:extLst>
      <p:ext uri="{BB962C8B-B14F-4D97-AF65-F5344CB8AC3E}">
        <p14:creationId xmlns:p14="http://schemas.microsoft.com/office/powerpoint/2010/main" val="12073267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EF022697-F15E-4CB6-B68B-ADB84D976FDB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功能落位到价值流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459EA8E5-1CE6-43F7-A2E2-C5DADF3384BB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2BD4C72-3945-41C8-9ED1-2EBFC6DCCF48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424B64E-C8CE-4EA5-A7F1-6703061C1B33}"/>
              </a:ext>
            </a:extLst>
          </p:cNvPr>
          <p:cNvSpPr>
            <a:spLocks noGrp="1"/>
          </p:cNvSpPr>
          <p:nvPr/>
        </p:nvSpPr>
        <p:spPr>
          <a:xfrm>
            <a:off x="1600200" y="5095875"/>
            <a:ext cx="8991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ctr">
              <a:defRPr sz="16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650" b="0" dirty="0" err="1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每个功能项都要落到过程节点，才能判断它服务的动作和管理意义</a:t>
            </a:r>
            <a:r>
              <a:rPr sz="1650" b="0" dirty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FF3E0E2-0DF5-43B0-BB02-8DBC76AD4411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8C46CB7-5C61-40E6-B516-99AD8FA137E4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683FB97-6461-4541-A1A4-91545633E10C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714"/>
          </a:bodyPr>
          <a:lstStyle/>
          <a:p>
            <a:pPr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现场穿插：价值流画板</a:t>
            </a: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BADB7513-B62F-C089-EA5B-BB565FEF9C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0" t="35536" r="2084" b="28623"/>
          <a:stretch>
            <a:fillRect/>
          </a:stretch>
        </p:blipFill>
        <p:spPr>
          <a:xfrm>
            <a:off x="552450" y="1253692"/>
            <a:ext cx="11191635" cy="2975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230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E19507A6-70F1-4E3E-85CD-F84BF12428C5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当前能力判断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EB9EE955-DE3D-4218-B931-949E64A663B4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31D6B56-DFBB-4F01-8EA1-DE8EEE132B63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5700D8EE-354F-4844-822D-B3F0AA6D5000}"/>
              </a:ext>
            </a:extLst>
          </p:cNvPr>
          <p:cNvSpPr>
            <a:spLocks noGrp="1"/>
          </p:cNvSpPr>
          <p:nvPr/>
        </p:nvSpPr>
        <p:spPr>
          <a:xfrm>
            <a:off x="876300" y="1390650"/>
            <a:ext cx="4619625" cy="457200"/>
          </a:xfrm>
          <a:prstGeom prst="roundRect">
            <a:avLst>
              <a:gd name="adj" fmla="val 12500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已有能力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09EC6ECC-0733-44BA-9BCA-4C3F5FB1323C}"/>
              </a:ext>
            </a:extLst>
          </p:cNvPr>
          <p:cNvSpPr>
            <a:spLocks noGrp="1"/>
          </p:cNvSpPr>
          <p:nvPr/>
        </p:nvSpPr>
        <p:spPr>
          <a:xfrm>
            <a:off x="6705600" y="1390650"/>
            <a:ext cx="4619625" cy="457200"/>
          </a:xfrm>
          <a:prstGeom prst="roundRect">
            <a:avLst>
              <a:gd name="adj" fmla="val 12500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主要缺口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036D9637-7EA8-4E6F-989E-72C555DAB00C}"/>
              </a:ext>
            </a:extLst>
          </p:cNvPr>
          <p:cNvSpPr>
            <a:spLocks noGrp="1"/>
          </p:cNvSpPr>
          <p:nvPr/>
        </p:nvSpPr>
        <p:spPr>
          <a:xfrm>
            <a:off x="1047750" y="22479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3DAC9D0-D4E7-4FC3-A75C-2442750E3060}"/>
              </a:ext>
            </a:extLst>
          </p:cNvPr>
          <p:cNvSpPr>
            <a:spLocks noGrp="1"/>
          </p:cNvSpPr>
          <p:nvPr/>
        </p:nvSpPr>
        <p:spPr>
          <a:xfrm>
            <a:off x="1276350" y="21717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仓储、库存、出入库、FIFO 等功能具备基础框架。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89C6BA0E-2797-4D44-AF64-232473272373}"/>
              </a:ext>
            </a:extLst>
          </p:cNvPr>
          <p:cNvSpPr>
            <a:spLocks noGrp="1"/>
          </p:cNvSpPr>
          <p:nvPr/>
        </p:nvSpPr>
        <p:spPr>
          <a:xfrm>
            <a:off x="1047750" y="2895600"/>
            <a:ext cx="95250" cy="95250"/>
          </a:xfrm>
          <a:prstGeom prst="ellipse">
            <a:avLst/>
          </a:prstGeom>
          <a:solidFill>
            <a:srgbClr val="76BC21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FCEB19C-053D-4EA0-BAF4-686F5C8AB546}"/>
              </a:ext>
            </a:extLst>
          </p:cNvPr>
          <p:cNvSpPr>
            <a:spLocks noGrp="1"/>
          </p:cNvSpPr>
          <p:nvPr/>
        </p:nvSpPr>
        <p:spPr>
          <a:xfrm>
            <a:off x="1276350" y="28194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生产执行、报工、防错和追溯已有功能入口。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8A0EFAFE-073C-4E4D-9819-513358178DED}"/>
              </a:ext>
            </a:extLst>
          </p:cNvPr>
          <p:cNvSpPr>
            <a:spLocks noGrp="1"/>
          </p:cNvSpPr>
          <p:nvPr/>
        </p:nvSpPr>
        <p:spPr>
          <a:xfrm>
            <a:off x="1047750" y="35433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0D1E4E3-8604-447B-924D-4F660A62CDE3}"/>
              </a:ext>
            </a:extLst>
          </p:cNvPr>
          <p:cNvSpPr>
            <a:spLocks noGrp="1"/>
          </p:cNvSpPr>
          <p:nvPr/>
        </p:nvSpPr>
        <p:spPr>
          <a:xfrm>
            <a:off x="1276350" y="34671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检验、质量标准、不合格品处理已有明确功能项。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764F2758-7DB4-4004-A2FC-3A74EB328DFE}"/>
              </a:ext>
            </a:extLst>
          </p:cNvPr>
          <p:cNvSpPr>
            <a:spLocks noGrp="1"/>
          </p:cNvSpPr>
          <p:nvPr/>
        </p:nvSpPr>
        <p:spPr>
          <a:xfrm>
            <a:off x="6877050" y="22479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A07D4EE-D197-4132-BA1D-AF73623C68D5}"/>
              </a:ext>
            </a:extLst>
          </p:cNvPr>
          <p:cNvSpPr>
            <a:spLocks noGrp="1"/>
          </p:cNvSpPr>
          <p:nvPr/>
        </p:nvSpPr>
        <p:spPr>
          <a:xfrm>
            <a:off x="7105650" y="21717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功能仍偏记录和局部管控。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7479A574-B0E0-4B53-87D0-2C1AA4682930}"/>
              </a:ext>
            </a:extLst>
          </p:cNvPr>
          <p:cNvSpPr>
            <a:spLocks noGrp="1"/>
          </p:cNvSpPr>
          <p:nvPr/>
        </p:nvSpPr>
        <p:spPr>
          <a:xfrm>
            <a:off x="6877050" y="2895600"/>
            <a:ext cx="95250" cy="95250"/>
          </a:xfrm>
          <a:prstGeom prst="ellipse">
            <a:avLst/>
          </a:prstGeom>
          <a:solidFill>
            <a:srgbClr val="76BC21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BD6F770-E96C-4902-9345-85A075C3FB77}"/>
              </a:ext>
            </a:extLst>
          </p:cNvPr>
          <p:cNvSpPr>
            <a:spLocks noGrp="1"/>
          </p:cNvSpPr>
          <p:nvPr/>
        </p:nvSpPr>
        <p:spPr>
          <a:xfrm>
            <a:off x="7105650" y="28194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生产计划能力弱，信息流缺少统一牵引。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FB9A5EB6-2AF2-47FF-B559-5E806E31CCBB}"/>
              </a:ext>
            </a:extLst>
          </p:cNvPr>
          <p:cNvSpPr>
            <a:spLocks noGrp="1"/>
          </p:cNvSpPr>
          <p:nvPr/>
        </p:nvSpPr>
        <p:spPr>
          <a:xfrm>
            <a:off x="6877050" y="35433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D356566-B8D5-49CC-A657-28A080F540CA}"/>
              </a:ext>
            </a:extLst>
          </p:cNvPr>
          <p:cNvSpPr>
            <a:spLocks noGrp="1"/>
          </p:cNvSpPr>
          <p:nvPr/>
        </p:nvSpPr>
        <p:spPr>
          <a:xfrm>
            <a:off x="7105650" y="34671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既有零件跨工序移动缺少拉动式机制。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7F1EA90-FC34-41CA-8DA0-1E9713B22896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B0AE1A8-524A-4CE7-8914-13928DC6CBD2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5952662-23A1-4559-A423-F170C8E0C8C5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714"/>
          </a:bodyPr>
          <a:lstStyle/>
          <a:p>
            <a:pPr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现场穿插：业务过程与功能重组工作台</a:t>
            </a:r>
          </a:p>
        </p:txBody>
      </p:sp>
    </p:spTree>
    <p:extLst>
      <p:ext uri="{BB962C8B-B14F-4D97-AF65-F5344CB8AC3E}">
        <p14:creationId xmlns:p14="http://schemas.microsoft.com/office/powerpoint/2010/main" val="4760548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0D0788D8-D202-43AB-92A7-6F52AF63127B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阶段二的核心问题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727CA431-FD4F-4591-85B0-18EB8AC770ED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2FE2631-4159-4D21-BA05-1B1218DDC55D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75BC759C-C363-4110-BB6B-6237F41B33A6}"/>
              </a:ext>
            </a:extLst>
          </p:cNvPr>
          <p:cNvSpPr>
            <a:spLocks noGrp="1"/>
          </p:cNvSpPr>
          <p:nvPr/>
        </p:nvSpPr>
        <p:spPr>
          <a:xfrm>
            <a:off x="5095875" y="2628900"/>
            <a:ext cx="2000250" cy="838200"/>
          </a:xfrm>
          <a:prstGeom prst="roundRect">
            <a:avLst>
              <a:gd name="adj" fmla="val 6818"/>
            </a:avLst>
          </a:prstGeom>
          <a:solidFill>
            <a:srgbClr val="76BC21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全工序数据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3627AF83-DB39-4D42-9705-D259B4E96776}"/>
              </a:ext>
            </a:extLst>
          </p:cNvPr>
          <p:cNvSpPr>
            <a:spLocks noGrp="1"/>
          </p:cNvSpPr>
          <p:nvPr/>
        </p:nvSpPr>
        <p:spPr>
          <a:xfrm>
            <a:off x="1257300" y="1524000"/>
            <a:ext cx="152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设备状态</a:t>
            </a:r>
          </a:p>
        </p:txBody>
      </p:sp>
      <p:cxnSp>
        <p:nvCxnSpPr>
          <p:cNvPr id="28" name="直线箭头连接符 27"/>
          <p:cNvCxnSpPr>
            <a:stCxn id="4" idx="1"/>
            <a:endCxn id="5" idx="3"/>
          </p:cNvCxnSpPr>
          <p:nvPr/>
        </p:nvCxnSpPr>
        <p:spPr>
          <a:xfrm flipH="1" flipV="1">
            <a:off x="2781300" y="1752600"/>
            <a:ext cx="2314575" cy="1295400"/>
          </a:xfrm>
          <a:prstGeom prst="straightConnector1">
            <a:avLst/>
          </a:prstGeom>
          <a:ln w="10478">
            <a:solidFill>
              <a:srgbClr val="94A9B0"/>
            </a:solidFill>
            <a:prstDash val="solid"/>
          </a:ln>
        </p:spPr>
      </p:cxnSp>
      <p:sp>
        <p:nvSpPr>
          <p:cNvPr id="7" name="圆角矩形 6">
            <a:extLst>
              <a:ext uri="{FF2B5EF4-FFF2-40B4-BE49-F238E27FC236}">
                <a16:creationId xmlns:a16="http://schemas.microsoft.com/office/drawing/2014/main" id="{FF1B243D-E3D4-4301-9A9D-5EBEF5CB9835}"/>
              </a:ext>
            </a:extLst>
          </p:cNvPr>
          <p:cNvSpPr>
            <a:spLocks noGrp="1"/>
          </p:cNvSpPr>
          <p:nvPr/>
        </p:nvSpPr>
        <p:spPr>
          <a:xfrm>
            <a:off x="4000500" y="1352550"/>
            <a:ext cx="152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质量指标</a:t>
            </a:r>
          </a:p>
        </p:txBody>
      </p:sp>
      <p:cxnSp>
        <p:nvCxnSpPr>
          <p:cNvPr id="30" name="直线箭头连接符 29"/>
          <p:cNvCxnSpPr>
            <a:stCxn id="4" idx="0"/>
            <a:endCxn id="7" idx="3"/>
          </p:cNvCxnSpPr>
          <p:nvPr/>
        </p:nvCxnSpPr>
        <p:spPr>
          <a:xfrm flipH="1" flipV="1">
            <a:off x="5524500" y="1581150"/>
            <a:ext cx="571500" cy="1047750"/>
          </a:xfrm>
          <a:prstGeom prst="straightConnector1">
            <a:avLst/>
          </a:prstGeom>
          <a:ln w="10478">
            <a:solidFill>
              <a:srgbClr val="94A9B0"/>
            </a:solidFill>
            <a:prstDash val="solid"/>
          </a:ln>
        </p:spPr>
      </p:cxnSp>
      <p:sp>
        <p:nvSpPr>
          <p:cNvPr id="9" name="圆角矩形 8">
            <a:extLst>
              <a:ext uri="{FF2B5EF4-FFF2-40B4-BE49-F238E27FC236}">
                <a16:creationId xmlns:a16="http://schemas.microsoft.com/office/drawing/2014/main" id="{6F9941DA-1811-4B89-A97B-2924D32590AE}"/>
              </a:ext>
            </a:extLst>
          </p:cNvPr>
          <p:cNvSpPr>
            <a:spLocks noGrp="1"/>
          </p:cNvSpPr>
          <p:nvPr/>
        </p:nvSpPr>
        <p:spPr>
          <a:xfrm>
            <a:off x="7143750" y="1352550"/>
            <a:ext cx="152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技术参数</a:t>
            </a:r>
          </a:p>
        </p:txBody>
      </p:sp>
      <p:cxnSp>
        <p:nvCxnSpPr>
          <p:cNvPr id="32" name="直线箭头连接符 31"/>
          <p:cNvCxnSpPr>
            <a:stCxn id="4" idx="3"/>
            <a:endCxn id="9" idx="1"/>
          </p:cNvCxnSpPr>
          <p:nvPr/>
        </p:nvCxnSpPr>
        <p:spPr>
          <a:xfrm flipV="1">
            <a:off x="7096125" y="1581150"/>
            <a:ext cx="47625" cy="1466850"/>
          </a:xfrm>
          <a:prstGeom prst="straightConnector1">
            <a:avLst/>
          </a:prstGeom>
          <a:ln w="10478">
            <a:solidFill>
              <a:srgbClr val="94A9B0"/>
            </a:solidFill>
            <a:prstDash val="solid"/>
          </a:ln>
        </p:spPr>
      </p:cxn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33B85A41-00B1-4584-8FD2-6CD64CC02DB0}"/>
              </a:ext>
            </a:extLst>
          </p:cNvPr>
          <p:cNvSpPr>
            <a:spLocks noGrp="1"/>
          </p:cNvSpPr>
          <p:nvPr/>
        </p:nvSpPr>
        <p:spPr>
          <a:xfrm>
            <a:off x="9620250" y="1524000"/>
            <a:ext cx="152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产品状态</a:t>
            </a:r>
          </a:p>
        </p:txBody>
      </p:sp>
      <p:cxnSp>
        <p:nvCxnSpPr>
          <p:cNvPr id="34" name="直线箭头连接符 33"/>
          <p:cNvCxnSpPr>
            <a:stCxn id="4" idx="3"/>
            <a:endCxn id="11" idx="1"/>
          </p:cNvCxnSpPr>
          <p:nvPr/>
        </p:nvCxnSpPr>
        <p:spPr>
          <a:xfrm flipV="1">
            <a:off x="7096125" y="1752600"/>
            <a:ext cx="2524125" cy="1295400"/>
          </a:xfrm>
          <a:prstGeom prst="straightConnector1">
            <a:avLst/>
          </a:prstGeom>
          <a:ln w="10478">
            <a:solidFill>
              <a:srgbClr val="94A9B0"/>
            </a:solidFill>
            <a:prstDash val="solid"/>
          </a:ln>
        </p:spPr>
      </p:cxn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02E39F51-FB02-4286-8F3E-D8F4D09A974D}"/>
              </a:ext>
            </a:extLst>
          </p:cNvPr>
          <p:cNvSpPr>
            <a:spLocks noGrp="1"/>
          </p:cNvSpPr>
          <p:nvPr/>
        </p:nvSpPr>
        <p:spPr>
          <a:xfrm>
            <a:off x="1733550" y="4286250"/>
            <a:ext cx="152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生产进度</a:t>
            </a:r>
          </a:p>
        </p:txBody>
      </p:sp>
      <p:cxnSp>
        <p:nvCxnSpPr>
          <p:cNvPr id="36" name="直线箭头连接符 35"/>
          <p:cNvCxnSpPr>
            <a:stCxn id="4" idx="1"/>
            <a:endCxn id="13" idx="3"/>
          </p:cNvCxnSpPr>
          <p:nvPr/>
        </p:nvCxnSpPr>
        <p:spPr>
          <a:xfrm flipH="1">
            <a:off x="3257550" y="3048000"/>
            <a:ext cx="1838325" cy="1466850"/>
          </a:xfrm>
          <a:prstGeom prst="straightConnector1">
            <a:avLst/>
          </a:prstGeom>
          <a:ln w="10478">
            <a:solidFill>
              <a:srgbClr val="94A9B0"/>
            </a:solidFill>
            <a:prstDash val="solid"/>
          </a:ln>
        </p:spPr>
      </p:cxn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7683DFC6-A5F0-4BCA-AEA1-B3F6D4DAB837}"/>
              </a:ext>
            </a:extLst>
          </p:cNvPr>
          <p:cNvSpPr>
            <a:spLocks noGrp="1"/>
          </p:cNvSpPr>
          <p:nvPr/>
        </p:nvSpPr>
        <p:spPr>
          <a:xfrm>
            <a:off x="5257800" y="4762500"/>
            <a:ext cx="152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节拍 CT</a:t>
            </a:r>
          </a:p>
        </p:txBody>
      </p:sp>
      <p:cxnSp>
        <p:nvCxnSpPr>
          <p:cNvPr id="38" name="直线箭头连接符 37"/>
          <p:cNvCxnSpPr>
            <a:stCxn id="4" idx="2"/>
            <a:endCxn id="15" idx="0"/>
          </p:cNvCxnSpPr>
          <p:nvPr/>
        </p:nvCxnSpPr>
        <p:spPr>
          <a:xfrm flipH="1">
            <a:off x="6019800" y="3467100"/>
            <a:ext cx="76200" cy="1295400"/>
          </a:xfrm>
          <a:prstGeom prst="straightConnector1">
            <a:avLst/>
          </a:prstGeom>
          <a:ln w="10478">
            <a:solidFill>
              <a:srgbClr val="94A9B0"/>
            </a:solidFill>
            <a:prstDash val="solid"/>
          </a:ln>
        </p:spPr>
      </p:cxn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E04CD9A4-E0BD-4ABA-98CF-4ED136F72D47}"/>
              </a:ext>
            </a:extLst>
          </p:cNvPr>
          <p:cNvSpPr>
            <a:spLocks noGrp="1"/>
          </p:cNvSpPr>
          <p:nvPr/>
        </p:nvSpPr>
        <p:spPr>
          <a:xfrm>
            <a:off x="8620125" y="4286250"/>
            <a:ext cx="152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Performance Rate</a:t>
            </a:r>
          </a:p>
        </p:txBody>
      </p:sp>
      <p:cxnSp>
        <p:nvCxnSpPr>
          <p:cNvPr id="40" name="直线箭头连接符 39"/>
          <p:cNvCxnSpPr>
            <a:stCxn id="4" idx="3"/>
            <a:endCxn id="17" idx="1"/>
          </p:cNvCxnSpPr>
          <p:nvPr/>
        </p:nvCxnSpPr>
        <p:spPr>
          <a:xfrm>
            <a:off x="7096125" y="3048000"/>
            <a:ext cx="1524000" cy="1466850"/>
          </a:xfrm>
          <a:prstGeom prst="straightConnector1">
            <a:avLst/>
          </a:prstGeom>
          <a:ln w="10478">
            <a:solidFill>
              <a:srgbClr val="94A9B0"/>
            </a:solidFill>
            <a:prstDash val="solid"/>
          </a:ln>
        </p:spPr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876B58CC-0A02-4A91-A6A4-F66731E8895A}"/>
              </a:ext>
            </a:extLst>
          </p:cNvPr>
          <p:cNvSpPr>
            <a:spLocks noGrp="1"/>
          </p:cNvSpPr>
          <p:nvPr/>
        </p:nvSpPr>
        <p:spPr>
          <a:xfrm>
            <a:off x="1428750" y="5772150"/>
            <a:ext cx="933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ctr">
              <a:defRPr sz="15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二阶段已经向数字孪生靠拢，关键问题不是采集多少数据，而是采集后触发什么动作。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9100BE9-B379-4DF9-8544-15C7A5EDE8E3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86D1A8C-5A23-4F63-BEED-81AE15823DB7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9530002-0776-413F-A0E1-DF367783CC9C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714"/>
          </a:bodyPr>
          <a:lstStyle/>
          <a:p>
            <a:pPr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1761574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1B569FAB-5449-4E31-AB5C-67CBCFBAFFF8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完整价值流展开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1B04733D-3246-4798-9C96-96F3F8A5A53E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B158503-D41E-46A8-B62C-D451D5BE7E3E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FA78B9F6-526D-4B36-B7A4-A8964DF62B02}"/>
              </a:ext>
            </a:extLst>
          </p:cNvPr>
          <p:cNvSpPr>
            <a:spLocks noGrp="1"/>
          </p:cNvSpPr>
          <p:nvPr/>
        </p:nvSpPr>
        <p:spPr>
          <a:xfrm>
            <a:off x="476250" y="1752600"/>
            <a:ext cx="990600" cy="514350"/>
          </a:xfrm>
          <a:prstGeom prst="roundRect">
            <a:avLst>
              <a:gd name="adj" fmla="val 11111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供应商</a:t>
            </a:r>
          </a:p>
        </p:txBody>
      </p:sp>
      <p:sp>
        <p:nvSpPr>
          <p:cNvPr id="5" name="直线连接符 4">
            <a:extLst>
              <a:ext uri="{FF2B5EF4-FFF2-40B4-BE49-F238E27FC236}">
                <a16:creationId xmlns:a16="http://schemas.microsoft.com/office/drawing/2014/main" id="{493C7926-03BE-41BF-A3BB-E56A232C0418}"/>
              </a:ext>
            </a:extLst>
          </p:cNvPr>
          <p:cNvSpPr>
            <a:spLocks noGrp="1"/>
          </p:cNvSpPr>
          <p:nvPr/>
        </p:nvSpPr>
        <p:spPr>
          <a:xfrm>
            <a:off x="1466850" y="2009775"/>
            <a:ext cx="133350" cy="0"/>
          </a:xfrm>
          <a:prstGeom prst="line">
            <a:avLst/>
          </a:prstGeom>
          <a:noFill/>
          <a:ln w="14288">
            <a:solidFill>
              <a:srgbClr val="A8B8BF"/>
            </a:solidFill>
            <a:prstDash val="solid"/>
          </a:ln>
        </p:spPr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17370500-38BC-412D-ACE9-3100429D9D2E}"/>
              </a:ext>
            </a:extLst>
          </p:cNvPr>
          <p:cNvSpPr>
            <a:spLocks noGrp="1"/>
          </p:cNvSpPr>
          <p:nvPr/>
        </p:nvSpPr>
        <p:spPr>
          <a:xfrm>
            <a:off x="1600200" y="1752600"/>
            <a:ext cx="990600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收货</a:t>
            </a:r>
          </a:p>
        </p:txBody>
      </p:sp>
      <p:sp>
        <p:nvSpPr>
          <p:cNvPr id="7" name="直线连接符 6">
            <a:extLst>
              <a:ext uri="{FF2B5EF4-FFF2-40B4-BE49-F238E27FC236}">
                <a16:creationId xmlns:a16="http://schemas.microsoft.com/office/drawing/2014/main" id="{FADF1AF4-6093-4210-8B54-0B3D98C60085}"/>
              </a:ext>
            </a:extLst>
          </p:cNvPr>
          <p:cNvSpPr>
            <a:spLocks noGrp="1"/>
          </p:cNvSpPr>
          <p:nvPr/>
        </p:nvSpPr>
        <p:spPr>
          <a:xfrm>
            <a:off x="2590800" y="2009775"/>
            <a:ext cx="133350" cy="0"/>
          </a:xfrm>
          <a:prstGeom prst="line">
            <a:avLst/>
          </a:prstGeom>
          <a:noFill/>
          <a:ln w="14288">
            <a:solidFill>
              <a:srgbClr val="A8B8BF"/>
            </a:solidFill>
            <a:prstDash val="solid"/>
          </a:ln>
        </p:spPr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D84879AD-C7F8-4D85-8515-81EBF59CE4C3}"/>
              </a:ext>
            </a:extLst>
          </p:cNvPr>
          <p:cNvSpPr>
            <a:spLocks noGrp="1"/>
          </p:cNvSpPr>
          <p:nvPr/>
        </p:nvSpPr>
        <p:spPr>
          <a:xfrm>
            <a:off x="2724150" y="1752600"/>
            <a:ext cx="990600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入库检</a:t>
            </a:r>
          </a:p>
        </p:txBody>
      </p:sp>
      <p:sp>
        <p:nvSpPr>
          <p:cNvPr id="9" name="直线连接符 8">
            <a:extLst>
              <a:ext uri="{FF2B5EF4-FFF2-40B4-BE49-F238E27FC236}">
                <a16:creationId xmlns:a16="http://schemas.microsoft.com/office/drawing/2014/main" id="{99B9DF74-8944-4170-A7B2-A1E73D88F58F}"/>
              </a:ext>
            </a:extLst>
          </p:cNvPr>
          <p:cNvSpPr>
            <a:spLocks noGrp="1"/>
          </p:cNvSpPr>
          <p:nvPr/>
        </p:nvSpPr>
        <p:spPr>
          <a:xfrm>
            <a:off x="3714750" y="2009775"/>
            <a:ext cx="133350" cy="0"/>
          </a:xfrm>
          <a:prstGeom prst="line">
            <a:avLst/>
          </a:prstGeom>
          <a:noFill/>
          <a:ln w="14288">
            <a:solidFill>
              <a:srgbClr val="A8B8BF"/>
            </a:solidFill>
            <a:prstDash val="solid"/>
          </a:ln>
        </p:spPr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F66FAD73-9997-409E-B7A7-D57DE38068C1}"/>
              </a:ext>
            </a:extLst>
          </p:cNvPr>
          <p:cNvSpPr>
            <a:spLocks noGrp="1"/>
          </p:cNvSpPr>
          <p:nvPr/>
        </p:nvSpPr>
        <p:spPr>
          <a:xfrm>
            <a:off x="3848100" y="1752600"/>
            <a:ext cx="990600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仓库</a:t>
            </a:r>
          </a:p>
        </p:txBody>
      </p:sp>
      <p:sp>
        <p:nvSpPr>
          <p:cNvPr id="11" name="直线连接符 10">
            <a:extLst>
              <a:ext uri="{FF2B5EF4-FFF2-40B4-BE49-F238E27FC236}">
                <a16:creationId xmlns:a16="http://schemas.microsoft.com/office/drawing/2014/main" id="{24A57BAB-7049-4EC2-95C3-22B88ED3C87A}"/>
              </a:ext>
            </a:extLst>
          </p:cNvPr>
          <p:cNvSpPr>
            <a:spLocks noGrp="1"/>
          </p:cNvSpPr>
          <p:nvPr/>
        </p:nvSpPr>
        <p:spPr>
          <a:xfrm>
            <a:off x="4838700" y="2009775"/>
            <a:ext cx="133350" cy="0"/>
          </a:xfrm>
          <a:prstGeom prst="line">
            <a:avLst/>
          </a:prstGeom>
          <a:noFill/>
          <a:ln w="14288">
            <a:solidFill>
              <a:srgbClr val="A8B8BF"/>
            </a:solidFill>
            <a:prstDash val="solid"/>
          </a:ln>
        </p:spPr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AA3DB184-BD2A-40F6-9B97-E28D557A16D8}"/>
              </a:ext>
            </a:extLst>
          </p:cNvPr>
          <p:cNvSpPr>
            <a:spLocks noGrp="1"/>
          </p:cNvSpPr>
          <p:nvPr/>
        </p:nvSpPr>
        <p:spPr>
          <a:xfrm>
            <a:off x="4972050" y="1752600"/>
            <a:ext cx="990600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材料出库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E26C1BD6-0576-431D-B0D1-7A3D576357BE}"/>
              </a:ext>
            </a:extLst>
          </p:cNvPr>
          <p:cNvSpPr>
            <a:spLocks noGrp="1"/>
          </p:cNvSpPr>
          <p:nvPr/>
        </p:nvSpPr>
        <p:spPr>
          <a:xfrm>
            <a:off x="476250" y="3429000"/>
            <a:ext cx="990600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生产工序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2713DBD1-E80F-4DC1-8D69-85A2ED750997}"/>
              </a:ext>
            </a:extLst>
          </p:cNvPr>
          <p:cNvSpPr>
            <a:spLocks noGrp="1"/>
          </p:cNvSpPr>
          <p:nvPr/>
        </p:nvSpPr>
        <p:spPr>
          <a:xfrm>
            <a:off x="1600200" y="3429000"/>
            <a:ext cx="990600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WIP</a:t>
            </a:r>
          </a:p>
        </p:txBody>
      </p:sp>
      <p:sp>
        <p:nvSpPr>
          <p:cNvPr id="15" name="直线连接符 14">
            <a:extLst>
              <a:ext uri="{FF2B5EF4-FFF2-40B4-BE49-F238E27FC236}">
                <a16:creationId xmlns:a16="http://schemas.microsoft.com/office/drawing/2014/main" id="{D235007A-37B0-4A12-BDF6-8D137F39F067}"/>
              </a:ext>
            </a:extLst>
          </p:cNvPr>
          <p:cNvSpPr>
            <a:spLocks noGrp="1"/>
          </p:cNvSpPr>
          <p:nvPr/>
        </p:nvSpPr>
        <p:spPr>
          <a:xfrm>
            <a:off x="1466850" y="3686175"/>
            <a:ext cx="133350" cy="0"/>
          </a:xfrm>
          <a:prstGeom prst="line">
            <a:avLst/>
          </a:prstGeom>
          <a:noFill/>
          <a:ln w="14288">
            <a:solidFill>
              <a:srgbClr val="A8B8BF"/>
            </a:solidFill>
            <a:prstDash val="solid"/>
          </a:ln>
        </p:spPr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A299FB74-849E-4B76-B6BA-6C6316DA77CD}"/>
              </a:ext>
            </a:extLst>
          </p:cNvPr>
          <p:cNvSpPr>
            <a:spLocks noGrp="1"/>
          </p:cNvSpPr>
          <p:nvPr/>
        </p:nvSpPr>
        <p:spPr>
          <a:xfrm>
            <a:off x="2724150" y="3429000"/>
            <a:ext cx="990600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成品检验</a:t>
            </a:r>
          </a:p>
        </p:txBody>
      </p:sp>
      <p:sp>
        <p:nvSpPr>
          <p:cNvPr id="17" name="直线连接符 16">
            <a:extLst>
              <a:ext uri="{FF2B5EF4-FFF2-40B4-BE49-F238E27FC236}">
                <a16:creationId xmlns:a16="http://schemas.microsoft.com/office/drawing/2014/main" id="{0C1C35A6-3988-4C21-8402-A192B8BB7E41}"/>
              </a:ext>
            </a:extLst>
          </p:cNvPr>
          <p:cNvSpPr>
            <a:spLocks noGrp="1"/>
          </p:cNvSpPr>
          <p:nvPr/>
        </p:nvSpPr>
        <p:spPr>
          <a:xfrm>
            <a:off x="2590800" y="3686175"/>
            <a:ext cx="133350" cy="0"/>
          </a:xfrm>
          <a:prstGeom prst="line">
            <a:avLst/>
          </a:prstGeom>
          <a:noFill/>
          <a:ln w="14288">
            <a:solidFill>
              <a:srgbClr val="A8B8BF"/>
            </a:solidFill>
            <a:prstDash val="solid"/>
          </a:ln>
        </p:spPr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7936E9C2-667C-44BA-A632-348689E31059}"/>
              </a:ext>
            </a:extLst>
          </p:cNvPr>
          <p:cNvSpPr>
            <a:spLocks noGrp="1"/>
          </p:cNvSpPr>
          <p:nvPr/>
        </p:nvSpPr>
        <p:spPr>
          <a:xfrm>
            <a:off x="3848100" y="3429000"/>
            <a:ext cx="990600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成品出库</a:t>
            </a:r>
          </a:p>
        </p:txBody>
      </p:sp>
      <p:sp>
        <p:nvSpPr>
          <p:cNvPr id="19" name="直线连接符 18">
            <a:extLst>
              <a:ext uri="{FF2B5EF4-FFF2-40B4-BE49-F238E27FC236}">
                <a16:creationId xmlns:a16="http://schemas.microsoft.com/office/drawing/2014/main" id="{56F6C688-1680-4FEF-B8F6-60BF5DEDE1B7}"/>
              </a:ext>
            </a:extLst>
          </p:cNvPr>
          <p:cNvSpPr>
            <a:spLocks noGrp="1"/>
          </p:cNvSpPr>
          <p:nvPr/>
        </p:nvSpPr>
        <p:spPr>
          <a:xfrm>
            <a:off x="3714750" y="3686175"/>
            <a:ext cx="133350" cy="0"/>
          </a:xfrm>
          <a:prstGeom prst="line">
            <a:avLst/>
          </a:prstGeom>
          <a:noFill/>
          <a:ln w="14288">
            <a:solidFill>
              <a:srgbClr val="A8B8BF"/>
            </a:solidFill>
            <a:prstDash val="solid"/>
          </a:ln>
        </p:spPr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C9D1392D-AF6E-47E0-8E7A-0240ED462809}"/>
              </a:ext>
            </a:extLst>
          </p:cNvPr>
          <p:cNvSpPr>
            <a:spLocks noGrp="1"/>
          </p:cNvSpPr>
          <p:nvPr/>
        </p:nvSpPr>
        <p:spPr>
          <a:xfrm>
            <a:off x="4972050" y="3429000"/>
            <a:ext cx="990600" cy="514350"/>
          </a:xfrm>
          <a:prstGeom prst="roundRect">
            <a:avLst>
              <a:gd name="adj" fmla="val 11111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客户</a:t>
            </a:r>
          </a:p>
        </p:txBody>
      </p:sp>
      <p:sp>
        <p:nvSpPr>
          <p:cNvPr id="21" name="直线连接符 20">
            <a:extLst>
              <a:ext uri="{FF2B5EF4-FFF2-40B4-BE49-F238E27FC236}">
                <a16:creationId xmlns:a16="http://schemas.microsoft.com/office/drawing/2014/main" id="{3944E179-E1F2-4651-A70E-BEDE9DF7E24D}"/>
              </a:ext>
            </a:extLst>
          </p:cNvPr>
          <p:cNvSpPr>
            <a:spLocks noGrp="1"/>
          </p:cNvSpPr>
          <p:nvPr/>
        </p:nvSpPr>
        <p:spPr>
          <a:xfrm>
            <a:off x="4838700" y="3686175"/>
            <a:ext cx="133350" cy="0"/>
          </a:xfrm>
          <a:prstGeom prst="line">
            <a:avLst/>
          </a:prstGeom>
          <a:noFill/>
          <a:ln w="14288">
            <a:solidFill>
              <a:srgbClr val="A8B8BF"/>
            </a:solidFill>
            <a:prstDash val="solid"/>
          </a:ln>
        </p:spPr>
      </p:sp>
      <p:sp>
        <p:nvSpPr>
          <p:cNvPr id="22" name="直线连接符 21">
            <a:extLst>
              <a:ext uri="{FF2B5EF4-FFF2-40B4-BE49-F238E27FC236}">
                <a16:creationId xmlns:a16="http://schemas.microsoft.com/office/drawing/2014/main" id="{CF35AA57-0300-4ED9-A2AC-CA0367ACA070}"/>
              </a:ext>
            </a:extLst>
          </p:cNvPr>
          <p:cNvSpPr>
            <a:spLocks noGrp="1"/>
          </p:cNvSpPr>
          <p:nvPr/>
        </p:nvSpPr>
        <p:spPr>
          <a:xfrm>
            <a:off x="5962650" y="2009775"/>
            <a:ext cx="0" cy="1676400"/>
          </a:xfrm>
          <a:prstGeom prst="line">
            <a:avLst/>
          </a:prstGeom>
          <a:noFill/>
          <a:ln w="14288">
            <a:solidFill>
              <a:srgbClr val="A8B8BF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CA98317-6751-4EE7-BDED-911F38C944DD}"/>
              </a:ext>
            </a:extLst>
          </p:cNvPr>
          <p:cNvSpPr>
            <a:spLocks noGrp="1"/>
          </p:cNvSpPr>
          <p:nvPr/>
        </p:nvSpPr>
        <p:spPr>
          <a:xfrm>
            <a:off x="1600200" y="5095875"/>
            <a:ext cx="8991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ctr">
              <a:defRPr sz="16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6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每个功能项都要落到过程节点，才能判断它服务的动作和管理意义。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2240A19-570C-4EAD-B28C-FE77A85E083C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C14E906-E1C0-4557-A4BA-41093745C01B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80E2AE4-F07B-44C5-BFAD-A405ABB61A75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714"/>
          </a:bodyPr>
          <a:lstStyle/>
          <a:p>
            <a:pPr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17088737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830CCF0A-C66D-4196-AD3C-D25583B94F75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数据目的一：状态异常与质量指标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C4715044-CEFC-40DC-A146-C39374E29EA5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73A2CA5-6292-4926-A11F-D83544064733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FE16F1AD-7471-4029-B244-AA27B1657E63}"/>
              </a:ext>
            </a:extLst>
          </p:cNvPr>
          <p:cNvSpPr>
            <a:spLocks noGrp="1"/>
          </p:cNvSpPr>
          <p:nvPr/>
        </p:nvSpPr>
        <p:spPr>
          <a:xfrm>
            <a:off x="876300" y="1390650"/>
            <a:ext cx="4619625" cy="457200"/>
          </a:xfrm>
          <a:prstGeom prst="roundRect">
            <a:avLst>
              <a:gd name="adj" fmla="val 12500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触发动作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D6253CB0-B169-4780-87CA-60CBCA64D1A9}"/>
              </a:ext>
            </a:extLst>
          </p:cNvPr>
          <p:cNvSpPr>
            <a:spLocks noGrp="1"/>
          </p:cNvSpPr>
          <p:nvPr/>
        </p:nvSpPr>
        <p:spPr>
          <a:xfrm>
            <a:off x="6705600" y="1390650"/>
            <a:ext cx="4619625" cy="457200"/>
          </a:xfrm>
          <a:prstGeom prst="roundRect">
            <a:avLst>
              <a:gd name="adj" fmla="val 12500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实现前提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67C0CD57-6D90-4AC3-AC34-226492961544}"/>
              </a:ext>
            </a:extLst>
          </p:cNvPr>
          <p:cNvSpPr>
            <a:spLocks noGrp="1"/>
          </p:cNvSpPr>
          <p:nvPr/>
        </p:nvSpPr>
        <p:spPr>
          <a:xfrm>
            <a:off x="1047750" y="22479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01B0C1D-B296-473D-9EFA-CB9644895B7E}"/>
              </a:ext>
            </a:extLst>
          </p:cNvPr>
          <p:cNvSpPr>
            <a:spLocks noGrp="1"/>
          </p:cNvSpPr>
          <p:nvPr/>
        </p:nvSpPr>
        <p:spPr>
          <a:xfrm>
            <a:off x="1276350" y="21717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设备运作状态异常时，系统触发停线或人工确认。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A2954AFB-7F5A-48FC-9EBB-A6942671C6AA}"/>
              </a:ext>
            </a:extLst>
          </p:cNvPr>
          <p:cNvSpPr>
            <a:spLocks noGrp="1"/>
          </p:cNvSpPr>
          <p:nvPr/>
        </p:nvSpPr>
        <p:spPr>
          <a:xfrm>
            <a:off x="1047750" y="2895600"/>
            <a:ext cx="95250" cy="95250"/>
          </a:xfrm>
          <a:prstGeom prst="ellipse">
            <a:avLst/>
          </a:prstGeom>
          <a:solidFill>
            <a:srgbClr val="76BC21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8E2C72C-01C2-4B5E-A886-74D284E8B629}"/>
              </a:ext>
            </a:extLst>
          </p:cNvPr>
          <p:cNvSpPr>
            <a:spLocks noGrp="1"/>
          </p:cNvSpPr>
          <p:nvPr/>
        </p:nvSpPr>
        <p:spPr>
          <a:xfrm>
            <a:off x="1276350" y="28194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质量指标持续跟踪，生成趋势曲线和异常曲线。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C71297F0-02A4-4AA4-A6F3-C5A2C5923875}"/>
              </a:ext>
            </a:extLst>
          </p:cNvPr>
          <p:cNvSpPr>
            <a:spLocks noGrp="1"/>
          </p:cNvSpPr>
          <p:nvPr/>
        </p:nvSpPr>
        <p:spPr>
          <a:xfrm>
            <a:off x="1047750" y="35433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B754660-BE99-4C83-928E-685884503C22}"/>
              </a:ext>
            </a:extLst>
          </p:cNvPr>
          <p:cNvSpPr>
            <a:spLocks noGrp="1"/>
          </p:cNvSpPr>
          <p:nvPr/>
        </p:nvSpPr>
        <p:spPr>
          <a:xfrm>
            <a:off x="1276350" y="34671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超出阈值时，把异常反馈到现场和计划层。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A5B25701-8FAF-43B6-9B00-AE6D969C81C8}"/>
              </a:ext>
            </a:extLst>
          </p:cNvPr>
          <p:cNvSpPr>
            <a:spLocks noGrp="1"/>
          </p:cNvSpPr>
          <p:nvPr/>
        </p:nvSpPr>
        <p:spPr>
          <a:xfrm>
            <a:off x="6877050" y="22479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EDADFB2-83D5-45C4-A025-6C78EC780399}"/>
              </a:ext>
            </a:extLst>
          </p:cNvPr>
          <p:cNvSpPr>
            <a:spLocks noGrp="1"/>
          </p:cNvSpPr>
          <p:nvPr/>
        </p:nvSpPr>
        <p:spPr>
          <a:xfrm>
            <a:off x="7105650" y="21717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需要 100% 检查能力。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C0FC36A1-CA11-42AF-9F9B-36692781B4ED}"/>
              </a:ext>
            </a:extLst>
          </p:cNvPr>
          <p:cNvSpPr>
            <a:spLocks noGrp="1"/>
          </p:cNvSpPr>
          <p:nvPr/>
        </p:nvSpPr>
        <p:spPr>
          <a:xfrm>
            <a:off x="6877050" y="2895600"/>
            <a:ext cx="95250" cy="95250"/>
          </a:xfrm>
          <a:prstGeom prst="ellipse">
            <a:avLst/>
          </a:prstGeom>
          <a:solidFill>
            <a:srgbClr val="76BC21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F248042-B0B9-4484-9E1D-276639CA1D0A}"/>
              </a:ext>
            </a:extLst>
          </p:cNvPr>
          <p:cNvSpPr>
            <a:spLocks noGrp="1"/>
          </p:cNvSpPr>
          <p:nvPr/>
        </p:nvSpPr>
        <p:spPr>
          <a:xfrm>
            <a:off x="7105650" y="28194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需要清晰阈值设定。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03E68899-1202-4AD7-A539-0BD59D59BCB3}"/>
              </a:ext>
            </a:extLst>
          </p:cNvPr>
          <p:cNvSpPr>
            <a:spLocks noGrp="1"/>
          </p:cNvSpPr>
          <p:nvPr/>
        </p:nvSpPr>
        <p:spPr>
          <a:xfrm>
            <a:off x="6877050" y="35433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0153E3C-CD01-4AEA-8332-C1208C28DD6E}"/>
              </a:ext>
            </a:extLst>
          </p:cNvPr>
          <p:cNvSpPr>
            <a:spLocks noGrp="1"/>
          </p:cNvSpPr>
          <p:nvPr/>
        </p:nvSpPr>
        <p:spPr>
          <a:xfrm>
            <a:off x="7105650" y="34671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需要定义停线责任和恢复条件。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4929760-17FA-43C8-8857-3164E5B3EE84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E17026A-59E3-49A1-829C-D4C4F0E737BF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D97DA7E-DFF2-4259-9179-824DD4DDC10C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714"/>
          </a:bodyPr>
          <a:lstStyle/>
          <a:p>
            <a:pPr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12189034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E0F2BBE9-AE31-42CC-970E-005F331862CE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状态异常的价值与代价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5FACAA52-1234-45F3-81C2-5D8AF36213D4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FF0EA7E-AD54-48D5-8937-C78181E0075E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10" name="表格 9"/>
          <p:cNvGraphicFramePr/>
          <p:nvPr/>
        </p:nvGraphicFramePr>
        <p:xfrm>
          <a:off x="1333500" y="1428750"/>
          <a:ext cx="9525000" cy="3524250"/>
        </p:xfrm>
        <a:graphic>
          <a:graphicData uri="http://schemas.openxmlformats.org/drawingml/2006/table">
            <a:tbl>
              <a:tblPr/>
              <a:tblGrid>
                <a:gridCol w="28863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86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48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判断项</a:t>
                      </a:r>
                    </a:p>
                  </a:txBody>
                  <a:tcPr>
                    <a:solidFill>
                      <a:srgbClr val="F0F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说明</a:t>
                      </a:r>
                    </a:p>
                  </a:txBody>
                  <a:tcPr>
                    <a:solidFill>
                      <a:srgbClr val="F0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即时价值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减少质量报废率，避免问题继续流入后序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直接代价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生产过程被停掉，价值环节同步停滞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建设要求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检查覆盖率、阈值、停线规则和恢复流程都要明确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管理重点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让停线动作可解释，避免系统只会报警而无法闭环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597217E6-8E61-4FAC-A6B2-7E0BEEF9403D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D3FD655-3438-4E1F-898F-99D01832616E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767917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8CD693F0-7B9F-41D9-8824-44747A6C16FD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数据目的二：技术参数与经验值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BBAB2737-18C5-454C-820A-3D15C871ED07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F93C0B1-64CB-440D-933B-53CEAFD00437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2F8AE294-F138-448A-B5BA-1EE1CCD9FC1C}"/>
              </a:ext>
            </a:extLst>
          </p:cNvPr>
          <p:cNvSpPr>
            <a:spLocks noGrp="1"/>
          </p:cNvSpPr>
          <p:nvPr/>
        </p:nvSpPr>
        <p:spPr>
          <a:xfrm>
            <a:off x="876300" y="1390650"/>
            <a:ext cx="4619625" cy="457200"/>
          </a:xfrm>
          <a:prstGeom prst="roundRect">
            <a:avLst>
              <a:gd name="adj" fmla="val 12500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采集内容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56377CAB-E45F-40F2-9155-21A5CC0FC066}"/>
              </a:ext>
            </a:extLst>
          </p:cNvPr>
          <p:cNvSpPr>
            <a:spLocks noGrp="1"/>
          </p:cNvSpPr>
          <p:nvPr/>
        </p:nvSpPr>
        <p:spPr>
          <a:xfrm>
            <a:off x="6705600" y="1390650"/>
            <a:ext cx="4619625" cy="457200"/>
          </a:xfrm>
          <a:prstGeom prst="roundRect">
            <a:avLst>
              <a:gd name="adj" fmla="val 12500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后续动作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6476578C-3507-49E0-B733-2A050B9A666C}"/>
              </a:ext>
            </a:extLst>
          </p:cNvPr>
          <p:cNvSpPr>
            <a:spLocks noGrp="1"/>
          </p:cNvSpPr>
          <p:nvPr/>
        </p:nvSpPr>
        <p:spPr>
          <a:xfrm>
            <a:off x="1047750" y="22479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B04F526-2529-4DF5-8995-1205C316002A}"/>
              </a:ext>
            </a:extLst>
          </p:cNvPr>
          <p:cNvSpPr>
            <a:spLocks noGrp="1"/>
          </p:cNvSpPr>
          <p:nvPr/>
        </p:nvSpPr>
        <p:spPr>
          <a:xfrm>
            <a:off x="1276350" y="21717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设备技术参数和工艺参数。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E6185E52-EE26-4DE7-A7C9-4E35F6D5CD1A}"/>
              </a:ext>
            </a:extLst>
          </p:cNvPr>
          <p:cNvSpPr>
            <a:spLocks noGrp="1"/>
          </p:cNvSpPr>
          <p:nvPr/>
        </p:nvSpPr>
        <p:spPr>
          <a:xfrm>
            <a:off x="1047750" y="2895600"/>
            <a:ext cx="95250" cy="95250"/>
          </a:xfrm>
          <a:prstGeom prst="ellipse">
            <a:avLst/>
          </a:prstGeom>
          <a:solidFill>
            <a:srgbClr val="76BC21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1640064-1800-4136-88B8-DCCB675421F5}"/>
              </a:ext>
            </a:extLst>
          </p:cNvPr>
          <p:cNvSpPr>
            <a:spLocks noGrp="1"/>
          </p:cNvSpPr>
          <p:nvPr/>
        </p:nvSpPr>
        <p:spPr>
          <a:xfrm>
            <a:off x="1276350" y="28194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产品状态变化和质量结果。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5CC2790C-D84D-41D1-AEBA-813215A71DD4}"/>
              </a:ext>
            </a:extLst>
          </p:cNvPr>
          <p:cNvSpPr>
            <a:spLocks noGrp="1"/>
          </p:cNvSpPr>
          <p:nvPr/>
        </p:nvSpPr>
        <p:spPr>
          <a:xfrm>
            <a:off x="1047750" y="35433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BFBFB38-BD69-4B7B-86C6-3CED6D379EFA}"/>
              </a:ext>
            </a:extLst>
          </p:cNvPr>
          <p:cNvSpPr>
            <a:spLocks noGrp="1"/>
          </p:cNvSpPr>
          <p:nvPr/>
        </p:nvSpPr>
        <p:spPr>
          <a:xfrm>
            <a:off x="1276350" y="34671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同一产品、同一工艺路线下的长期表现。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E1B64652-32AC-4FAF-80AC-A37A4EB3B45D}"/>
              </a:ext>
            </a:extLst>
          </p:cNvPr>
          <p:cNvSpPr>
            <a:spLocks noGrp="1"/>
          </p:cNvSpPr>
          <p:nvPr/>
        </p:nvSpPr>
        <p:spPr>
          <a:xfrm>
            <a:off x="6877050" y="22479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52AA241-122C-4AC8-98E6-3FEE7D12DD42}"/>
              </a:ext>
            </a:extLst>
          </p:cNvPr>
          <p:cNvSpPr>
            <a:spLocks noGrp="1"/>
          </p:cNvSpPr>
          <p:nvPr/>
        </p:nvSpPr>
        <p:spPr>
          <a:xfrm>
            <a:off x="7105650" y="21717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对照产品状态，形成技术经验值。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FB6FB133-A9FC-4EFD-AE06-3AA99B07D379}"/>
              </a:ext>
            </a:extLst>
          </p:cNvPr>
          <p:cNvSpPr>
            <a:spLocks noGrp="1"/>
          </p:cNvSpPr>
          <p:nvPr/>
        </p:nvSpPr>
        <p:spPr>
          <a:xfrm>
            <a:off x="6877050" y="2895600"/>
            <a:ext cx="95250" cy="95250"/>
          </a:xfrm>
          <a:prstGeom prst="ellipse">
            <a:avLst/>
          </a:prstGeom>
          <a:solidFill>
            <a:srgbClr val="76BC21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647D796-2291-4BF4-8A96-D00C593CD3E8}"/>
              </a:ext>
            </a:extLst>
          </p:cNvPr>
          <p:cNvSpPr>
            <a:spLocks noGrp="1"/>
          </p:cNvSpPr>
          <p:nvPr/>
        </p:nvSpPr>
        <p:spPr>
          <a:xfrm>
            <a:off x="7105650" y="28194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支持未来产品开发。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E747285E-C203-4860-9825-F2821940BD2E}"/>
              </a:ext>
            </a:extLst>
          </p:cNvPr>
          <p:cNvSpPr>
            <a:spLocks noGrp="1"/>
          </p:cNvSpPr>
          <p:nvPr/>
        </p:nvSpPr>
        <p:spPr>
          <a:xfrm>
            <a:off x="6877050" y="35433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A2CBD6C-FE33-492C-B1CA-3AF2E8790E06}"/>
              </a:ext>
            </a:extLst>
          </p:cNvPr>
          <p:cNvSpPr>
            <a:spLocks noGrp="1"/>
          </p:cNvSpPr>
          <p:nvPr/>
        </p:nvSpPr>
        <p:spPr>
          <a:xfrm>
            <a:off x="7105650" y="34671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支持后续工艺设定和参数边界优化。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CE1FD51-95AA-4821-94A3-E9D30ECF5DBC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45982B8-4A6F-47AE-8A94-375D4C082844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B52795F-54D5-4241-A397-6771E1A230C8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714"/>
          </a:bodyPr>
          <a:lstStyle/>
          <a:p>
            <a:pPr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现场穿插：业务过程与功能重组工作台</a:t>
            </a:r>
          </a:p>
        </p:txBody>
      </p:sp>
    </p:spTree>
    <p:extLst>
      <p:ext uri="{BB962C8B-B14F-4D97-AF65-F5344CB8AC3E}">
        <p14:creationId xmlns:p14="http://schemas.microsoft.com/office/powerpoint/2010/main" val="11809243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E70B83BB-D963-4EC0-A38D-CD8F57ACA543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技术参数的价值周期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1ACB8D16-1395-4F0F-AF2F-55F8420AFB0C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9CA67CC-7D2A-43AA-8E26-D83BE3CD7D21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10" name="表格 9"/>
          <p:cNvGraphicFramePr/>
          <p:nvPr/>
        </p:nvGraphicFramePr>
        <p:xfrm>
          <a:off x="1333500" y="1428750"/>
          <a:ext cx="9525000" cy="3524250"/>
        </p:xfrm>
        <a:graphic>
          <a:graphicData uri="http://schemas.openxmlformats.org/drawingml/2006/table">
            <a:tbl>
              <a:tblPr/>
              <a:tblGrid>
                <a:gridCol w="28863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86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48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判断项</a:t>
                      </a:r>
                    </a:p>
                  </a:txBody>
                  <a:tcPr>
                    <a:solidFill>
                      <a:srgbClr val="F0F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说明</a:t>
                      </a:r>
                    </a:p>
                  </a:txBody>
                  <a:tcPr>
                    <a:solidFill>
                      <a:srgbClr val="F0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即时价值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通常不能直接创造当班收益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长期价值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在经验轨道上积累有效参数，支撑产品开发和工艺设定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数据过滤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需要识别哪些参数真正影响产品状态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阶段定位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更适合成为数字孪生和 AI 训练的数据基础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2A068155-40F8-4B9B-A0E3-2A5B637E45B3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F42AF3A-975E-451F-B51F-F1FA662A3BCA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84096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6BD31CD1-7EA9-43A9-824B-A98E5C0C657E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数据目的三：生产进度跟踪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6A4BECAF-DBDC-45E7-8B1B-D187C629F045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10C8C27-9444-43BA-9FDE-97EAEFF80D49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33DE3B78-AC27-4009-B113-9E1AFA279E1E}"/>
              </a:ext>
            </a:extLst>
          </p:cNvPr>
          <p:cNvSpPr>
            <a:spLocks noGrp="1"/>
          </p:cNvSpPr>
          <p:nvPr/>
        </p:nvSpPr>
        <p:spPr>
          <a:xfrm>
            <a:off x="5095875" y="2628900"/>
            <a:ext cx="2000250" cy="838200"/>
          </a:xfrm>
          <a:prstGeom prst="roundRect">
            <a:avLst>
              <a:gd name="adj" fmla="val 6818"/>
            </a:avLst>
          </a:prstGeom>
          <a:solidFill>
            <a:srgbClr val="76BC21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Planning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B6BA0C39-59F6-4433-A247-FA139921C320}"/>
              </a:ext>
            </a:extLst>
          </p:cNvPr>
          <p:cNvSpPr>
            <a:spLocks noGrp="1"/>
          </p:cNvSpPr>
          <p:nvPr/>
        </p:nvSpPr>
        <p:spPr>
          <a:xfrm>
            <a:off x="1257300" y="1524000"/>
            <a:ext cx="152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24H 计划</a:t>
            </a:r>
          </a:p>
        </p:txBody>
      </p:sp>
      <p:cxnSp>
        <p:nvCxnSpPr>
          <p:cNvPr id="28" name="直线箭头连接符 27"/>
          <p:cNvCxnSpPr>
            <a:stCxn id="4" idx="1"/>
            <a:endCxn id="5" idx="3"/>
          </p:cNvCxnSpPr>
          <p:nvPr/>
        </p:nvCxnSpPr>
        <p:spPr>
          <a:xfrm flipH="1" flipV="1">
            <a:off x="2781300" y="1752600"/>
            <a:ext cx="2314575" cy="1295400"/>
          </a:xfrm>
          <a:prstGeom prst="straightConnector1">
            <a:avLst/>
          </a:prstGeom>
          <a:ln w="10478">
            <a:solidFill>
              <a:srgbClr val="94A9B0"/>
            </a:solidFill>
            <a:prstDash val="solid"/>
          </a:ln>
        </p:spPr>
      </p:cxnSp>
      <p:sp>
        <p:nvSpPr>
          <p:cNvPr id="7" name="圆角矩形 6">
            <a:extLst>
              <a:ext uri="{FF2B5EF4-FFF2-40B4-BE49-F238E27FC236}">
                <a16:creationId xmlns:a16="http://schemas.microsoft.com/office/drawing/2014/main" id="{B8FA68DE-F2B3-4C9A-AF25-97F52A742C46}"/>
              </a:ext>
            </a:extLst>
          </p:cNvPr>
          <p:cNvSpPr>
            <a:spLocks noGrp="1"/>
          </p:cNvSpPr>
          <p:nvPr/>
        </p:nvSpPr>
        <p:spPr>
          <a:xfrm>
            <a:off x="4000500" y="1352550"/>
            <a:ext cx="152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工序进度</a:t>
            </a:r>
          </a:p>
        </p:txBody>
      </p:sp>
      <p:cxnSp>
        <p:nvCxnSpPr>
          <p:cNvPr id="30" name="直线箭头连接符 29"/>
          <p:cNvCxnSpPr>
            <a:stCxn id="4" idx="0"/>
            <a:endCxn id="7" idx="3"/>
          </p:cNvCxnSpPr>
          <p:nvPr/>
        </p:nvCxnSpPr>
        <p:spPr>
          <a:xfrm flipH="1" flipV="1">
            <a:off x="5524500" y="1581150"/>
            <a:ext cx="571500" cy="1047750"/>
          </a:xfrm>
          <a:prstGeom prst="straightConnector1">
            <a:avLst/>
          </a:prstGeom>
          <a:ln w="10478">
            <a:solidFill>
              <a:srgbClr val="94A9B0"/>
            </a:solidFill>
            <a:prstDash val="solid"/>
          </a:ln>
        </p:spPr>
      </p:cxnSp>
      <p:sp>
        <p:nvSpPr>
          <p:cNvPr id="9" name="圆角矩形 8">
            <a:extLst>
              <a:ext uri="{FF2B5EF4-FFF2-40B4-BE49-F238E27FC236}">
                <a16:creationId xmlns:a16="http://schemas.microsoft.com/office/drawing/2014/main" id="{A44CF920-E01D-42B6-AD60-80CB7785F85A}"/>
              </a:ext>
            </a:extLst>
          </p:cNvPr>
          <p:cNvSpPr>
            <a:spLocks noGrp="1"/>
          </p:cNvSpPr>
          <p:nvPr/>
        </p:nvSpPr>
        <p:spPr>
          <a:xfrm>
            <a:off x="7143750" y="1352550"/>
            <a:ext cx="152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前后序衔接</a:t>
            </a:r>
          </a:p>
        </p:txBody>
      </p:sp>
      <p:cxnSp>
        <p:nvCxnSpPr>
          <p:cNvPr id="32" name="直线箭头连接符 31"/>
          <p:cNvCxnSpPr>
            <a:stCxn id="4" idx="3"/>
            <a:endCxn id="9" idx="1"/>
          </p:cNvCxnSpPr>
          <p:nvPr/>
        </p:nvCxnSpPr>
        <p:spPr>
          <a:xfrm flipV="1">
            <a:off x="7096125" y="1581150"/>
            <a:ext cx="47625" cy="1466850"/>
          </a:xfrm>
          <a:prstGeom prst="straightConnector1">
            <a:avLst/>
          </a:prstGeom>
          <a:ln w="10478">
            <a:solidFill>
              <a:srgbClr val="94A9B0"/>
            </a:solidFill>
            <a:prstDash val="solid"/>
          </a:ln>
        </p:spPr>
      </p:cxn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118FB131-6602-4B0E-B4F5-05698DEA4BE5}"/>
              </a:ext>
            </a:extLst>
          </p:cNvPr>
          <p:cNvSpPr>
            <a:spLocks noGrp="1"/>
          </p:cNvSpPr>
          <p:nvPr/>
        </p:nvSpPr>
        <p:spPr>
          <a:xfrm>
            <a:off x="9620250" y="1524000"/>
            <a:ext cx="152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WIP 水位</a:t>
            </a:r>
          </a:p>
        </p:txBody>
      </p:sp>
      <p:cxnSp>
        <p:nvCxnSpPr>
          <p:cNvPr id="34" name="直线箭头连接符 33"/>
          <p:cNvCxnSpPr>
            <a:stCxn id="4" idx="3"/>
            <a:endCxn id="11" idx="1"/>
          </p:cNvCxnSpPr>
          <p:nvPr/>
        </p:nvCxnSpPr>
        <p:spPr>
          <a:xfrm flipV="1">
            <a:off x="7096125" y="1752600"/>
            <a:ext cx="2524125" cy="1295400"/>
          </a:xfrm>
          <a:prstGeom prst="straightConnector1">
            <a:avLst/>
          </a:prstGeom>
          <a:ln w="10478">
            <a:solidFill>
              <a:srgbClr val="94A9B0"/>
            </a:solidFill>
            <a:prstDash val="solid"/>
          </a:ln>
        </p:spPr>
      </p:cxn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D4EB4567-C9BA-4C43-82B2-FFAE67762D10}"/>
              </a:ext>
            </a:extLst>
          </p:cNvPr>
          <p:cNvSpPr>
            <a:spLocks noGrp="1"/>
          </p:cNvSpPr>
          <p:nvPr/>
        </p:nvSpPr>
        <p:spPr>
          <a:xfrm>
            <a:off x="1733550" y="4286250"/>
            <a:ext cx="152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节拍 CT</a:t>
            </a:r>
          </a:p>
        </p:txBody>
      </p:sp>
      <p:cxnSp>
        <p:nvCxnSpPr>
          <p:cNvPr id="36" name="直线箭头连接符 35"/>
          <p:cNvCxnSpPr>
            <a:stCxn id="4" idx="1"/>
            <a:endCxn id="13" idx="3"/>
          </p:cNvCxnSpPr>
          <p:nvPr/>
        </p:nvCxnSpPr>
        <p:spPr>
          <a:xfrm flipH="1">
            <a:off x="3257550" y="3048000"/>
            <a:ext cx="1838325" cy="1466850"/>
          </a:xfrm>
          <a:prstGeom prst="straightConnector1">
            <a:avLst/>
          </a:prstGeom>
          <a:ln w="10478">
            <a:solidFill>
              <a:srgbClr val="94A9B0"/>
            </a:solidFill>
            <a:prstDash val="solid"/>
          </a:ln>
        </p:spPr>
      </p:cxn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4ACEFBD1-1173-411E-A5EE-8FCEDDF0D109}"/>
              </a:ext>
            </a:extLst>
          </p:cNvPr>
          <p:cNvSpPr>
            <a:spLocks noGrp="1"/>
          </p:cNvSpPr>
          <p:nvPr/>
        </p:nvSpPr>
        <p:spPr>
          <a:xfrm>
            <a:off x="5257800" y="4762500"/>
            <a:ext cx="152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Performance Rate</a:t>
            </a:r>
          </a:p>
        </p:txBody>
      </p:sp>
      <p:cxnSp>
        <p:nvCxnSpPr>
          <p:cNvPr id="38" name="直线箭头连接符 37"/>
          <p:cNvCxnSpPr>
            <a:stCxn id="4" idx="2"/>
            <a:endCxn id="15" idx="0"/>
          </p:cNvCxnSpPr>
          <p:nvPr/>
        </p:nvCxnSpPr>
        <p:spPr>
          <a:xfrm flipH="1">
            <a:off x="6019800" y="3467100"/>
            <a:ext cx="76200" cy="1295400"/>
          </a:xfrm>
          <a:prstGeom prst="straightConnector1">
            <a:avLst/>
          </a:prstGeom>
          <a:ln w="10478">
            <a:solidFill>
              <a:srgbClr val="94A9B0"/>
            </a:solidFill>
            <a:prstDash val="solid"/>
          </a:ln>
        </p:spPr>
      </p:cxn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06B32204-51F5-4ACB-A0A9-3675142348D4}"/>
              </a:ext>
            </a:extLst>
          </p:cNvPr>
          <p:cNvSpPr>
            <a:spLocks noGrp="1"/>
          </p:cNvSpPr>
          <p:nvPr/>
        </p:nvSpPr>
        <p:spPr>
          <a:xfrm>
            <a:off x="8620125" y="4286250"/>
            <a:ext cx="152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Replan</a:t>
            </a:r>
          </a:p>
        </p:txBody>
      </p:sp>
      <p:cxnSp>
        <p:nvCxnSpPr>
          <p:cNvPr id="40" name="直线箭头连接符 39"/>
          <p:cNvCxnSpPr>
            <a:stCxn id="4" idx="3"/>
            <a:endCxn id="17" idx="1"/>
          </p:cNvCxnSpPr>
          <p:nvPr/>
        </p:nvCxnSpPr>
        <p:spPr>
          <a:xfrm>
            <a:off x="7096125" y="3048000"/>
            <a:ext cx="1524000" cy="1466850"/>
          </a:xfrm>
          <a:prstGeom prst="straightConnector1">
            <a:avLst/>
          </a:prstGeom>
          <a:ln w="10478">
            <a:solidFill>
              <a:srgbClr val="94A9B0"/>
            </a:solidFill>
            <a:prstDash val="solid"/>
          </a:ln>
        </p:spPr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030472B4-87B7-4A62-B3DC-CD251DDFDC39}"/>
              </a:ext>
            </a:extLst>
          </p:cNvPr>
          <p:cNvSpPr>
            <a:spLocks noGrp="1"/>
          </p:cNvSpPr>
          <p:nvPr/>
        </p:nvSpPr>
        <p:spPr>
          <a:xfrm>
            <a:off x="1428750" y="5772150"/>
            <a:ext cx="933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ctr">
              <a:defRPr sz="15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生产进度跟踪可以识别当前工序与前后续的连贯关系，并支持 replan 动作减少浪费。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F76752F-AF0D-4F52-A149-E443F3E2AB05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086FF95-13E2-418A-A676-26B1E877B5CD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DBA6070-1F06-435D-94CD-25191F7503AE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714"/>
          </a:bodyPr>
          <a:lstStyle/>
          <a:p>
            <a:pPr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5104355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D9D32F60-AD9B-4255-B8F4-C0CD8C7575A8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进度跟踪的即时价值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A30AB5C0-7690-425A-85DC-332F73424F22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7393554-F235-487B-B790-F045736D7E4C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2F03C59E-F115-4859-A828-EB7A2FD313C8}"/>
              </a:ext>
            </a:extLst>
          </p:cNvPr>
          <p:cNvSpPr>
            <a:spLocks noGrp="1"/>
          </p:cNvSpPr>
          <p:nvPr/>
        </p:nvSpPr>
        <p:spPr>
          <a:xfrm>
            <a:off x="876300" y="1390650"/>
            <a:ext cx="4619625" cy="457200"/>
          </a:xfrm>
          <a:prstGeom prst="roundRect">
            <a:avLst>
              <a:gd name="adj" fmla="val 12500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它能解决什么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C26E3062-027E-4ACD-BD80-EF02A247A7AD}"/>
              </a:ext>
            </a:extLst>
          </p:cNvPr>
          <p:cNvSpPr>
            <a:spLocks noGrp="1"/>
          </p:cNvSpPr>
          <p:nvPr/>
        </p:nvSpPr>
        <p:spPr>
          <a:xfrm>
            <a:off x="6705600" y="1390650"/>
            <a:ext cx="4619625" cy="457200"/>
          </a:xfrm>
          <a:prstGeom prst="roundRect">
            <a:avLst>
              <a:gd name="adj" fmla="val 12500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它依赖什么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3CBCF876-95DD-451F-8051-D8FB56FC061A}"/>
              </a:ext>
            </a:extLst>
          </p:cNvPr>
          <p:cNvSpPr>
            <a:spLocks noGrp="1"/>
          </p:cNvSpPr>
          <p:nvPr/>
        </p:nvSpPr>
        <p:spPr>
          <a:xfrm>
            <a:off x="1047750" y="22479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646C22A-F9B7-40E4-BB84-6466DFEA5C5C}"/>
              </a:ext>
            </a:extLst>
          </p:cNvPr>
          <p:cNvSpPr>
            <a:spLocks noGrp="1"/>
          </p:cNvSpPr>
          <p:nvPr/>
        </p:nvSpPr>
        <p:spPr>
          <a:xfrm>
            <a:off x="1276350" y="21717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制止不同工序生产波动带来的等待和堆积。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02D78445-8E91-4CFF-9B54-47273E77F92B}"/>
              </a:ext>
            </a:extLst>
          </p:cNvPr>
          <p:cNvSpPr>
            <a:spLocks noGrp="1"/>
          </p:cNvSpPr>
          <p:nvPr/>
        </p:nvSpPr>
        <p:spPr>
          <a:xfrm>
            <a:off x="1047750" y="2895600"/>
            <a:ext cx="95250" cy="95250"/>
          </a:xfrm>
          <a:prstGeom prst="ellipse">
            <a:avLst/>
          </a:prstGeom>
          <a:solidFill>
            <a:srgbClr val="76BC21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82E445B-3E87-4DD8-91E9-6E4A1FFF12E9}"/>
              </a:ext>
            </a:extLst>
          </p:cNvPr>
          <p:cNvSpPr>
            <a:spLocks noGrp="1"/>
          </p:cNvSpPr>
          <p:nvPr/>
        </p:nvSpPr>
        <p:spPr>
          <a:xfrm>
            <a:off x="1276350" y="28194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保障价值环节尽量不停顿。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4E976A42-7D39-4C61-AB35-C3FF3AACAC16}"/>
              </a:ext>
            </a:extLst>
          </p:cNvPr>
          <p:cNvSpPr>
            <a:spLocks noGrp="1"/>
          </p:cNvSpPr>
          <p:nvPr/>
        </p:nvSpPr>
        <p:spPr>
          <a:xfrm>
            <a:off x="1047750" y="35433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4C2B86D-2904-45A6-AE08-1B855E7A9A75}"/>
              </a:ext>
            </a:extLst>
          </p:cNvPr>
          <p:cNvSpPr>
            <a:spLocks noGrp="1"/>
          </p:cNvSpPr>
          <p:nvPr/>
        </p:nvSpPr>
        <p:spPr>
          <a:xfrm>
            <a:off x="1276350" y="34671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把异常及时反馈给计划层，形成短周期调整。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1B62C221-3A27-48F5-8573-B66FFA9334B5}"/>
              </a:ext>
            </a:extLst>
          </p:cNvPr>
          <p:cNvSpPr>
            <a:spLocks noGrp="1"/>
          </p:cNvSpPr>
          <p:nvPr/>
        </p:nvSpPr>
        <p:spPr>
          <a:xfrm>
            <a:off x="6877050" y="22479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2B7F856-3D44-4313-AFF7-45E70AE9E913}"/>
              </a:ext>
            </a:extLst>
          </p:cNvPr>
          <p:cNvSpPr>
            <a:spLocks noGrp="1"/>
          </p:cNvSpPr>
          <p:nvPr/>
        </p:nvSpPr>
        <p:spPr>
          <a:xfrm>
            <a:off x="7105650" y="21717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24H 内业务运作是否按计划执行。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D6D32DD4-4A51-44FC-A0CC-313279E3BC94}"/>
              </a:ext>
            </a:extLst>
          </p:cNvPr>
          <p:cNvSpPr>
            <a:spLocks noGrp="1"/>
          </p:cNvSpPr>
          <p:nvPr/>
        </p:nvSpPr>
        <p:spPr>
          <a:xfrm>
            <a:off x="6877050" y="2895600"/>
            <a:ext cx="95250" cy="95250"/>
          </a:xfrm>
          <a:prstGeom prst="ellipse">
            <a:avLst/>
          </a:prstGeom>
          <a:solidFill>
            <a:srgbClr val="76BC21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EB43D50-3D1E-4A1C-9704-3371C81EAF39}"/>
              </a:ext>
            </a:extLst>
          </p:cNvPr>
          <p:cNvSpPr>
            <a:spLocks noGrp="1"/>
          </p:cNvSpPr>
          <p:nvPr/>
        </p:nvSpPr>
        <p:spPr>
          <a:xfrm>
            <a:off x="7105650" y="28194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真实生产动作如何发生。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997E1A43-CCD3-4F76-8EEE-339EBFBC5EC4}"/>
              </a:ext>
            </a:extLst>
          </p:cNvPr>
          <p:cNvSpPr>
            <a:spLocks noGrp="1"/>
          </p:cNvSpPr>
          <p:nvPr/>
        </p:nvSpPr>
        <p:spPr>
          <a:xfrm>
            <a:off x="6877050" y="35433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0D0B1CC-FD91-4235-93DD-ACE1C48BAE82}"/>
              </a:ext>
            </a:extLst>
          </p:cNvPr>
          <p:cNvSpPr>
            <a:spLocks noGrp="1"/>
          </p:cNvSpPr>
          <p:nvPr/>
        </p:nvSpPr>
        <p:spPr>
          <a:xfrm>
            <a:off x="7105650" y="34671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节拍 CT 和 Performance Rate 的可信数据。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DC0627E-93D3-499C-85A0-DC4EB5D884C2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039D24D-93BD-4CEF-9146-D412DBC0C3A0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D5C7A3E-91B4-4354-B2EC-909C514AF984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714"/>
          </a:bodyPr>
          <a:lstStyle/>
          <a:p>
            <a:pPr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8041954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8E2B4A71-710F-4249-8E1E-2C9B2FF23E11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Planning 是动态数据的前提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33BBB7B5-7508-4CD3-8295-F32D2CCC0200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925AD85-E841-4D63-B18A-9550A8FDB35B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C6FDD50B-EF0D-4D90-BCA8-FB6F848644BC}"/>
              </a:ext>
            </a:extLst>
          </p:cNvPr>
          <p:cNvSpPr>
            <a:spLocks noGrp="1"/>
          </p:cNvSpPr>
          <p:nvPr/>
        </p:nvSpPr>
        <p:spPr>
          <a:xfrm>
            <a:off x="762000" y="2428875"/>
            <a:ext cx="1333500" cy="552450"/>
          </a:xfrm>
          <a:prstGeom prst="roundRect">
            <a:avLst>
              <a:gd name="adj" fmla="val 10345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24H 计划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9C22A36C-281E-464D-8843-FBE60E6FF907}"/>
              </a:ext>
            </a:extLst>
          </p:cNvPr>
          <p:cNvSpPr>
            <a:spLocks noGrp="1"/>
          </p:cNvSpPr>
          <p:nvPr/>
        </p:nvSpPr>
        <p:spPr>
          <a:xfrm>
            <a:off x="2571750" y="2428875"/>
            <a:ext cx="1333500" cy="552450"/>
          </a:xfrm>
          <a:prstGeom prst="roundRect">
            <a:avLst>
              <a:gd name="adj" fmla="val 10345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设备状态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B14F3A2F-AB4C-4148-9D34-AB507D0D5DB0}"/>
              </a:ext>
            </a:extLst>
          </p:cNvPr>
          <p:cNvSpPr>
            <a:spLocks noGrp="1"/>
          </p:cNvSpPr>
          <p:nvPr/>
        </p:nvSpPr>
        <p:spPr>
          <a:xfrm>
            <a:off x="4381500" y="2428875"/>
            <a:ext cx="1333500" cy="552450"/>
          </a:xfrm>
          <a:prstGeom prst="roundRect">
            <a:avLst>
              <a:gd name="adj" fmla="val 10345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质量指标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F5C5095E-384F-442A-8B1D-FEB6787F0493}"/>
              </a:ext>
            </a:extLst>
          </p:cNvPr>
          <p:cNvSpPr>
            <a:spLocks noGrp="1"/>
          </p:cNvSpPr>
          <p:nvPr/>
        </p:nvSpPr>
        <p:spPr>
          <a:xfrm>
            <a:off x="6191250" y="2428875"/>
            <a:ext cx="1333500" cy="552450"/>
          </a:xfrm>
          <a:prstGeom prst="roundRect">
            <a:avLst>
              <a:gd name="adj" fmla="val 10345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进度反馈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F74196E8-B7F7-4C10-8F7A-6EFD3BFDF4F6}"/>
              </a:ext>
            </a:extLst>
          </p:cNvPr>
          <p:cNvSpPr>
            <a:spLocks noGrp="1"/>
          </p:cNvSpPr>
          <p:nvPr/>
        </p:nvSpPr>
        <p:spPr>
          <a:xfrm>
            <a:off x="8001000" y="2428875"/>
            <a:ext cx="1333500" cy="552450"/>
          </a:xfrm>
          <a:prstGeom prst="roundRect">
            <a:avLst>
              <a:gd name="adj" fmla="val 10345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偏差判断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193F6BC7-CC21-426F-B7C4-4F142C531360}"/>
              </a:ext>
            </a:extLst>
          </p:cNvPr>
          <p:cNvSpPr>
            <a:spLocks noGrp="1"/>
          </p:cNvSpPr>
          <p:nvPr/>
        </p:nvSpPr>
        <p:spPr>
          <a:xfrm>
            <a:off x="9810750" y="2428875"/>
            <a:ext cx="1333500" cy="552450"/>
          </a:xfrm>
          <a:prstGeom prst="roundRect">
            <a:avLst>
              <a:gd name="adj" fmla="val 10345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Replan</a:t>
            </a:r>
          </a:p>
        </p:txBody>
      </p:sp>
      <p:cxnSp>
        <p:nvCxnSpPr>
          <p:cNvPr id="28" name="直线箭头连接符 27"/>
          <p:cNvCxnSpPr>
            <a:stCxn id="4" idx="3"/>
            <a:endCxn id="5" idx="1"/>
          </p:cNvCxnSpPr>
          <p:nvPr/>
        </p:nvCxnSpPr>
        <p:spPr>
          <a:xfrm>
            <a:off x="2095500" y="2705100"/>
            <a:ext cx="476250" cy="0"/>
          </a:xfrm>
          <a:prstGeom prst="straightConnector1">
            <a:avLst/>
          </a:prstGeom>
          <a:ln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29" name="直线箭头连接符 28"/>
          <p:cNvCxnSpPr>
            <a:stCxn id="5" idx="3"/>
            <a:endCxn id="6" idx="1"/>
          </p:cNvCxnSpPr>
          <p:nvPr/>
        </p:nvCxnSpPr>
        <p:spPr>
          <a:xfrm>
            <a:off x="3905250" y="2705100"/>
            <a:ext cx="476250" cy="0"/>
          </a:xfrm>
          <a:prstGeom prst="straightConnector1">
            <a:avLst/>
          </a:prstGeom>
          <a:ln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30" name="直线箭头连接符 29"/>
          <p:cNvCxnSpPr>
            <a:stCxn id="6" idx="3"/>
            <a:endCxn id="7" idx="1"/>
          </p:cNvCxnSpPr>
          <p:nvPr/>
        </p:nvCxnSpPr>
        <p:spPr>
          <a:xfrm>
            <a:off x="5715000" y="2705100"/>
            <a:ext cx="476250" cy="0"/>
          </a:xfrm>
          <a:prstGeom prst="straightConnector1">
            <a:avLst/>
          </a:prstGeom>
          <a:ln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31" name="直线箭头连接符 30"/>
          <p:cNvCxnSpPr>
            <a:stCxn id="7" idx="3"/>
            <a:endCxn id="8" idx="1"/>
          </p:cNvCxnSpPr>
          <p:nvPr/>
        </p:nvCxnSpPr>
        <p:spPr>
          <a:xfrm>
            <a:off x="7524750" y="2705100"/>
            <a:ext cx="476250" cy="0"/>
          </a:xfrm>
          <a:prstGeom prst="straightConnector1">
            <a:avLst/>
          </a:prstGeom>
          <a:ln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32" name="直线箭头连接符 31"/>
          <p:cNvCxnSpPr>
            <a:stCxn id="8" idx="3"/>
            <a:endCxn id="9" idx="1"/>
          </p:cNvCxnSpPr>
          <p:nvPr/>
        </p:nvCxnSpPr>
        <p:spPr>
          <a:xfrm>
            <a:off x="9334500" y="2705100"/>
            <a:ext cx="476250" cy="0"/>
          </a:xfrm>
          <a:prstGeom prst="straightConnector1">
            <a:avLst/>
          </a:prstGeom>
          <a:ln w="14288">
            <a:solidFill>
              <a:srgbClr val="8DA5AE"/>
            </a:solidFill>
            <a:prstDash val="solid"/>
            <a:headEnd type="triangle" w="sm" len="sm"/>
          </a:ln>
        </p:spPr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18A72585-2987-478E-B5C4-B7870FC04033}"/>
              </a:ext>
            </a:extLst>
          </p:cNvPr>
          <p:cNvSpPr>
            <a:spLocks noGrp="1"/>
          </p:cNvSpPr>
          <p:nvPr/>
        </p:nvSpPr>
        <p:spPr>
          <a:xfrm>
            <a:off x="1600200" y="4095750"/>
            <a:ext cx="89916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ctr">
              <a:defRPr sz="16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6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没有计划基准，动态数据只能成为记录；有计划基准，动态数据才能判断偏差和触发调整。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D0CBC53-85C0-4465-9A36-64F57906B7FF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51FA949-5AE5-4655-9E9C-DA33D0550AAF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D4B0F8F-C560-41A2-A7C9-18252D3CC30F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714"/>
          </a:bodyPr>
          <a:lstStyle/>
          <a:p>
            <a:pPr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现场穿插：DEMO2 场地规划软件</a:t>
            </a:r>
          </a:p>
        </p:txBody>
      </p:sp>
    </p:spTree>
    <p:extLst>
      <p:ext uri="{BB962C8B-B14F-4D97-AF65-F5344CB8AC3E}">
        <p14:creationId xmlns:p14="http://schemas.microsoft.com/office/powerpoint/2010/main" val="6238152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291BB7D9-063A-4C48-9FA7-C6D4B7393634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工单驱动与拉动式物料流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C3B656B8-6C6B-4A79-8FE0-68C40099F646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75E89B4-E1DD-4FBB-9BA6-B8A452E39D3D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C74636BE-B3AB-44CF-8286-F9457EF3A86D}"/>
              </a:ext>
            </a:extLst>
          </p:cNvPr>
          <p:cNvSpPr>
            <a:spLocks noGrp="1"/>
          </p:cNvSpPr>
          <p:nvPr/>
        </p:nvSpPr>
        <p:spPr>
          <a:xfrm>
            <a:off x="876300" y="1390650"/>
            <a:ext cx="4619625" cy="457200"/>
          </a:xfrm>
          <a:prstGeom prst="roundRect">
            <a:avLst>
              <a:gd name="adj" fmla="val 12500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可以接受的工单驱动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C84C989F-3917-4479-84C8-D686C9647F81}"/>
              </a:ext>
            </a:extLst>
          </p:cNvPr>
          <p:cNvSpPr>
            <a:spLocks noGrp="1"/>
          </p:cNvSpPr>
          <p:nvPr/>
        </p:nvSpPr>
        <p:spPr>
          <a:xfrm>
            <a:off x="6705600" y="1390650"/>
            <a:ext cx="4619625" cy="457200"/>
          </a:xfrm>
          <a:prstGeom prst="roundRect">
            <a:avLst>
              <a:gd name="adj" fmla="val 12500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更适合拉动的物料移动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8088A2B3-977B-4E2D-9725-4DF6C97331EC}"/>
              </a:ext>
            </a:extLst>
          </p:cNvPr>
          <p:cNvSpPr>
            <a:spLocks noGrp="1"/>
          </p:cNvSpPr>
          <p:nvPr/>
        </p:nvSpPr>
        <p:spPr>
          <a:xfrm>
            <a:off x="1047750" y="22479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F642A2D-774E-4EE0-BA04-4C909E678C6D}"/>
              </a:ext>
            </a:extLst>
          </p:cNvPr>
          <p:cNvSpPr>
            <a:spLocks noGrp="1"/>
          </p:cNvSpPr>
          <p:nvPr/>
        </p:nvSpPr>
        <p:spPr>
          <a:xfrm>
            <a:off x="1276350" y="21717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工单驱动料单和发料动作。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FB11EB6A-DD0E-41F6-9217-D68B16C4BB57}"/>
              </a:ext>
            </a:extLst>
          </p:cNvPr>
          <p:cNvSpPr>
            <a:spLocks noGrp="1"/>
          </p:cNvSpPr>
          <p:nvPr/>
        </p:nvSpPr>
        <p:spPr>
          <a:xfrm>
            <a:off x="1047750" y="2895600"/>
            <a:ext cx="95250" cy="95250"/>
          </a:xfrm>
          <a:prstGeom prst="ellipse">
            <a:avLst/>
          </a:prstGeom>
          <a:solidFill>
            <a:srgbClr val="76BC21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78C10BD-B272-45ED-AD35-80F1D00AFA43}"/>
              </a:ext>
            </a:extLst>
          </p:cNvPr>
          <p:cNvSpPr>
            <a:spLocks noGrp="1"/>
          </p:cNvSpPr>
          <p:nvPr/>
        </p:nvSpPr>
        <p:spPr>
          <a:xfrm>
            <a:off x="1276350" y="28194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铝锭等原材料发出至铸造产线，可以由工单牵引。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408D36D5-3BBD-469C-A0FA-02AF12A890D4}"/>
              </a:ext>
            </a:extLst>
          </p:cNvPr>
          <p:cNvSpPr>
            <a:spLocks noGrp="1"/>
          </p:cNvSpPr>
          <p:nvPr/>
        </p:nvSpPr>
        <p:spPr>
          <a:xfrm>
            <a:off x="1047750" y="35433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402153E-5707-4325-B28C-8511A76B3E7B}"/>
              </a:ext>
            </a:extLst>
          </p:cNvPr>
          <p:cNvSpPr>
            <a:spLocks noGrp="1"/>
          </p:cNvSpPr>
          <p:nvPr/>
        </p:nvSpPr>
        <p:spPr>
          <a:xfrm>
            <a:off x="1276350" y="34671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计划仍然需要提供材料需求和产能边界。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7CC47D57-6BD4-41A1-85B7-2E705D65DCE9}"/>
              </a:ext>
            </a:extLst>
          </p:cNvPr>
          <p:cNvSpPr>
            <a:spLocks noGrp="1"/>
          </p:cNvSpPr>
          <p:nvPr/>
        </p:nvSpPr>
        <p:spPr>
          <a:xfrm>
            <a:off x="6877050" y="22479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F6DCC75-1194-49BF-8315-6DB3A9DB6011}"/>
              </a:ext>
            </a:extLst>
          </p:cNvPr>
          <p:cNvSpPr>
            <a:spLocks noGrp="1"/>
          </p:cNvSpPr>
          <p:nvPr/>
        </p:nvSpPr>
        <p:spPr>
          <a:xfrm>
            <a:off x="7105650" y="21717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铸造完成品到后续工序。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A2DA2C10-26A9-4F32-9C4E-C07757169AE0}"/>
              </a:ext>
            </a:extLst>
          </p:cNvPr>
          <p:cNvSpPr>
            <a:spLocks noGrp="1"/>
          </p:cNvSpPr>
          <p:nvPr/>
        </p:nvSpPr>
        <p:spPr>
          <a:xfrm>
            <a:off x="6877050" y="2895600"/>
            <a:ext cx="95250" cy="95250"/>
          </a:xfrm>
          <a:prstGeom prst="ellipse">
            <a:avLst/>
          </a:prstGeom>
          <a:solidFill>
            <a:srgbClr val="76BC21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6ED4FD8-E478-4B37-AC34-E427A877F525}"/>
              </a:ext>
            </a:extLst>
          </p:cNvPr>
          <p:cNvSpPr>
            <a:spLocks noGrp="1"/>
          </p:cNvSpPr>
          <p:nvPr/>
        </p:nvSpPr>
        <p:spPr>
          <a:xfrm>
            <a:off x="7105650" y="28194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机加到装配。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FCFE3A9B-C0FB-4A5C-8CA4-563B4FE72916}"/>
              </a:ext>
            </a:extLst>
          </p:cNvPr>
          <p:cNvSpPr>
            <a:spLocks noGrp="1"/>
          </p:cNvSpPr>
          <p:nvPr/>
        </p:nvSpPr>
        <p:spPr>
          <a:xfrm>
            <a:off x="6877050" y="35433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BD19751-075C-49CF-87C3-EE090043687B}"/>
              </a:ext>
            </a:extLst>
          </p:cNvPr>
          <p:cNvSpPr>
            <a:spLocks noGrp="1"/>
          </p:cNvSpPr>
          <p:nvPr/>
        </p:nvSpPr>
        <p:spPr>
          <a:xfrm>
            <a:off x="7105650" y="34671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排产基于各环节库存量级，真实物理流动由后工序拉动前工序。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E6EAD7E-7B5E-490B-AFA4-912DE720A3B1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6EB42EA-812B-4087-8140-B382B67D15AF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E55C0AE-FBCB-4A7A-87C8-D89A9A6DD46F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714"/>
          </a:bodyPr>
          <a:lstStyle/>
          <a:p>
            <a:pPr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7765402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E44DF98D-3E17-44C8-99FF-B4C487005258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当前架构中的弱化能力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3BF4B301-1646-48B3-8A22-2BFEEE97136B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D918D93-E5AC-460C-913B-1B6E404B3D28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F94B4092-CE52-4DE7-8C6F-D847B8BC7EA5}"/>
              </a:ext>
            </a:extLst>
          </p:cNvPr>
          <p:cNvSpPr>
            <a:spLocks noGrp="1"/>
          </p:cNvSpPr>
          <p:nvPr/>
        </p:nvSpPr>
        <p:spPr>
          <a:xfrm>
            <a:off x="876300" y="1390650"/>
            <a:ext cx="4619625" cy="457200"/>
          </a:xfrm>
          <a:prstGeom prst="roundRect">
            <a:avLst>
              <a:gd name="adj" fmla="val 12500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业务层面较弱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25A9A3EA-ED4E-4ADC-91E6-B78D46310C78}"/>
              </a:ext>
            </a:extLst>
          </p:cNvPr>
          <p:cNvSpPr>
            <a:spLocks noGrp="1"/>
          </p:cNvSpPr>
          <p:nvPr/>
        </p:nvSpPr>
        <p:spPr>
          <a:xfrm>
            <a:off x="6705600" y="1390650"/>
            <a:ext cx="4619625" cy="457200"/>
          </a:xfrm>
          <a:prstGeom prst="roundRect">
            <a:avLst>
              <a:gd name="adj" fmla="val 12500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系统层面较弱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36A307B5-B037-467C-BDB9-3FBBB410D66A}"/>
              </a:ext>
            </a:extLst>
          </p:cNvPr>
          <p:cNvSpPr>
            <a:spLocks noGrp="1"/>
          </p:cNvSpPr>
          <p:nvPr/>
        </p:nvSpPr>
        <p:spPr>
          <a:xfrm>
            <a:off x="1047750" y="22479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F5F3807-6E30-4043-932D-C2783860C9C0}"/>
              </a:ext>
            </a:extLst>
          </p:cNvPr>
          <p:cNvSpPr>
            <a:spLocks noGrp="1"/>
          </p:cNvSpPr>
          <p:nvPr/>
        </p:nvSpPr>
        <p:spPr>
          <a:xfrm>
            <a:off x="1276350" y="21717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生产计划没有充分牵引现场节奏。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50E6D683-7E6B-4D1B-9AC0-B596C3B391C2}"/>
              </a:ext>
            </a:extLst>
          </p:cNvPr>
          <p:cNvSpPr>
            <a:spLocks noGrp="1"/>
          </p:cNvSpPr>
          <p:nvPr/>
        </p:nvSpPr>
        <p:spPr>
          <a:xfrm>
            <a:off x="1047750" y="2895600"/>
            <a:ext cx="95250" cy="95250"/>
          </a:xfrm>
          <a:prstGeom prst="ellipse">
            <a:avLst/>
          </a:prstGeom>
          <a:solidFill>
            <a:srgbClr val="76BC21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AED097E-606B-4006-BF7A-280A5237A4BE}"/>
              </a:ext>
            </a:extLst>
          </p:cNvPr>
          <p:cNvSpPr>
            <a:spLocks noGrp="1"/>
          </p:cNvSpPr>
          <p:nvPr/>
        </p:nvSpPr>
        <p:spPr>
          <a:xfrm>
            <a:off x="1276350" y="28194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跨工序库存水位和拉动关系不清晰。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53D363B9-E991-4FD9-BDE0-7C7C81C5348F}"/>
              </a:ext>
            </a:extLst>
          </p:cNvPr>
          <p:cNvSpPr>
            <a:spLocks noGrp="1"/>
          </p:cNvSpPr>
          <p:nvPr/>
        </p:nvSpPr>
        <p:spPr>
          <a:xfrm>
            <a:off x="1047750" y="35433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CC4FD04-3812-4F1C-A842-50252BB2552E}"/>
              </a:ext>
            </a:extLst>
          </p:cNvPr>
          <p:cNvSpPr>
            <a:spLocks noGrp="1"/>
          </p:cNvSpPr>
          <p:nvPr/>
        </p:nvSpPr>
        <p:spPr>
          <a:xfrm>
            <a:off x="1276350" y="34671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异常反馈缺少短周期重排机制。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AEA88147-F7F4-410E-9EE4-6BC3F14F58C7}"/>
              </a:ext>
            </a:extLst>
          </p:cNvPr>
          <p:cNvSpPr>
            <a:spLocks noGrp="1"/>
          </p:cNvSpPr>
          <p:nvPr/>
        </p:nvSpPr>
        <p:spPr>
          <a:xfrm>
            <a:off x="6877050" y="22479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47C4745-F72B-492A-8C6B-6ADD091E4DDF}"/>
              </a:ext>
            </a:extLst>
          </p:cNvPr>
          <p:cNvSpPr>
            <a:spLocks noGrp="1"/>
          </p:cNvSpPr>
          <p:nvPr/>
        </p:nvSpPr>
        <p:spPr>
          <a:xfrm>
            <a:off x="7105650" y="21717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当前已有功能偏库存记录和执行记录。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2E05BBD-F819-4EA9-99D4-1270F5671703}"/>
              </a:ext>
            </a:extLst>
          </p:cNvPr>
          <p:cNvSpPr>
            <a:spLocks noGrp="1"/>
          </p:cNvSpPr>
          <p:nvPr/>
        </p:nvSpPr>
        <p:spPr>
          <a:xfrm>
            <a:off x="6877050" y="2895600"/>
            <a:ext cx="95250" cy="95250"/>
          </a:xfrm>
          <a:prstGeom prst="ellipse">
            <a:avLst/>
          </a:prstGeom>
          <a:solidFill>
            <a:srgbClr val="76BC21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889A496-5200-488B-B008-C22047898047}"/>
              </a:ext>
            </a:extLst>
          </p:cNvPr>
          <p:cNvSpPr>
            <a:spLocks noGrp="1"/>
          </p:cNvSpPr>
          <p:nvPr/>
        </p:nvSpPr>
        <p:spPr>
          <a:xfrm>
            <a:off x="7105650" y="28194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二期功能偏设备数据和质量输出。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311CEB42-A1DD-4297-B864-93481E5D3B67}"/>
              </a:ext>
            </a:extLst>
          </p:cNvPr>
          <p:cNvSpPr>
            <a:spLocks noGrp="1"/>
          </p:cNvSpPr>
          <p:nvPr/>
        </p:nvSpPr>
        <p:spPr>
          <a:xfrm>
            <a:off x="6877050" y="35433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7C5B540-328C-420F-A3AB-66335C66217B}"/>
              </a:ext>
            </a:extLst>
          </p:cNvPr>
          <p:cNvSpPr>
            <a:spLocks noGrp="1"/>
          </p:cNvSpPr>
          <p:nvPr/>
        </p:nvSpPr>
        <p:spPr>
          <a:xfrm>
            <a:off x="7105650" y="34671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对拉动式物流和计划重排的支撑不足。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331A6FF-D1D6-48E8-9F40-9C36F721AABB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C5C0D38-9A7B-45B3-AD74-80F650F736B8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D377E5A-9560-45EF-A810-4C665BABA063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714"/>
          </a:bodyPr>
          <a:lstStyle/>
          <a:p>
            <a:pPr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现场穿插：业务过程与功能重组工作台</a:t>
            </a:r>
          </a:p>
        </p:txBody>
      </p:sp>
    </p:spTree>
    <p:extLst>
      <p:ext uri="{BB962C8B-B14F-4D97-AF65-F5344CB8AC3E}">
        <p14:creationId xmlns:p14="http://schemas.microsoft.com/office/powerpoint/2010/main" val="12435359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BE350441-1FD9-4BD9-A2EC-A119B3203CF8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阶段二的实现方法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A720BF0D-13BA-4F74-9EB1-C5A9CEFDE178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C9CD294-3FF2-4875-8AFD-584B8F8761FC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639864E9-C6F6-4CF1-9FD8-38BCB8F31323}"/>
              </a:ext>
            </a:extLst>
          </p:cNvPr>
          <p:cNvSpPr>
            <a:spLocks noGrp="1"/>
          </p:cNvSpPr>
          <p:nvPr/>
        </p:nvSpPr>
        <p:spPr>
          <a:xfrm>
            <a:off x="800100" y="1504950"/>
            <a:ext cx="4476750" cy="457200"/>
          </a:xfrm>
          <a:prstGeom prst="roundRect">
            <a:avLst>
              <a:gd name="adj" fmla="val 12500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价值流落位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BC6D4BFE-39AE-43BE-BCFF-52BE2051A0BD}"/>
              </a:ext>
            </a:extLst>
          </p:cNvPr>
          <p:cNvSpPr>
            <a:spLocks noGrp="1"/>
          </p:cNvSpPr>
          <p:nvPr/>
        </p:nvSpPr>
        <p:spPr>
          <a:xfrm>
            <a:off x="800100" y="2095500"/>
            <a:ext cx="447675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把全工序数据采集放回过程节点，而不是放在系统模块里讨论。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AADB5370-950C-479C-9369-F966CBB9D318}"/>
              </a:ext>
            </a:extLst>
          </p:cNvPr>
          <p:cNvSpPr>
            <a:spLocks noGrp="1"/>
          </p:cNvSpPr>
          <p:nvPr/>
        </p:nvSpPr>
        <p:spPr>
          <a:xfrm>
            <a:off x="6324600" y="1504950"/>
            <a:ext cx="4476750" cy="457200"/>
          </a:xfrm>
          <a:prstGeom prst="roundRect">
            <a:avLst>
              <a:gd name="adj" fmla="val 12500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动作反推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7D820E8C-A286-4CF5-B8B9-71EA3FD49F8A}"/>
              </a:ext>
            </a:extLst>
          </p:cNvPr>
          <p:cNvSpPr>
            <a:spLocks noGrp="1"/>
          </p:cNvSpPr>
          <p:nvPr/>
        </p:nvSpPr>
        <p:spPr>
          <a:xfrm>
            <a:off x="6324600" y="2095500"/>
            <a:ext cx="447675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先定义停线、曲线、经验值、replan 等动作，再定义数据范围。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966D7E72-C3E6-41EE-AB28-446FA8D70FC9}"/>
              </a:ext>
            </a:extLst>
          </p:cNvPr>
          <p:cNvSpPr>
            <a:spLocks noGrp="1"/>
          </p:cNvSpPr>
          <p:nvPr/>
        </p:nvSpPr>
        <p:spPr>
          <a:xfrm>
            <a:off x="800100" y="3505200"/>
            <a:ext cx="4476750" cy="457200"/>
          </a:xfrm>
          <a:prstGeom prst="roundRect">
            <a:avLst>
              <a:gd name="adj" fmla="val 12500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计划基准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08D2E1C9-DF7A-4D26-A4F6-741528525084}"/>
              </a:ext>
            </a:extLst>
          </p:cNvPr>
          <p:cNvSpPr>
            <a:spLocks noGrp="1"/>
          </p:cNvSpPr>
          <p:nvPr/>
        </p:nvSpPr>
        <p:spPr>
          <a:xfrm>
            <a:off x="800100" y="4095750"/>
            <a:ext cx="447675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建立 24H 计划和工序节拍基准，让动态数据有判断对象。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A4553BCE-0CCC-4F60-8B1E-ACAC8B84A403}"/>
              </a:ext>
            </a:extLst>
          </p:cNvPr>
          <p:cNvSpPr>
            <a:spLocks noGrp="1"/>
          </p:cNvSpPr>
          <p:nvPr/>
        </p:nvSpPr>
        <p:spPr>
          <a:xfrm>
            <a:off x="6324600" y="3505200"/>
            <a:ext cx="4476750" cy="457200"/>
          </a:xfrm>
          <a:prstGeom prst="roundRect">
            <a:avLst>
              <a:gd name="adj" fmla="val 12500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拉动补强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FCFF6467-E325-4E21-8249-3310A010AEE3}"/>
              </a:ext>
            </a:extLst>
          </p:cNvPr>
          <p:cNvSpPr>
            <a:spLocks noGrp="1"/>
          </p:cNvSpPr>
          <p:nvPr/>
        </p:nvSpPr>
        <p:spPr>
          <a:xfrm>
            <a:off x="6324600" y="4095750"/>
            <a:ext cx="447675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补足跨工序库存水位和后工序拉动前工序的能力。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C4C5B49-265C-41CA-BCEE-E4396C0B76F1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42C49B1-9F71-4779-B702-1AC6F0557FED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7CE9133-6BB1-4AA0-A675-6A6467CC292A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714"/>
          </a:bodyPr>
          <a:lstStyle/>
          <a:p>
            <a:pPr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现场穿插：价值流画板，DEMO2 场地规划软件</a:t>
            </a:r>
          </a:p>
        </p:txBody>
      </p:sp>
    </p:spTree>
    <p:extLst>
      <p:ext uri="{BB962C8B-B14F-4D97-AF65-F5344CB8AC3E}">
        <p14:creationId xmlns:p14="http://schemas.microsoft.com/office/powerpoint/2010/main" val="4621861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035A0888-F5A7-47BC-AC64-DE623DFD4960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阶段二后的数字孪生基础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81415FB4-8BC5-478D-89FC-DE7530AA9B6A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296E9E2-64C0-4CAF-A993-0F034436668F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14A21E5C-8729-481C-A6AB-8ED3E654EBEC}"/>
              </a:ext>
            </a:extLst>
          </p:cNvPr>
          <p:cNvSpPr>
            <a:spLocks noGrp="1"/>
          </p:cNvSpPr>
          <p:nvPr/>
        </p:nvSpPr>
        <p:spPr>
          <a:xfrm>
            <a:off x="1123950" y="1714500"/>
            <a:ext cx="2095500" cy="704850"/>
          </a:xfrm>
          <a:prstGeom prst="roundRect">
            <a:avLst>
              <a:gd name="adj" fmla="val 8108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6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现场过程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F8958A82-3A86-47E6-83A3-F83534337ADF}"/>
              </a:ext>
            </a:extLst>
          </p:cNvPr>
          <p:cNvSpPr>
            <a:spLocks noGrp="1"/>
          </p:cNvSpPr>
          <p:nvPr/>
        </p:nvSpPr>
        <p:spPr>
          <a:xfrm>
            <a:off x="5048250" y="1714500"/>
            <a:ext cx="2095500" cy="704850"/>
          </a:xfrm>
          <a:prstGeom prst="roundRect">
            <a:avLst>
              <a:gd name="adj" fmla="val 8108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6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数字投影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85B31ADE-A279-479F-8164-2F8E1DC6E3A2}"/>
              </a:ext>
            </a:extLst>
          </p:cNvPr>
          <p:cNvSpPr>
            <a:spLocks noGrp="1"/>
          </p:cNvSpPr>
          <p:nvPr/>
        </p:nvSpPr>
        <p:spPr>
          <a:xfrm>
            <a:off x="8972550" y="1714500"/>
            <a:ext cx="2095500" cy="704850"/>
          </a:xfrm>
          <a:prstGeom prst="roundRect">
            <a:avLst>
              <a:gd name="adj" fmla="val 8108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6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管理判断</a:t>
            </a:r>
          </a:p>
        </p:txBody>
      </p:sp>
      <p:sp>
        <p:nvSpPr>
          <p:cNvPr id="7" name="直线连接符 6">
            <a:extLst>
              <a:ext uri="{FF2B5EF4-FFF2-40B4-BE49-F238E27FC236}">
                <a16:creationId xmlns:a16="http://schemas.microsoft.com/office/drawing/2014/main" id="{9E86D7B1-592A-45E8-82D3-730B35A330C4}"/>
              </a:ext>
            </a:extLst>
          </p:cNvPr>
          <p:cNvSpPr>
            <a:spLocks noGrp="1"/>
          </p:cNvSpPr>
          <p:nvPr/>
        </p:nvSpPr>
        <p:spPr>
          <a:xfrm>
            <a:off x="3219450" y="2066925"/>
            <a:ext cx="1828800" cy="0"/>
          </a:xfrm>
          <a:prstGeom prst="line">
            <a:avLst/>
          </a:prstGeom>
          <a:noFill/>
          <a:ln w="14288">
            <a:solidFill>
              <a:srgbClr val="A8B8BF"/>
            </a:solidFill>
            <a:prstDash val="solid"/>
          </a:ln>
        </p:spPr>
      </p:sp>
      <p:sp>
        <p:nvSpPr>
          <p:cNvPr id="8" name="直线连接符 7">
            <a:extLst>
              <a:ext uri="{FF2B5EF4-FFF2-40B4-BE49-F238E27FC236}">
                <a16:creationId xmlns:a16="http://schemas.microsoft.com/office/drawing/2014/main" id="{0F64EB09-F7CA-4EE7-AE01-83DB9FF97D06}"/>
              </a:ext>
            </a:extLst>
          </p:cNvPr>
          <p:cNvSpPr>
            <a:spLocks noGrp="1"/>
          </p:cNvSpPr>
          <p:nvPr/>
        </p:nvSpPr>
        <p:spPr>
          <a:xfrm>
            <a:off x="7143750" y="2066925"/>
            <a:ext cx="1828800" cy="0"/>
          </a:xfrm>
          <a:prstGeom prst="line">
            <a:avLst/>
          </a:prstGeom>
          <a:noFill/>
          <a:ln w="14288">
            <a:solidFill>
              <a:srgbClr val="A8B8BF"/>
            </a:solidFill>
            <a:prstDash val="solid"/>
          </a:ln>
        </p:spPr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D1BEEC09-AA84-46F4-9862-B12DB9156D3D}"/>
              </a:ext>
            </a:extLst>
          </p:cNvPr>
          <p:cNvSpPr>
            <a:spLocks noGrp="1"/>
          </p:cNvSpPr>
          <p:nvPr/>
        </p:nvSpPr>
        <p:spPr>
          <a:xfrm>
            <a:off x="1657350" y="3143250"/>
            <a:ext cx="200025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计划基准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A9F38695-B583-4B01-8F6B-0DE05E5B0BE0}"/>
              </a:ext>
            </a:extLst>
          </p:cNvPr>
          <p:cNvSpPr>
            <a:spLocks noGrp="1"/>
          </p:cNvSpPr>
          <p:nvPr/>
        </p:nvSpPr>
        <p:spPr>
          <a:xfrm>
            <a:off x="4610100" y="3143250"/>
            <a:ext cx="200025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设备状态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16102F14-AC8F-4878-A3A3-9E5EB1D7296F}"/>
              </a:ext>
            </a:extLst>
          </p:cNvPr>
          <p:cNvSpPr>
            <a:spLocks noGrp="1"/>
          </p:cNvSpPr>
          <p:nvPr/>
        </p:nvSpPr>
        <p:spPr>
          <a:xfrm>
            <a:off x="7562850" y="3143250"/>
            <a:ext cx="200025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质量曲线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6F415047-ECDE-4B8B-8911-012772059FDD}"/>
              </a:ext>
            </a:extLst>
          </p:cNvPr>
          <p:cNvSpPr>
            <a:spLocks noGrp="1"/>
          </p:cNvSpPr>
          <p:nvPr/>
        </p:nvSpPr>
        <p:spPr>
          <a:xfrm>
            <a:off x="1657350" y="3829050"/>
            <a:ext cx="200025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参数经验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5D5246B2-BD02-496D-A604-169C0CC3A6B5}"/>
              </a:ext>
            </a:extLst>
          </p:cNvPr>
          <p:cNvSpPr>
            <a:spLocks noGrp="1"/>
          </p:cNvSpPr>
          <p:nvPr/>
        </p:nvSpPr>
        <p:spPr>
          <a:xfrm>
            <a:off x="4610100" y="3829050"/>
            <a:ext cx="200025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WIP 水位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05FC46AC-9392-439F-8539-0D44FF9F759D}"/>
              </a:ext>
            </a:extLst>
          </p:cNvPr>
          <p:cNvSpPr>
            <a:spLocks noGrp="1"/>
          </p:cNvSpPr>
          <p:nvPr/>
        </p:nvSpPr>
        <p:spPr>
          <a:xfrm>
            <a:off x="7562850" y="3829050"/>
            <a:ext cx="200025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进度偏差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D00332D-BD92-4558-A811-3C5C1719E3D4}"/>
              </a:ext>
            </a:extLst>
          </p:cNvPr>
          <p:cNvSpPr>
            <a:spLocks noGrp="1"/>
          </p:cNvSpPr>
          <p:nvPr/>
        </p:nvSpPr>
        <p:spPr>
          <a:xfrm>
            <a:off x="1428750" y="5334000"/>
            <a:ext cx="9334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ctr">
              <a:defRPr sz="1575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575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当计划、设备、质量、参数和实物流都能投影到同一张图上，数字孪生才具备调整能力。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896761E-32A8-4405-85C5-7892CEFC6C00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AED7FB5-4F84-4956-99CB-58875A781186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CD3C2E3-3267-453F-A95A-B0351B1FF569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714"/>
          </a:bodyPr>
          <a:lstStyle/>
          <a:p>
            <a:pPr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现场穿插：价值流画板，DEMO2 场地规划软件</a:t>
            </a:r>
          </a:p>
        </p:txBody>
      </p:sp>
    </p:spTree>
    <p:extLst>
      <p:ext uri="{BB962C8B-B14F-4D97-AF65-F5344CB8AC3E}">
        <p14:creationId xmlns:p14="http://schemas.microsoft.com/office/powerpoint/2010/main" val="19756068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80E4B387-D20E-49FF-B5EF-8C073784D362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AI 的介入位置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D7CF834E-88C6-448E-B6BF-46BA6D7C3C68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9979EA-4AC9-4198-8DAE-31D735BB25FE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A1F58F21-CD6D-40F8-ABEB-0D0DB548D1D7}"/>
              </a:ext>
            </a:extLst>
          </p:cNvPr>
          <p:cNvSpPr>
            <a:spLocks noGrp="1"/>
          </p:cNvSpPr>
          <p:nvPr/>
        </p:nvSpPr>
        <p:spPr>
          <a:xfrm>
            <a:off x="1162050" y="1657350"/>
            <a:ext cx="2476500" cy="476250"/>
          </a:xfrm>
          <a:prstGeom prst="roundRect">
            <a:avLst>
              <a:gd name="adj" fmla="val 12000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6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设备边缘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F5308A1B-FCA6-41E6-BE7C-EBE5962488E8}"/>
              </a:ext>
            </a:extLst>
          </p:cNvPr>
          <p:cNvSpPr>
            <a:spLocks noGrp="1"/>
          </p:cNvSpPr>
          <p:nvPr/>
        </p:nvSpPr>
        <p:spPr>
          <a:xfrm>
            <a:off x="1162050" y="2381250"/>
            <a:ext cx="2476500" cy="123825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在状态异常和质量指标偏离时，辅助判断是否停线、降速或切换参数。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511E336C-5190-4C9E-A6D0-CC84CC2CBE06}"/>
              </a:ext>
            </a:extLst>
          </p:cNvPr>
          <p:cNvSpPr>
            <a:spLocks noGrp="1"/>
          </p:cNvSpPr>
          <p:nvPr/>
        </p:nvSpPr>
        <p:spPr>
          <a:xfrm>
            <a:off x="4495800" y="1657350"/>
            <a:ext cx="2476500" cy="476250"/>
          </a:xfrm>
          <a:prstGeom prst="roundRect">
            <a:avLst>
              <a:gd name="adj" fmla="val 12000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6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计划重排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5AFBFFB9-10C2-4600-A130-E591D3521917}"/>
              </a:ext>
            </a:extLst>
          </p:cNvPr>
          <p:cNvSpPr>
            <a:spLocks noGrp="1"/>
          </p:cNvSpPr>
          <p:nvPr/>
        </p:nvSpPr>
        <p:spPr>
          <a:xfrm>
            <a:off x="4495800" y="2381250"/>
            <a:ext cx="2476500" cy="123825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以更小颗粒度监控工序进度，并生成短周期 replan 建议。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0679DA18-5F02-41A0-B81D-E9AE7A0BF85C}"/>
              </a:ext>
            </a:extLst>
          </p:cNvPr>
          <p:cNvSpPr>
            <a:spLocks noGrp="1"/>
          </p:cNvSpPr>
          <p:nvPr/>
        </p:nvSpPr>
        <p:spPr>
          <a:xfrm>
            <a:off x="7829550" y="1657350"/>
            <a:ext cx="2476500" cy="476250"/>
          </a:xfrm>
          <a:prstGeom prst="roundRect">
            <a:avLst>
              <a:gd name="adj" fmla="val 12000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6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参数过滤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98F0C82C-A140-4E99-B8A9-9B1B1A2992FB}"/>
              </a:ext>
            </a:extLst>
          </p:cNvPr>
          <p:cNvSpPr>
            <a:spLocks noGrp="1"/>
          </p:cNvSpPr>
          <p:nvPr/>
        </p:nvSpPr>
        <p:spPr>
          <a:xfrm>
            <a:off x="7829550" y="2381250"/>
            <a:ext cx="2476500" cy="123825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过滤非必要数据，保留对产品状态和工艺设定有效的参数。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510319B-C89D-4D61-8966-46617AEDE521}"/>
              </a:ext>
            </a:extLst>
          </p:cNvPr>
          <p:cNvSpPr>
            <a:spLocks noGrp="1"/>
          </p:cNvSpPr>
          <p:nvPr/>
        </p:nvSpPr>
        <p:spPr>
          <a:xfrm>
            <a:off x="1619250" y="4876800"/>
            <a:ext cx="8953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ctr">
              <a:defRPr sz="16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6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AI 的价值建立在阶段二形成的计划基准、现场数据和调整手段之上。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1824CC0-A198-41E6-9225-7143E135198B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0BE4C21-0DD0-40E5-A1AB-D1DFA5F1D66B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466128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3FAFD5A9-8949-4809-8306-F6467CF0F392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数字孪生的调整方式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AE4C3717-04FF-40AE-B924-2BFC34C7AA2B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E273A6A-ACD3-437A-9644-C99A52657B51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graphicFrame>
        <p:nvGraphicFramePr>
          <p:cNvPr id="10" name="表格 9"/>
          <p:cNvGraphicFramePr/>
          <p:nvPr/>
        </p:nvGraphicFramePr>
        <p:xfrm>
          <a:off x="1333500" y="1428750"/>
          <a:ext cx="9525000" cy="3524250"/>
        </p:xfrm>
        <a:graphic>
          <a:graphicData uri="http://schemas.openxmlformats.org/drawingml/2006/table">
            <a:tbl>
              <a:tblPr/>
              <a:tblGrid>
                <a:gridCol w="28863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86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48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调整类型</a:t>
                      </a:r>
                    </a:p>
                  </a:txBody>
                  <a:tcPr>
                    <a:solidFill>
                      <a:srgbClr val="F0F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触发方式与能力要求</a:t>
                      </a:r>
                    </a:p>
                  </a:txBody>
                  <a:tcPr>
                    <a:solidFill>
                      <a:srgbClr val="F0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定时调整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按更小颗粒度周期检查计划执行状态，依赖模型反应速度和计算能力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不定时调整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由阈值、异常责任和模型判断触发，适合状态突变和质量风险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边缘调整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在设备侧快速响应，减少等待中心系统判断的时间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计划调整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把现场偏差回写到 Planning，更新工序衔接和物料拉动动作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8F635AE2-6820-4859-BA42-480311D419A0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65B453F-409D-4F4D-BD51-8E050CA74166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953328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582B615B-F4C7-45A3-88CF-925BC99537D3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最终软件架构展望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EF3DC4FF-C17C-414B-8A4D-1A4E076A6898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1F9FFB0-4BF8-4AB6-9ED1-88D6D35F2AA4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605B897E-0A22-4D4F-958B-6D0C7E07AA30}"/>
              </a:ext>
            </a:extLst>
          </p:cNvPr>
          <p:cNvSpPr>
            <a:spLocks noGrp="1"/>
          </p:cNvSpPr>
          <p:nvPr/>
        </p:nvSpPr>
        <p:spPr>
          <a:xfrm>
            <a:off x="1190625" y="1428750"/>
            <a:ext cx="1809750" cy="495300"/>
          </a:xfrm>
          <a:prstGeom prst="roundRect">
            <a:avLst>
              <a:gd name="adj" fmla="val 11538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计划层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B9370FF7-5911-4253-9489-F1095BB26077}"/>
              </a:ext>
            </a:extLst>
          </p:cNvPr>
          <p:cNvSpPr>
            <a:spLocks noGrp="1"/>
          </p:cNvSpPr>
          <p:nvPr/>
        </p:nvSpPr>
        <p:spPr>
          <a:xfrm>
            <a:off x="3314700" y="1428750"/>
            <a:ext cx="74295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形成 24H 基准、短周期 replan 和成本展开入口。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6F7C82D5-EF1F-4EF0-A65F-F745772AC224}"/>
              </a:ext>
            </a:extLst>
          </p:cNvPr>
          <p:cNvSpPr>
            <a:spLocks noGrp="1"/>
          </p:cNvSpPr>
          <p:nvPr/>
        </p:nvSpPr>
        <p:spPr>
          <a:xfrm>
            <a:off x="1190625" y="2428875"/>
            <a:ext cx="1809750" cy="495300"/>
          </a:xfrm>
          <a:prstGeom prst="roundRect">
            <a:avLst>
              <a:gd name="adj" fmla="val 11538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过程层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63764243-EB83-412A-A911-876746BC7130}"/>
              </a:ext>
            </a:extLst>
          </p:cNvPr>
          <p:cNvSpPr>
            <a:spLocks noGrp="1"/>
          </p:cNvSpPr>
          <p:nvPr/>
        </p:nvSpPr>
        <p:spPr>
          <a:xfrm>
            <a:off x="3314700" y="2428875"/>
            <a:ext cx="74295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承接工序、质量、设备、节拍和 WIP 的真实动作。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DA524B42-1266-4CD8-9014-8DEBEBE898A8}"/>
              </a:ext>
            </a:extLst>
          </p:cNvPr>
          <p:cNvSpPr>
            <a:spLocks noGrp="1"/>
          </p:cNvSpPr>
          <p:nvPr/>
        </p:nvSpPr>
        <p:spPr>
          <a:xfrm>
            <a:off x="1190625" y="3429000"/>
            <a:ext cx="1809750" cy="495300"/>
          </a:xfrm>
          <a:prstGeom prst="roundRect">
            <a:avLst>
              <a:gd name="adj" fmla="val 11538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数据层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45A20741-2577-43C2-A189-1D235CE4F3CD}"/>
              </a:ext>
            </a:extLst>
          </p:cNvPr>
          <p:cNvSpPr>
            <a:spLocks noGrp="1"/>
          </p:cNvSpPr>
          <p:nvPr/>
        </p:nvSpPr>
        <p:spPr>
          <a:xfrm>
            <a:off x="3314700" y="3429000"/>
            <a:ext cx="74295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按动作目的采集、过滤和沉淀有效参数。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C5FDF08A-1E57-430D-8698-148A50B9F2AF}"/>
              </a:ext>
            </a:extLst>
          </p:cNvPr>
          <p:cNvSpPr>
            <a:spLocks noGrp="1"/>
          </p:cNvSpPr>
          <p:nvPr/>
        </p:nvSpPr>
        <p:spPr>
          <a:xfrm>
            <a:off x="1190625" y="4429125"/>
            <a:ext cx="1809750" cy="495300"/>
          </a:xfrm>
          <a:prstGeom prst="roundRect">
            <a:avLst>
              <a:gd name="adj" fmla="val 11538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智能层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6D6AF6E7-C15A-4281-8AEF-268B092D96FB}"/>
              </a:ext>
            </a:extLst>
          </p:cNvPr>
          <p:cNvSpPr>
            <a:spLocks noGrp="1"/>
          </p:cNvSpPr>
          <p:nvPr/>
        </p:nvSpPr>
        <p:spPr>
          <a:xfrm>
            <a:off x="3314700" y="4429125"/>
            <a:ext cx="74295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在边缘和计划层分别承担快速响应和优化建议。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EC12D76-BC4E-4F7F-AB5A-53E30E89FDDE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B9DCA6F-1404-4146-A06B-933B9F97D61C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948547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E5CFB252-5A15-436A-B44C-D84E3254B55D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阶段性建设路线图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AD995FD1-22ED-4008-BF90-693ECCD10DF5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75584D2-5F09-46B2-BF40-8C84D1CB484F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A5276055-A0CE-4F1C-80A4-D8E94CFDE8F8}"/>
              </a:ext>
            </a:extLst>
          </p:cNvPr>
          <p:cNvSpPr>
            <a:spLocks noGrp="1"/>
          </p:cNvSpPr>
          <p:nvPr/>
        </p:nvSpPr>
        <p:spPr>
          <a:xfrm>
            <a:off x="1000125" y="1524000"/>
            <a:ext cx="2619375" cy="419100"/>
          </a:xfrm>
          <a:prstGeom prst="roundRect">
            <a:avLst>
              <a:gd name="adj" fmla="val 13636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阶段一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A0633790-0EA7-497C-9EBC-203ECDB0C44E}"/>
              </a:ext>
            </a:extLst>
          </p:cNvPr>
          <p:cNvSpPr>
            <a:spLocks noGrp="1"/>
          </p:cNvSpPr>
          <p:nvPr/>
        </p:nvSpPr>
        <p:spPr>
          <a:xfrm>
            <a:off x="1000125" y="2114550"/>
            <a:ext cx="2619375" cy="6667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当前功能业务理解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306543ED-3E23-499C-A976-0C1B5CA46C68}"/>
              </a:ext>
            </a:extLst>
          </p:cNvPr>
          <p:cNvSpPr>
            <a:spLocks noGrp="1"/>
          </p:cNvSpPr>
          <p:nvPr/>
        </p:nvSpPr>
        <p:spPr>
          <a:xfrm>
            <a:off x="1000125" y="2971800"/>
            <a:ext cx="2619375" cy="14859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>
              <a:defRPr sz="135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价值流画板、功能重组表、现状判断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7651F975-7ED3-42D8-9DCF-0535C151516A}"/>
              </a:ext>
            </a:extLst>
          </p:cNvPr>
          <p:cNvSpPr>
            <a:spLocks noGrp="1"/>
          </p:cNvSpPr>
          <p:nvPr/>
        </p:nvSpPr>
        <p:spPr>
          <a:xfrm>
            <a:off x="4543425" y="1524000"/>
            <a:ext cx="2619375" cy="419100"/>
          </a:xfrm>
          <a:prstGeom prst="roundRect">
            <a:avLst>
              <a:gd name="adj" fmla="val 13636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阶段二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3263DC17-9C23-4ACB-9566-7F0EEFCDC832}"/>
              </a:ext>
            </a:extLst>
          </p:cNvPr>
          <p:cNvSpPr>
            <a:spLocks noGrp="1"/>
          </p:cNvSpPr>
          <p:nvPr/>
        </p:nvSpPr>
        <p:spPr>
          <a:xfrm>
            <a:off x="4543425" y="2114550"/>
            <a:ext cx="2619375" cy="6667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数据采集与计划闭环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2A2B5B47-5BFD-472B-9BDB-AAC9C246B8F2}"/>
              </a:ext>
            </a:extLst>
          </p:cNvPr>
          <p:cNvSpPr>
            <a:spLocks noGrp="1"/>
          </p:cNvSpPr>
          <p:nvPr/>
        </p:nvSpPr>
        <p:spPr>
          <a:xfrm>
            <a:off x="4543425" y="2971800"/>
            <a:ext cx="2619375" cy="14859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>
              <a:defRPr sz="135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全工序数据、24H 计划、拉动物流、replan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B4878FD8-BAF2-47DC-B385-36A8FAF5256F}"/>
              </a:ext>
            </a:extLst>
          </p:cNvPr>
          <p:cNvSpPr>
            <a:spLocks noGrp="1"/>
          </p:cNvSpPr>
          <p:nvPr/>
        </p:nvSpPr>
        <p:spPr>
          <a:xfrm>
            <a:off x="8086725" y="1524000"/>
            <a:ext cx="2619375" cy="419100"/>
          </a:xfrm>
          <a:prstGeom prst="roundRect">
            <a:avLst>
              <a:gd name="adj" fmla="val 13636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阶段三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1FFB0216-4F15-4742-83C4-CE979A80B1F7}"/>
              </a:ext>
            </a:extLst>
          </p:cNvPr>
          <p:cNvSpPr>
            <a:spLocks noGrp="1"/>
          </p:cNvSpPr>
          <p:nvPr/>
        </p:nvSpPr>
        <p:spPr>
          <a:xfrm>
            <a:off x="8086725" y="2114550"/>
            <a:ext cx="2619375" cy="6667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AI 与数字孪生调整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009A2C04-DCD2-4C38-9BA7-975174DC5675}"/>
              </a:ext>
            </a:extLst>
          </p:cNvPr>
          <p:cNvSpPr>
            <a:spLocks noGrp="1"/>
          </p:cNvSpPr>
          <p:nvPr/>
        </p:nvSpPr>
        <p:spPr>
          <a:xfrm>
            <a:off x="8086725" y="2971800"/>
            <a:ext cx="2619375" cy="14859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>
              <a:defRPr sz="135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边缘模型、参数过滤、短周期重排、成本优化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A59466D-88D5-4800-A41D-51AA68871B82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521553F-B106-4F0D-ADA0-EF2BC9C5E197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991501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559D7B46-3B1E-44AA-8D2A-E0FA41E2E481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建议的下一步工作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B9E9CC15-5B70-446F-853F-CB6B68309CD7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DA30AFD-A7DF-4952-B22F-C54A22D1A5FE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A373B83-5767-43D1-8C2B-FE9E03665597}"/>
              </a:ext>
            </a:extLst>
          </p:cNvPr>
          <p:cNvSpPr>
            <a:spLocks noGrp="1"/>
          </p:cNvSpPr>
          <p:nvPr/>
        </p:nvSpPr>
        <p:spPr>
          <a:xfrm>
            <a:off x="1619250" y="14859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B1DCDA1-5F3D-4FFF-B851-F325EB7CF97F}"/>
              </a:ext>
            </a:extLst>
          </p:cNvPr>
          <p:cNvSpPr>
            <a:spLocks noGrp="1"/>
          </p:cNvSpPr>
          <p:nvPr/>
        </p:nvSpPr>
        <p:spPr>
          <a:xfrm>
            <a:off x="1847850" y="1409700"/>
            <a:ext cx="83439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确认当前功能已落地、部分落地和未落地的边界。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5F0AB6E5-4AA4-4A41-A209-5D5C549038A9}"/>
              </a:ext>
            </a:extLst>
          </p:cNvPr>
          <p:cNvSpPr>
            <a:spLocks noGrp="1"/>
          </p:cNvSpPr>
          <p:nvPr/>
        </p:nvSpPr>
        <p:spPr>
          <a:xfrm>
            <a:off x="1619250" y="2209800"/>
            <a:ext cx="95250" cy="95250"/>
          </a:xfrm>
          <a:prstGeom prst="ellipse">
            <a:avLst/>
          </a:prstGeom>
          <a:solidFill>
            <a:srgbClr val="76BC21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C14F31D-DEC6-4626-87F0-4E3CE79585A1}"/>
              </a:ext>
            </a:extLst>
          </p:cNvPr>
          <p:cNvSpPr>
            <a:spLocks noGrp="1"/>
          </p:cNvSpPr>
          <p:nvPr/>
        </p:nvSpPr>
        <p:spPr>
          <a:xfrm>
            <a:off x="1847850" y="2133600"/>
            <a:ext cx="83439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围绕全工序设备数据收集，定义停线、曲线、经验值和 replan 动作。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A002E33A-C9DC-42D5-868F-63DE9134CC28}"/>
              </a:ext>
            </a:extLst>
          </p:cNvPr>
          <p:cNvSpPr>
            <a:spLocks noGrp="1"/>
          </p:cNvSpPr>
          <p:nvPr/>
        </p:nvSpPr>
        <p:spPr>
          <a:xfrm>
            <a:off x="1619250" y="29337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A5DE08-D451-4802-BC85-DDD4EB76A988}"/>
              </a:ext>
            </a:extLst>
          </p:cNvPr>
          <p:cNvSpPr>
            <a:spLocks noGrp="1"/>
          </p:cNvSpPr>
          <p:nvPr/>
        </p:nvSpPr>
        <p:spPr>
          <a:xfrm>
            <a:off x="1847850" y="2857500"/>
            <a:ext cx="83439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梳理 24H 生产计划、CT、Performance Rate 和工序衔接关系。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D732D87B-6EC9-4B40-AFFE-602A99994FE9}"/>
              </a:ext>
            </a:extLst>
          </p:cNvPr>
          <p:cNvSpPr>
            <a:spLocks noGrp="1"/>
          </p:cNvSpPr>
          <p:nvPr/>
        </p:nvSpPr>
        <p:spPr>
          <a:xfrm>
            <a:off x="1619250" y="3657600"/>
            <a:ext cx="95250" cy="95250"/>
          </a:xfrm>
          <a:prstGeom prst="ellipse">
            <a:avLst/>
          </a:prstGeom>
          <a:solidFill>
            <a:srgbClr val="76BC21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5A753FF-8256-4AD5-B320-1EB0F9BBDD82}"/>
              </a:ext>
            </a:extLst>
          </p:cNvPr>
          <p:cNvSpPr>
            <a:spLocks noGrp="1"/>
          </p:cNvSpPr>
          <p:nvPr/>
        </p:nvSpPr>
        <p:spPr>
          <a:xfrm>
            <a:off x="1847850" y="3581400"/>
            <a:ext cx="83439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补充铸造后、机加后、装配前后的拉动式物流规则。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29BF43AB-7C18-4ECC-8A30-E7FC9287105B}"/>
              </a:ext>
            </a:extLst>
          </p:cNvPr>
          <p:cNvSpPr>
            <a:spLocks noGrp="1"/>
          </p:cNvSpPr>
          <p:nvPr/>
        </p:nvSpPr>
        <p:spPr>
          <a:xfrm>
            <a:off x="1619250" y="43815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1361C6A-F88D-4697-B779-F25E3DFD5834}"/>
              </a:ext>
            </a:extLst>
          </p:cNvPr>
          <p:cNvSpPr>
            <a:spLocks noGrp="1"/>
          </p:cNvSpPr>
          <p:nvPr/>
        </p:nvSpPr>
        <p:spPr>
          <a:xfrm>
            <a:off x="1847850" y="4305300"/>
            <a:ext cx="83439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把 AI 介入点放在阶段二能力形成之后再展开。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635C9F1-E11F-4099-9BD7-203F5148C16C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3D83948-900A-49AD-8734-DD65BBE5D9F9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5C7AAAF-2BC6-42FE-B26B-3105C168AC7A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714"/>
          </a:bodyPr>
          <a:lstStyle/>
          <a:p>
            <a:pPr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149304279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597</Words>
  <Application>Microsoft Macintosh PowerPoint</Application>
  <DocSecurity>0</DocSecurity>
  <PresentationFormat>宽屏</PresentationFormat>
  <Paragraphs>254</Paragraphs>
  <Slides>23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7" baseType="lpstr">
      <vt:lpstr>Songti SC</vt:lpstr>
      <vt:lpstr>Arial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Li Jiajun</cp:lastModifiedBy>
  <cp:revision>2</cp:revision>
  <dcterms:created xsi:type="dcterms:W3CDTF">2026-09-15T07:21:26Z</dcterms:created>
  <dcterms:modified xsi:type="dcterms:W3CDTF">2026-09-15T09:51:34Z</dcterms:modified>
</cp:coreProperties>
</file>