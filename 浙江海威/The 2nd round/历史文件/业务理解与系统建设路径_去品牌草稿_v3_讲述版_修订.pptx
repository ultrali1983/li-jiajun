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73"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7300"/>
  </p:normalViewPr>
  <p:slideViewPr>
    <p:cSldViewPr snapToGrid="0">
      <p:cViewPr varScale="1">
        <p:scale>
          <a:sx n="169" d="100"/>
          <a:sy n="169" d="100"/>
        </p:scale>
        <p:origin x="216"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封面已去除公司 logo 和名称，仅保留原模板的蓝绿底栏风格。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页讲述版，用于面谈前搭建口头逻辑。</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C4289-03A5-6AA3-57C8-511623676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D76D5-BC72-9817-4EEE-C008E0436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6C2B7-AB6E-CB2B-1A50-23707243C770}"/>
              </a:ext>
            </a:extLst>
          </p:cNvPr>
          <p:cNvSpPr>
            <a:spLocks noGrp="1"/>
          </p:cNvSpPr>
          <p:nvPr>
            <p:ph type="body" idx="1"/>
          </p:nvPr>
        </p:nvSpPr>
        <p:spPr/>
        <p:txBody>
          <a:bodyPr/>
          <a:lstStyle/>
          <a:p>
            <a:r>
              <a:t>这不是模块替换，而是把原系统语言重组为业务能力语言。</a:t>
            </a:r>
          </a:p>
        </p:txBody>
      </p:sp>
      <p:sp>
        <p:nvSpPr>
          <p:cNvPr id="4" name="Slide Number Placeholder 3">
            <a:extLst>
              <a:ext uri="{FF2B5EF4-FFF2-40B4-BE49-F238E27FC236}">
                <a16:creationId xmlns:a16="http://schemas.microsoft.com/office/drawing/2014/main" id="{301A916F-E2BC-87EC-86D8-216510B575E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8219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这不是模块替换，而是把原系统语言重组为业务能力语言。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用价值流画板说明功能必须落到真实过程节点。</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不是否定已有系统，而是指出下一阶段真正要补的能力。</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三类数据目的的价值周期不同，后续动作也不同。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这页是差异化判断，建议保留为重点讲述页。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E1F4C69-9188-4346-B255-67EC2BDE9CAC}"/>
              </a:ext>
            </a:extLst>
          </p:cNvPr>
          <p:cNvSpPr>
            <a:spLocks noGrp="1"/>
          </p:cNvSpPr>
          <p:nvPr/>
        </p:nvSpPr>
        <p:spPr>
          <a:xfrm>
            <a:off x="1524000" y="2362200"/>
            <a:ext cx="9144000" cy="685800"/>
          </a:xfrm>
          <a:prstGeom prst="rect">
            <a:avLst/>
          </a:prstGeom>
          <a:noFill/>
          <a:ln w="0">
            <a:noFill/>
            <a:prstDash val="solid"/>
          </a:ln>
        </p:spPr>
        <p:txBody>
          <a:bodyPr>
            <a:normAutofit/>
          </a:bodyPr>
          <a:lstStyle/>
          <a:p>
            <a:pPr algn="ctr">
              <a:defRPr sz="2700" b="1">
                <a:solidFill>
                  <a:srgbClr val="1F2A33"/>
                </a:solidFill>
                <a:latin typeface="Songti SC"/>
                <a:ea typeface="Songti SC"/>
                <a:cs typeface="Songti SC"/>
              </a:defRPr>
            </a:pPr>
            <a:r>
              <a:rPr sz="2700" b="1">
                <a:solidFill>
                  <a:srgbClr val="1F2A33"/>
                </a:solidFill>
                <a:latin typeface="Songti SC"/>
                <a:ea typeface="Songti SC"/>
                <a:cs typeface="Songti SC"/>
              </a:rPr>
              <a:t>信息系统建设理解与下一阶段路径</a:t>
            </a:r>
          </a:p>
        </p:txBody>
      </p:sp>
      <p:sp>
        <p:nvSpPr>
          <p:cNvPr id="2" name="矩形 1">
            <a:extLst>
              <a:ext uri="{FF2B5EF4-FFF2-40B4-BE49-F238E27FC236}">
                <a16:creationId xmlns:a16="http://schemas.microsoft.com/office/drawing/2014/main" id="{4D8A7D93-41A5-49DE-A3BF-5916C43F284C}"/>
              </a:ext>
            </a:extLst>
          </p:cNvPr>
          <p:cNvSpPr>
            <a:spLocks noGrp="1"/>
          </p:cNvSpPr>
          <p:nvPr/>
        </p:nvSpPr>
        <p:spPr>
          <a:xfrm>
            <a:off x="2286000" y="3143250"/>
            <a:ext cx="7620000" cy="342900"/>
          </a:xfrm>
          <a:prstGeom prst="rect">
            <a:avLst/>
          </a:prstGeom>
          <a:noFill/>
          <a:ln w="0">
            <a:noFill/>
            <a:prstDash val="solid"/>
          </a:ln>
        </p:spPr>
        <p:txBody>
          <a:bodyPr>
            <a:normAutofit/>
          </a:bodyPr>
          <a:lstStyle/>
          <a:p>
            <a:pPr algn="ctr">
              <a:defRPr sz="1500" b="0">
                <a:solidFill>
                  <a:srgbClr val="53626B"/>
                </a:solidFill>
                <a:latin typeface="Songti SC"/>
                <a:ea typeface="Songti SC"/>
                <a:cs typeface="Songti SC"/>
              </a:defRPr>
            </a:pPr>
            <a:r>
              <a:rPr sz="1500" b="0">
                <a:solidFill>
                  <a:srgbClr val="53626B"/>
                </a:solidFill>
                <a:latin typeface="Songti SC"/>
                <a:ea typeface="Songti SC"/>
                <a:cs typeface="Songti SC"/>
              </a:rPr>
              <a:t>当前业务理解、阶段二实现路径与最终架构</a:t>
            </a:r>
          </a:p>
        </p:txBody>
      </p:sp>
      <p:sp>
        <p:nvSpPr>
          <p:cNvPr id="3" name="矩形 2">
            <a:extLst>
              <a:ext uri="{FF2B5EF4-FFF2-40B4-BE49-F238E27FC236}">
                <a16:creationId xmlns:a16="http://schemas.microsoft.com/office/drawing/2014/main" id="{6E35B359-BB32-474C-97E5-72DAA02A2C18}"/>
              </a:ext>
            </a:extLst>
          </p:cNvPr>
          <p:cNvSpPr>
            <a:spLocks noGrp="1"/>
          </p:cNvSpPr>
          <p:nvPr/>
        </p:nvSpPr>
        <p:spPr>
          <a:xfrm>
            <a:off x="0" y="6210300"/>
            <a:ext cx="7429500" cy="285750"/>
          </a:xfrm>
          <a:prstGeom prst="rect">
            <a:avLst/>
          </a:prstGeom>
          <a:solidFill>
            <a:srgbClr val="23A8D8"/>
          </a:solidFill>
          <a:ln w="0">
            <a:solidFill>
              <a:srgbClr val="23A8D8"/>
            </a:solidFill>
          </a:ln>
        </p:spPr>
      </p:sp>
      <p:sp>
        <p:nvSpPr>
          <p:cNvPr id="4" name="平行四边形 3">
            <a:extLst>
              <a:ext uri="{FF2B5EF4-FFF2-40B4-BE49-F238E27FC236}">
                <a16:creationId xmlns:a16="http://schemas.microsoft.com/office/drawing/2014/main" id="{A70B4A56-2D51-49DA-A981-8BF782D10D93}"/>
              </a:ext>
            </a:extLst>
          </p:cNvPr>
          <p:cNvSpPr>
            <a:spLocks noGrp="1"/>
          </p:cNvSpPr>
          <p:nvPr/>
        </p:nvSpPr>
        <p:spPr>
          <a:xfrm>
            <a:off x="7239000" y="6210300"/>
            <a:ext cx="1143000" cy="285750"/>
          </a:xfrm>
          <a:prstGeom prst="parallelogram">
            <a:avLst/>
          </a:prstGeom>
          <a:solidFill>
            <a:srgbClr val="23A8D8"/>
          </a:solidFill>
          <a:ln w="0">
            <a:solidFill>
              <a:srgbClr val="23A8D8"/>
            </a:solidFill>
          </a:ln>
        </p:spPr>
      </p:sp>
      <p:sp>
        <p:nvSpPr>
          <p:cNvPr id="5" name="矩形 4">
            <a:extLst>
              <a:ext uri="{FF2B5EF4-FFF2-40B4-BE49-F238E27FC236}">
                <a16:creationId xmlns:a16="http://schemas.microsoft.com/office/drawing/2014/main" id="{716BFC87-E8BD-476A-9E36-01CD340D5D64}"/>
              </a:ext>
            </a:extLst>
          </p:cNvPr>
          <p:cNvSpPr>
            <a:spLocks noGrp="1"/>
          </p:cNvSpPr>
          <p:nvPr/>
        </p:nvSpPr>
        <p:spPr>
          <a:xfrm>
            <a:off x="8172450" y="6210300"/>
            <a:ext cx="4019550" cy="285750"/>
          </a:xfrm>
          <a:prstGeom prst="rect">
            <a:avLst/>
          </a:prstGeom>
          <a:solidFill>
            <a:srgbClr val="76BC21"/>
          </a:solidFill>
          <a:ln w="0">
            <a:solidFill>
              <a:srgbClr val="76BC21"/>
            </a:solidFill>
          </a:ln>
        </p:spPr>
      </p:sp>
    </p:spTree>
    <p:extLst>
      <p:ext uri="{BB962C8B-B14F-4D97-AF65-F5344CB8AC3E}">
        <p14:creationId xmlns:p14="http://schemas.microsoft.com/office/powerpoint/2010/main" val="1579821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9201C7CE-1DD9-41AD-82E6-3E49234FCAF7}"/>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汇报主线</a:t>
            </a:r>
          </a:p>
        </p:txBody>
      </p:sp>
      <p:sp>
        <p:nvSpPr>
          <p:cNvPr id="2" name="直线连接符 1">
            <a:extLst>
              <a:ext uri="{FF2B5EF4-FFF2-40B4-BE49-F238E27FC236}">
                <a16:creationId xmlns:a16="http://schemas.microsoft.com/office/drawing/2014/main" id="{60BF60AD-FAEB-4D55-9184-66F5B2C9D192}"/>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9CF35F8F-5DE0-45F8-A36F-DF732EE78C5D}"/>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02</a:t>
            </a:r>
          </a:p>
        </p:txBody>
      </p:sp>
      <p:sp>
        <p:nvSpPr>
          <p:cNvPr id="4" name="圆角矩形 3">
            <a:extLst>
              <a:ext uri="{FF2B5EF4-FFF2-40B4-BE49-F238E27FC236}">
                <a16:creationId xmlns:a16="http://schemas.microsoft.com/office/drawing/2014/main" id="{70BDCFD9-04F9-4959-87C8-BF667CCAD21E}"/>
              </a:ext>
            </a:extLst>
          </p:cNvPr>
          <p:cNvSpPr>
            <a:spLocks noGrp="1"/>
          </p:cNvSpPr>
          <p:nvPr/>
        </p:nvSpPr>
        <p:spPr>
          <a:xfrm>
            <a:off x="819150" y="1714500"/>
            <a:ext cx="3048000" cy="514350"/>
          </a:xfrm>
          <a:prstGeom prst="roundRect">
            <a:avLst>
              <a:gd name="adj" fmla="val 11111"/>
            </a:avLst>
          </a:prstGeom>
          <a:solidFill>
            <a:srgbClr val="E9F6FB"/>
          </a:solidFill>
          <a:ln w="14288">
            <a:solidFill>
              <a:srgbClr val="23A8D8"/>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当前理解</a:t>
            </a:r>
          </a:p>
        </p:txBody>
      </p:sp>
      <p:sp>
        <p:nvSpPr>
          <p:cNvPr id="5" name="圆角矩形 4">
            <a:extLst>
              <a:ext uri="{FF2B5EF4-FFF2-40B4-BE49-F238E27FC236}">
                <a16:creationId xmlns:a16="http://schemas.microsoft.com/office/drawing/2014/main" id="{EE178BEF-261A-4FDA-A796-42FB815EA23D}"/>
              </a:ext>
            </a:extLst>
          </p:cNvPr>
          <p:cNvSpPr>
            <a:spLocks noGrp="1"/>
          </p:cNvSpPr>
          <p:nvPr/>
        </p:nvSpPr>
        <p:spPr>
          <a:xfrm>
            <a:off x="819150" y="2400300"/>
            <a:ext cx="3048000" cy="1809750"/>
          </a:xfrm>
          <a:prstGeom prst="roundRect">
            <a:avLst>
              <a:gd name="adj" fmla="val 315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先把系统清单翻译成业务能力，再确认功能落在价值流的哪个节点。</a:t>
            </a:r>
          </a:p>
        </p:txBody>
      </p:sp>
      <p:sp>
        <p:nvSpPr>
          <p:cNvPr id="6" name="圆角矩形 5">
            <a:extLst>
              <a:ext uri="{FF2B5EF4-FFF2-40B4-BE49-F238E27FC236}">
                <a16:creationId xmlns:a16="http://schemas.microsoft.com/office/drawing/2014/main" id="{49EE54C6-6E98-4AF6-81A0-A88E56F53F64}"/>
              </a:ext>
            </a:extLst>
          </p:cNvPr>
          <p:cNvSpPr>
            <a:spLocks noGrp="1"/>
          </p:cNvSpPr>
          <p:nvPr/>
        </p:nvSpPr>
        <p:spPr>
          <a:xfrm>
            <a:off x="4533900" y="1714500"/>
            <a:ext cx="3048000" cy="514350"/>
          </a:xfrm>
          <a:prstGeom prst="roundRect">
            <a:avLst>
              <a:gd name="adj" fmla="val 11111"/>
            </a:avLst>
          </a:prstGeom>
          <a:solidFill>
            <a:srgbClr val="F0F8E8"/>
          </a:solidFill>
          <a:ln w="14288">
            <a:solidFill>
              <a:srgbClr val="76BC21"/>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阶段二路径</a:t>
            </a:r>
          </a:p>
        </p:txBody>
      </p:sp>
      <p:sp>
        <p:nvSpPr>
          <p:cNvPr id="7" name="圆角矩形 6">
            <a:extLst>
              <a:ext uri="{FF2B5EF4-FFF2-40B4-BE49-F238E27FC236}">
                <a16:creationId xmlns:a16="http://schemas.microsoft.com/office/drawing/2014/main" id="{8D86EEBA-0732-47C6-8252-D64AD4629C96}"/>
              </a:ext>
            </a:extLst>
          </p:cNvPr>
          <p:cNvSpPr>
            <a:spLocks noGrp="1"/>
          </p:cNvSpPr>
          <p:nvPr/>
        </p:nvSpPr>
        <p:spPr>
          <a:xfrm>
            <a:off x="4533900" y="2400300"/>
            <a:ext cx="3048000" cy="1809750"/>
          </a:xfrm>
          <a:prstGeom prst="roundRect">
            <a:avLst>
              <a:gd name="adj" fmla="val 315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以全工序数据收集为起点，按后续动作反推采集范围和手段。</a:t>
            </a:r>
          </a:p>
        </p:txBody>
      </p:sp>
      <p:sp>
        <p:nvSpPr>
          <p:cNvPr id="8" name="圆角矩形 7">
            <a:extLst>
              <a:ext uri="{FF2B5EF4-FFF2-40B4-BE49-F238E27FC236}">
                <a16:creationId xmlns:a16="http://schemas.microsoft.com/office/drawing/2014/main" id="{E0ADFF8F-DE5B-4E14-B3B7-8EAC7BBF7073}"/>
              </a:ext>
            </a:extLst>
          </p:cNvPr>
          <p:cNvSpPr>
            <a:spLocks noGrp="1"/>
          </p:cNvSpPr>
          <p:nvPr/>
        </p:nvSpPr>
        <p:spPr>
          <a:xfrm>
            <a:off x="8248650" y="1714500"/>
            <a:ext cx="3048000" cy="514350"/>
          </a:xfrm>
          <a:prstGeom prst="roundRect">
            <a:avLst>
              <a:gd name="adj" fmla="val 11111"/>
            </a:avLst>
          </a:prstGeom>
          <a:solidFill>
            <a:srgbClr val="E9F6FB"/>
          </a:solidFill>
          <a:ln w="14288">
            <a:solidFill>
              <a:srgbClr val="23A8D8"/>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最终架构</a:t>
            </a:r>
          </a:p>
        </p:txBody>
      </p:sp>
      <p:sp>
        <p:nvSpPr>
          <p:cNvPr id="9" name="圆角矩形 8">
            <a:extLst>
              <a:ext uri="{FF2B5EF4-FFF2-40B4-BE49-F238E27FC236}">
                <a16:creationId xmlns:a16="http://schemas.microsoft.com/office/drawing/2014/main" id="{AD76EF58-4B38-43DB-816E-E8A97DE007C2}"/>
              </a:ext>
            </a:extLst>
          </p:cNvPr>
          <p:cNvSpPr>
            <a:spLocks noGrp="1"/>
          </p:cNvSpPr>
          <p:nvPr/>
        </p:nvSpPr>
        <p:spPr>
          <a:xfrm>
            <a:off x="8248650" y="2400300"/>
            <a:ext cx="3048000" cy="1809750"/>
          </a:xfrm>
          <a:prstGeom prst="roundRect">
            <a:avLst>
              <a:gd name="adj" fmla="val 315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在计划基准和数字孪生基础上，再引入 AI 做调整和过滤。</a:t>
            </a:r>
          </a:p>
        </p:txBody>
      </p:sp>
      <p:sp>
        <p:nvSpPr>
          <p:cNvPr id="10" name="矩形 9">
            <a:extLst>
              <a:ext uri="{FF2B5EF4-FFF2-40B4-BE49-F238E27FC236}">
                <a16:creationId xmlns:a16="http://schemas.microsoft.com/office/drawing/2014/main" id="{DCA61464-AAC3-4B66-BDFA-3A5E277371D7}"/>
              </a:ext>
            </a:extLst>
          </p:cNvPr>
          <p:cNvSpPr>
            <a:spLocks noGrp="1"/>
          </p:cNvSpPr>
          <p:nvPr/>
        </p:nvSpPr>
        <p:spPr>
          <a:xfrm>
            <a:off x="1809750" y="4972050"/>
            <a:ext cx="8572500" cy="381000"/>
          </a:xfrm>
          <a:prstGeom prst="rect">
            <a:avLst/>
          </a:prstGeom>
          <a:noFill/>
          <a:ln w="0">
            <a:noFill/>
            <a:prstDash val="solid"/>
          </a:ln>
        </p:spPr>
        <p:txBody>
          <a:bodyPr>
            <a:normAutofit/>
          </a:bodyPr>
          <a:lstStyle/>
          <a:p>
            <a:pPr algn="ctr">
              <a:defRPr sz="1650" b="0">
                <a:solidFill>
                  <a:srgbClr val="53626B"/>
                </a:solidFill>
                <a:latin typeface="Songti SC"/>
                <a:ea typeface="Songti SC"/>
                <a:cs typeface="Songti SC"/>
              </a:defRPr>
            </a:pPr>
            <a:r>
              <a:rPr sz="1650" b="0">
                <a:solidFill>
                  <a:srgbClr val="53626B"/>
                </a:solidFill>
                <a:latin typeface="Songti SC"/>
                <a:ea typeface="Songti SC"/>
                <a:cs typeface="Songti SC"/>
              </a:rPr>
              <a:t>先建立理解，再讨论路径，最后讨论长期软件架构。</a:t>
            </a:r>
          </a:p>
        </p:txBody>
      </p:sp>
      <p:sp>
        <p:nvSpPr>
          <p:cNvPr id="11" name="矩形 10">
            <a:extLst>
              <a:ext uri="{FF2B5EF4-FFF2-40B4-BE49-F238E27FC236}">
                <a16:creationId xmlns:a16="http://schemas.microsoft.com/office/drawing/2014/main" id="{3ABAD0E4-8308-4904-A301-6B9DB0F7CD75}"/>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2" name="矩形 11">
            <a:extLst>
              <a:ext uri="{FF2B5EF4-FFF2-40B4-BE49-F238E27FC236}">
                <a16:creationId xmlns:a16="http://schemas.microsoft.com/office/drawing/2014/main" id="{739C52B6-8991-4EF1-A1BC-833033A66EED}"/>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Tree>
    <p:extLst>
      <p:ext uri="{BB962C8B-B14F-4D97-AF65-F5344CB8AC3E}">
        <p14:creationId xmlns:p14="http://schemas.microsoft.com/office/powerpoint/2010/main" val="1629911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8AB5E-78BD-60F1-085E-4A5EE78BB22C}"/>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944184EB-9204-A8FF-3E99-0DFFE18F8735}"/>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03</a:t>
            </a:r>
          </a:p>
        </p:txBody>
      </p:sp>
      <p:sp>
        <p:nvSpPr>
          <p:cNvPr id="22" name="矩形 21">
            <a:extLst>
              <a:ext uri="{FF2B5EF4-FFF2-40B4-BE49-F238E27FC236}">
                <a16:creationId xmlns:a16="http://schemas.microsoft.com/office/drawing/2014/main" id="{5A644521-265C-50E3-A142-34C93CF2550B}"/>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23" name="矩形 22">
            <a:extLst>
              <a:ext uri="{FF2B5EF4-FFF2-40B4-BE49-F238E27FC236}">
                <a16:creationId xmlns:a16="http://schemas.microsoft.com/office/drawing/2014/main" id="{6F0B9EB8-F476-9C51-0786-4C3A2BA986DE}"/>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graphicFrame>
        <p:nvGraphicFramePr>
          <p:cNvPr id="68" name="表格 67">
            <a:extLst>
              <a:ext uri="{FF2B5EF4-FFF2-40B4-BE49-F238E27FC236}">
                <a16:creationId xmlns:a16="http://schemas.microsoft.com/office/drawing/2014/main" id="{1CBD1F12-E90E-D80E-DCC3-41C2C3B3F5CF}"/>
              </a:ext>
            </a:extLst>
          </p:cNvPr>
          <p:cNvGraphicFramePr>
            <a:graphicFrameLocks noGrp="1"/>
          </p:cNvGraphicFramePr>
          <p:nvPr/>
        </p:nvGraphicFramePr>
        <p:xfrm>
          <a:off x="389630" y="257670"/>
          <a:ext cx="11453182" cy="6187289"/>
        </p:xfrm>
        <a:graphic>
          <a:graphicData uri="http://schemas.openxmlformats.org/drawingml/2006/table">
            <a:tbl>
              <a:tblPr firstRow="1" bandRow="1">
                <a:tableStyleId>{5C22544A-7EE6-4342-B048-85BDC9FD1C3A}</a:tableStyleId>
              </a:tblPr>
              <a:tblGrid>
                <a:gridCol w="5726591">
                  <a:extLst>
                    <a:ext uri="{9D8B030D-6E8A-4147-A177-3AD203B41FA5}">
                      <a16:colId xmlns:a16="http://schemas.microsoft.com/office/drawing/2014/main" val="109277538"/>
                    </a:ext>
                  </a:extLst>
                </a:gridCol>
                <a:gridCol w="5726591">
                  <a:extLst>
                    <a:ext uri="{9D8B030D-6E8A-4147-A177-3AD203B41FA5}">
                      <a16:colId xmlns:a16="http://schemas.microsoft.com/office/drawing/2014/main" val="3658700309"/>
                    </a:ext>
                  </a:extLst>
                </a:gridCol>
              </a:tblGrid>
              <a:tr h="417027">
                <a:tc>
                  <a:txBody>
                    <a:bodyPr/>
                    <a:lstStyle/>
                    <a:p>
                      <a:pPr algn="ctr"/>
                      <a:r>
                        <a:rPr lang="zh-CN" altLang="en-US" sz="1400" dirty="0">
                          <a:solidFill>
                            <a:schemeClr val="tx1"/>
                          </a:solidFill>
                        </a:rPr>
                        <a:t>变更前</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变更后</a:t>
                      </a:r>
                    </a:p>
                  </a:txBody>
                  <a:tcPr anchor="ctr">
                    <a:lnL w="6350" cap="flat" cmpd="sng" algn="ctr">
                      <a:solidFill>
                        <a:schemeClr val="tx1"/>
                      </a:solidFill>
                      <a:prstDash val="lgDash"/>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3000"/>
                      </a:schemeClr>
                    </a:solidFill>
                  </a:tcPr>
                </a:tc>
                <a:extLst>
                  <a:ext uri="{0D108BD9-81ED-4DB2-BD59-A6C34878D82A}">
                    <a16:rowId xmlns:a16="http://schemas.microsoft.com/office/drawing/2014/main" val="1486280765"/>
                  </a:ext>
                </a:extLst>
              </a:tr>
              <a:tr h="417027">
                <a:tc>
                  <a:txBody>
                    <a:bodyPr/>
                    <a:lstStyle/>
                    <a:p>
                      <a:pPr algn="ctr"/>
                      <a:r>
                        <a:rPr lang="zh-CN" altLang="en-US" sz="1400" dirty="0">
                          <a:solidFill>
                            <a:schemeClr val="tx1"/>
                          </a:solidFill>
                        </a:rPr>
                        <a:t>按照两期实施整个</a:t>
                      </a:r>
                      <a:r>
                        <a:rPr lang="en-US" altLang="zh-CN" sz="1400" dirty="0">
                          <a:solidFill>
                            <a:schemeClr val="tx1"/>
                          </a:solidFill>
                        </a:rPr>
                        <a:t>MOM</a:t>
                      </a:r>
                      <a:r>
                        <a:rPr lang="zh-CN" altLang="en-US" sz="1400" dirty="0">
                          <a:solidFill>
                            <a:schemeClr val="tx1"/>
                          </a:solidFill>
                        </a:rPr>
                        <a:t>系统，应用于宁波海威与浙江海威</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宁波海威维持原实施方案，浙江海威</a:t>
                      </a:r>
                      <a:r>
                        <a:rPr lang="en-US" altLang="zh-CN" sz="1400" dirty="0">
                          <a:solidFill>
                            <a:schemeClr val="tx1"/>
                          </a:solidFill>
                        </a:rPr>
                        <a:t>&amp;</a:t>
                      </a:r>
                      <a:r>
                        <a:rPr lang="zh-CN" altLang="en-US" sz="1400" dirty="0">
                          <a:solidFill>
                            <a:schemeClr val="tx1"/>
                          </a:solidFill>
                        </a:rPr>
                        <a:t>浩威</a:t>
                      </a:r>
                      <a:r>
                        <a:rPr lang="en-US" altLang="zh-CN" sz="1400" dirty="0">
                          <a:solidFill>
                            <a:schemeClr val="tx1"/>
                          </a:solidFill>
                        </a:rPr>
                        <a:t>&amp;</a:t>
                      </a:r>
                      <a:r>
                        <a:rPr lang="zh-CN" altLang="en-US" sz="1400" dirty="0">
                          <a:solidFill>
                            <a:schemeClr val="tx1"/>
                          </a:solidFill>
                        </a:rPr>
                        <a:t>海创按客户需求实施</a:t>
                      </a:r>
                    </a:p>
                  </a:txBody>
                  <a:tcPr anchor="ctr">
                    <a:lnL w="6350" cap="flat" cmpd="sng" algn="ctr">
                      <a:solidFill>
                        <a:schemeClr val="tx1"/>
                      </a:solidFill>
                      <a:prstDash val="lgDash"/>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3000"/>
                      </a:schemeClr>
                    </a:solidFill>
                  </a:tcPr>
                </a:tc>
                <a:extLst>
                  <a:ext uri="{0D108BD9-81ED-4DB2-BD59-A6C34878D82A}">
                    <a16:rowId xmlns:a16="http://schemas.microsoft.com/office/drawing/2014/main" val="2258208953"/>
                  </a:ext>
                </a:extLst>
              </a:tr>
              <a:tr h="4900474">
                <a:tc>
                  <a:txBody>
                    <a:bodyPr/>
                    <a:lstStyle/>
                    <a:p>
                      <a:pPr algn="ctr"/>
                      <a:endParaRPr lang="zh-CN" altLang="en-US" sz="14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6350" cap="flat" cmpd="sng" algn="ctr">
                      <a:solidFill>
                        <a:schemeClr val="tx1"/>
                      </a:solidFill>
                      <a:prstDash val="lgDash"/>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3000"/>
                      </a:schemeClr>
                    </a:solidFill>
                  </a:tcPr>
                </a:tc>
                <a:extLst>
                  <a:ext uri="{0D108BD9-81ED-4DB2-BD59-A6C34878D82A}">
                    <a16:rowId xmlns:a16="http://schemas.microsoft.com/office/drawing/2014/main" val="3224617231"/>
                  </a:ext>
                </a:extLst>
              </a:tr>
              <a:tr h="452761">
                <a:tc gridSpan="2">
                  <a:txBody>
                    <a:bodyPr/>
                    <a:lstStyle/>
                    <a:p>
                      <a:pPr algn="l"/>
                      <a:r>
                        <a:rPr lang="zh-CN" altLang="en-US" sz="1300" dirty="0">
                          <a:solidFill>
                            <a:schemeClr val="tx1"/>
                          </a:solidFill>
                        </a:rPr>
                        <a:t>下一步工作：鉴于当前</a:t>
                      </a:r>
                      <a:r>
                        <a:rPr lang="en-US" altLang="zh-CN" sz="1300" dirty="0">
                          <a:solidFill>
                            <a:schemeClr val="tx1"/>
                          </a:solidFill>
                        </a:rPr>
                        <a:t>CATL</a:t>
                      </a:r>
                      <a:r>
                        <a:rPr lang="zh-CN" altLang="en-US" sz="1300" dirty="0">
                          <a:solidFill>
                            <a:schemeClr val="tx1"/>
                          </a:solidFill>
                        </a:rPr>
                        <a:t>的要求不断变化，建议浙江海威、浙江浩威、浙江海创采用开口合同的形式并基于客户需求启动系统开发和实施工作。</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dirty="0">
                        <a:solidFill>
                          <a:schemeClr val="tx1"/>
                        </a:solidFill>
                      </a:endParaRPr>
                    </a:p>
                  </a:txBody>
                  <a:tcPr anchor="ctr">
                    <a:lnL w="6350" cap="flat" cmpd="sng" algn="ctr">
                      <a:solidFill>
                        <a:schemeClr val="tx1"/>
                      </a:solidFill>
                      <a:prstDash val="lgDash"/>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3000"/>
                      </a:schemeClr>
                    </a:solidFill>
                  </a:tcPr>
                </a:tc>
                <a:extLst>
                  <a:ext uri="{0D108BD9-81ED-4DB2-BD59-A6C34878D82A}">
                    <a16:rowId xmlns:a16="http://schemas.microsoft.com/office/drawing/2014/main" val="1033715573"/>
                  </a:ext>
                </a:extLst>
              </a:tr>
            </a:tbl>
          </a:graphicData>
        </a:graphic>
      </p:graphicFrame>
      <p:sp>
        <p:nvSpPr>
          <p:cNvPr id="69" name="矩形 68">
            <a:extLst>
              <a:ext uri="{FF2B5EF4-FFF2-40B4-BE49-F238E27FC236}">
                <a16:creationId xmlns:a16="http://schemas.microsoft.com/office/drawing/2014/main" id="{E20900BA-437D-4B3B-24A9-BC71EB5425EF}"/>
              </a:ext>
            </a:extLst>
          </p:cNvPr>
          <p:cNvSpPr/>
          <p:nvPr/>
        </p:nvSpPr>
        <p:spPr>
          <a:xfrm>
            <a:off x="1068016" y="2653182"/>
            <a:ext cx="1428299" cy="540129"/>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MES</a:t>
            </a:r>
          </a:p>
          <a:p>
            <a:pPr algn="ctr"/>
            <a:r>
              <a:rPr lang="en-US" altLang="zh-CN" sz="1000" dirty="0">
                <a:latin typeface="Arial" panose="020B0604020202020204" pitchFamily="34" charset="0"/>
                <a:cs typeface="Arial" panose="020B0604020202020204" pitchFamily="34" charset="0"/>
              </a:rPr>
              <a:t>Manufacturing Execution System</a:t>
            </a:r>
            <a:endParaRPr lang="zh-CN" altLang="en-US" sz="1000" dirty="0">
              <a:latin typeface="Arial" panose="020B0604020202020204" pitchFamily="34" charset="0"/>
              <a:cs typeface="Arial" panose="020B0604020202020204" pitchFamily="34" charset="0"/>
            </a:endParaRPr>
          </a:p>
        </p:txBody>
      </p:sp>
      <p:sp>
        <p:nvSpPr>
          <p:cNvPr id="70" name="矩形 69">
            <a:extLst>
              <a:ext uri="{FF2B5EF4-FFF2-40B4-BE49-F238E27FC236}">
                <a16:creationId xmlns:a16="http://schemas.microsoft.com/office/drawing/2014/main" id="{B3C274A8-FB22-6DAF-14D5-5C52A784D3BE}"/>
              </a:ext>
            </a:extLst>
          </p:cNvPr>
          <p:cNvSpPr/>
          <p:nvPr/>
        </p:nvSpPr>
        <p:spPr>
          <a:xfrm>
            <a:off x="1068017" y="1886965"/>
            <a:ext cx="1428299" cy="540129"/>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WMS</a:t>
            </a:r>
          </a:p>
          <a:p>
            <a:pPr algn="ctr"/>
            <a:r>
              <a:rPr lang="en-US" altLang="zh-CN" sz="1000" dirty="0">
                <a:latin typeface="Arial" panose="020B0604020202020204" pitchFamily="34" charset="0"/>
                <a:cs typeface="Arial" panose="020B0604020202020204" pitchFamily="34" charset="0"/>
              </a:rPr>
              <a:t>Warehouse Management System</a:t>
            </a:r>
            <a:endParaRPr lang="zh-CN" altLang="en-US" sz="1000" dirty="0">
              <a:latin typeface="Arial" panose="020B0604020202020204" pitchFamily="34" charset="0"/>
              <a:cs typeface="Arial" panose="020B0604020202020204" pitchFamily="34" charset="0"/>
            </a:endParaRPr>
          </a:p>
        </p:txBody>
      </p:sp>
      <p:sp>
        <p:nvSpPr>
          <p:cNvPr id="71" name="矩形 70">
            <a:extLst>
              <a:ext uri="{FF2B5EF4-FFF2-40B4-BE49-F238E27FC236}">
                <a16:creationId xmlns:a16="http://schemas.microsoft.com/office/drawing/2014/main" id="{2541F41F-CDAD-9344-5C22-5C3D54013ADC}"/>
              </a:ext>
            </a:extLst>
          </p:cNvPr>
          <p:cNvSpPr/>
          <p:nvPr/>
        </p:nvSpPr>
        <p:spPr>
          <a:xfrm>
            <a:off x="1068017" y="3586946"/>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QMS</a:t>
            </a:r>
          </a:p>
          <a:p>
            <a:pPr algn="ctr"/>
            <a:r>
              <a:rPr lang="en-US" altLang="zh-CN" sz="1000" dirty="0">
                <a:latin typeface="Arial" panose="020B0604020202020204" pitchFamily="34" charset="0"/>
                <a:cs typeface="Arial" panose="020B0604020202020204" pitchFamily="34" charset="0"/>
              </a:rPr>
              <a:t>Quality</a:t>
            </a:r>
          </a:p>
          <a:p>
            <a:pPr algn="ctr"/>
            <a:r>
              <a:rPr lang="en-US" altLang="zh-CN" sz="1000" dirty="0">
                <a:latin typeface="Arial" panose="020B0604020202020204" pitchFamily="34" charset="0"/>
                <a:cs typeface="Arial" panose="020B0604020202020204" pitchFamily="34" charset="0"/>
              </a:rPr>
              <a:t> Management System</a:t>
            </a:r>
            <a:endParaRPr lang="zh-CN" altLang="en-US" sz="1000" dirty="0">
              <a:latin typeface="Arial" panose="020B0604020202020204" pitchFamily="34" charset="0"/>
              <a:cs typeface="Arial" panose="020B0604020202020204" pitchFamily="34" charset="0"/>
            </a:endParaRPr>
          </a:p>
        </p:txBody>
      </p:sp>
      <p:sp>
        <p:nvSpPr>
          <p:cNvPr id="72" name="矩形 71">
            <a:extLst>
              <a:ext uri="{FF2B5EF4-FFF2-40B4-BE49-F238E27FC236}">
                <a16:creationId xmlns:a16="http://schemas.microsoft.com/office/drawing/2014/main" id="{95235FB8-6B6A-2E86-8188-26B4F73AFED6}"/>
              </a:ext>
            </a:extLst>
          </p:cNvPr>
          <p:cNvSpPr/>
          <p:nvPr/>
        </p:nvSpPr>
        <p:spPr>
          <a:xfrm>
            <a:off x="1068017" y="4353163"/>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TPM</a:t>
            </a:r>
          </a:p>
          <a:p>
            <a:pPr algn="ctr"/>
            <a:r>
              <a:rPr lang="en-US" altLang="zh-CN" sz="1000" dirty="0">
                <a:latin typeface="Arial" panose="020B0604020202020204" pitchFamily="34" charset="0"/>
                <a:cs typeface="Arial" panose="020B0604020202020204" pitchFamily="34" charset="0"/>
              </a:rPr>
              <a:t>Total Productive Maintenance</a:t>
            </a:r>
            <a:endParaRPr lang="zh-CN" altLang="en-US" sz="1000" dirty="0">
              <a:latin typeface="Arial" panose="020B0604020202020204" pitchFamily="34" charset="0"/>
              <a:cs typeface="Arial" panose="020B0604020202020204" pitchFamily="34" charset="0"/>
            </a:endParaRPr>
          </a:p>
        </p:txBody>
      </p:sp>
      <p:sp>
        <p:nvSpPr>
          <p:cNvPr id="73" name="矩形 72">
            <a:extLst>
              <a:ext uri="{FF2B5EF4-FFF2-40B4-BE49-F238E27FC236}">
                <a16:creationId xmlns:a16="http://schemas.microsoft.com/office/drawing/2014/main" id="{F38103F5-BF65-5210-94E6-48EE46E29134}"/>
              </a:ext>
            </a:extLst>
          </p:cNvPr>
          <p:cNvSpPr/>
          <p:nvPr/>
        </p:nvSpPr>
        <p:spPr>
          <a:xfrm>
            <a:off x="1073934" y="5119380"/>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IOT</a:t>
            </a:r>
          </a:p>
          <a:p>
            <a:pPr algn="ctr"/>
            <a:r>
              <a:rPr lang="en-US" altLang="zh-CN" sz="1000" dirty="0">
                <a:latin typeface="Arial" panose="020B0604020202020204" pitchFamily="34" charset="0"/>
                <a:cs typeface="Arial" panose="020B0604020202020204" pitchFamily="34" charset="0"/>
              </a:rPr>
              <a:t>Internet Of</a:t>
            </a:r>
            <a:r>
              <a:rPr lang="zh-CN" altLang="en-US" sz="1000" dirty="0">
                <a:latin typeface="Arial" panose="020B0604020202020204" pitchFamily="34" charset="0"/>
                <a:cs typeface="Arial" panose="020B0604020202020204" pitchFamily="34" charset="0"/>
              </a:rPr>
              <a:t> </a:t>
            </a:r>
            <a:r>
              <a:rPr lang="en-US" altLang="zh-CN" sz="1000" dirty="0">
                <a:latin typeface="Arial" panose="020B0604020202020204" pitchFamily="34" charset="0"/>
                <a:cs typeface="Arial" panose="020B0604020202020204" pitchFamily="34" charset="0"/>
              </a:rPr>
              <a:t>Things</a:t>
            </a:r>
          </a:p>
        </p:txBody>
      </p:sp>
      <p:sp>
        <p:nvSpPr>
          <p:cNvPr id="74" name="矩形 73">
            <a:extLst>
              <a:ext uri="{FF2B5EF4-FFF2-40B4-BE49-F238E27FC236}">
                <a16:creationId xmlns:a16="http://schemas.microsoft.com/office/drawing/2014/main" id="{DCFDE28E-5CE4-8FB7-FF57-91F21AAC84E7}"/>
              </a:ext>
            </a:extLst>
          </p:cNvPr>
          <p:cNvSpPr/>
          <p:nvPr/>
        </p:nvSpPr>
        <p:spPr>
          <a:xfrm>
            <a:off x="760520" y="1447056"/>
            <a:ext cx="2064692" cy="1918056"/>
          </a:xfrm>
          <a:prstGeom prst="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75" name="矩形 74">
            <a:extLst>
              <a:ext uri="{FF2B5EF4-FFF2-40B4-BE49-F238E27FC236}">
                <a16:creationId xmlns:a16="http://schemas.microsoft.com/office/drawing/2014/main" id="{D0C6A98E-0C3A-BF53-046B-47D0BDF9EFB3}"/>
              </a:ext>
            </a:extLst>
          </p:cNvPr>
          <p:cNvSpPr/>
          <p:nvPr/>
        </p:nvSpPr>
        <p:spPr>
          <a:xfrm>
            <a:off x="935960" y="1176991"/>
            <a:ext cx="1711699" cy="5401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MOM</a:t>
            </a:r>
          </a:p>
          <a:p>
            <a:pPr algn="ctr"/>
            <a:r>
              <a:rPr lang="en-US" altLang="zh-CN" sz="1000" dirty="0">
                <a:latin typeface="Arial" panose="020B0604020202020204" pitchFamily="34" charset="0"/>
                <a:cs typeface="Arial" panose="020B0604020202020204" pitchFamily="34" charset="0"/>
              </a:rPr>
              <a:t>Manufacturing</a:t>
            </a:r>
          </a:p>
          <a:p>
            <a:pPr algn="ctr"/>
            <a:r>
              <a:rPr lang="en-US" altLang="zh-CN" sz="1000" dirty="0">
                <a:latin typeface="Arial" panose="020B0604020202020204" pitchFamily="34" charset="0"/>
                <a:cs typeface="Arial" panose="020B0604020202020204" pitchFamily="34" charset="0"/>
              </a:rPr>
              <a:t>Operations management</a:t>
            </a:r>
            <a:endParaRPr lang="zh-CN" altLang="en-US" sz="1000" dirty="0">
              <a:latin typeface="Arial" panose="020B0604020202020204" pitchFamily="34" charset="0"/>
              <a:cs typeface="Arial" panose="020B0604020202020204" pitchFamily="34" charset="0"/>
            </a:endParaRPr>
          </a:p>
        </p:txBody>
      </p:sp>
      <p:sp>
        <p:nvSpPr>
          <p:cNvPr id="76" name="矩形 75">
            <a:extLst>
              <a:ext uri="{FF2B5EF4-FFF2-40B4-BE49-F238E27FC236}">
                <a16:creationId xmlns:a16="http://schemas.microsoft.com/office/drawing/2014/main" id="{A710F73F-0CD9-DC32-C78E-4FA019F2E7EB}"/>
              </a:ext>
            </a:extLst>
          </p:cNvPr>
          <p:cNvSpPr/>
          <p:nvPr/>
        </p:nvSpPr>
        <p:spPr>
          <a:xfrm>
            <a:off x="760520" y="3365112"/>
            <a:ext cx="2064692" cy="2414247"/>
          </a:xfrm>
          <a:prstGeom prst="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77" name="矩形 76">
            <a:extLst>
              <a:ext uri="{FF2B5EF4-FFF2-40B4-BE49-F238E27FC236}">
                <a16:creationId xmlns:a16="http://schemas.microsoft.com/office/drawing/2014/main" id="{EE9BCAC8-7BED-C15C-C466-DCB1C11BEEB9}"/>
              </a:ext>
            </a:extLst>
          </p:cNvPr>
          <p:cNvSpPr/>
          <p:nvPr/>
        </p:nvSpPr>
        <p:spPr>
          <a:xfrm>
            <a:off x="567907" y="1986228"/>
            <a:ext cx="385226" cy="83971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Arial" panose="020B0604020202020204" pitchFamily="34" charset="0"/>
                <a:cs typeface="Arial" panose="020B0604020202020204" pitchFamily="34" charset="0"/>
              </a:rPr>
              <a:t>第一期</a:t>
            </a:r>
            <a:endParaRPr lang="zh-CN" altLang="en-US" sz="1000" b="1" dirty="0">
              <a:solidFill>
                <a:schemeClr val="tx1"/>
              </a:solidFill>
              <a:latin typeface="Arial" panose="020B0604020202020204" pitchFamily="34" charset="0"/>
              <a:cs typeface="Arial" panose="020B0604020202020204" pitchFamily="34" charset="0"/>
            </a:endParaRPr>
          </a:p>
        </p:txBody>
      </p:sp>
      <p:sp>
        <p:nvSpPr>
          <p:cNvPr id="78" name="矩形 77">
            <a:extLst>
              <a:ext uri="{FF2B5EF4-FFF2-40B4-BE49-F238E27FC236}">
                <a16:creationId xmlns:a16="http://schemas.microsoft.com/office/drawing/2014/main" id="{DBCC695D-C309-5DD9-283C-2ADFC92C8846}"/>
              </a:ext>
            </a:extLst>
          </p:cNvPr>
          <p:cNvSpPr/>
          <p:nvPr/>
        </p:nvSpPr>
        <p:spPr>
          <a:xfrm>
            <a:off x="572295" y="4203370"/>
            <a:ext cx="385226" cy="83971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Arial" panose="020B0604020202020204" pitchFamily="34" charset="0"/>
                <a:cs typeface="Arial" panose="020B0604020202020204" pitchFamily="34" charset="0"/>
              </a:rPr>
              <a:t>第二期</a:t>
            </a:r>
            <a:endParaRPr lang="zh-CN" altLang="en-US" sz="1000" b="1" dirty="0">
              <a:solidFill>
                <a:schemeClr val="tx1"/>
              </a:solidFill>
              <a:latin typeface="Arial" panose="020B0604020202020204" pitchFamily="34" charset="0"/>
              <a:cs typeface="Arial" panose="020B0604020202020204" pitchFamily="34" charset="0"/>
            </a:endParaRPr>
          </a:p>
        </p:txBody>
      </p:sp>
      <p:sp>
        <p:nvSpPr>
          <p:cNvPr id="79" name="矩形 78">
            <a:extLst>
              <a:ext uri="{FF2B5EF4-FFF2-40B4-BE49-F238E27FC236}">
                <a16:creationId xmlns:a16="http://schemas.microsoft.com/office/drawing/2014/main" id="{BDD9F77A-4289-D8DD-BF50-8F0819ED5353}"/>
              </a:ext>
            </a:extLst>
          </p:cNvPr>
          <p:cNvSpPr/>
          <p:nvPr/>
        </p:nvSpPr>
        <p:spPr>
          <a:xfrm>
            <a:off x="7242569" y="2653182"/>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latin typeface="Arial" panose="020B0604020202020204" pitchFamily="34" charset="0"/>
                <a:cs typeface="Arial" panose="020B0604020202020204" pitchFamily="34" charset="0"/>
              </a:rPr>
              <a:t>MES</a:t>
            </a:r>
            <a:r>
              <a:rPr lang="en-US" altLang="zh-CN" sz="1400" baseline="30000">
                <a:solidFill>
                  <a:schemeClr val="tx1"/>
                </a:solidFill>
                <a:latin typeface="Arial" panose="020B0604020202020204" pitchFamily="34" charset="0"/>
                <a:cs typeface="Arial" panose="020B0604020202020204" pitchFamily="34" charset="0"/>
              </a:rPr>
              <a:t>+</a:t>
            </a:r>
          </a:p>
          <a:p>
            <a:pPr algn="ctr"/>
            <a:r>
              <a:rPr lang="en-US" altLang="zh-CN" sz="1000">
                <a:solidFill>
                  <a:schemeClr val="tx1"/>
                </a:solidFill>
                <a:latin typeface="Arial" panose="020B0604020202020204" pitchFamily="34" charset="0"/>
                <a:cs typeface="Arial" panose="020B0604020202020204" pitchFamily="34" charset="0"/>
              </a:rPr>
              <a:t>Manufacturing Execution System</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80" name="矩形 79">
            <a:extLst>
              <a:ext uri="{FF2B5EF4-FFF2-40B4-BE49-F238E27FC236}">
                <a16:creationId xmlns:a16="http://schemas.microsoft.com/office/drawing/2014/main" id="{D64CB379-CE54-58FD-6CA2-D35375DF3797}"/>
              </a:ext>
            </a:extLst>
          </p:cNvPr>
          <p:cNvSpPr/>
          <p:nvPr/>
        </p:nvSpPr>
        <p:spPr>
          <a:xfrm>
            <a:off x="7242570" y="1886965"/>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WMS</a:t>
            </a:r>
            <a:r>
              <a:rPr lang="en-US" altLang="zh-CN" sz="1400" baseline="30000" dirty="0">
                <a:solidFill>
                  <a:schemeClr val="tx1"/>
                </a:solidFill>
                <a:latin typeface="Arial" panose="020B0604020202020204" pitchFamily="34" charset="0"/>
                <a:cs typeface="Arial" panose="020B0604020202020204" pitchFamily="34" charset="0"/>
              </a:rPr>
              <a:t>+</a:t>
            </a:r>
          </a:p>
          <a:p>
            <a:pPr algn="ctr"/>
            <a:r>
              <a:rPr lang="en-US" altLang="zh-CN" sz="1000" dirty="0">
                <a:solidFill>
                  <a:schemeClr val="tx1"/>
                </a:solidFill>
                <a:latin typeface="Arial" panose="020B0604020202020204" pitchFamily="34" charset="0"/>
                <a:cs typeface="Arial" panose="020B0604020202020204" pitchFamily="34" charset="0"/>
              </a:rPr>
              <a:t>Warehouse Management System</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81" name="矩形 80">
            <a:extLst>
              <a:ext uri="{FF2B5EF4-FFF2-40B4-BE49-F238E27FC236}">
                <a16:creationId xmlns:a16="http://schemas.microsoft.com/office/drawing/2014/main" id="{D531A3D5-71F1-8B4F-C6A5-99D4A6060770}"/>
              </a:ext>
            </a:extLst>
          </p:cNvPr>
          <p:cNvSpPr/>
          <p:nvPr/>
        </p:nvSpPr>
        <p:spPr>
          <a:xfrm>
            <a:off x="7242570" y="3586946"/>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QMS</a:t>
            </a:r>
            <a:r>
              <a:rPr lang="en-US" altLang="zh-CN" sz="1400" baseline="30000" dirty="0">
                <a:solidFill>
                  <a:schemeClr val="tx1"/>
                </a:solidFill>
                <a:latin typeface="Arial" panose="020B0604020202020204" pitchFamily="34" charset="0"/>
                <a:cs typeface="Arial" panose="020B0604020202020204" pitchFamily="34" charset="0"/>
              </a:rPr>
              <a:t>+</a:t>
            </a:r>
          </a:p>
          <a:p>
            <a:pPr algn="ctr"/>
            <a:r>
              <a:rPr lang="en-US" altLang="zh-CN" sz="1000" dirty="0">
                <a:solidFill>
                  <a:schemeClr val="tx1"/>
                </a:solidFill>
                <a:latin typeface="Arial" panose="020B0604020202020204" pitchFamily="34" charset="0"/>
                <a:cs typeface="Arial" panose="020B0604020202020204" pitchFamily="34" charset="0"/>
              </a:rPr>
              <a:t>Quality</a:t>
            </a:r>
          </a:p>
          <a:p>
            <a:pPr algn="ctr"/>
            <a:r>
              <a:rPr lang="en-US" altLang="zh-CN" sz="1000" dirty="0">
                <a:solidFill>
                  <a:schemeClr val="tx1"/>
                </a:solidFill>
                <a:latin typeface="Arial" panose="020B0604020202020204" pitchFamily="34" charset="0"/>
                <a:cs typeface="Arial" panose="020B0604020202020204" pitchFamily="34" charset="0"/>
              </a:rPr>
              <a:t> Management System</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82" name="矩形 81">
            <a:extLst>
              <a:ext uri="{FF2B5EF4-FFF2-40B4-BE49-F238E27FC236}">
                <a16:creationId xmlns:a16="http://schemas.microsoft.com/office/drawing/2014/main" id="{6D39C989-0439-9222-4FC4-7F0565FA2069}"/>
              </a:ext>
            </a:extLst>
          </p:cNvPr>
          <p:cNvSpPr/>
          <p:nvPr/>
        </p:nvSpPr>
        <p:spPr>
          <a:xfrm>
            <a:off x="6935073" y="1447056"/>
            <a:ext cx="2064692" cy="4332303"/>
          </a:xfrm>
          <a:prstGeom prst="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83" name="矩形 82">
            <a:extLst>
              <a:ext uri="{FF2B5EF4-FFF2-40B4-BE49-F238E27FC236}">
                <a16:creationId xmlns:a16="http://schemas.microsoft.com/office/drawing/2014/main" id="{47260A5C-1858-EAE8-C400-8B16E3EBC980}"/>
              </a:ext>
            </a:extLst>
          </p:cNvPr>
          <p:cNvSpPr/>
          <p:nvPr/>
        </p:nvSpPr>
        <p:spPr>
          <a:xfrm>
            <a:off x="7110513" y="1176991"/>
            <a:ext cx="1711699" cy="5401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MOM</a:t>
            </a:r>
          </a:p>
          <a:p>
            <a:pPr algn="ctr"/>
            <a:r>
              <a:rPr lang="en-US" altLang="zh-CN" sz="1000" dirty="0">
                <a:latin typeface="Arial" panose="020B0604020202020204" pitchFamily="34" charset="0"/>
                <a:cs typeface="Arial" panose="020B0604020202020204" pitchFamily="34" charset="0"/>
              </a:rPr>
              <a:t>Manufacturing</a:t>
            </a:r>
          </a:p>
          <a:p>
            <a:pPr algn="ctr"/>
            <a:r>
              <a:rPr lang="en-US" altLang="zh-CN" sz="1000" dirty="0">
                <a:latin typeface="Arial" panose="020B0604020202020204" pitchFamily="34" charset="0"/>
                <a:cs typeface="Arial" panose="020B0604020202020204" pitchFamily="34" charset="0"/>
              </a:rPr>
              <a:t>Operations management</a:t>
            </a:r>
            <a:endParaRPr lang="zh-CN" altLang="en-US" sz="1000" dirty="0">
              <a:latin typeface="Arial" panose="020B0604020202020204" pitchFamily="34" charset="0"/>
              <a:cs typeface="Arial" panose="020B0604020202020204" pitchFamily="34" charset="0"/>
            </a:endParaRPr>
          </a:p>
        </p:txBody>
      </p:sp>
      <p:sp>
        <p:nvSpPr>
          <p:cNvPr id="84" name="矩形 83">
            <a:extLst>
              <a:ext uri="{FF2B5EF4-FFF2-40B4-BE49-F238E27FC236}">
                <a16:creationId xmlns:a16="http://schemas.microsoft.com/office/drawing/2014/main" id="{5ACE6D93-900C-7308-64FC-26A1F8CF7AB6}"/>
              </a:ext>
            </a:extLst>
          </p:cNvPr>
          <p:cNvSpPr/>
          <p:nvPr/>
        </p:nvSpPr>
        <p:spPr>
          <a:xfrm>
            <a:off x="3132708" y="1886965"/>
            <a:ext cx="206469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出入库管理、库存管理、盘点、</a:t>
            </a:r>
            <a:r>
              <a:rPr lang="en-US" altLang="zh-CN" sz="1200" dirty="0">
                <a:solidFill>
                  <a:schemeClr val="tx1"/>
                </a:solidFill>
                <a:latin typeface="+mn-ea"/>
                <a:cs typeface="Arial" panose="020B0604020202020204" pitchFamily="34" charset="0"/>
              </a:rPr>
              <a:t>FIFO</a:t>
            </a:r>
            <a:r>
              <a:rPr lang="zh-CN" altLang="en-US" sz="1200" dirty="0">
                <a:solidFill>
                  <a:schemeClr val="tx1"/>
                </a:solidFill>
                <a:latin typeface="+mn-ea"/>
                <a:cs typeface="Arial" panose="020B0604020202020204" pitchFamily="34" charset="0"/>
              </a:rPr>
              <a:t>、报表输出等</a:t>
            </a:r>
          </a:p>
        </p:txBody>
      </p:sp>
      <p:sp>
        <p:nvSpPr>
          <p:cNvPr id="85" name="矩形 84">
            <a:extLst>
              <a:ext uri="{FF2B5EF4-FFF2-40B4-BE49-F238E27FC236}">
                <a16:creationId xmlns:a16="http://schemas.microsoft.com/office/drawing/2014/main" id="{4AC692BF-3564-3278-9B87-6C2846FE6B20}"/>
              </a:ext>
            </a:extLst>
          </p:cNvPr>
          <p:cNvSpPr/>
          <p:nvPr/>
        </p:nvSpPr>
        <p:spPr>
          <a:xfrm>
            <a:off x="3132708" y="2653422"/>
            <a:ext cx="2064692"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生产调度派工、生产进度监控、产品追溯、工序防错等</a:t>
            </a:r>
          </a:p>
        </p:txBody>
      </p:sp>
      <p:sp>
        <p:nvSpPr>
          <p:cNvPr id="86" name="矩形 85">
            <a:extLst>
              <a:ext uri="{FF2B5EF4-FFF2-40B4-BE49-F238E27FC236}">
                <a16:creationId xmlns:a16="http://schemas.microsoft.com/office/drawing/2014/main" id="{D545759E-951A-CFAD-03FA-698CEA399275}"/>
              </a:ext>
            </a:extLst>
          </p:cNvPr>
          <p:cNvSpPr/>
          <p:nvPr/>
        </p:nvSpPr>
        <p:spPr>
          <a:xfrm>
            <a:off x="3132708" y="3586946"/>
            <a:ext cx="206469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来料</a:t>
            </a:r>
            <a:r>
              <a:rPr lang="en-US" altLang="zh-CN" sz="1200" dirty="0">
                <a:solidFill>
                  <a:schemeClr val="tx1"/>
                </a:solidFill>
                <a:latin typeface="+mn-ea"/>
                <a:cs typeface="Arial" panose="020B0604020202020204" pitchFamily="34" charset="0"/>
              </a:rPr>
              <a:t>/</a:t>
            </a:r>
            <a:r>
              <a:rPr lang="zh-CN" altLang="en-US" sz="1200" dirty="0">
                <a:solidFill>
                  <a:schemeClr val="tx1"/>
                </a:solidFill>
                <a:latin typeface="+mn-ea"/>
                <a:cs typeface="Arial" panose="020B0604020202020204" pitchFamily="34" charset="0"/>
              </a:rPr>
              <a:t>制程</a:t>
            </a:r>
            <a:r>
              <a:rPr lang="en-US" altLang="zh-CN" sz="1200" dirty="0">
                <a:solidFill>
                  <a:schemeClr val="tx1"/>
                </a:solidFill>
                <a:latin typeface="+mn-ea"/>
                <a:cs typeface="Arial" panose="020B0604020202020204" pitchFamily="34" charset="0"/>
              </a:rPr>
              <a:t>/</a:t>
            </a:r>
            <a:r>
              <a:rPr lang="zh-CN" altLang="en-US" sz="1200" dirty="0">
                <a:solidFill>
                  <a:schemeClr val="tx1"/>
                </a:solidFill>
                <a:latin typeface="+mn-ea"/>
                <a:cs typeface="Arial" panose="020B0604020202020204" pitchFamily="34" charset="0"/>
              </a:rPr>
              <a:t>出货检验、检验标准管理、不合格品处理等</a:t>
            </a:r>
          </a:p>
        </p:txBody>
      </p:sp>
      <p:sp>
        <p:nvSpPr>
          <p:cNvPr id="87" name="矩形 86">
            <a:extLst>
              <a:ext uri="{FF2B5EF4-FFF2-40B4-BE49-F238E27FC236}">
                <a16:creationId xmlns:a16="http://schemas.microsoft.com/office/drawing/2014/main" id="{ED3EA87D-A08D-2FA9-9EFD-650A6B7DCC06}"/>
              </a:ext>
            </a:extLst>
          </p:cNvPr>
          <p:cNvSpPr/>
          <p:nvPr/>
        </p:nvSpPr>
        <p:spPr>
          <a:xfrm>
            <a:off x="3132708" y="4353161"/>
            <a:ext cx="206469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设备状态监控、设备故障记录、设备维护实施监控等</a:t>
            </a:r>
          </a:p>
        </p:txBody>
      </p:sp>
      <p:sp>
        <p:nvSpPr>
          <p:cNvPr id="88" name="矩形 87">
            <a:extLst>
              <a:ext uri="{FF2B5EF4-FFF2-40B4-BE49-F238E27FC236}">
                <a16:creationId xmlns:a16="http://schemas.microsoft.com/office/drawing/2014/main" id="{5CB79AA5-8A7A-54EE-473F-58031F75A0E4}"/>
              </a:ext>
            </a:extLst>
          </p:cNvPr>
          <p:cNvSpPr/>
          <p:nvPr/>
        </p:nvSpPr>
        <p:spPr>
          <a:xfrm>
            <a:off x="3132708" y="5123818"/>
            <a:ext cx="206469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核心生产设备数据采集、报表输出、分析及决策协助等</a:t>
            </a:r>
          </a:p>
        </p:txBody>
      </p:sp>
      <p:sp>
        <p:nvSpPr>
          <p:cNvPr id="89" name="矩形 88">
            <a:extLst>
              <a:ext uri="{FF2B5EF4-FFF2-40B4-BE49-F238E27FC236}">
                <a16:creationId xmlns:a16="http://schemas.microsoft.com/office/drawing/2014/main" id="{1125D2BB-E15A-6F9E-D3FD-C2B645412D5E}"/>
              </a:ext>
            </a:extLst>
          </p:cNvPr>
          <p:cNvSpPr/>
          <p:nvPr/>
        </p:nvSpPr>
        <p:spPr>
          <a:xfrm>
            <a:off x="9307261" y="1883950"/>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替代料管理、物流临期预警、按单发料管理、退料特殊管理等</a:t>
            </a:r>
          </a:p>
        </p:txBody>
      </p:sp>
      <p:sp>
        <p:nvSpPr>
          <p:cNvPr id="90" name="矩形 89">
            <a:extLst>
              <a:ext uri="{FF2B5EF4-FFF2-40B4-BE49-F238E27FC236}">
                <a16:creationId xmlns:a16="http://schemas.microsoft.com/office/drawing/2014/main" id="{1738C640-C179-FFE1-443F-F44238EB370A}"/>
              </a:ext>
            </a:extLst>
          </p:cNvPr>
          <p:cNvSpPr/>
          <p:nvPr/>
        </p:nvSpPr>
        <p:spPr>
          <a:xfrm>
            <a:off x="3825581" y="1447056"/>
            <a:ext cx="1083353" cy="3246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Arial" panose="020B0604020202020204" pitchFamily="34" charset="0"/>
                <a:cs typeface="Arial" panose="020B0604020202020204" pitchFamily="34" charset="0"/>
              </a:rPr>
              <a:t>常规功能</a:t>
            </a:r>
            <a:endParaRPr lang="zh-CN" altLang="en-US" sz="1000" dirty="0">
              <a:latin typeface="Arial" panose="020B0604020202020204" pitchFamily="34" charset="0"/>
              <a:cs typeface="Arial" panose="020B0604020202020204" pitchFamily="34" charset="0"/>
            </a:endParaRPr>
          </a:p>
        </p:txBody>
      </p:sp>
      <p:sp>
        <p:nvSpPr>
          <p:cNvPr id="91" name="矩形 90">
            <a:extLst>
              <a:ext uri="{FF2B5EF4-FFF2-40B4-BE49-F238E27FC236}">
                <a16:creationId xmlns:a16="http://schemas.microsoft.com/office/drawing/2014/main" id="{983D4752-21ED-940F-D450-6C86FED56B20}"/>
              </a:ext>
            </a:extLst>
          </p:cNvPr>
          <p:cNvSpPr/>
          <p:nvPr/>
        </p:nvSpPr>
        <p:spPr>
          <a:xfrm>
            <a:off x="9837976" y="1447055"/>
            <a:ext cx="1407672" cy="324645"/>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CATL</a:t>
            </a:r>
            <a:r>
              <a:rPr lang="zh-CN" altLang="en-US" sz="1400" dirty="0">
                <a:solidFill>
                  <a:schemeClr val="tx1"/>
                </a:solidFill>
                <a:latin typeface="Arial" panose="020B0604020202020204" pitchFamily="34" charset="0"/>
                <a:cs typeface="Arial" panose="020B0604020202020204" pitchFamily="34" charset="0"/>
              </a:rPr>
              <a:t>特殊要求</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92" name="矩形 91">
            <a:extLst>
              <a:ext uri="{FF2B5EF4-FFF2-40B4-BE49-F238E27FC236}">
                <a16:creationId xmlns:a16="http://schemas.microsoft.com/office/drawing/2014/main" id="{FDA958FD-3421-BEA9-8E98-54290E27C0F9}"/>
              </a:ext>
            </a:extLst>
          </p:cNvPr>
          <p:cNvSpPr/>
          <p:nvPr/>
        </p:nvSpPr>
        <p:spPr>
          <a:xfrm>
            <a:off x="9307261" y="2653182"/>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开班样件点检、岗位权限、工序参数防呆、工序检测结果联动等</a:t>
            </a:r>
          </a:p>
        </p:txBody>
      </p:sp>
      <p:sp>
        <p:nvSpPr>
          <p:cNvPr id="93" name="矩形 92">
            <a:extLst>
              <a:ext uri="{FF2B5EF4-FFF2-40B4-BE49-F238E27FC236}">
                <a16:creationId xmlns:a16="http://schemas.microsoft.com/office/drawing/2014/main" id="{3D14948F-6E96-A544-64BE-64D229E6BD01}"/>
              </a:ext>
            </a:extLst>
          </p:cNvPr>
          <p:cNvSpPr/>
          <p:nvPr/>
        </p:nvSpPr>
        <p:spPr>
          <a:xfrm>
            <a:off x="9307260" y="3586945"/>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来料跳批次防错、不合格品处理时效、</a:t>
            </a:r>
            <a:r>
              <a:rPr lang="en-US" altLang="zh-CN" sz="1200" dirty="0">
                <a:solidFill>
                  <a:schemeClr val="tx1"/>
                </a:solidFill>
                <a:latin typeface="+mn-ea"/>
                <a:cs typeface="Arial" panose="020B0604020202020204" pitchFamily="34" charset="0"/>
              </a:rPr>
              <a:t>SPC</a:t>
            </a:r>
            <a:r>
              <a:rPr lang="zh-CN" altLang="en-US" sz="1200" dirty="0">
                <a:solidFill>
                  <a:schemeClr val="tx1"/>
                </a:solidFill>
                <a:latin typeface="+mn-ea"/>
                <a:cs typeface="Arial" panose="020B0604020202020204" pitchFamily="34" charset="0"/>
              </a:rPr>
              <a:t>控制图实施输出等</a:t>
            </a:r>
          </a:p>
        </p:txBody>
      </p:sp>
      <p:sp>
        <p:nvSpPr>
          <p:cNvPr id="94" name="矩形 93">
            <a:extLst>
              <a:ext uri="{FF2B5EF4-FFF2-40B4-BE49-F238E27FC236}">
                <a16:creationId xmlns:a16="http://schemas.microsoft.com/office/drawing/2014/main" id="{2F04A946-42BC-3D3A-D891-0E8954F836D1}"/>
              </a:ext>
            </a:extLst>
          </p:cNvPr>
          <p:cNvSpPr/>
          <p:nvPr/>
        </p:nvSpPr>
        <p:spPr>
          <a:xfrm>
            <a:off x="9307260" y="4353160"/>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设备参数管理、生产程序管理、工装</a:t>
            </a:r>
            <a:r>
              <a:rPr lang="en-US" altLang="zh-CN" sz="1200" dirty="0">
                <a:solidFill>
                  <a:schemeClr val="tx1"/>
                </a:solidFill>
                <a:latin typeface="+mn-ea"/>
                <a:cs typeface="Arial" panose="020B0604020202020204" pitchFamily="34" charset="0"/>
              </a:rPr>
              <a:t>/</a:t>
            </a:r>
            <a:r>
              <a:rPr lang="zh-CN" altLang="en-US" sz="1200" dirty="0">
                <a:solidFill>
                  <a:schemeClr val="tx1"/>
                </a:solidFill>
                <a:latin typeface="+mn-ea"/>
                <a:cs typeface="Arial" panose="020B0604020202020204" pitchFamily="34" charset="0"/>
              </a:rPr>
              <a:t>夹具</a:t>
            </a:r>
            <a:r>
              <a:rPr lang="en-US" altLang="zh-CN" sz="1200" dirty="0">
                <a:solidFill>
                  <a:schemeClr val="tx1"/>
                </a:solidFill>
                <a:latin typeface="+mn-ea"/>
                <a:cs typeface="Arial" panose="020B0604020202020204" pitchFamily="34" charset="0"/>
              </a:rPr>
              <a:t>/</a:t>
            </a:r>
            <a:r>
              <a:rPr lang="zh-CN" altLang="en-US" sz="1200" dirty="0">
                <a:solidFill>
                  <a:schemeClr val="tx1"/>
                </a:solidFill>
                <a:latin typeface="+mn-ea"/>
                <a:cs typeface="Arial" panose="020B0604020202020204" pitchFamily="34" charset="0"/>
              </a:rPr>
              <a:t>量具管理等</a:t>
            </a:r>
          </a:p>
        </p:txBody>
      </p:sp>
      <p:sp>
        <p:nvSpPr>
          <p:cNvPr id="95" name="矩形 94">
            <a:extLst>
              <a:ext uri="{FF2B5EF4-FFF2-40B4-BE49-F238E27FC236}">
                <a16:creationId xmlns:a16="http://schemas.microsoft.com/office/drawing/2014/main" id="{E8859BEA-A817-79C4-0705-F2353BD2B450}"/>
              </a:ext>
            </a:extLst>
          </p:cNvPr>
          <p:cNvSpPr/>
          <p:nvPr/>
        </p:nvSpPr>
        <p:spPr>
          <a:xfrm>
            <a:off x="7242569" y="4353159"/>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TPM</a:t>
            </a:r>
          </a:p>
          <a:p>
            <a:pPr algn="ctr"/>
            <a:r>
              <a:rPr lang="en-US" altLang="zh-CN" sz="1000" dirty="0">
                <a:solidFill>
                  <a:schemeClr val="tx1"/>
                </a:solidFill>
                <a:latin typeface="Arial" panose="020B0604020202020204" pitchFamily="34" charset="0"/>
                <a:cs typeface="Arial" panose="020B0604020202020204" pitchFamily="34" charset="0"/>
              </a:rPr>
              <a:t>Total Productive Maintenance</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96" name="矩形 95">
            <a:extLst>
              <a:ext uri="{FF2B5EF4-FFF2-40B4-BE49-F238E27FC236}">
                <a16:creationId xmlns:a16="http://schemas.microsoft.com/office/drawing/2014/main" id="{50D68FB5-CAE3-CBFC-F7F6-1ECEC76425A8}"/>
              </a:ext>
            </a:extLst>
          </p:cNvPr>
          <p:cNvSpPr/>
          <p:nvPr/>
        </p:nvSpPr>
        <p:spPr>
          <a:xfrm>
            <a:off x="7242569" y="5127889"/>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IOT</a:t>
            </a:r>
          </a:p>
          <a:p>
            <a:pPr algn="ctr"/>
            <a:r>
              <a:rPr lang="en-US" altLang="zh-CN" sz="1000" dirty="0">
                <a:solidFill>
                  <a:schemeClr val="tx1"/>
                </a:solidFill>
                <a:latin typeface="Arial" panose="020B0604020202020204" pitchFamily="34" charset="0"/>
                <a:cs typeface="Arial" panose="020B0604020202020204" pitchFamily="34" charset="0"/>
              </a:rPr>
              <a:t>Internet Of</a:t>
            </a:r>
            <a:r>
              <a:rPr lang="zh-CN" altLang="en-US" sz="1000" dirty="0">
                <a:solidFill>
                  <a:schemeClr val="tx1"/>
                </a:solidFill>
                <a:latin typeface="Arial" panose="020B0604020202020204" pitchFamily="34" charset="0"/>
                <a:cs typeface="Arial" panose="020B0604020202020204" pitchFamily="34" charset="0"/>
              </a:rPr>
              <a:t> </a:t>
            </a:r>
            <a:r>
              <a:rPr lang="en-US" altLang="zh-CN" sz="1000" dirty="0">
                <a:solidFill>
                  <a:schemeClr val="tx1"/>
                </a:solidFill>
                <a:latin typeface="Arial" panose="020B0604020202020204" pitchFamily="34" charset="0"/>
                <a:cs typeface="Arial" panose="020B0604020202020204" pitchFamily="34" charset="0"/>
              </a:rPr>
              <a:t>Things</a:t>
            </a:r>
          </a:p>
        </p:txBody>
      </p:sp>
      <p:sp>
        <p:nvSpPr>
          <p:cNvPr id="97" name="矩形 96">
            <a:extLst>
              <a:ext uri="{FF2B5EF4-FFF2-40B4-BE49-F238E27FC236}">
                <a16:creationId xmlns:a16="http://schemas.microsoft.com/office/drawing/2014/main" id="{BD8134DE-D20D-A199-31A3-9451DD09038D}"/>
              </a:ext>
            </a:extLst>
          </p:cNvPr>
          <p:cNvSpPr/>
          <p:nvPr/>
        </p:nvSpPr>
        <p:spPr>
          <a:xfrm>
            <a:off x="9307260" y="5119375"/>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全工序生产设备需要数据收集等</a:t>
            </a:r>
          </a:p>
        </p:txBody>
      </p:sp>
      <p:cxnSp>
        <p:nvCxnSpPr>
          <p:cNvPr id="98" name="直接箭头连接符 60">
            <a:extLst>
              <a:ext uri="{FF2B5EF4-FFF2-40B4-BE49-F238E27FC236}">
                <a16:creationId xmlns:a16="http://schemas.microsoft.com/office/drawing/2014/main" id="{858DBBD4-338B-207E-3D4E-EA891AB2EF9E}"/>
              </a:ext>
            </a:extLst>
          </p:cNvPr>
          <p:cNvCxnSpPr>
            <a:stCxn id="70" idx="3"/>
            <a:endCxn id="84" idx="1"/>
          </p:cNvCxnSpPr>
          <p:nvPr/>
        </p:nvCxnSpPr>
        <p:spPr>
          <a:xfrm>
            <a:off x="2496316" y="2157030"/>
            <a:ext cx="636392" cy="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62">
            <a:extLst>
              <a:ext uri="{FF2B5EF4-FFF2-40B4-BE49-F238E27FC236}">
                <a16:creationId xmlns:a16="http://schemas.microsoft.com/office/drawing/2014/main" id="{BC2402A9-A676-6E10-A5DE-07A5836DDD39}"/>
              </a:ext>
            </a:extLst>
          </p:cNvPr>
          <p:cNvCxnSpPr>
            <a:stCxn id="69" idx="3"/>
            <a:endCxn id="85" idx="1"/>
          </p:cNvCxnSpPr>
          <p:nvPr/>
        </p:nvCxnSpPr>
        <p:spPr>
          <a:xfrm>
            <a:off x="2496315" y="2923247"/>
            <a:ext cx="636393" cy="24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64">
            <a:extLst>
              <a:ext uri="{FF2B5EF4-FFF2-40B4-BE49-F238E27FC236}">
                <a16:creationId xmlns:a16="http://schemas.microsoft.com/office/drawing/2014/main" id="{E85900D8-F424-FEB6-E24B-3B6E2FD3C340}"/>
              </a:ext>
            </a:extLst>
          </p:cNvPr>
          <p:cNvCxnSpPr>
            <a:stCxn id="71" idx="3"/>
            <a:endCxn id="86" idx="1"/>
          </p:cNvCxnSpPr>
          <p:nvPr/>
        </p:nvCxnSpPr>
        <p:spPr>
          <a:xfrm>
            <a:off x="2496316" y="3857011"/>
            <a:ext cx="636392" cy="0"/>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66">
            <a:extLst>
              <a:ext uri="{FF2B5EF4-FFF2-40B4-BE49-F238E27FC236}">
                <a16:creationId xmlns:a16="http://schemas.microsoft.com/office/drawing/2014/main" id="{97C8900D-DCC0-AE41-79E4-6152355708B6}"/>
              </a:ext>
            </a:extLst>
          </p:cNvPr>
          <p:cNvCxnSpPr>
            <a:stCxn id="72" idx="3"/>
            <a:endCxn id="87" idx="1"/>
          </p:cNvCxnSpPr>
          <p:nvPr/>
        </p:nvCxnSpPr>
        <p:spPr>
          <a:xfrm flipV="1">
            <a:off x="2496316" y="4623226"/>
            <a:ext cx="636392" cy="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68">
            <a:extLst>
              <a:ext uri="{FF2B5EF4-FFF2-40B4-BE49-F238E27FC236}">
                <a16:creationId xmlns:a16="http://schemas.microsoft.com/office/drawing/2014/main" id="{5059CEDF-1C76-29B1-30CB-D6629D5D052A}"/>
              </a:ext>
            </a:extLst>
          </p:cNvPr>
          <p:cNvCxnSpPr>
            <a:stCxn id="73" idx="3"/>
            <a:endCxn id="88" idx="1"/>
          </p:cNvCxnSpPr>
          <p:nvPr/>
        </p:nvCxnSpPr>
        <p:spPr>
          <a:xfrm>
            <a:off x="2502233" y="5389445"/>
            <a:ext cx="630475" cy="4438"/>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69">
            <a:extLst>
              <a:ext uri="{FF2B5EF4-FFF2-40B4-BE49-F238E27FC236}">
                <a16:creationId xmlns:a16="http://schemas.microsoft.com/office/drawing/2014/main" id="{CC86E4B3-7E14-7EF5-AD04-33E8803BB9A7}"/>
              </a:ext>
            </a:extLst>
          </p:cNvPr>
          <p:cNvCxnSpPr>
            <a:cxnSpLocks/>
            <a:stCxn id="80" idx="3"/>
            <a:endCxn id="89" idx="1"/>
          </p:cNvCxnSpPr>
          <p:nvPr/>
        </p:nvCxnSpPr>
        <p:spPr>
          <a:xfrm flipV="1">
            <a:off x="8670869" y="2154015"/>
            <a:ext cx="636392" cy="30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73">
            <a:extLst>
              <a:ext uri="{FF2B5EF4-FFF2-40B4-BE49-F238E27FC236}">
                <a16:creationId xmlns:a16="http://schemas.microsoft.com/office/drawing/2014/main" id="{C3F0CAB4-C47D-9F35-A3E9-6CE95437E200}"/>
              </a:ext>
            </a:extLst>
          </p:cNvPr>
          <p:cNvCxnSpPr>
            <a:cxnSpLocks/>
            <a:stCxn id="79" idx="3"/>
            <a:endCxn id="92" idx="1"/>
          </p:cNvCxnSpPr>
          <p:nvPr/>
        </p:nvCxnSpPr>
        <p:spPr>
          <a:xfrm>
            <a:off x="8670868" y="2923247"/>
            <a:ext cx="6363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77">
            <a:extLst>
              <a:ext uri="{FF2B5EF4-FFF2-40B4-BE49-F238E27FC236}">
                <a16:creationId xmlns:a16="http://schemas.microsoft.com/office/drawing/2014/main" id="{B348B304-04C3-5E9F-7802-7C5E747137A8}"/>
              </a:ext>
            </a:extLst>
          </p:cNvPr>
          <p:cNvCxnSpPr>
            <a:cxnSpLocks/>
            <a:stCxn id="81" idx="3"/>
            <a:endCxn id="93" idx="1"/>
          </p:cNvCxnSpPr>
          <p:nvPr/>
        </p:nvCxnSpPr>
        <p:spPr>
          <a:xfrm flipV="1">
            <a:off x="8670869" y="3857010"/>
            <a:ext cx="63639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80">
            <a:extLst>
              <a:ext uri="{FF2B5EF4-FFF2-40B4-BE49-F238E27FC236}">
                <a16:creationId xmlns:a16="http://schemas.microsoft.com/office/drawing/2014/main" id="{EB33C7D4-A168-2AD9-A8E6-EAFBE38AE1D3}"/>
              </a:ext>
            </a:extLst>
          </p:cNvPr>
          <p:cNvCxnSpPr>
            <a:cxnSpLocks/>
            <a:stCxn id="95" idx="3"/>
            <a:endCxn id="94" idx="1"/>
          </p:cNvCxnSpPr>
          <p:nvPr/>
        </p:nvCxnSpPr>
        <p:spPr>
          <a:xfrm>
            <a:off x="8670868" y="4623224"/>
            <a:ext cx="63639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83">
            <a:extLst>
              <a:ext uri="{FF2B5EF4-FFF2-40B4-BE49-F238E27FC236}">
                <a16:creationId xmlns:a16="http://schemas.microsoft.com/office/drawing/2014/main" id="{6272E98D-DE3D-309B-EF6B-EE28830035A1}"/>
              </a:ext>
            </a:extLst>
          </p:cNvPr>
          <p:cNvCxnSpPr>
            <a:cxnSpLocks/>
            <a:stCxn id="96" idx="3"/>
            <a:endCxn id="97" idx="1"/>
          </p:cNvCxnSpPr>
          <p:nvPr/>
        </p:nvCxnSpPr>
        <p:spPr>
          <a:xfrm flipV="1">
            <a:off x="8670868" y="5389440"/>
            <a:ext cx="636392" cy="85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箭头: 右 86">
            <a:extLst>
              <a:ext uri="{FF2B5EF4-FFF2-40B4-BE49-F238E27FC236}">
                <a16:creationId xmlns:a16="http://schemas.microsoft.com/office/drawing/2014/main" id="{23CA6B85-9214-FED3-31D8-C6DC333AF169}"/>
              </a:ext>
            </a:extLst>
          </p:cNvPr>
          <p:cNvSpPr/>
          <p:nvPr/>
        </p:nvSpPr>
        <p:spPr>
          <a:xfrm>
            <a:off x="5298454" y="3367911"/>
            <a:ext cx="1485698" cy="3323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latin typeface="Arial" panose="020B0604020202020204" pitchFamily="34" charset="0"/>
                <a:cs typeface="Arial" panose="020B0604020202020204" pitchFamily="34" charset="0"/>
              </a:rPr>
              <a:t>变更原因</a:t>
            </a:r>
          </a:p>
        </p:txBody>
      </p:sp>
      <p:sp>
        <p:nvSpPr>
          <p:cNvPr id="109" name="矩形 108">
            <a:extLst>
              <a:ext uri="{FF2B5EF4-FFF2-40B4-BE49-F238E27FC236}">
                <a16:creationId xmlns:a16="http://schemas.microsoft.com/office/drawing/2014/main" id="{7687F65A-70C1-1B4C-F492-6FE828A40409}"/>
              </a:ext>
            </a:extLst>
          </p:cNvPr>
          <p:cNvSpPr/>
          <p:nvPr/>
        </p:nvSpPr>
        <p:spPr>
          <a:xfrm>
            <a:off x="5298453" y="2939216"/>
            <a:ext cx="1485699" cy="5252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B050"/>
                </a:solidFill>
                <a:latin typeface="Arial" panose="020B0604020202020204" pitchFamily="34" charset="0"/>
                <a:cs typeface="Arial" panose="020B0604020202020204" pitchFamily="34" charset="0"/>
              </a:rPr>
              <a:t>浙江海威零件移转</a:t>
            </a:r>
            <a:endParaRPr lang="en-US" altLang="zh-CN" sz="1200" b="1" dirty="0">
              <a:solidFill>
                <a:srgbClr val="00B050"/>
              </a:solidFill>
              <a:latin typeface="Arial" panose="020B0604020202020204" pitchFamily="34" charset="0"/>
              <a:cs typeface="Arial" panose="020B0604020202020204" pitchFamily="34" charset="0"/>
            </a:endParaRPr>
          </a:p>
          <a:p>
            <a:pPr algn="ctr"/>
            <a:r>
              <a:rPr lang="en-US" altLang="zh-CN" sz="1200" b="1" dirty="0">
                <a:solidFill>
                  <a:srgbClr val="00B050"/>
                </a:solidFill>
                <a:latin typeface="Arial" panose="020B0604020202020204" pitchFamily="34" charset="0"/>
                <a:cs typeface="Arial" panose="020B0604020202020204" pitchFamily="34" charset="0"/>
              </a:rPr>
              <a:t>+CATL</a:t>
            </a:r>
            <a:r>
              <a:rPr lang="zh-CN" altLang="en-US" sz="1200" b="1" dirty="0">
                <a:solidFill>
                  <a:srgbClr val="00B050"/>
                </a:solidFill>
                <a:latin typeface="Arial" panose="020B0604020202020204" pitchFamily="34" charset="0"/>
                <a:cs typeface="Arial" panose="020B0604020202020204" pitchFamily="34" charset="0"/>
              </a:rPr>
              <a:t>特殊要求</a:t>
            </a:r>
          </a:p>
        </p:txBody>
      </p:sp>
    </p:spTree>
    <p:extLst>
      <p:ext uri="{BB962C8B-B14F-4D97-AF65-F5344CB8AC3E}">
        <p14:creationId xmlns:p14="http://schemas.microsoft.com/office/powerpoint/2010/main" val="2517123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BF3D7F70-A81B-48B1-9CD0-9E5C747CD8CA}"/>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系统清单到业务能力</a:t>
            </a:r>
          </a:p>
        </p:txBody>
      </p:sp>
      <p:sp>
        <p:nvSpPr>
          <p:cNvPr id="2" name="直线连接符 1">
            <a:extLst>
              <a:ext uri="{FF2B5EF4-FFF2-40B4-BE49-F238E27FC236}">
                <a16:creationId xmlns:a16="http://schemas.microsoft.com/office/drawing/2014/main" id="{4500B2AD-E23F-4482-A821-BC110325608D}"/>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9CCB12B1-3FA3-45B2-BAE2-94920E6F9914}"/>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03</a:t>
            </a:r>
          </a:p>
        </p:txBody>
      </p:sp>
      <p:sp>
        <p:nvSpPr>
          <p:cNvPr id="4" name="圆角矩形 3">
            <a:extLst>
              <a:ext uri="{FF2B5EF4-FFF2-40B4-BE49-F238E27FC236}">
                <a16:creationId xmlns:a16="http://schemas.microsoft.com/office/drawing/2014/main" id="{693A57A6-E72E-4A37-9B9C-C57D016839E8}"/>
              </a:ext>
            </a:extLst>
          </p:cNvPr>
          <p:cNvSpPr>
            <a:spLocks noGrp="1"/>
          </p:cNvSpPr>
          <p:nvPr/>
        </p:nvSpPr>
        <p:spPr>
          <a:xfrm>
            <a:off x="1066800" y="1371600"/>
            <a:ext cx="2857500" cy="323850"/>
          </a:xfrm>
          <a:prstGeom prst="roundRect">
            <a:avLst>
              <a:gd name="adj" fmla="val 17647"/>
            </a:avLst>
          </a:prstGeom>
          <a:solidFill>
            <a:srgbClr val="E9F6FB"/>
          </a:solidFill>
          <a:ln w="14288">
            <a:no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原系统语言来源</a:t>
            </a:r>
          </a:p>
        </p:txBody>
      </p:sp>
      <p:sp>
        <p:nvSpPr>
          <p:cNvPr id="5" name="圆角矩形 4">
            <a:extLst>
              <a:ext uri="{FF2B5EF4-FFF2-40B4-BE49-F238E27FC236}">
                <a16:creationId xmlns:a16="http://schemas.microsoft.com/office/drawing/2014/main" id="{4EBBBEFF-C079-4410-AD41-4C0C555A4ACF}"/>
              </a:ext>
            </a:extLst>
          </p:cNvPr>
          <p:cNvSpPr>
            <a:spLocks noGrp="1"/>
          </p:cNvSpPr>
          <p:nvPr/>
        </p:nvSpPr>
        <p:spPr>
          <a:xfrm>
            <a:off x="7524750" y="1371600"/>
            <a:ext cx="3143250" cy="323850"/>
          </a:xfrm>
          <a:prstGeom prst="roundRect">
            <a:avLst>
              <a:gd name="adj" fmla="val 17647"/>
            </a:avLst>
          </a:prstGeom>
          <a:solidFill>
            <a:srgbClr val="F0F8E8"/>
          </a:solidFill>
          <a:ln w="14288">
            <a:no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重组后的业务能力</a:t>
            </a:r>
          </a:p>
        </p:txBody>
      </p:sp>
      <p:sp>
        <p:nvSpPr>
          <p:cNvPr id="6" name="圆角矩形 5">
            <a:extLst>
              <a:ext uri="{FF2B5EF4-FFF2-40B4-BE49-F238E27FC236}">
                <a16:creationId xmlns:a16="http://schemas.microsoft.com/office/drawing/2014/main" id="{CD154077-0532-4A4F-9A23-D2BED8435B55}"/>
              </a:ext>
            </a:extLst>
          </p:cNvPr>
          <p:cNvSpPr>
            <a:spLocks noGrp="1"/>
          </p:cNvSpPr>
          <p:nvPr/>
        </p:nvSpPr>
        <p:spPr>
          <a:xfrm>
            <a:off x="1428750" y="1981200"/>
            <a:ext cx="2095500" cy="400050"/>
          </a:xfrm>
          <a:prstGeom prst="roundRect">
            <a:avLst>
              <a:gd name="adj" fmla="val 14286"/>
            </a:avLst>
          </a:prstGeom>
          <a:solidFill>
            <a:srgbClr val="23A8D8"/>
          </a:solidFill>
          <a:ln w="14288">
            <a:solidFill>
              <a:srgbClr val="23A8D8"/>
            </a:solidFill>
            <a:prstDash val="solid"/>
          </a:ln>
        </p:spPr>
        <p:txBody>
          <a:bodyPr>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WMS / MES / TPM</a:t>
            </a:r>
          </a:p>
        </p:txBody>
      </p:sp>
      <p:sp>
        <p:nvSpPr>
          <p:cNvPr id="7" name="圆角矩形 6">
            <a:extLst>
              <a:ext uri="{FF2B5EF4-FFF2-40B4-BE49-F238E27FC236}">
                <a16:creationId xmlns:a16="http://schemas.microsoft.com/office/drawing/2014/main" id="{A9893CA2-AA8B-44E3-BC04-31D0C65C117A}"/>
              </a:ext>
            </a:extLst>
          </p:cNvPr>
          <p:cNvSpPr>
            <a:spLocks noGrp="1"/>
          </p:cNvSpPr>
          <p:nvPr/>
        </p:nvSpPr>
        <p:spPr>
          <a:xfrm>
            <a:off x="7524750" y="1981200"/>
            <a:ext cx="3143250" cy="400050"/>
          </a:xfrm>
          <a:prstGeom prst="roundRect">
            <a:avLst>
              <a:gd name="adj" fmla="val 14286"/>
            </a:avLst>
          </a:prstGeom>
          <a:solidFill>
            <a:srgbClr val="FFFFFF"/>
          </a:solidFill>
          <a:ln w="14288">
            <a:solidFill>
              <a:srgbClr val="76BC21"/>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实物／物料流管理</a:t>
            </a:r>
          </a:p>
        </p:txBody>
      </p:sp>
      <p:sp>
        <p:nvSpPr>
          <p:cNvPr id="8" name="直线连接符 7">
            <a:extLst>
              <a:ext uri="{FF2B5EF4-FFF2-40B4-BE49-F238E27FC236}">
                <a16:creationId xmlns:a16="http://schemas.microsoft.com/office/drawing/2014/main" id="{768E0AB9-0C6B-40D9-AD6A-43F3F839C424}"/>
              </a:ext>
            </a:extLst>
          </p:cNvPr>
          <p:cNvSpPr>
            <a:spLocks noGrp="1"/>
          </p:cNvSpPr>
          <p:nvPr/>
        </p:nvSpPr>
        <p:spPr>
          <a:xfrm>
            <a:off x="3714750" y="2181225"/>
            <a:ext cx="3619500" cy="0"/>
          </a:xfrm>
          <a:prstGeom prst="line">
            <a:avLst/>
          </a:prstGeom>
          <a:noFill/>
          <a:ln w="13335">
            <a:solidFill>
              <a:srgbClr val="8DA5AE"/>
            </a:solidFill>
            <a:prstDash val="solid"/>
          </a:ln>
        </p:spPr>
      </p:sp>
      <p:sp>
        <p:nvSpPr>
          <p:cNvPr id="9" name="圆角矩形 8">
            <a:extLst>
              <a:ext uri="{FF2B5EF4-FFF2-40B4-BE49-F238E27FC236}">
                <a16:creationId xmlns:a16="http://schemas.microsoft.com/office/drawing/2014/main" id="{04A5304D-3850-42A1-888B-9583BD094BD0}"/>
              </a:ext>
            </a:extLst>
          </p:cNvPr>
          <p:cNvSpPr>
            <a:spLocks noGrp="1"/>
          </p:cNvSpPr>
          <p:nvPr/>
        </p:nvSpPr>
        <p:spPr>
          <a:xfrm>
            <a:off x="1428750" y="2667000"/>
            <a:ext cx="2095500" cy="400050"/>
          </a:xfrm>
          <a:prstGeom prst="roundRect">
            <a:avLst>
              <a:gd name="adj" fmla="val 14286"/>
            </a:avLst>
          </a:prstGeom>
          <a:solidFill>
            <a:srgbClr val="23A8D8"/>
          </a:solidFill>
          <a:ln w="14288">
            <a:solidFill>
              <a:srgbClr val="23A8D8"/>
            </a:solidFill>
            <a:prstDash val="solid"/>
          </a:ln>
        </p:spPr>
        <p:txBody>
          <a:bodyPr>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WMS / MES / TPM</a:t>
            </a:r>
          </a:p>
        </p:txBody>
      </p:sp>
      <p:sp>
        <p:nvSpPr>
          <p:cNvPr id="10" name="圆角矩形 9">
            <a:extLst>
              <a:ext uri="{FF2B5EF4-FFF2-40B4-BE49-F238E27FC236}">
                <a16:creationId xmlns:a16="http://schemas.microsoft.com/office/drawing/2014/main" id="{A28C3570-C7DD-42B9-88F8-63576C7039FD}"/>
              </a:ext>
            </a:extLst>
          </p:cNvPr>
          <p:cNvSpPr>
            <a:spLocks noGrp="1"/>
          </p:cNvSpPr>
          <p:nvPr/>
        </p:nvSpPr>
        <p:spPr>
          <a:xfrm>
            <a:off x="7524750" y="2667000"/>
            <a:ext cx="3143250" cy="400050"/>
          </a:xfrm>
          <a:prstGeom prst="roundRect">
            <a:avLst>
              <a:gd name="adj" fmla="val 14286"/>
            </a:avLst>
          </a:prstGeom>
          <a:solidFill>
            <a:srgbClr val="FFFFFF"/>
          </a:solidFill>
          <a:ln w="14288">
            <a:solidFill>
              <a:srgbClr val="76BC21"/>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生产计划管理</a:t>
            </a:r>
          </a:p>
        </p:txBody>
      </p:sp>
      <p:sp>
        <p:nvSpPr>
          <p:cNvPr id="11" name="直线连接符 10">
            <a:extLst>
              <a:ext uri="{FF2B5EF4-FFF2-40B4-BE49-F238E27FC236}">
                <a16:creationId xmlns:a16="http://schemas.microsoft.com/office/drawing/2014/main" id="{09A03EC3-6D08-4E91-A97F-B8909C48E0C6}"/>
              </a:ext>
            </a:extLst>
          </p:cNvPr>
          <p:cNvSpPr>
            <a:spLocks noGrp="1"/>
          </p:cNvSpPr>
          <p:nvPr/>
        </p:nvSpPr>
        <p:spPr>
          <a:xfrm>
            <a:off x="3714750" y="2867025"/>
            <a:ext cx="3619500" cy="0"/>
          </a:xfrm>
          <a:prstGeom prst="line">
            <a:avLst/>
          </a:prstGeom>
          <a:noFill/>
          <a:ln w="13335">
            <a:solidFill>
              <a:srgbClr val="8DA5AE"/>
            </a:solidFill>
            <a:prstDash val="solid"/>
          </a:ln>
        </p:spPr>
      </p:sp>
      <p:sp>
        <p:nvSpPr>
          <p:cNvPr id="12" name="圆角矩形 11">
            <a:extLst>
              <a:ext uri="{FF2B5EF4-FFF2-40B4-BE49-F238E27FC236}">
                <a16:creationId xmlns:a16="http://schemas.microsoft.com/office/drawing/2014/main" id="{7364DD65-DB42-4982-BD26-DBE3905A7F18}"/>
              </a:ext>
            </a:extLst>
          </p:cNvPr>
          <p:cNvSpPr>
            <a:spLocks noGrp="1"/>
          </p:cNvSpPr>
          <p:nvPr/>
        </p:nvSpPr>
        <p:spPr>
          <a:xfrm>
            <a:off x="1428750" y="3352800"/>
            <a:ext cx="2095500" cy="400050"/>
          </a:xfrm>
          <a:prstGeom prst="roundRect">
            <a:avLst>
              <a:gd name="adj" fmla="val 14286"/>
            </a:avLst>
          </a:prstGeom>
          <a:solidFill>
            <a:srgbClr val="23A8D8"/>
          </a:solidFill>
          <a:ln w="14288">
            <a:solidFill>
              <a:srgbClr val="23A8D8"/>
            </a:solidFill>
            <a:prstDash val="solid"/>
          </a:ln>
        </p:spPr>
        <p:txBody>
          <a:bodyPr>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WMS / MES / TPM</a:t>
            </a:r>
          </a:p>
        </p:txBody>
      </p:sp>
      <p:sp>
        <p:nvSpPr>
          <p:cNvPr id="13" name="圆角矩形 12">
            <a:extLst>
              <a:ext uri="{FF2B5EF4-FFF2-40B4-BE49-F238E27FC236}">
                <a16:creationId xmlns:a16="http://schemas.microsoft.com/office/drawing/2014/main" id="{2FD97B67-6DA4-4A76-A996-337BC7DF4C5F}"/>
              </a:ext>
            </a:extLst>
          </p:cNvPr>
          <p:cNvSpPr>
            <a:spLocks noGrp="1"/>
          </p:cNvSpPr>
          <p:nvPr/>
        </p:nvSpPr>
        <p:spPr>
          <a:xfrm>
            <a:off x="7524750" y="3352800"/>
            <a:ext cx="3143250" cy="400050"/>
          </a:xfrm>
          <a:prstGeom prst="roundRect">
            <a:avLst>
              <a:gd name="adj" fmla="val 14286"/>
            </a:avLst>
          </a:prstGeom>
          <a:solidFill>
            <a:srgbClr val="FFFFFF"/>
          </a:solidFill>
          <a:ln w="14288">
            <a:solidFill>
              <a:srgbClr val="76BC21"/>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生产过程与工艺管理</a:t>
            </a:r>
          </a:p>
        </p:txBody>
      </p:sp>
      <p:sp>
        <p:nvSpPr>
          <p:cNvPr id="14" name="直线连接符 13">
            <a:extLst>
              <a:ext uri="{FF2B5EF4-FFF2-40B4-BE49-F238E27FC236}">
                <a16:creationId xmlns:a16="http://schemas.microsoft.com/office/drawing/2014/main" id="{F09B3B6B-C387-4ED9-A408-AC26F1A3DA6B}"/>
              </a:ext>
            </a:extLst>
          </p:cNvPr>
          <p:cNvSpPr>
            <a:spLocks noGrp="1"/>
          </p:cNvSpPr>
          <p:nvPr/>
        </p:nvSpPr>
        <p:spPr>
          <a:xfrm>
            <a:off x="3714750" y="3552825"/>
            <a:ext cx="3619500" cy="0"/>
          </a:xfrm>
          <a:prstGeom prst="line">
            <a:avLst/>
          </a:prstGeom>
          <a:noFill/>
          <a:ln w="13335">
            <a:solidFill>
              <a:srgbClr val="8DA5AE"/>
            </a:solidFill>
            <a:prstDash val="solid"/>
          </a:ln>
        </p:spPr>
      </p:sp>
      <p:sp>
        <p:nvSpPr>
          <p:cNvPr id="15" name="圆角矩形 14">
            <a:extLst>
              <a:ext uri="{FF2B5EF4-FFF2-40B4-BE49-F238E27FC236}">
                <a16:creationId xmlns:a16="http://schemas.microsoft.com/office/drawing/2014/main" id="{D921C225-D021-418A-915F-243B583472D7}"/>
              </a:ext>
            </a:extLst>
          </p:cNvPr>
          <p:cNvSpPr>
            <a:spLocks noGrp="1"/>
          </p:cNvSpPr>
          <p:nvPr/>
        </p:nvSpPr>
        <p:spPr>
          <a:xfrm>
            <a:off x="1428750" y="4038600"/>
            <a:ext cx="2095500" cy="400050"/>
          </a:xfrm>
          <a:prstGeom prst="roundRect">
            <a:avLst>
              <a:gd name="adj" fmla="val 14286"/>
            </a:avLst>
          </a:prstGeom>
          <a:solidFill>
            <a:srgbClr val="23A8D8"/>
          </a:solidFill>
          <a:ln w="14288">
            <a:solidFill>
              <a:srgbClr val="23A8D8"/>
            </a:solidFill>
            <a:prstDash val="solid"/>
          </a:ln>
        </p:spPr>
        <p:txBody>
          <a:bodyPr>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QMS</a:t>
            </a:r>
          </a:p>
        </p:txBody>
      </p:sp>
      <p:sp>
        <p:nvSpPr>
          <p:cNvPr id="16" name="圆角矩形 15">
            <a:extLst>
              <a:ext uri="{FF2B5EF4-FFF2-40B4-BE49-F238E27FC236}">
                <a16:creationId xmlns:a16="http://schemas.microsoft.com/office/drawing/2014/main" id="{04269441-2ACB-42AA-B8BA-D4ABED27E800}"/>
              </a:ext>
            </a:extLst>
          </p:cNvPr>
          <p:cNvSpPr>
            <a:spLocks noGrp="1"/>
          </p:cNvSpPr>
          <p:nvPr/>
        </p:nvSpPr>
        <p:spPr>
          <a:xfrm>
            <a:off x="7524750" y="4038600"/>
            <a:ext cx="3143250" cy="400050"/>
          </a:xfrm>
          <a:prstGeom prst="roundRect">
            <a:avLst>
              <a:gd name="adj" fmla="val 14286"/>
            </a:avLst>
          </a:prstGeom>
          <a:solidFill>
            <a:srgbClr val="FFFFFF"/>
          </a:solidFill>
          <a:ln w="14288">
            <a:solidFill>
              <a:srgbClr val="76BC21"/>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QM 相关界面输出</a:t>
            </a:r>
          </a:p>
        </p:txBody>
      </p:sp>
      <p:sp>
        <p:nvSpPr>
          <p:cNvPr id="17" name="直线连接符 16">
            <a:extLst>
              <a:ext uri="{FF2B5EF4-FFF2-40B4-BE49-F238E27FC236}">
                <a16:creationId xmlns:a16="http://schemas.microsoft.com/office/drawing/2014/main" id="{E4D5DC04-33B2-45E6-8539-0B5AE3DDF064}"/>
              </a:ext>
            </a:extLst>
          </p:cNvPr>
          <p:cNvSpPr>
            <a:spLocks noGrp="1"/>
          </p:cNvSpPr>
          <p:nvPr/>
        </p:nvSpPr>
        <p:spPr>
          <a:xfrm>
            <a:off x="3714750" y="4238625"/>
            <a:ext cx="3619500" cy="0"/>
          </a:xfrm>
          <a:prstGeom prst="line">
            <a:avLst/>
          </a:prstGeom>
          <a:noFill/>
          <a:ln w="13335">
            <a:solidFill>
              <a:srgbClr val="8DA5AE"/>
            </a:solidFill>
            <a:prstDash val="solid"/>
          </a:ln>
        </p:spPr>
      </p:sp>
      <p:sp>
        <p:nvSpPr>
          <p:cNvPr id="18" name="圆角矩形 17">
            <a:extLst>
              <a:ext uri="{FF2B5EF4-FFF2-40B4-BE49-F238E27FC236}">
                <a16:creationId xmlns:a16="http://schemas.microsoft.com/office/drawing/2014/main" id="{BC888B7F-DF87-4162-9506-F5E18521E578}"/>
              </a:ext>
            </a:extLst>
          </p:cNvPr>
          <p:cNvSpPr>
            <a:spLocks noGrp="1"/>
          </p:cNvSpPr>
          <p:nvPr/>
        </p:nvSpPr>
        <p:spPr>
          <a:xfrm>
            <a:off x="1428750" y="4724400"/>
            <a:ext cx="2095500" cy="400050"/>
          </a:xfrm>
          <a:prstGeom prst="roundRect">
            <a:avLst>
              <a:gd name="adj" fmla="val 14286"/>
            </a:avLst>
          </a:prstGeom>
          <a:solidFill>
            <a:srgbClr val="23A8D8"/>
          </a:solidFill>
          <a:ln w="14288">
            <a:solidFill>
              <a:srgbClr val="23A8D8"/>
            </a:solidFill>
            <a:prstDash val="solid"/>
          </a:ln>
        </p:spPr>
        <p:txBody>
          <a:bodyPr>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IoT</a:t>
            </a:r>
          </a:p>
        </p:txBody>
      </p:sp>
      <p:sp>
        <p:nvSpPr>
          <p:cNvPr id="19" name="圆角矩形 18">
            <a:extLst>
              <a:ext uri="{FF2B5EF4-FFF2-40B4-BE49-F238E27FC236}">
                <a16:creationId xmlns:a16="http://schemas.microsoft.com/office/drawing/2014/main" id="{5062FEC0-6EE3-44DC-98E8-43411E5D16D7}"/>
              </a:ext>
            </a:extLst>
          </p:cNvPr>
          <p:cNvSpPr>
            <a:spLocks noGrp="1"/>
          </p:cNvSpPr>
          <p:nvPr/>
        </p:nvSpPr>
        <p:spPr>
          <a:xfrm>
            <a:off x="7524750" y="4724400"/>
            <a:ext cx="3143250" cy="400050"/>
          </a:xfrm>
          <a:prstGeom prst="roundRect">
            <a:avLst>
              <a:gd name="adj" fmla="val 14286"/>
            </a:avLst>
          </a:prstGeom>
          <a:solidFill>
            <a:srgbClr val="FFFFFF"/>
          </a:solidFill>
          <a:ln w="14288">
            <a:solidFill>
              <a:srgbClr val="76BC21"/>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设备数据采集</a:t>
            </a:r>
          </a:p>
        </p:txBody>
      </p:sp>
      <p:sp>
        <p:nvSpPr>
          <p:cNvPr id="20" name="直线连接符 19">
            <a:extLst>
              <a:ext uri="{FF2B5EF4-FFF2-40B4-BE49-F238E27FC236}">
                <a16:creationId xmlns:a16="http://schemas.microsoft.com/office/drawing/2014/main" id="{AD27040F-6D8C-4470-A70A-D364A5A1D061}"/>
              </a:ext>
            </a:extLst>
          </p:cNvPr>
          <p:cNvSpPr>
            <a:spLocks noGrp="1"/>
          </p:cNvSpPr>
          <p:nvPr/>
        </p:nvSpPr>
        <p:spPr>
          <a:xfrm>
            <a:off x="3714750" y="4924425"/>
            <a:ext cx="3619500" cy="0"/>
          </a:xfrm>
          <a:prstGeom prst="line">
            <a:avLst/>
          </a:prstGeom>
          <a:noFill/>
          <a:ln w="13335">
            <a:solidFill>
              <a:srgbClr val="8DA5AE"/>
            </a:solidFill>
            <a:prstDash val="solid"/>
          </a:ln>
        </p:spPr>
      </p:sp>
      <p:sp>
        <p:nvSpPr>
          <p:cNvPr id="21" name="矩形 20">
            <a:extLst>
              <a:ext uri="{FF2B5EF4-FFF2-40B4-BE49-F238E27FC236}">
                <a16:creationId xmlns:a16="http://schemas.microsoft.com/office/drawing/2014/main" id="{2A6B7646-5E62-4E28-B007-2D41384A9633}"/>
              </a:ext>
            </a:extLst>
          </p:cNvPr>
          <p:cNvSpPr>
            <a:spLocks noGrp="1"/>
          </p:cNvSpPr>
          <p:nvPr/>
        </p:nvSpPr>
        <p:spPr>
          <a:xfrm>
            <a:off x="2190750" y="5657850"/>
            <a:ext cx="7810500" cy="323850"/>
          </a:xfrm>
          <a:prstGeom prst="rect">
            <a:avLst/>
          </a:prstGeom>
          <a:noFill/>
          <a:ln w="0">
            <a:noFill/>
            <a:prstDash val="solid"/>
          </a:ln>
        </p:spPr>
        <p:txBody>
          <a:bodyPr>
            <a:normAutofit fontScale="96825"/>
          </a:bodyPr>
          <a:lstStyle/>
          <a:p>
            <a:pPr algn="ctr">
              <a:defRPr sz="1575" b="0">
                <a:solidFill>
                  <a:srgbClr val="53626B"/>
                </a:solidFill>
                <a:latin typeface="Songti SC"/>
                <a:ea typeface="Songti SC"/>
                <a:cs typeface="Songti SC"/>
              </a:defRPr>
            </a:pPr>
            <a:r>
              <a:rPr sz="1575" b="0">
                <a:solidFill>
                  <a:srgbClr val="53626B"/>
                </a:solidFill>
                <a:latin typeface="Songti SC"/>
                <a:ea typeface="Songti SC"/>
                <a:cs typeface="Songti SC"/>
              </a:rPr>
              <a:t>这一步把系统清单转成经营和现场能讨论的业务语言。</a:t>
            </a:r>
          </a:p>
        </p:txBody>
      </p:sp>
      <p:sp>
        <p:nvSpPr>
          <p:cNvPr id="22" name="矩形 21">
            <a:extLst>
              <a:ext uri="{FF2B5EF4-FFF2-40B4-BE49-F238E27FC236}">
                <a16:creationId xmlns:a16="http://schemas.microsoft.com/office/drawing/2014/main" id="{F8E00D51-73A2-418C-9AF4-8494D671C9AB}"/>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23" name="矩形 22">
            <a:extLst>
              <a:ext uri="{FF2B5EF4-FFF2-40B4-BE49-F238E27FC236}">
                <a16:creationId xmlns:a16="http://schemas.microsoft.com/office/drawing/2014/main" id="{6038CCC7-1C1A-4CEF-9BB1-A98DB1C0038C}"/>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24" name="矩形 23">
            <a:extLst>
              <a:ext uri="{FF2B5EF4-FFF2-40B4-BE49-F238E27FC236}">
                <a16:creationId xmlns:a16="http://schemas.microsoft.com/office/drawing/2014/main" id="{855E67BE-8418-42D3-AD2D-616AFE9388D1}"/>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现场穿插：业务过程与功能重组工作台</a:t>
            </a:r>
          </a:p>
        </p:txBody>
      </p:sp>
    </p:spTree>
    <p:extLst>
      <p:ext uri="{BB962C8B-B14F-4D97-AF65-F5344CB8AC3E}">
        <p14:creationId xmlns:p14="http://schemas.microsoft.com/office/powerpoint/2010/main" val="789942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311F9939-583B-4917-8253-1D14C694A2B9}"/>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功能落位到价值流</a:t>
            </a:r>
          </a:p>
        </p:txBody>
      </p:sp>
      <p:sp>
        <p:nvSpPr>
          <p:cNvPr id="2" name="直线连接符 1">
            <a:extLst>
              <a:ext uri="{FF2B5EF4-FFF2-40B4-BE49-F238E27FC236}">
                <a16:creationId xmlns:a16="http://schemas.microsoft.com/office/drawing/2014/main" id="{98283A24-35D8-429E-8751-6B4B4E86B27B}"/>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806701ED-05A3-41D3-9885-9884E6B0CFCA}"/>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04</a:t>
            </a:r>
          </a:p>
        </p:txBody>
      </p:sp>
      <p:sp>
        <p:nvSpPr>
          <p:cNvPr id="4" name="圆角矩形 3">
            <a:extLst>
              <a:ext uri="{FF2B5EF4-FFF2-40B4-BE49-F238E27FC236}">
                <a16:creationId xmlns:a16="http://schemas.microsoft.com/office/drawing/2014/main" id="{507055AD-9AD5-4694-A6E8-906AF0CC013B}"/>
              </a:ext>
            </a:extLst>
          </p:cNvPr>
          <p:cNvSpPr>
            <a:spLocks noGrp="1"/>
          </p:cNvSpPr>
          <p:nvPr/>
        </p:nvSpPr>
        <p:spPr>
          <a:xfrm>
            <a:off x="476250" y="1752600"/>
            <a:ext cx="990600" cy="514350"/>
          </a:xfrm>
          <a:prstGeom prst="roundRect">
            <a:avLst>
              <a:gd name="adj" fmla="val 11111"/>
            </a:avLst>
          </a:prstGeom>
          <a:solidFill>
            <a:srgbClr val="F0F8E8"/>
          </a:solidFill>
          <a:ln w="14288">
            <a:solidFill>
              <a:srgbClr val="76BC21"/>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供应商</a:t>
            </a:r>
          </a:p>
        </p:txBody>
      </p:sp>
      <p:sp>
        <p:nvSpPr>
          <p:cNvPr id="5" name="直线连接符 4">
            <a:extLst>
              <a:ext uri="{FF2B5EF4-FFF2-40B4-BE49-F238E27FC236}">
                <a16:creationId xmlns:a16="http://schemas.microsoft.com/office/drawing/2014/main" id="{F8210152-7272-4F23-A852-15447F2F1CAB}"/>
              </a:ext>
            </a:extLst>
          </p:cNvPr>
          <p:cNvSpPr>
            <a:spLocks noGrp="1"/>
          </p:cNvSpPr>
          <p:nvPr/>
        </p:nvSpPr>
        <p:spPr>
          <a:xfrm>
            <a:off x="1466850" y="2009775"/>
            <a:ext cx="133350" cy="0"/>
          </a:xfrm>
          <a:prstGeom prst="line">
            <a:avLst/>
          </a:prstGeom>
          <a:noFill/>
          <a:ln w="14288">
            <a:solidFill>
              <a:srgbClr val="A8B8BF"/>
            </a:solidFill>
            <a:prstDash val="solid"/>
          </a:ln>
        </p:spPr>
      </p:sp>
      <p:sp>
        <p:nvSpPr>
          <p:cNvPr id="6" name="圆角矩形 5">
            <a:extLst>
              <a:ext uri="{FF2B5EF4-FFF2-40B4-BE49-F238E27FC236}">
                <a16:creationId xmlns:a16="http://schemas.microsoft.com/office/drawing/2014/main" id="{C9E7FCA1-9571-4840-86F8-226C777E5C02}"/>
              </a:ext>
            </a:extLst>
          </p:cNvPr>
          <p:cNvSpPr>
            <a:spLocks noGrp="1"/>
          </p:cNvSpPr>
          <p:nvPr/>
        </p:nvSpPr>
        <p:spPr>
          <a:xfrm>
            <a:off x="1600200" y="1752600"/>
            <a:ext cx="990600" cy="514350"/>
          </a:xfrm>
          <a:prstGeom prst="roundRect">
            <a:avLst>
              <a:gd name="adj" fmla="val 11111"/>
            </a:avLst>
          </a:prstGeom>
          <a:solidFill>
            <a:srgbClr val="FFFFFF"/>
          </a:solidFill>
          <a:ln w="14288">
            <a:solidFill>
              <a:srgbClr val="23A8D8"/>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收货</a:t>
            </a:r>
          </a:p>
        </p:txBody>
      </p:sp>
      <p:sp>
        <p:nvSpPr>
          <p:cNvPr id="7" name="直线连接符 6">
            <a:extLst>
              <a:ext uri="{FF2B5EF4-FFF2-40B4-BE49-F238E27FC236}">
                <a16:creationId xmlns:a16="http://schemas.microsoft.com/office/drawing/2014/main" id="{BB35711B-868F-4037-81DB-BF37C783A294}"/>
              </a:ext>
            </a:extLst>
          </p:cNvPr>
          <p:cNvSpPr>
            <a:spLocks noGrp="1"/>
          </p:cNvSpPr>
          <p:nvPr/>
        </p:nvSpPr>
        <p:spPr>
          <a:xfrm>
            <a:off x="2590800" y="2009775"/>
            <a:ext cx="133350" cy="0"/>
          </a:xfrm>
          <a:prstGeom prst="line">
            <a:avLst/>
          </a:prstGeom>
          <a:noFill/>
          <a:ln w="14288">
            <a:solidFill>
              <a:srgbClr val="A8B8BF"/>
            </a:solidFill>
            <a:prstDash val="solid"/>
          </a:ln>
        </p:spPr>
      </p:sp>
      <p:sp>
        <p:nvSpPr>
          <p:cNvPr id="8" name="圆角矩形 7">
            <a:extLst>
              <a:ext uri="{FF2B5EF4-FFF2-40B4-BE49-F238E27FC236}">
                <a16:creationId xmlns:a16="http://schemas.microsoft.com/office/drawing/2014/main" id="{FA971E51-D5FC-4316-9EE0-E806A12D17A9}"/>
              </a:ext>
            </a:extLst>
          </p:cNvPr>
          <p:cNvSpPr>
            <a:spLocks noGrp="1"/>
          </p:cNvSpPr>
          <p:nvPr/>
        </p:nvSpPr>
        <p:spPr>
          <a:xfrm>
            <a:off x="2724150" y="1752600"/>
            <a:ext cx="990600" cy="514350"/>
          </a:xfrm>
          <a:prstGeom prst="roundRect">
            <a:avLst>
              <a:gd name="adj" fmla="val 11111"/>
            </a:avLst>
          </a:prstGeom>
          <a:solidFill>
            <a:srgbClr val="FFFFFF"/>
          </a:solidFill>
          <a:ln w="14288">
            <a:solidFill>
              <a:srgbClr val="23A8D8"/>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入库检</a:t>
            </a:r>
          </a:p>
        </p:txBody>
      </p:sp>
      <p:sp>
        <p:nvSpPr>
          <p:cNvPr id="9" name="直线连接符 8">
            <a:extLst>
              <a:ext uri="{FF2B5EF4-FFF2-40B4-BE49-F238E27FC236}">
                <a16:creationId xmlns:a16="http://schemas.microsoft.com/office/drawing/2014/main" id="{E3D866A2-A22F-4668-A283-F8667BF0EEF5}"/>
              </a:ext>
            </a:extLst>
          </p:cNvPr>
          <p:cNvSpPr>
            <a:spLocks noGrp="1"/>
          </p:cNvSpPr>
          <p:nvPr/>
        </p:nvSpPr>
        <p:spPr>
          <a:xfrm>
            <a:off x="3714750" y="2009775"/>
            <a:ext cx="133350" cy="0"/>
          </a:xfrm>
          <a:prstGeom prst="line">
            <a:avLst/>
          </a:prstGeom>
          <a:noFill/>
          <a:ln w="14288">
            <a:solidFill>
              <a:srgbClr val="A8B8BF"/>
            </a:solidFill>
            <a:prstDash val="solid"/>
          </a:ln>
        </p:spPr>
      </p:sp>
      <p:sp>
        <p:nvSpPr>
          <p:cNvPr id="10" name="圆角矩形 9">
            <a:extLst>
              <a:ext uri="{FF2B5EF4-FFF2-40B4-BE49-F238E27FC236}">
                <a16:creationId xmlns:a16="http://schemas.microsoft.com/office/drawing/2014/main" id="{9C37D67C-19D2-4F54-9E17-DE21FF666D2D}"/>
              </a:ext>
            </a:extLst>
          </p:cNvPr>
          <p:cNvSpPr>
            <a:spLocks noGrp="1"/>
          </p:cNvSpPr>
          <p:nvPr/>
        </p:nvSpPr>
        <p:spPr>
          <a:xfrm>
            <a:off x="3848100" y="1752600"/>
            <a:ext cx="990600" cy="514350"/>
          </a:xfrm>
          <a:prstGeom prst="roundRect">
            <a:avLst>
              <a:gd name="adj" fmla="val 11111"/>
            </a:avLst>
          </a:prstGeom>
          <a:solidFill>
            <a:srgbClr val="FFFFFF"/>
          </a:solidFill>
          <a:ln w="14288">
            <a:solidFill>
              <a:srgbClr val="23A8D8"/>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仓库</a:t>
            </a:r>
          </a:p>
        </p:txBody>
      </p:sp>
      <p:sp>
        <p:nvSpPr>
          <p:cNvPr id="11" name="直线连接符 10">
            <a:extLst>
              <a:ext uri="{FF2B5EF4-FFF2-40B4-BE49-F238E27FC236}">
                <a16:creationId xmlns:a16="http://schemas.microsoft.com/office/drawing/2014/main" id="{CE2ABD50-AD9C-49DA-A216-C3F8F005A4F8}"/>
              </a:ext>
            </a:extLst>
          </p:cNvPr>
          <p:cNvSpPr>
            <a:spLocks noGrp="1"/>
          </p:cNvSpPr>
          <p:nvPr/>
        </p:nvSpPr>
        <p:spPr>
          <a:xfrm>
            <a:off x="4838700" y="2009775"/>
            <a:ext cx="133350" cy="0"/>
          </a:xfrm>
          <a:prstGeom prst="line">
            <a:avLst/>
          </a:prstGeom>
          <a:noFill/>
          <a:ln w="14288">
            <a:solidFill>
              <a:srgbClr val="A8B8BF"/>
            </a:solidFill>
            <a:prstDash val="solid"/>
          </a:ln>
        </p:spPr>
      </p:sp>
      <p:sp>
        <p:nvSpPr>
          <p:cNvPr id="12" name="圆角矩形 11">
            <a:extLst>
              <a:ext uri="{FF2B5EF4-FFF2-40B4-BE49-F238E27FC236}">
                <a16:creationId xmlns:a16="http://schemas.microsoft.com/office/drawing/2014/main" id="{BA058D24-1135-4FE1-8F97-063126983BED}"/>
              </a:ext>
            </a:extLst>
          </p:cNvPr>
          <p:cNvSpPr>
            <a:spLocks noGrp="1"/>
          </p:cNvSpPr>
          <p:nvPr/>
        </p:nvSpPr>
        <p:spPr>
          <a:xfrm>
            <a:off x="4972050" y="1752600"/>
            <a:ext cx="990600" cy="514350"/>
          </a:xfrm>
          <a:prstGeom prst="roundRect">
            <a:avLst>
              <a:gd name="adj" fmla="val 11111"/>
            </a:avLst>
          </a:prstGeom>
          <a:solidFill>
            <a:srgbClr val="FFFFFF"/>
          </a:solidFill>
          <a:ln w="14288">
            <a:solidFill>
              <a:srgbClr val="23A8D8"/>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材料出库</a:t>
            </a:r>
          </a:p>
        </p:txBody>
      </p:sp>
      <p:sp>
        <p:nvSpPr>
          <p:cNvPr id="13" name="圆角矩形 12">
            <a:extLst>
              <a:ext uri="{FF2B5EF4-FFF2-40B4-BE49-F238E27FC236}">
                <a16:creationId xmlns:a16="http://schemas.microsoft.com/office/drawing/2014/main" id="{C523F541-3B63-47AD-8629-68B121A02140}"/>
              </a:ext>
            </a:extLst>
          </p:cNvPr>
          <p:cNvSpPr>
            <a:spLocks noGrp="1"/>
          </p:cNvSpPr>
          <p:nvPr/>
        </p:nvSpPr>
        <p:spPr>
          <a:xfrm>
            <a:off x="476250" y="3429000"/>
            <a:ext cx="990600" cy="514350"/>
          </a:xfrm>
          <a:prstGeom prst="roundRect">
            <a:avLst>
              <a:gd name="adj" fmla="val 11111"/>
            </a:avLst>
          </a:prstGeom>
          <a:solidFill>
            <a:srgbClr val="FFFFFF"/>
          </a:solidFill>
          <a:ln w="14288">
            <a:solidFill>
              <a:srgbClr val="23A8D8"/>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生产工序</a:t>
            </a:r>
          </a:p>
        </p:txBody>
      </p:sp>
      <p:sp>
        <p:nvSpPr>
          <p:cNvPr id="14" name="圆角矩形 13">
            <a:extLst>
              <a:ext uri="{FF2B5EF4-FFF2-40B4-BE49-F238E27FC236}">
                <a16:creationId xmlns:a16="http://schemas.microsoft.com/office/drawing/2014/main" id="{AFDF14D6-7025-4BA2-A8DD-3B0609F865D9}"/>
              </a:ext>
            </a:extLst>
          </p:cNvPr>
          <p:cNvSpPr>
            <a:spLocks noGrp="1"/>
          </p:cNvSpPr>
          <p:nvPr/>
        </p:nvSpPr>
        <p:spPr>
          <a:xfrm>
            <a:off x="1600200" y="3429000"/>
            <a:ext cx="990600" cy="514350"/>
          </a:xfrm>
          <a:prstGeom prst="roundRect">
            <a:avLst>
              <a:gd name="adj" fmla="val 11111"/>
            </a:avLst>
          </a:prstGeom>
          <a:solidFill>
            <a:srgbClr val="FFFFFF"/>
          </a:solidFill>
          <a:ln w="14288">
            <a:solidFill>
              <a:srgbClr val="23A8D8"/>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WIP</a:t>
            </a:r>
          </a:p>
        </p:txBody>
      </p:sp>
      <p:sp>
        <p:nvSpPr>
          <p:cNvPr id="15" name="直线连接符 14">
            <a:extLst>
              <a:ext uri="{FF2B5EF4-FFF2-40B4-BE49-F238E27FC236}">
                <a16:creationId xmlns:a16="http://schemas.microsoft.com/office/drawing/2014/main" id="{537104F6-E92F-4F12-BD88-61DB6692A008}"/>
              </a:ext>
            </a:extLst>
          </p:cNvPr>
          <p:cNvSpPr>
            <a:spLocks noGrp="1"/>
          </p:cNvSpPr>
          <p:nvPr/>
        </p:nvSpPr>
        <p:spPr>
          <a:xfrm>
            <a:off x="1466850" y="3686175"/>
            <a:ext cx="133350" cy="0"/>
          </a:xfrm>
          <a:prstGeom prst="line">
            <a:avLst/>
          </a:prstGeom>
          <a:noFill/>
          <a:ln w="14288">
            <a:solidFill>
              <a:srgbClr val="A8B8BF"/>
            </a:solidFill>
            <a:prstDash val="solid"/>
          </a:ln>
        </p:spPr>
      </p:sp>
      <p:sp>
        <p:nvSpPr>
          <p:cNvPr id="16" name="圆角矩形 15">
            <a:extLst>
              <a:ext uri="{FF2B5EF4-FFF2-40B4-BE49-F238E27FC236}">
                <a16:creationId xmlns:a16="http://schemas.microsoft.com/office/drawing/2014/main" id="{AB7C3CB8-E4CB-4C26-8669-D059513A11E9}"/>
              </a:ext>
            </a:extLst>
          </p:cNvPr>
          <p:cNvSpPr>
            <a:spLocks noGrp="1"/>
          </p:cNvSpPr>
          <p:nvPr/>
        </p:nvSpPr>
        <p:spPr>
          <a:xfrm>
            <a:off x="2724150" y="3429000"/>
            <a:ext cx="990600" cy="514350"/>
          </a:xfrm>
          <a:prstGeom prst="roundRect">
            <a:avLst>
              <a:gd name="adj" fmla="val 11111"/>
            </a:avLst>
          </a:prstGeom>
          <a:solidFill>
            <a:srgbClr val="FFFFFF"/>
          </a:solidFill>
          <a:ln w="14288">
            <a:solidFill>
              <a:srgbClr val="23A8D8"/>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成品检验</a:t>
            </a:r>
          </a:p>
        </p:txBody>
      </p:sp>
      <p:sp>
        <p:nvSpPr>
          <p:cNvPr id="17" name="直线连接符 16">
            <a:extLst>
              <a:ext uri="{FF2B5EF4-FFF2-40B4-BE49-F238E27FC236}">
                <a16:creationId xmlns:a16="http://schemas.microsoft.com/office/drawing/2014/main" id="{F3EE7D8B-A0E7-41C3-B033-A500D2C7B2AE}"/>
              </a:ext>
            </a:extLst>
          </p:cNvPr>
          <p:cNvSpPr>
            <a:spLocks noGrp="1"/>
          </p:cNvSpPr>
          <p:nvPr/>
        </p:nvSpPr>
        <p:spPr>
          <a:xfrm>
            <a:off x="2590800" y="3686175"/>
            <a:ext cx="133350" cy="0"/>
          </a:xfrm>
          <a:prstGeom prst="line">
            <a:avLst/>
          </a:prstGeom>
          <a:noFill/>
          <a:ln w="14288">
            <a:solidFill>
              <a:srgbClr val="A8B8BF"/>
            </a:solidFill>
            <a:prstDash val="solid"/>
          </a:ln>
        </p:spPr>
      </p:sp>
      <p:sp>
        <p:nvSpPr>
          <p:cNvPr id="18" name="圆角矩形 17">
            <a:extLst>
              <a:ext uri="{FF2B5EF4-FFF2-40B4-BE49-F238E27FC236}">
                <a16:creationId xmlns:a16="http://schemas.microsoft.com/office/drawing/2014/main" id="{C9E137DF-7AEF-48BB-8FFF-8A7137CF6A3B}"/>
              </a:ext>
            </a:extLst>
          </p:cNvPr>
          <p:cNvSpPr>
            <a:spLocks noGrp="1"/>
          </p:cNvSpPr>
          <p:nvPr/>
        </p:nvSpPr>
        <p:spPr>
          <a:xfrm>
            <a:off x="3848100" y="3429000"/>
            <a:ext cx="990600" cy="514350"/>
          </a:xfrm>
          <a:prstGeom prst="roundRect">
            <a:avLst>
              <a:gd name="adj" fmla="val 11111"/>
            </a:avLst>
          </a:prstGeom>
          <a:solidFill>
            <a:srgbClr val="FFFFFF"/>
          </a:solidFill>
          <a:ln w="14288">
            <a:solidFill>
              <a:srgbClr val="23A8D8"/>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成品出库</a:t>
            </a:r>
          </a:p>
        </p:txBody>
      </p:sp>
      <p:sp>
        <p:nvSpPr>
          <p:cNvPr id="19" name="直线连接符 18">
            <a:extLst>
              <a:ext uri="{FF2B5EF4-FFF2-40B4-BE49-F238E27FC236}">
                <a16:creationId xmlns:a16="http://schemas.microsoft.com/office/drawing/2014/main" id="{53083777-9264-4C80-8AFC-B203533CE61D}"/>
              </a:ext>
            </a:extLst>
          </p:cNvPr>
          <p:cNvSpPr>
            <a:spLocks noGrp="1"/>
          </p:cNvSpPr>
          <p:nvPr/>
        </p:nvSpPr>
        <p:spPr>
          <a:xfrm>
            <a:off x="3714750" y="3686175"/>
            <a:ext cx="133350" cy="0"/>
          </a:xfrm>
          <a:prstGeom prst="line">
            <a:avLst/>
          </a:prstGeom>
          <a:noFill/>
          <a:ln w="14288">
            <a:solidFill>
              <a:srgbClr val="A8B8BF"/>
            </a:solidFill>
            <a:prstDash val="solid"/>
          </a:ln>
        </p:spPr>
      </p:sp>
      <p:sp>
        <p:nvSpPr>
          <p:cNvPr id="20" name="圆角矩形 19">
            <a:extLst>
              <a:ext uri="{FF2B5EF4-FFF2-40B4-BE49-F238E27FC236}">
                <a16:creationId xmlns:a16="http://schemas.microsoft.com/office/drawing/2014/main" id="{FDB10FF0-406A-49DB-BF7C-293ED8A55F51}"/>
              </a:ext>
            </a:extLst>
          </p:cNvPr>
          <p:cNvSpPr>
            <a:spLocks noGrp="1"/>
          </p:cNvSpPr>
          <p:nvPr/>
        </p:nvSpPr>
        <p:spPr>
          <a:xfrm>
            <a:off x="4972050" y="3429000"/>
            <a:ext cx="990600" cy="514350"/>
          </a:xfrm>
          <a:prstGeom prst="roundRect">
            <a:avLst>
              <a:gd name="adj" fmla="val 11111"/>
            </a:avLst>
          </a:prstGeom>
          <a:solidFill>
            <a:srgbClr val="F0F8E8"/>
          </a:solidFill>
          <a:ln w="14288">
            <a:solidFill>
              <a:srgbClr val="76BC21"/>
            </a:solidFill>
            <a:prstDash val="solid"/>
          </a:ln>
        </p:spPr>
        <p:txBody>
          <a:bodyPr>
            <a:normAutofit/>
          </a:bodyPr>
          <a:lstStyle/>
          <a:p>
            <a:pPr algn="ctr">
              <a:defRPr sz="1275" b="1">
                <a:solidFill>
                  <a:srgbClr val="1F2A33"/>
                </a:solidFill>
                <a:latin typeface="Songti SC"/>
                <a:ea typeface="Songti SC"/>
                <a:cs typeface="Songti SC"/>
              </a:defRPr>
            </a:pPr>
            <a:r>
              <a:rPr sz="1275" b="1">
                <a:solidFill>
                  <a:srgbClr val="1F2A33"/>
                </a:solidFill>
                <a:latin typeface="Songti SC"/>
                <a:ea typeface="Songti SC"/>
                <a:cs typeface="Songti SC"/>
              </a:rPr>
              <a:t>客户</a:t>
            </a:r>
          </a:p>
        </p:txBody>
      </p:sp>
      <p:sp>
        <p:nvSpPr>
          <p:cNvPr id="21" name="直线连接符 20">
            <a:extLst>
              <a:ext uri="{FF2B5EF4-FFF2-40B4-BE49-F238E27FC236}">
                <a16:creationId xmlns:a16="http://schemas.microsoft.com/office/drawing/2014/main" id="{53B7B483-F7E1-4B60-8416-2763C39647F1}"/>
              </a:ext>
            </a:extLst>
          </p:cNvPr>
          <p:cNvSpPr>
            <a:spLocks noGrp="1"/>
          </p:cNvSpPr>
          <p:nvPr/>
        </p:nvSpPr>
        <p:spPr>
          <a:xfrm>
            <a:off x="4838700" y="3686175"/>
            <a:ext cx="133350" cy="0"/>
          </a:xfrm>
          <a:prstGeom prst="line">
            <a:avLst/>
          </a:prstGeom>
          <a:noFill/>
          <a:ln w="14288">
            <a:solidFill>
              <a:srgbClr val="A8B8BF"/>
            </a:solidFill>
            <a:prstDash val="solid"/>
          </a:ln>
        </p:spPr>
      </p:sp>
      <p:sp>
        <p:nvSpPr>
          <p:cNvPr id="22" name="直线连接符 21">
            <a:extLst>
              <a:ext uri="{FF2B5EF4-FFF2-40B4-BE49-F238E27FC236}">
                <a16:creationId xmlns:a16="http://schemas.microsoft.com/office/drawing/2014/main" id="{929AF013-090A-4FC8-A01C-28535528EBAB}"/>
              </a:ext>
            </a:extLst>
          </p:cNvPr>
          <p:cNvSpPr>
            <a:spLocks noGrp="1"/>
          </p:cNvSpPr>
          <p:nvPr/>
        </p:nvSpPr>
        <p:spPr>
          <a:xfrm>
            <a:off x="5962650" y="2009775"/>
            <a:ext cx="0" cy="1676400"/>
          </a:xfrm>
          <a:prstGeom prst="line">
            <a:avLst/>
          </a:prstGeom>
          <a:noFill/>
          <a:ln w="14288">
            <a:solidFill>
              <a:srgbClr val="A8B8BF"/>
            </a:solidFill>
            <a:prstDash val="solid"/>
          </a:ln>
        </p:spPr>
      </p:sp>
      <p:sp>
        <p:nvSpPr>
          <p:cNvPr id="23" name="矩形 22">
            <a:extLst>
              <a:ext uri="{FF2B5EF4-FFF2-40B4-BE49-F238E27FC236}">
                <a16:creationId xmlns:a16="http://schemas.microsoft.com/office/drawing/2014/main" id="{33C48F94-E3F4-4AEA-9A9D-49F1748B2BF2}"/>
              </a:ext>
            </a:extLst>
          </p:cNvPr>
          <p:cNvSpPr>
            <a:spLocks noGrp="1"/>
          </p:cNvSpPr>
          <p:nvPr/>
        </p:nvSpPr>
        <p:spPr>
          <a:xfrm>
            <a:off x="1600200" y="5095875"/>
            <a:ext cx="8991600" cy="400050"/>
          </a:xfrm>
          <a:prstGeom prst="rect">
            <a:avLst/>
          </a:prstGeom>
          <a:noFill/>
          <a:ln w="0">
            <a:noFill/>
            <a:prstDash val="solid"/>
          </a:ln>
        </p:spPr>
        <p:txBody>
          <a:bodyPr>
            <a:normAutofit/>
          </a:bodyPr>
          <a:lstStyle/>
          <a:p>
            <a:pPr algn="ctr">
              <a:defRPr sz="1650" b="0">
                <a:solidFill>
                  <a:srgbClr val="53626B"/>
                </a:solidFill>
                <a:latin typeface="Songti SC"/>
                <a:ea typeface="Songti SC"/>
                <a:cs typeface="Songti SC"/>
              </a:defRPr>
            </a:pPr>
            <a:r>
              <a:rPr sz="1650" b="0">
                <a:solidFill>
                  <a:srgbClr val="53626B"/>
                </a:solidFill>
                <a:latin typeface="Songti SC"/>
                <a:ea typeface="Songti SC"/>
                <a:cs typeface="Songti SC"/>
              </a:rPr>
              <a:t>每个功能项都要落到过程节点，才能判断它服务的动作和管理意义。</a:t>
            </a:r>
          </a:p>
        </p:txBody>
      </p:sp>
      <p:sp>
        <p:nvSpPr>
          <p:cNvPr id="24" name="矩形 23">
            <a:extLst>
              <a:ext uri="{FF2B5EF4-FFF2-40B4-BE49-F238E27FC236}">
                <a16:creationId xmlns:a16="http://schemas.microsoft.com/office/drawing/2014/main" id="{9FA7AF98-BAC1-4AC5-8B59-5FE86995A309}"/>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25" name="矩形 24">
            <a:extLst>
              <a:ext uri="{FF2B5EF4-FFF2-40B4-BE49-F238E27FC236}">
                <a16:creationId xmlns:a16="http://schemas.microsoft.com/office/drawing/2014/main" id="{877362FB-F941-4245-894C-A74A41E39317}"/>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26" name="矩形 25">
            <a:extLst>
              <a:ext uri="{FF2B5EF4-FFF2-40B4-BE49-F238E27FC236}">
                <a16:creationId xmlns:a16="http://schemas.microsoft.com/office/drawing/2014/main" id="{27872C7E-CB72-42D5-A284-41B411BEBF96}"/>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现场穿插：价值流画板</a:t>
            </a:r>
          </a:p>
        </p:txBody>
      </p:sp>
    </p:spTree>
    <p:extLst>
      <p:ext uri="{BB962C8B-B14F-4D97-AF65-F5344CB8AC3E}">
        <p14:creationId xmlns:p14="http://schemas.microsoft.com/office/powerpoint/2010/main" val="845090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C0DF2A77-5002-47BE-A643-FF6FDBB70A3C}"/>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当前能力判断</a:t>
            </a:r>
          </a:p>
        </p:txBody>
      </p:sp>
      <p:sp>
        <p:nvSpPr>
          <p:cNvPr id="2" name="直线连接符 1">
            <a:extLst>
              <a:ext uri="{FF2B5EF4-FFF2-40B4-BE49-F238E27FC236}">
                <a16:creationId xmlns:a16="http://schemas.microsoft.com/office/drawing/2014/main" id="{A8318615-5BC9-4ABD-A41C-2B4EF9D35F7E}"/>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AAB219BC-FC49-4C7E-96B3-10EEF211712A}"/>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05</a:t>
            </a:r>
          </a:p>
        </p:txBody>
      </p:sp>
      <p:sp>
        <p:nvSpPr>
          <p:cNvPr id="4" name="圆角矩形 3">
            <a:extLst>
              <a:ext uri="{FF2B5EF4-FFF2-40B4-BE49-F238E27FC236}">
                <a16:creationId xmlns:a16="http://schemas.microsoft.com/office/drawing/2014/main" id="{F7113C84-B06B-4F30-9D5A-4E47DDB9E959}"/>
              </a:ext>
            </a:extLst>
          </p:cNvPr>
          <p:cNvSpPr>
            <a:spLocks noGrp="1"/>
          </p:cNvSpPr>
          <p:nvPr/>
        </p:nvSpPr>
        <p:spPr>
          <a:xfrm>
            <a:off x="876300" y="1390650"/>
            <a:ext cx="4619625" cy="457200"/>
          </a:xfrm>
          <a:prstGeom prst="roundRect">
            <a:avLst>
              <a:gd name="adj" fmla="val 12500"/>
            </a:avLst>
          </a:prstGeom>
          <a:solidFill>
            <a:srgbClr val="E9F6FB"/>
          </a:solidFill>
          <a:ln w="14288">
            <a:solidFill>
              <a:srgbClr val="23A8D8"/>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已有基础</a:t>
            </a:r>
          </a:p>
        </p:txBody>
      </p:sp>
      <p:sp>
        <p:nvSpPr>
          <p:cNvPr id="5" name="圆角矩形 4">
            <a:extLst>
              <a:ext uri="{FF2B5EF4-FFF2-40B4-BE49-F238E27FC236}">
                <a16:creationId xmlns:a16="http://schemas.microsoft.com/office/drawing/2014/main" id="{768BD84E-5A4C-4AD9-B75E-1C8A69F40198}"/>
              </a:ext>
            </a:extLst>
          </p:cNvPr>
          <p:cNvSpPr>
            <a:spLocks noGrp="1"/>
          </p:cNvSpPr>
          <p:nvPr/>
        </p:nvSpPr>
        <p:spPr>
          <a:xfrm>
            <a:off x="6705600" y="1390650"/>
            <a:ext cx="4619625" cy="457200"/>
          </a:xfrm>
          <a:prstGeom prst="roundRect">
            <a:avLst>
              <a:gd name="adj" fmla="val 12500"/>
            </a:avLst>
          </a:prstGeom>
          <a:solidFill>
            <a:srgbClr val="F0F8E8"/>
          </a:solidFill>
          <a:ln w="14288">
            <a:solidFill>
              <a:srgbClr val="76BC21"/>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关键缺口</a:t>
            </a:r>
          </a:p>
        </p:txBody>
      </p:sp>
      <p:sp>
        <p:nvSpPr>
          <p:cNvPr id="6" name="椭圆 5">
            <a:extLst>
              <a:ext uri="{FF2B5EF4-FFF2-40B4-BE49-F238E27FC236}">
                <a16:creationId xmlns:a16="http://schemas.microsoft.com/office/drawing/2014/main" id="{B9DF2126-A29F-4C1C-B9E2-C682D4111CA9}"/>
              </a:ext>
            </a:extLst>
          </p:cNvPr>
          <p:cNvSpPr>
            <a:spLocks noGrp="1"/>
          </p:cNvSpPr>
          <p:nvPr/>
        </p:nvSpPr>
        <p:spPr>
          <a:xfrm>
            <a:off x="1047750" y="2247900"/>
            <a:ext cx="95250" cy="95250"/>
          </a:xfrm>
          <a:prstGeom prst="ellipse">
            <a:avLst/>
          </a:prstGeom>
          <a:solidFill>
            <a:srgbClr val="23A8D8"/>
          </a:solidFill>
          <a:ln w="0">
            <a:noFill/>
            <a:prstDash val="solid"/>
          </a:ln>
        </p:spPr>
      </p:sp>
      <p:sp>
        <p:nvSpPr>
          <p:cNvPr id="7" name="矩形 6">
            <a:extLst>
              <a:ext uri="{FF2B5EF4-FFF2-40B4-BE49-F238E27FC236}">
                <a16:creationId xmlns:a16="http://schemas.microsoft.com/office/drawing/2014/main" id="{40702056-D7AD-4755-85CF-D33FEF46139D}"/>
              </a:ext>
            </a:extLst>
          </p:cNvPr>
          <p:cNvSpPr>
            <a:spLocks noGrp="1"/>
          </p:cNvSpPr>
          <p:nvPr/>
        </p:nvSpPr>
        <p:spPr>
          <a:xfrm>
            <a:off x="1276350" y="21717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仓储、库存、出入库和 FIFO 已有基础框架。</a:t>
            </a:r>
          </a:p>
        </p:txBody>
      </p:sp>
      <p:sp>
        <p:nvSpPr>
          <p:cNvPr id="8" name="椭圆 7">
            <a:extLst>
              <a:ext uri="{FF2B5EF4-FFF2-40B4-BE49-F238E27FC236}">
                <a16:creationId xmlns:a16="http://schemas.microsoft.com/office/drawing/2014/main" id="{D1D8D61A-D8B0-4291-B53F-7107545E14F6}"/>
              </a:ext>
            </a:extLst>
          </p:cNvPr>
          <p:cNvSpPr>
            <a:spLocks noGrp="1"/>
          </p:cNvSpPr>
          <p:nvPr/>
        </p:nvSpPr>
        <p:spPr>
          <a:xfrm>
            <a:off x="1047750" y="2895600"/>
            <a:ext cx="95250" cy="95250"/>
          </a:xfrm>
          <a:prstGeom prst="ellipse">
            <a:avLst/>
          </a:prstGeom>
          <a:solidFill>
            <a:srgbClr val="76BC21"/>
          </a:solidFill>
          <a:ln w="0">
            <a:noFill/>
            <a:prstDash val="solid"/>
          </a:ln>
        </p:spPr>
      </p:sp>
      <p:sp>
        <p:nvSpPr>
          <p:cNvPr id="9" name="矩形 8">
            <a:extLst>
              <a:ext uri="{FF2B5EF4-FFF2-40B4-BE49-F238E27FC236}">
                <a16:creationId xmlns:a16="http://schemas.microsoft.com/office/drawing/2014/main" id="{FB68001A-F5D0-4A15-96F9-F4A84C0A37F8}"/>
              </a:ext>
            </a:extLst>
          </p:cNvPr>
          <p:cNvSpPr>
            <a:spLocks noGrp="1"/>
          </p:cNvSpPr>
          <p:nvPr/>
        </p:nvSpPr>
        <p:spPr>
          <a:xfrm>
            <a:off x="1276350" y="28194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生产执行、报工、防错和追溯已有功能入口。</a:t>
            </a:r>
          </a:p>
        </p:txBody>
      </p:sp>
      <p:sp>
        <p:nvSpPr>
          <p:cNvPr id="10" name="椭圆 9">
            <a:extLst>
              <a:ext uri="{FF2B5EF4-FFF2-40B4-BE49-F238E27FC236}">
                <a16:creationId xmlns:a16="http://schemas.microsoft.com/office/drawing/2014/main" id="{9331B5E0-C393-4965-AE89-59F0FDC4CC7B}"/>
              </a:ext>
            </a:extLst>
          </p:cNvPr>
          <p:cNvSpPr>
            <a:spLocks noGrp="1"/>
          </p:cNvSpPr>
          <p:nvPr/>
        </p:nvSpPr>
        <p:spPr>
          <a:xfrm>
            <a:off x="1047750" y="3543300"/>
            <a:ext cx="95250" cy="95250"/>
          </a:xfrm>
          <a:prstGeom prst="ellipse">
            <a:avLst/>
          </a:prstGeom>
          <a:solidFill>
            <a:srgbClr val="23A8D8"/>
          </a:solidFill>
          <a:ln w="0">
            <a:noFill/>
            <a:prstDash val="solid"/>
          </a:ln>
        </p:spPr>
      </p:sp>
      <p:sp>
        <p:nvSpPr>
          <p:cNvPr id="11" name="矩形 10">
            <a:extLst>
              <a:ext uri="{FF2B5EF4-FFF2-40B4-BE49-F238E27FC236}">
                <a16:creationId xmlns:a16="http://schemas.microsoft.com/office/drawing/2014/main" id="{31C84408-F17B-429D-9E2E-E0328798A98F}"/>
              </a:ext>
            </a:extLst>
          </p:cNvPr>
          <p:cNvSpPr>
            <a:spLocks noGrp="1"/>
          </p:cNvSpPr>
          <p:nvPr/>
        </p:nvSpPr>
        <p:spPr>
          <a:xfrm>
            <a:off x="1276350" y="34671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检验、质量标准和不合格品处理已有明确功能项。</a:t>
            </a:r>
          </a:p>
        </p:txBody>
      </p:sp>
      <p:sp>
        <p:nvSpPr>
          <p:cNvPr id="12" name="椭圆 11">
            <a:extLst>
              <a:ext uri="{FF2B5EF4-FFF2-40B4-BE49-F238E27FC236}">
                <a16:creationId xmlns:a16="http://schemas.microsoft.com/office/drawing/2014/main" id="{A85FBB81-7F63-47D9-A836-930F08462966}"/>
              </a:ext>
            </a:extLst>
          </p:cNvPr>
          <p:cNvSpPr>
            <a:spLocks noGrp="1"/>
          </p:cNvSpPr>
          <p:nvPr/>
        </p:nvSpPr>
        <p:spPr>
          <a:xfrm>
            <a:off x="6877050" y="2247900"/>
            <a:ext cx="95250" cy="95250"/>
          </a:xfrm>
          <a:prstGeom prst="ellipse">
            <a:avLst/>
          </a:prstGeom>
          <a:solidFill>
            <a:srgbClr val="23A8D8"/>
          </a:solidFill>
          <a:ln w="0">
            <a:noFill/>
            <a:prstDash val="solid"/>
          </a:ln>
        </p:spPr>
      </p:sp>
      <p:sp>
        <p:nvSpPr>
          <p:cNvPr id="13" name="矩形 12">
            <a:extLst>
              <a:ext uri="{FF2B5EF4-FFF2-40B4-BE49-F238E27FC236}">
                <a16:creationId xmlns:a16="http://schemas.microsoft.com/office/drawing/2014/main" id="{CE62E1E6-C46A-4321-8203-5769C900F764}"/>
              </a:ext>
            </a:extLst>
          </p:cNvPr>
          <p:cNvSpPr>
            <a:spLocks noGrp="1"/>
          </p:cNvSpPr>
          <p:nvPr/>
        </p:nvSpPr>
        <p:spPr>
          <a:xfrm>
            <a:off x="7105650" y="21717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功能仍偏记录和局部管控。</a:t>
            </a:r>
          </a:p>
        </p:txBody>
      </p:sp>
      <p:sp>
        <p:nvSpPr>
          <p:cNvPr id="14" name="椭圆 13">
            <a:extLst>
              <a:ext uri="{FF2B5EF4-FFF2-40B4-BE49-F238E27FC236}">
                <a16:creationId xmlns:a16="http://schemas.microsoft.com/office/drawing/2014/main" id="{53BBF71F-2BAD-4F77-B432-AA85FF74717E}"/>
              </a:ext>
            </a:extLst>
          </p:cNvPr>
          <p:cNvSpPr>
            <a:spLocks noGrp="1"/>
          </p:cNvSpPr>
          <p:nvPr/>
        </p:nvSpPr>
        <p:spPr>
          <a:xfrm>
            <a:off x="6877050" y="2895600"/>
            <a:ext cx="95250" cy="95250"/>
          </a:xfrm>
          <a:prstGeom prst="ellipse">
            <a:avLst/>
          </a:prstGeom>
          <a:solidFill>
            <a:srgbClr val="76BC21"/>
          </a:solidFill>
          <a:ln w="0">
            <a:noFill/>
            <a:prstDash val="solid"/>
          </a:ln>
        </p:spPr>
      </p:sp>
      <p:sp>
        <p:nvSpPr>
          <p:cNvPr id="15" name="矩形 14">
            <a:extLst>
              <a:ext uri="{FF2B5EF4-FFF2-40B4-BE49-F238E27FC236}">
                <a16:creationId xmlns:a16="http://schemas.microsoft.com/office/drawing/2014/main" id="{CC4F296D-4738-4EB5-8598-465A17A1E36B}"/>
              </a:ext>
            </a:extLst>
          </p:cNvPr>
          <p:cNvSpPr>
            <a:spLocks noGrp="1"/>
          </p:cNvSpPr>
          <p:nvPr/>
        </p:nvSpPr>
        <p:spPr>
          <a:xfrm>
            <a:off x="7105650" y="28194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生产计划能力弱，动态数据缺少判断基准。</a:t>
            </a:r>
          </a:p>
        </p:txBody>
      </p:sp>
      <p:sp>
        <p:nvSpPr>
          <p:cNvPr id="16" name="椭圆 15">
            <a:extLst>
              <a:ext uri="{FF2B5EF4-FFF2-40B4-BE49-F238E27FC236}">
                <a16:creationId xmlns:a16="http://schemas.microsoft.com/office/drawing/2014/main" id="{27391DCA-0947-4E01-8166-90592B21853C}"/>
              </a:ext>
            </a:extLst>
          </p:cNvPr>
          <p:cNvSpPr>
            <a:spLocks noGrp="1"/>
          </p:cNvSpPr>
          <p:nvPr/>
        </p:nvSpPr>
        <p:spPr>
          <a:xfrm>
            <a:off x="6877050" y="3543300"/>
            <a:ext cx="95250" cy="95250"/>
          </a:xfrm>
          <a:prstGeom prst="ellipse">
            <a:avLst/>
          </a:prstGeom>
          <a:solidFill>
            <a:srgbClr val="23A8D8"/>
          </a:solidFill>
          <a:ln w="0">
            <a:noFill/>
            <a:prstDash val="solid"/>
          </a:ln>
        </p:spPr>
      </p:sp>
      <p:sp>
        <p:nvSpPr>
          <p:cNvPr id="17" name="矩形 16">
            <a:extLst>
              <a:ext uri="{FF2B5EF4-FFF2-40B4-BE49-F238E27FC236}">
                <a16:creationId xmlns:a16="http://schemas.microsoft.com/office/drawing/2014/main" id="{A5F01DDC-B067-4F27-A8A2-F4DD6E051711}"/>
              </a:ext>
            </a:extLst>
          </p:cNvPr>
          <p:cNvSpPr>
            <a:spLocks noGrp="1"/>
          </p:cNvSpPr>
          <p:nvPr/>
        </p:nvSpPr>
        <p:spPr>
          <a:xfrm>
            <a:off x="7105650" y="34671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跨工序既有零件移动缺少拉动式机制。</a:t>
            </a:r>
          </a:p>
        </p:txBody>
      </p:sp>
      <p:sp>
        <p:nvSpPr>
          <p:cNvPr id="18" name="矩形 17">
            <a:extLst>
              <a:ext uri="{FF2B5EF4-FFF2-40B4-BE49-F238E27FC236}">
                <a16:creationId xmlns:a16="http://schemas.microsoft.com/office/drawing/2014/main" id="{4EF1BE56-61B5-49D7-9563-74E396A36B30}"/>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9" name="矩形 18">
            <a:extLst>
              <a:ext uri="{FF2B5EF4-FFF2-40B4-BE49-F238E27FC236}">
                <a16:creationId xmlns:a16="http://schemas.microsoft.com/office/drawing/2014/main" id="{36910622-5CEC-4107-9CC7-3E675981D161}"/>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20" name="矩形 19">
            <a:extLst>
              <a:ext uri="{FF2B5EF4-FFF2-40B4-BE49-F238E27FC236}">
                <a16:creationId xmlns:a16="http://schemas.microsoft.com/office/drawing/2014/main" id="{9B71917A-5D43-411A-BA77-8D6F6E5C7FE1}"/>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现场穿插：业务过程与功能重组工作台</a:t>
            </a:r>
          </a:p>
        </p:txBody>
      </p:sp>
    </p:spTree>
    <p:extLst>
      <p:ext uri="{BB962C8B-B14F-4D97-AF65-F5344CB8AC3E}">
        <p14:creationId xmlns:p14="http://schemas.microsoft.com/office/powerpoint/2010/main" val="401060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8527A39F-895D-4FF3-BCF8-00DD3BC85538}"/>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dirty="0" err="1">
                <a:solidFill>
                  <a:srgbClr val="1F2A33"/>
                </a:solidFill>
                <a:latin typeface="Songti SC"/>
                <a:ea typeface="Songti SC"/>
                <a:cs typeface="Songti SC"/>
              </a:rPr>
              <a:t>阶段二的核心命题</a:t>
            </a:r>
            <a:endParaRPr sz="2100" b="1" dirty="0">
              <a:solidFill>
                <a:srgbClr val="1F2A33"/>
              </a:solidFill>
              <a:latin typeface="Songti SC"/>
              <a:ea typeface="Songti SC"/>
              <a:cs typeface="Songti SC"/>
            </a:endParaRPr>
          </a:p>
        </p:txBody>
      </p:sp>
      <p:sp>
        <p:nvSpPr>
          <p:cNvPr id="2" name="直线连接符 1">
            <a:extLst>
              <a:ext uri="{FF2B5EF4-FFF2-40B4-BE49-F238E27FC236}">
                <a16:creationId xmlns:a16="http://schemas.microsoft.com/office/drawing/2014/main" id="{52D94E24-A275-494C-B657-4AAF0187729A}"/>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C33DFF8B-B1F8-4266-AE5B-13E4ACA535FE}"/>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06</a:t>
            </a:r>
          </a:p>
        </p:txBody>
      </p:sp>
      <p:sp>
        <p:nvSpPr>
          <p:cNvPr id="4" name="圆角矩形 3">
            <a:extLst>
              <a:ext uri="{FF2B5EF4-FFF2-40B4-BE49-F238E27FC236}">
                <a16:creationId xmlns:a16="http://schemas.microsoft.com/office/drawing/2014/main" id="{B2C9EBE0-1161-416C-B1E1-1CACC733749B}"/>
              </a:ext>
            </a:extLst>
          </p:cNvPr>
          <p:cNvSpPr>
            <a:spLocks noGrp="1"/>
          </p:cNvSpPr>
          <p:nvPr/>
        </p:nvSpPr>
        <p:spPr>
          <a:xfrm>
            <a:off x="5095875" y="2628900"/>
            <a:ext cx="2000250" cy="838200"/>
          </a:xfrm>
          <a:prstGeom prst="roundRect">
            <a:avLst>
              <a:gd name="adj" fmla="val 6818"/>
            </a:avLst>
          </a:prstGeom>
          <a:solidFill>
            <a:srgbClr val="76BC21"/>
          </a:solidFill>
          <a:ln w="14288">
            <a:solidFill>
              <a:srgbClr val="76BC21"/>
            </a:solidFill>
            <a:prstDash val="solid"/>
          </a:ln>
        </p:spPr>
        <p:txBody>
          <a:bodyPr>
            <a:normAutofit/>
          </a:bodyPr>
          <a:lstStyle/>
          <a:p>
            <a:pPr algn="ctr">
              <a:defRPr sz="2025" b="1">
                <a:solidFill>
                  <a:srgbClr val="FFFFFF"/>
                </a:solidFill>
                <a:latin typeface="Arial"/>
                <a:ea typeface="Arial"/>
                <a:cs typeface="Arial"/>
              </a:defRPr>
            </a:pPr>
            <a:r>
              <a:rPr sz="2025" b="1" dirty="0" err="1">
                <a:solidFill>
                  <a:srgbClr val="FFFFFF"/>
                </a:solidFill>
                <a:latin typeface="Arial"/>
                <a:ea typeface="Arial"/>
                <a:cs typeface="Arial"/>
              </a:rPr>
              <a:t>全工序数据</a:t>
            </a:r>
            <a:endParaRPr sz="2025" b="1" dirty="0">
              <a:solidFill>
                <a:srgbClr val="FFFFFF"/>
              </a:solidFill>
              <a:latin typeface="Arial"/>
              <a:ea typeface="Arial"/>
              <a:cs typeface="Arial"/>
            </a:endParaRPr>
          </a:p>
        </p:txBody>
      </p:sp>
      <p:sp>
        <p:nvSpPr>
          <p:cNvPr id="5" name="圆角矩形 4">
            <a:extLst>
              <a:ext uri="{FF2B5EF4-FFF2-40B4-BE49-F238E27FC236}">
                <a16:creationId xmlns:a16="http://schemas.microsoft.com/office/drawing/2014/main" id="{9341091E-63B6-4311-BE3F-CFA6F5773C4D}"/>
              </a:ext>
            </a:extLst>
          </p:cNvPr>
          <p:cNvSpPr>
            <a:spLocks noGrp="1"/>
          </p:cNvSpPr>
          <p:nvPr/>
        </p:nvSpPr>
        <p:spPr>
          <a:xfrm>
            <a:off x="1257300" y="1524000"/>
            <a:ext cx="1524000" cy="457200"/>
          </a:xfrm>
          <a:prstGeom prst="roundRect">
            <a:avLst>
              <a:gd name="adj" fmla="val 12500"/>
            </a:avLst>
          </a:prstGeom>
          <a:solidFill>
            <a:srgbClr val="FFFFFF"/>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设备状态</a:t>
            </a:r>
          </a:p>
        </p:txBody>
      </p:sp>
      <p:cxnSp>
        <p:nvCxnSpPr>
          <p:cNvPr id="28" name="直线箭头连接符 27"/>
          <p:cNvCxnSpPr>
            <a:stCxn id="4" idx="1"/>
            <a:endCxn id="5" idx="3"/>
          </p:cNvCxnSpPr>
          <p:nvPr/>
        </p:nvCxnSpPr>
        <p:spPr>
          <a:xfrm flipH="1" flipV="1">
            <a:off x="2781300" y="1752600"/>
            <a:ext cx="2314575" cy="1295400"/>
          </a:xfrm>
          <a:prstGeom prst="straightConnector1">
            <a:avLst/>
          </a:prstGeom>
          <a:ln w="10478">
            <a:solidFill>
              <a:srgbClr val="94A9B0"/>
            </a:solidFill>
            <a:prstDash val="solid"/>
          </a:ln>
        </p:spPr>
      </p:cxnSp>
      <p:sp>
        <p:nvSpPr>
          <p:cNvPr id="7" name="圆角矩形 6">
            <a:extLst>
              <a:ext uri="{FF2B5EF4-FFF2-40B4-BE49-F238E27FC236}">
                <a16:creationId xmlns:a16="http://schemas.microsoft.com/office/drawing/2014/main" id="{8CED7A29-6433-4374-BFA5-667C9D2F4348}"/>
              </a:ext>
            </a:extLst>
          </p:cNvPr>
          <p:cNvSpPr>
            <a:spLocks noGrp="1"/>
          </p:cNvSpPr>
          <p:nvPr/>
        </p:nvSpPr>
        <p:spPr>
          <a:xfrm>
            <a:off x="4000500" y="1352550"/>
            <a:ext cx="1524000" cy="457200"/>
          </a:xfrm>
          <a:prstGeom prst="roundRect">
            <a:avLst>
              <a:gd name="adj" fmla="val 12500"/>
            </a:avLst>
          </a:prstGeom>
          <a:solidFill>
            <a:srgbClr val="FFFFFF"/>
          </a:solidFill>
          <a:ln w="14288">
            <a:solidFill>
              <a:srgbClr val="76BC21"/>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质量指标</a:t>
            </a:r>
          </a:p>
        </p:txBody>
      </p:sp>
      <p:cxnSp>
        <p:nvCxnSpPr>
          <p:cNvPr id="30" name="直线箭头连接符 29"/>
          <p:cNvCxnSpPr>
            <a:stCxn id="4" idx="0"/>
            <a:endCxn id="7" idx="3"/>
          </p:cNvCxnSpPr>
          <p:nvPr/>
        </p:nvCxnSpPr>
        <p:spPr>
          <a:xfrm flipH="1" flipV="1">
            <a:off x="5524500" y="1581150"/>
            <a:ext cx="571500" cy="1047750"/>
          </a:xfrm>
          <a:prstGeom prst="straightConnector1">
            <a:avLst/>
          </a:prstGeom>
          <a:ln w="10478">
            <a:solidFill>
              <a:srgbClr val="94A9B0"/>
            </a:solidFill>
            <a:prstDash val="solid"/>
          </a:ln>
        </p:spPr>
      </p:cxnSp>
      <p:sp>
        <p:nvSpPr>
          <p:cNvPr id="9" name="圆角矩形 8">
            <a:extLst>
              <a:ext uri="{FF2B5EF4-FFF2-40B4-BE49-F238E27FC236}">
                <a16:creationId xmlns:a16="http://schemas.microsoft.com/office/drawing/2014/main" id="{1270EAAF-FB87-40C0-BB76-4DC6E409B6EA}"/>
              </a:ext>
            </a:extLst>
          </p:cNvPr>
          <p:cNvSpPr>
            <a:spLocks noGrp="1"/>
          </p:cNvSpPr>
          <p:nvPr/>
        </p:nvSpPr>
        <p:spPr>
          <a:xfrm>
            <a:off x="7143750" y="1352550"/>
            <a:ext cx="1524000" cy="457200"/>
          </a:xfrm>
          <a:prstGeom prst="roundRect">
            <a:avLst>
              <a:gd name="adj" fmla="val 12500"/>
            </a:avLst>
          </a:prstGeom>
          <a:solidFill>
            <a:srgbClr val="FFFFFF"/>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技术参数</a:t>
            </a:r>
          </a:p>
        </p:txBody>
      </p:sp>
      <p:cxnSp>
        <p:nvCxnSpPr>
          <p:cNvPr id="32" name="直线箭头连接符 31"/>
          <p:cNvCxnSpPr>
            <a:stCxn id="4" idx="3"/>
            <a:endCxn id="9" idx="1"/>
          </p:cNvCxnSpPr>
          <p:nvPr/>
        </p:nvCxnSpPr>
        <p:spPr>
          <a:xfrm flipV="1">
            <a:off x="7096125" y="1581150"/>
            <a:ext cx="47625" cy="1466850"/>
          </a:xfrm>
          <a:prstGeom prst="straightConnector1">
            <a:avLst/>
          </a:prstGeom>
          <a:ln w="10478">
            <a:solidFill>
              <a:srgbClr val="94A9B0"/>
            </a:solidFill>
            <a:prstDash val="solid"/>
          </a:ln>
        </p:spPr>
      </p:cxnSp>
      <p:sp>
        <p:nvSpPr>
          <p:cNvPr id="11" name="圆角矩形 10">
            <a:extLst>
              <a:ext uri="{FF2B5EF4-FFF2-40B4-BE49-F238E27FC236}">
                <a16:creationId xmlns:a16="http://schemas.microsoft.com/office/drawing/2014/main" id="{F67B683E-5CC7-45C7-AF58-63E0D5BE1CC6}"/>
              </a:ext>
            </a:extLst>
          </p:cNvPr>
          <p:cNvSpPr>
            <a:spLocks noGrp="1"/>
          </p:cNvSpPr>
          <p:nvPr/>
        </p:nvSpPr>
        <p:spPr>
          <a:xfrm>
            <a:off x="9620250" y="1524000"/>
            <a:ext cx="1524000" cy="457200"/>
          </a:xfrm>
          <a:prstGeom prst="roundRect">
            <a:avLst>
              <a:gd name="adj" fmla="val 12500"/>
            </a:avLst>
          </a:prstGeom>
          <a:solidFill>
            <a:srgbClr val="FFFFFF"/>
          </a:solidFill>
          <a:ln w="14288">
            <a:solidFill>
              <a:srgbClr val="76BC21"/>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产品状态</a:t>
            </a:r>
          </a:p>
        </p:txBody>
      </p:sp>
      <p:cxnSp>
        <p:nvCxnSpPr>
          <p:cNvPr id="34" name="直线箭头连接符 33"/>
          <p:cNvCxnSpPr>
            <a:stCxn id="4" idx="3"/>
            <a:endCxn id="11" idx="1"/>
          </p:cNvCxnSpPr>
          <p:nvPr/>
        </p:nvCxnSpPr>
        <p:spPr>
          <a:xfrm flipV="1">
            <a:off x="7096125" y="1752600"/>
            <a:ext cx="2524125" cy="1295400"/>
          </a:xfrm>
          <a:prstGeom prst="straightConnector1">
            <a:avLst/>
          </a:prstGeom>
          <a:ln w="10478">
            <a:solidFill>
              <a:srgbClr val="94A9B0"/>
            </a:solidFill>
            <a:prstDash val="solid"/>
          </a:ln>
        </p:spPr>
      </p:cxnSp>
      <p:sp>
        <p:nvSpPr>
          <p:cNvPr id="13" name="圆角矩形 12">
            <a:extLst>
              <a:ext uri="{FF2B5EF4-FFF2-40B4-BE49-F238E27FC236}">
                <a16:creationId xmlns:a16="http://schemas.microsoft.com/office/drawing/2014/main" id="{D84DBB51-99D9-4550-BF84-DBF1CFB79A31}"/>
              </a:ext>
            </a:extLst>
          </p:cNvPr>
          <p:cNvSpPr>
            <a:spLocks noGrp="1"/>
          </p:cNvSpPr>
          <p:nvPr/>
        </p:nvSpPr>
        <p:spPr>
          <a:xfrm>
            <a:off x="1733550" y="4286250"/>
            <a:ext cx="1524000" cy="457200"/>
          </a:xfrm>
          <a:prstGeom prst="roundRect">
            <a:avLst>
              <a:gd name="adj" fmla="val 12500"/>
            </a:avLst>
          </a:prstGeom>
          <a:solidFill>
            <a:srgbClr val="FFFFFF"/>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生产进度</a:t>
            </a:r>
          </a:p>
        </p:txBody>
      </p:sp>
      <p:cxnSp>
        <p:nvCxnSpPr>
          <p:cNvPr id="36" name="直线箭头连接符 35"/>
          <p:cNvCxnSpPr>
            <a:stCxn id="4" idx="1"/>
            <a:endCxn id="13" idx="3"/>
          </p:cNvCxnSpPr>
          <p:nvPr/>
        </p:nvCxnSpPr>
        <p:spPr>
          <a:xfrm flipH="1">
            <a:off x="3257550" y="3048000"/>
            <a:ext cx="1838325" cy="1466850"/>
          </a:xfrm>
          <a:prstGeom prst="straightConnector1">
            <a:avLst/>
          </a:prstGeom>
          <a:ln w="10478">
            <a:solidFill>
              <a:srgbClr val="94A9B0"/>
            </a:solidFill>
            <a:prstDash val="solid"/>
          </a:ln>
        </p:spPr>
      </p:cxnSp>
      <p:sp>
        <p:nvSpPr>
          <p:cNvPr id="15" name="圆角矩形 14">
            <a:extLst>
              <a:ext uri="{FF2B5EF4-FFF2-40B4-BE49-F238E27FC236}">
                <a16:creationId xmlns:a16="http://schemas.microsoft.com/office/drawing/2014/main" id="{47F2A08E-BCBB-454E-8687-0694BDFDDB9B}"/>
              </a:ext>
            </a:extLst>
          </p:cNvPr>
          <p:cNvSpPr>
            <a:spLocks noGrp="1"/>
          </p:cNvSpPr>
          <p:nvPr/>
        </p:nvSpPr>
        <p:spPr>
          <a:xfrm>
            <a:off x="5257800" y="4762500"/>
            <a:ext cx="1524000" cy="457200"/>
          </a:xfrm>
          <a:prstGeom prst="roundRect">
            <a:avLst>
              <a:gd name="adj" fmla="val 12500"/>
            </a:avLst>
          </a:prstGeom>
          <a:solidFill>
            <a:srgbClr val="FFFFFF"/>
          </a:solidFill>
          <a:ln w="14288">
            <a:solidFill>
              <a:srgbClr val="76BC21"/>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节拍 CT</a:t>
            </a:r>
          </a:p>
        </p:txBody>
      </p:sp>
      <p:cxnSp>
        <p:nvCxnSpPr>
          <p:cNvPr id="38" name="直线箭头连接符 37"/>
          <p:cNvCxnSpPr>
            <a:stCxn id="4" idx="2"/>
            <a:endCxn id="15" idx="0"/>
          </p:cNvCxnSpPr>
          <p:nvPr/>
        </p:nvCxnSpPr>
        <p:spPr>
          <a:xfrm flipH="1">
            <a:off x="6019800" y="3467100"/>
            <a:ext cx="76200" cy="1295400"/>
          </a:xfrm>
          <a:prstGeom prst="straightConnector1">
            <a:avLst/>
          </a:prstGeom>
          <a:ln w="10478">
            <a:solidFill>
              <a:srgbClr val="94A9B0"/>
            </a:solidFill>
            <a:prstDash val="solid"/>
          </a:ln>
        </p:spPr>
      </p:cxnSp>
      <p:sp>
        <p:nvSpPr>
          <p:cNvPr id="17" name="圆角矩形 16">
            <a:extLst>
              <a:ext uri="{FF2B5EF4-FFF2-40B4-BE49-F238E27FC236}">
                <a16:creationId xmlns:a16="http://schemas.microsoft.com/office/drawing/2014/main" id="{F00FF243-EC81-4583-A2FB-17370B77F092}"/>
              </a:ext>
            </a:extLst>
          </p:cNvPr>
          <p:cNvSpPr>
            <a:spLocks noGrp="1"/>
          </p:cNvSpPr>
          <p:nvPr/>
        </p:nvSpPr>
        <p:spPr>
          <a:xfrm>
            <a:off x="8620125" y="4286250"/>
            <a:ext cx="1524000" cy="457200"/>
          </a:xfrm>
          <a:prstGeom prst="roundRect">
            <a:avLst>
              <a:gd name="adj" fmla="val 12500"/>
            </a:avLst>
          </a:prstGeom>
          <a:solidFill>
            <a:srgbClr val="FFFFFF"/>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Performance Rate</a:t>
            </a:r>
          </a:p>
        </p:txBody>
      </p:sp>
      <p:cxnSp>
        <p:nvCxnSpPr>
          <p:cNvPr id="40" name="直线箭头连接符 39"/>
          <p:cNvCxnSpPr>
            <a:stCxn id="4" idx="3"/>
            <a:endCxn id="17" idx="1"/>
          </p:cNvCxnSpPr>
          <p:nvPr/>
        </p:nvCxnSpPr>
        <p:spPr>
          <a:xfrm>
            <a:off x="7096125" y="3048000"/>
            <a:ext cx="1524000" cy="1466850"/>
          </a:xfrm>
          <a:prstGeom prst="straightConnector1">
            <a:avLst/>
          </a:prstGeom>
          <a:ln w="10478">
            <a:solidFill>
              <a:srgbClr val="94A9B0"/>
            </a:solidFill>
            <a:prstDash val="solid"/>
          </a:ln>
        </p:spPr>
      </p:cxnSp>
      <p:sp>
        <p:nvSpPr>
          <p:cNvPr id="19" name="矩形 18">
            <a:extLst>
              <a:ext uri="{FF2B5EF4-FFF2-40B4-BE49-F238E27FC236}">
                <a16:creationId xmlns:a16="http://schemas.microsoft.com/office/drawing/2014/main" id="{7F69587B-5270-4F90-89B2-0F6313EDE766}"/>
              </a:ext>
            </a:extLst>
          </p:cNvPr>
          <p:cNvSpPr>
            <a:spLocks noGrp="1"/>
          </p:cNvSpPr>
          <p:nvPr/>
        </p:nvSpPr>
        <p:spPr>
          <a:xfrm>
            <a:off x="1428750" y="5772150"/>
            <a:ext cx="9334500" cy="361950"/>
          </a:xfrm>
          <a:prstGeom prst="rect">
            <a:avLst/>
          </a:prstGeom>
          <a:noFill/>
          <a:ln w="0">
            <a:noFill/>
            <a:prstDash val="solid"/>
          </a:ln>
        </p:spPr>
        <p:txBody>
          <a:bodyPr>
            <a:normAutofit/>
          </a:bodyPr>
          <a:lstStyle/>
          <a:p>
            <a:pPr algn="ctr">
              <a:defRPr sz="1500" b="0">
                <a:solidFill>
                  <a:srgbClr val="53626B"/>
                </a:solidFill>
                <a:latin typeface="Songti SC"/>
                <a:ea typeface="Songti SC"/>
                <a:cs typeface="Songti SC"/>
              </a:defRPr>
            </a:pPr>
            <a:r>
              <a:rPr sz="1500" b="0">
                <a:solidFill>
                  <a:srgbClr val="53626B"/>
                </a:solidFill>
                <a:latin typeface="Songti SC"/>
                <a:ea typeface="Songti SC"/>
                <a:cs typeface="Songti SC"/>
              </a:rPr>
              <a:t>阶段二已经接近数字孪生。前提不是 3D 展示，而是过程状态可投影、偏差可判断、动作可回写。</a:t>
            </a:r>
          </a:p>
        </p:txBody>
      </p:sp>
      <p:sp>
        <p:nvSpPr>
          <p:cNvPr id="20" name="矩形 19">
            <a:extLst>
              <a:ext uri="{FF2B5EF4-FFF2-40B4-BE49-F238E27FC236}">
                <a16:creationId xmlns:a16="http://schemas.microsoft.com/office/drawing/2014/main" id="{C4208EE2-FAA0-4C8A-9BCF-6B72C015B083}"/>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21" name="矩形 20">
            <a:extLst>
              <a:ext uri="{FF2B5EF4-FFF2-40B4-BE49-F238E27FC236}">
                <a16:creationId xmlns:a16="http://schemas.microsoft.com/office/drawing/2014/main" id="{94E2921F-09F8-4F2A-8698-2077DD4AC1C3}"/>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22" name="矩形 21">
            <a:extLst>
              <a:ext uri="{FF2B5EF4-FFF2-40B4-BE49-F238E27FC236}">
                <a16:creationId xmlns:a16="http://schemas.microsoft.com/office/drawing/2014/main" id="{FA6AA298-5271-4AA6-B251-38596F054E2B}"/>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现场穿插：价值流画板</a:t>
            </a:r>
          </a:p>
        </p:txBody>
      </p:sp>
    </p:spTree>
    <p:extLst>
      <p:ext uri="{BB962C8B-B14F-4D97-AF65-F5344CB8AC3E}">
        <p14:creationId xmlns:p14="http://schemas.microsoft.com/office/powerpoint/2010/main" val="58111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F39334AA-DE92-453A-9743-6D4E8350A067}"/>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数据采集的三类目的</a:t>
            </a:r>
          </a:p>
        </p:txBody>
      </p:sp>
      <p:sp>
        <p:nvSpPr>
          <p:cNvPr id="2" name="直线连接符 1">
            <a:extLst>
              <a:ext uri="{FF2B5EF4-FFF2-40B4-BE49-F238E27FC236}">
                <a16:creationId xmlns:a16="http://schemas.microsoft.com/office/drawing/2014/main" id="{1B6AC58D-B2D7-49B9-A8BD-5CFACE185560}"/>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BFA239F8-CDC1-44D3-8280-E98CCDEE3A6C}"/>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07</a:t>
            </a:r>
          </a:p>
        </p:txBody>
      </p:sp>
      <p:sp>
        <p:nvSpPr>
          <p:cNvPr id="4" name="圆角矩形 3">
            <a:extLst>
              <a:ext uri="{FF2B5EF4-FFF2-40B4-BE49-F238E27FC236}">
                <a16:creationId xmlns:a16="http://schemas.microsoft.com/office/drawing/2014/main" id="{73B6B279-C7BE-458D-B683-7F172D478247}"/>
              </a:ext>
            </a:extLst>
          </p:cNvPr>
          <p:cNvSpPr>
            <a:spLocks noGrp="1"/>
          </p:cNvSpPr>
          <p:nvPr/>
        </p:nvSpPr>
        <p:spPr>
          <a:xfrm>
            <a:off x="819150" y="1714500"/>
            <a:ext cx="3048000" cy="514350"/>
          </a:xfrm>
          <a:prstGeom prst="roundRect">
            <a:avLst>
              <a:gd name="adj" fmla="val 11111"/>
            </a:avLst>
          </a:prstGeom>
          <a:solidFill>
            <a:srgbClr val="E9F6FB"/>
          </a:solidFill>
          <a:ln w="14288">
            <a:solidFill>
              <a:srgbClr val="23A8D8"/>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状态异常与质量指标</a:t>
            </a:r>
          </a:p>
        </p:txBody>
      </p:sp>
      <p:sp>
        <p:nvSpPr>
          <p:cNvPr id="5" name="圆角矩形 4">
            <a:extLst>
              <a:ext uri="{FF2B5EF4-FFF2-40B4-BE49-F238E27FC236}">
                <a16:creationId xmlns:a16="http://schemas.microsoft.com/office/drawing/2014/main" id="{41AD08AB-9966-4D02-B281-A1AFCC3BA276}"/>
              </a:ext>
            </a:extLst>
          </p:cNvPr>
          <p:cNvSpPr>
            <a:spLocks noGrp="1"/>
          </p:cNvSpPr>
          <p:nvPr/>
        </p:nvSpPr>
        <p:spPr>
          <a:xfrm>
            <a:off x="819150" y="2400300"/>
            <a:ext cx="3048000" cy="1809750"/>
          </a:xfrm>
          <a:prstGeom prst="roundRect">
            <a:avLst>
              <a:gd name="adj" fmla="val 315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异常出现时触发停线、人工确认、曲线跟踪和质量风险反馈。</a:t>
            </a:r>
          </a:p>
        </p:txBody>
      </p:sp>
      <p:sp>
        <p:nvSpPr>
          <p:cNvPr id="6" name="圆角矩形 5">
            <a:extLst>
              <a:ext uri="{FF2B5EF4-FFF2-40B4-BE49-F238E27FC236}">
                <a16:creationId xmlns:a16="http://schemas.microsoft.com/office/drawing/2014/main" id="{FAAC1D41-8FE8-4ECA-B716-0981E84B9417}"/>
              </a:ext>
            </a:extLst>
          </p:cNvPr>
          <p:cNvSpPr>
            <a:spLocks noGrp="1"/>
          </p:cNvSpPr>
          <p:nvPr/>
        </p:nvSpPr>
        <p:spPr>
          <a:xfrm>
            <a:off x="4533900" y="1714500"/>
            <a:ext cx="3048000" cy="514350"/>
          </a:xfrm>
          <a:prstGeom prst="roundRect">
            <a:avLst>
              <a:gd name="adj" fmla="val 11111"/>
            </a:avLst>
          </a:prstGeom>
          <a:solidFill>
            <a:srgbClr val="F0F8E8"/>
          </a:solidFill>
          <a:ln w="14288">
            <a:solidFill>
              <a:srgbClr val="76BC21"/>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技术参数与经验值</a:t>
            </a:r>
          </a:p>
        </p:txBody>
      </p:sp>
      <p:sp>
        <p:nvSpPr>
          <p:cNvPr id="7" name="圆角矩形 6">
            <a:extLst>
              <a:ext uri="{FF2B5EF4-FFF2-40B4-BE49-F238E27FC236}">
                <a16:creationId xmlns:a16="http://schemas.microsoft.com/office/drawing/2014/main" id="{FFD0B638-92E3-467C-89F8-2C4F2E443BA3}"/>
              </a:ext>
            </a:extLst>
          </p:cNvPr>
          <p:cNvSpPr>
            <a:spLocks noGrp="1"/>
          </p:cNvSpPr>
          <p:nvPr/>
        </p:nvSpPr>
        <p:spPr>
          <a:xfrm>
            <a:off x="4533900" y="2400300"/>
            <a:ext cx="3048000" cy="1809750"/>
          </a:xfrm>
          <a:prstGeom prst="roundRect">
            <a:avLst>
              <a:gd name="adj" fmla="val 315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对照产品状态变化，沉淀有效参数，服务产品开发和工艺设定。</a:t>
            </a:r>
          </a:p>
        </p:txBody>
      </p:sp>
      <p:sp>
        <p:nvSpPr>
          <p:cNvPr id="8" name="圆角矩形 7">
            <a:extLst>
              <a:ext uri="{FF2B5EF4-FFF2-40B4-BE49-F238E27FC236}">
                <a16:creationId xmlns:a16="http://schemas.microsoft.com/office/drawing/2014/main" id="{74FC22A3-4F24-4EFB-BA72-CE3E150E2CE6}"/>
              </a:ext>
            </a:extLst>
          </p:cNvPr>
          <p:cNvSpPr>
            <a:spLocks noGrp="1"/>
          </p:cNvSpPr>
          <p:nvPr/>
        </p:nvSpPr>
        <p:spPr>
          <a:xfrm>
            <a:off x="8248650" y="1714500"/>
            <a:ext cx="3048000" cy="514350"/>
          </a:xfrm>
          <a:prstGeom prst="roundRect">
            <a:avLst>
              <a:gd name="adj" fmla="val 11111"/>
            </a:avLst>
          </a:prstGeom>
          <a:solidFill>
            <a:srgbClr val="E9F6FB"/>
          </a:solidFill>
          <a:ln w="14288">
            <a:solidFill>
              <a:srgbClr val="23A8D8"/>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生产进度跟踪</a:t>
            </a:r>
          </a:p>
        </p:txBody>
      </p:sp>
      <p:sp>
        <p:nvSpPr>
          <p:cNvPr id="9" name="圆角矩形 8">
            <a:extLst>
              <a:ext uri="{FF2B5EF4-FFF2-40B4-BE49-F238E27FC236}">
                <a16:creationId xmlns:a16="http://schemas.microsoft.com/office/drawing/2014/main" id="{E2597CC6-4874-42BB-AEE4-7416F402EE22}"/>
              </a:ext>
            </a:extLst>
          </p:cNvPr>
          <p:cNvSpPr>
            <a:spLocks noGrp="1"/>
          </p:cNvSpPr>
          <p:nvPr/>
        </p:nvSpPr>
        <p:spPr>
          <a:xfrm>
            <a:off x="8248650" y="2400300"/>
            <a:ext cx="3048000" cy="1809750"/>
          </a:xfrm>
          <a:prstGeom prst="roundRect">
            <a:avLst>
              <a:gd name="adj" fmla="val 315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识别工序衔接偏差，触发短周期 replan，减少等待和堆积。</a:t>
            </a:r>
          </a:p>
        </p:txBody>
      </p:sp>
      <p:sp>
        <p:nvSpPr>
          <p:cNvPr id="10" name="矩形 9">
            <a:extLst>
              <a:ext uri="{FF2B5EF4-FFF2-40B4-BE49-F238E27FC236}">
                <a16:creationId xmlns:a16="http://schemas.microsoft.com/office/drawing/2014/main" id="{E28CEEFB-CB46-4AB1-A3F0-9CD215B909D0}"/>
              </a:ext>
            </a:extLst>
          </p:cNvPr>
          <p:cNvSpPr>
            <a:spLocks noGrp="1"/>
          </p:cNvSpPr>
          <p:nvPr/>
        </p:nvSpPr>
        <p:spPr>
          <a:xfrm>
            <a:off x="1809750" y="4972050"/>
            <a:ext cx="8572500" cy="381000"/>
          </a:xfrm>
          <a:prstGeom prst="rect">
            <a:avLst/>
          </a:prstGeom>
          <a:noFill/>
          <a:ln w="0">
            <a:noFill/>
            <a:prstDash val="solid"/>
          </a:ln>
        </p:spPr>
        <p:txBody>
          <a:bodyPr>
            <a:normAutofit/>
          </a:bodyPr>
          <a:lstStyle/>
          <a:p>
            <a:pPr algn="ctr">
              <a:defRPr sz="1650" b="0">
                <a:solidFill>
                  <a:srgbClr val="53626B"/>
                </a:solidFill>
                <a:latin typeface="Songti SC"/>
                <a:ea typeface="Songti SC"/>
                <a:cs typeface="Songti SC"/>
              </a:defRPr>
            </a:pPr>
            <a:r>
              <a:rPr sz="1650" b="0">
                <a:solidFill>
                  <a:srgbClr val="53626B"/>
                </a:solidFill>
                <a:latin typeface="Songti SC"/>
                <a:ea typeface="Songti SC"/>
                <a:cs typeface="Songti SC"/>
              </a:rPr>
              <a:t>三类目的的差异，决定了采集范围、采集手段和建设顺序。</a:t>
            </a:r>
          </a:p>
        </p:txBody>
      </p:sp>
      <p:sp>
        <p:nvSpPr>
          <p:cNvPr id="11" name="矩形 10">
            <a:extLst>
              <a:ext uri="{FF2B5EF4-FFF2-40B4-BE49-F238E27FC236}">
                <a16:creationId xmlns:a16="http://schemas.microsoft.com/office/drawing/2014/main" id="{8196D27D-5A5C-4BAD-9FF8-5073686836F3}"/>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2" name="矩形 11">
            <a:extLst>
              <a:ext uri="{FF2B5EF4-FFF2-40B4-BE49-F238E27FC236}">
                <a16:creationId xmlns:a16="http://schemas.microsoft.com/office/drawing/2014/main" id="{3F1A8C5B-5992-4A10-9D48-76416C8F60FA}"/>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13" name="矩形 12">
            <a:extLst>
              <a:ext uri="{FF2B5EF4-FFF2-40B4-BE49-F238E27FC236}">
                <a16:creationId xmlns:a16="http://schemas.microsoft.com/office/drawing/2014/main" id="{5B4CFB38-44E9-4B5B-9263-736732294184}"/>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现场穿插：价值流画板</a:t>
            </a:r>
          </a:p>
        </p:txBody>
      </p:sp>
    </p:spTree>
    <p:extLst>
      <p:ext uri="{BB962C8B-B14F-4D97-AF65-F5344CB8AC3E}">
        <p14:creationId xmlns:p14="http://schemas.microsoft.com/office/powerpoint/2010/main" val="1431553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6F906CF-69A4-4B8D-A4E4-74089187003F}"/>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三类目的的价值差异</a:t>
            </a:r>
          </a:p>
        </p:txBody>
      </p:sp>
      <p:sp>
        <p:nvSpPr>
          <p:cNvPr id="2" name="直线连接符 1">
            <a:extLst>
              <a:ext uri="{FF2B5EF4-FFF2-40B4-BE49-F238E27FC236}">
                <a16:creationId xmlns:a16="http://schemas.microsoft.com/office/drawing/2014/main" id="{A20EACE9-C5D5-46B7-9B39-243E0D98AAE2}"/>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271B5029-2CAE-421F-B317-CDD8FE74460F}"/>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08</a:t>
            </a:r>
          </a:p>
        </p:txBody>
      </p:sp>
      <p:graphicFrame>
        <p:nvGraphicFramePr>
          <p:cNvPr id="10" name="表格 9"/>
          <p:cNvGraphicFramePr/>
          <p:nvPr>
            <p:extLst>
              <p:ext uri="{D42A27DB-BD31-4B8C-83A1-F6EECF244321}">
                <p14:modId xmlns:p14="http://schemas.microsoft.com/office/powerpoint/2010/main" val="1320806666"/>
              </p:ext>
            </p:extLst>
          </p:nvPr>
        </p:nvGraphicFramePr>
        <p:xfrm>
          <a:off x="1333500" y="1428750"/>
          <a:ext cx="9525000" cy="3524250"/>
        </p:xfrm>
        <a:graphic>
          <a:graphicData uri="http://schemas.openxmlformats.org/drawingml/2006/table">
            <a:tbl>
              <a:tblPr/>
              <a:tblGrid>
                <a:gridCol w="2886364">
                  <a:extLst>
                    <a:ext uri="{9D8B030D-6E8A-4147-A177-3AD203B41FA5}">
                      <a16:colId xmlns:a16="http://schemas.microsoft.com/office/drawing/2014/main" val="20000"/>
                    </a:ext>
                  </a:extLst>
                </a:gridCol>
                <a:gridCol w="6638636">
                  <a:extLst>
                    <a:ext uri="{9D8B030D-6E8A-4147-A177-3AD203B41FA5}">
                      <a16:colId xmlns:a16="http://schemas.microsoft.com/office/drawing/2014/main" val="20001"/>
                    </a:ext>
                  </a:extLst>
                </a:gridCol>
              </a:tblGrid>
              <a:tr h="704850">
                <a:tc>
                  <a:txBody>
                    <a:bodyPr/>
                    <a:lstStyle/>
                    <a:p>
                      <a:r>
                        <a:rPr sz="1350" b="1">
                          <a:solidFill>
                            <a:srgbClr val="1F2A33"/>
                          </a:solidFill>
                          <a:latin typeface="Songti SC"/>
                          <a:ea typeface="Songti SC"/>
                          <a:cs typeface="Songti SC"/>
                        </a:rPr>
                        <a:t>数据目的</a:t>
                      </a:r>
                    </a:p>
                  </a:txBody>
                  <a:tcPr>
                    <a:solidFill>
                      <a:srgbClr val="F0F8E8"/>
                    </a:solidFill>
                  </a:tcPr>
                </a:tc>
                <a:tc>
                  <a:txBody>
                    <a:bodyPr/>
                    <a:lstStyle/>
                    <a:p>
                      <a:r>
                        <a:rPr sz="1350" b="1">
                          <a:solidFill>
                            <a:srgbClr val="1F2A33"/>
                          </a:solidFill>
                          <a:latin typeface="Songti SC"/>
                          <a:ea typeface="Songti SC"/>
                          <a:cs typeface="Songti SC"/>
                        </a:rPr>
                        <a:t>价值判断</a:t>
                      </a:r>
                    </a:p>
                  </a:txBody>
                  <a:tcPr>
                    <a:solidFill>
                      <a:srgbClr val="F0F8E8"/>
                    </a:solidFill>
                  </a:tcPr>
                </a:tc>
                <a:extLst>
                  <a:ext uri="{0D108BD9-81ED-4DB2-BD59-A6C34878D82A}">
                    <a16:rowId xmlns:a16="http://schemas.microsoft.com/office/drawing/2014/main" val="10000"/>
                  </a:ext>
                </a:extLst>
              </a:tr>
              <a:tr h="704850">
                <a:tc>
                  <a:txBody>
                    <a:bodyPr/>
                    <a:lstStyle/>
                    <a:p>
                      <a:r>
                        <a:rPr sz="1275">
                          <a:solidFill>
                            <a:srgbClr val="1F2A33"/>
                          </a:solidFill>
                          <a:latin typeface="Songti SC"/>
                          <a:ea typeface="Songti SC"/>
                          <a:cs typeface="Songti SC"/>
                        </a:rPr>
                        <a:t>状态异常与质量指标</a:t>
                      </a:r>
                    </a:p>
                  </a:txBody>
                  <a:tcPr>
                    <a:solidFill>
                      <a:srgbClr val="FFFFFF"/>
                    </a:solidFill>
                  </a:tcPr>
                </a:tc>
                <a:tc>
                  <a:txBody>
                    <a:bodyPr/>
                    <a:lstStyle/>
                    <a:p>
                      <a:r>
                        <a:rPr sz="1275" dirty="0" err="1">
                          <a:solidFill>
                            <a:srgbClr val="1F2A33"/>
                          </a:solidFill>
                          <a:latin typeface="Songti SC"/>
                          <a:ea typeface="Songti SC"/>
                          <a:cs typeface="Songti SC"/>
                        </a:rPr>
                        <a:t>减少质量报废率，但可能让价值环节停顿</a:t>
                      </a:r>
                      <a:r>
                        <a:rPr sz="1275" dirty="0">
                          <a:solidFill>
                            <a:srgbClr val="1F2A33"/>
                          </a:solidFill>
                          <a:latin typeface="Songti SC"/>
                          <a:ea typeface="Songti SC"/>
                          <a:cs typeface="Songti SC"/>
                        </a:rPr>
                        <a:t>，</a:t>
                      </a:r>
                      <a:r>
                        <a:rPr lang="zh-CN" altLang="en-US" sz="1275" dirty="0">
                          <a:solidFill>
                            <a:srgbClr val="1F2A33"/>
                          </a:solidFill>
                          <a:latin typeface="Songti SC"/>
                          <a:ea typeface="Songti SC"/>
                          <a:cs typeface="Songti SC"/>
                        </a:rPr>
                        <a:t>但</a:t>
                      </a:r>
                      <a:r>
                        <a:rPr sz="1275" dirty="0" err="1">
                          <a:solidFill>
                            <a:srgbClr val="1F2A33"/>
                          </a:solidFill>
                          <a:latin typeface="Songti SC"/>
                          <a:ea typeface="Songti SC"/>
                          <a:cs typeface="Songti SC"/>
                        </a:rPr>
                        <a:t>需要</a:t>
                      </a:r>
                      <a:r>
                        <a:rPr sz="1275" dirty="0">
                          <a:solidFill>
                            <a:srgbClr val="1F2A33"/>
                          </a:solidFill>
                          <a:latin typeface="Songti SC"/>
                          <a:ea typeface="Songti SC"/>
                          <a:cs typeface="Songti SC"/>
                        </a:rPr>
                        <a:t> 100% </a:t>
                      </a:r>
                      <a:r>
                        <a:rPr sz="1275" dirty="0" err="1">
                          <a:solidFill>
                            <a:srgbClr val="1F2A33"/>
                          </a:solidFill>
                          <a:latin typeface="Songti SC"/>
                          <a:ea typeface="Songti SC"/>
                          <a:cs typeface="Songti SC"/>
                        </a:rPr>
                        <a:t>检查和阈值设定</a:t>
                      </a:r>
                      <a:endParaRPr sz="1275" dirty="0">
                        <a:solidFill>
                          <a:srgbClr val="1F2A33"/>
                        </a:solidFill>
                        <a:latin typeface="Songti SC"/>
                        <a:ea typeface="Songti SC"/>
                        <a:cs typeface="Songti SC"/>
                      </a:endParaRPr>
                    </a:p>
                  </a:txBody>
                  <a:tcPr>
                    <a:solidFill>
                      <a:srgbClr val="FFFFFF"/>
                    </a:solidFill>
                  </a:tcPr>
                </a:tc>
                <a:extLst>
                  <a:ext uri="{0D108BD9-81ED-4DB2-BD59-A6C34878D82A}">
                    <a16:rowId xmlns:a16="http://schemas.microsoft.com/office/drawing/2014/main" val="10001"/>
                  </a:ext>
                </a:extLst>
              </a:tr>
              <a:tr h="704850">
                <a:tc>
                  <a:txBody>
                    <a:bodyPr/>
                    <a:lstStyle/>
                    <a:p>
                      <a:r>
                        <a:rPr sz="1275">
                          <a:solidFill>
                            <a:srgbClr val="1F2A33"/>
                          </a:solidFill>
                          <a:latin typeface="Songti SC"/>
                          <a:ea typeface="Songti SC"/>
                          <a:cs typeface="Songti SC"/>
                        </a:rPr>
                        <a:t>技术参数与经验值</a:t>
                      </a:r>
                    </a:p>
                  </a:txBody>
                  <a:tcPr>
                    <a:solidFill>
                      <a:srgbClr val="FFFFFF"/>
                    </a:solidFill>
                  </a:tcPr>
                </a:tc>
                <a:tc>
                  <a:txBody>
                    <a:bodyPr/>
                    <a:lstStyle/>
                    <a:p>
                      <a:r>
                        <a:rPr sz="1275" dirty="0" err="1">
                          <a:solidFill>
                            <a:srgbClr val="1F2A33"/>
                          </a:solidFill>
                          <a:latin typeface="Songti SC"/>
                          <a:ea typeface="Songti SC"/>
                          <a:cs typeface="Songti SC"/>
                        </a:rPr>
                        <a:t>通常不创造</a:t>
                      </a:r>
                      <a:r>
                        <a:rPr lang="zh-CN" altLang="en-US" sz="1275" dirty="0">
                          <a:solidFill>
                            <a:srgbClr val="1F2A33"/>
                          </a:solidFill>
                          <a:latin typeface="Songti SC"/>
                          <a:ea typeface="Songti SC"/>
                          <a:cs typeface="Songti SC"/>
                        </a:rPr>
                        <a:t>短期</a:t>
                      </a:r>
                      <a:r>
                        <a:rPr sz="1275" dirty="0" err="1">
                          <a:solidFill>
                            <a:srgbClr val="1F2A33"/>
                          </a:solidFill>
                          <a:latin typeface="Songti SC"/>
                          <a:ea typeface="Songti SC"/>
                          <a:cs typeface="Songti SC"/>
                        </a:rPr>
                        <a:t>收益，但长期支撑产品开发、工艺设定和</a:t>
                      </a:r>
                      <a:r>
                        <a:rPr sz="1275" dirty="0">
                          <a:solidFill>
                            <a:srgbClr val="1F2A33"/>
                          </a:solidFill>
                          <a:latin typeface="Songti SC"/>
                          <a:ea typeface="Songti SC"/>
                          <a:cs typeface="Songti SC"/>
                        </a:rPr>
                        <a:t> AI </a:t>
                      </a:r>
                      <a:r>
                        <a:rPr sz="1275" dirty="0" err="1">
                          <a:solidFill>
                            <a:srgbClr val="1F2A33"/>
                          </a:solidFill>
                          <a:latin typeface="Songti SC"/>
                          <a:ea typeface="Songti SC"/>
                          <a:cs typeface="Songti SC"/>
                        </a:rPr>
                        <a:t>参数过滤</a:t>
                      </a:r>
                      <a:endParaRPr sz="1275" dirty="0">
                        <a:solidFill>
                          <a:srgbClr val="1F2A33"/>
                        </a:solidFill>
                        <a:latin typeface="Songti SC"/>
                        <a:ea typeface="Songti SC"/>
                        <a:cs typeface="Songti SC"/>
                      </a:endParaRPr>
                    </a:p>
                  </a:txBody>
                  <a:tcPr>
                    <a:solidFill>
                      <a:srgbClr val="FFFFFF"/>
                    </a:solidFill>
                  </a:tcPr>
                </a:tc>
                <a:extLst>
                  <a:ext uri="{0D108BD9-81ED-4DB2-BD59-A6C34878D82A}">
                    <a16:rowId xmlns:a16="http://schemas.microsoft.com/office/drawing/2014/main" val="10002"/>
                  </a:ext>
                </a:extLst>
              </a:tr>
              <a:tr h="704850">
                <a:tc>
                  <a:txBody>
                    <a:bodyPr/>
                    <a:lstStyle/>
                    <a:p>
                      <a:r>
                        <a:rPr sz="1275">
                          <a:solidFill>
                            <a:srgbClr val="1F2A33"/>
                          </a:solidFill>
                          <a:latin typeface="Songti SC"/>
                          <a:ea typeface="Songti SC"/>
                          <a:cs typeface="Songti SC"/>
                        </a:rPr>
                        <a:t>生产进度跟踪</a:t>
                      </a:r>
                    </a:p>
                  </a:txBody>
                  <a:tcPr>
                    <a:solidFill>
                      <a:srgbClr val="FFFFFF"/>
                    </a:solidFill>
                  </a:tcPr>
                </a:tc>
                <a:tc>
                  <a:txBody>
                    <a:bodyPr/>
                    <a:lstStyle/>
                    <a:p>
                      <a:r>
                        <a:rPr sz="1275">
                          <a:solidFill>
                            <a:srgbClr val="1F2A33"/>
                          </a:solidFill>
                          <a:latin typeface="Songti SC"/>
                          <a:ea typeface="Songti SC"/>
                          <a:cs typeface="Songti SC"/>
                        </a:rPr>
                        <a:t>更接近即时运营价值，可抑制工序波动浪费，并尽量保持价值环节连续</a:t>
                      </a:r>
                    </a:p>
                  </a:txBody>
                  <a:tcPr>
                    <a:solidFill>
                      <a:srgbClr val="FFFFFF"/>
                    </a:solidFill>
                  </a:tcPr>
                </a:tc>
                <a:extLst>
                  <a:ext uri="{0D108BD9-81ED-4DB2-BD59-A6C34878D82A}">
                    <a16:rowId xmlns:a16="http://schemas.microsoft.com/office/drawing/2014/main" val="10003"/>
                  </a:ext>
                </a:extLst>
              </a:tr>
              <a:tr h="704850">
                <a:tc>
                  <a:txBody>
                    <a:bodyPr/>
                    <a:lstStyle/>
                    <a:p>
                      <a:r>
                        <a:rPr sz="1275">
                          <a:solidFill>
                            <a:srgbClr val="1F2A33"/>
                          </a:solidFill>
                          <a:latin typeface="Songti SC"/>
                          <a:ea typeface="Songti SC"/>
                          <a:cs typeface="Songti SC"/>
                        </a:rPr>
                        <a:t>共同前提</a:t>
                      </a:r>
                    </a:p>
                  </a:txBody>
                  <a:tcPr>
                    <a:solidFill>
                      <a:srgbClr val="FFFFFF"/>
                    </a:solidFill>
                  </a:tcPr>
                </a:tc>
                <a:tc>
                  <a:txBody>
                    <a:bodyPr/>
                    <a:lstStyle/>
                    <a:p>
                      <a:r>
                        <a:rPr sz="1275" dirty="0" err="1">
                          <a:solidFill>
                            <a:srgbClr val="1F2A33"/>
                          </a:solidFill>
                          <a:latin typeface="Songti SC"/>
                          <a:ea typeface="Songti SC"/>
                          <a:cs typeface="Songti SC"/>
                        </a:rPr>
                        <a:t>数据必须对应后续动作，否则只会增加采集成本和解释成本</a:t>
                      </a:r>
                      <a:endParaRPr sz="1275" dirty="0">
                        <a:solidFill>
                          <a:srgbClr val="1F2A33"/>
                        </a:solidFill>
                        <a:latin typeface="Songti SC"/>
                        <a:ea typeface="Songti SC"/>
                        <a:cs typeface="Songti SC"/>
                      </a:endParaRPr>
                    </a:p>
                  </a:txBody>
                  <a:tcPr>
                    <a:solidFill>
                      <a:srgbClr val="FFFFFF"/>
                    </a:solidFill>
                  </a:tcPr>
                </a:tc>
                <a:extLst>
                  <a:ext uri="{0D108BD9-81ED-4DB2-BD59-A6C34878D82A}">
                    <a16:rowId xmlns:a16="http://schemas.microsoft.com/office/drawing/2014/main" val="10004"/>
                  </a:ext>
                </a:extLst>
              </a:tr>
            </a:tbl>
          </a:graphicData>
        </a:graphic>
      </p:graphicFrame>
      <p:sp>
        <p:nvSpPr>
          <p:cNvPr id="5" name="矩形 4">
            <a:extLst>
              <a:ext uri="{FF2B5EF4-FFF2-40B4-BE49-F238E27FC236}">
                <a16:creationId xmlns:a16="http://schemas.microsoft.com/office/drawing/2014/main" id="{6BA1E9F4-A7AB-41B7-A76F-EE43D35B4E9F}"/>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6" name="矩形 5">
            <a:extLst>
              <a:ext uri="{FF2B5EF4-FFF2-40B4-BE49-F238E27FC236}">
                <a16:creationId xmlns:a16="http://schemas.microsoft.com/office/drawing/2014/main" id="{5E4DB0C3-0D57-4966-897C-37B9522B2BF9}"/>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Tree>
    <p:extLst>
      <p:ext uri="{BB962C8B-B14F-4D97-AF65-F5344CB8AC3E}">
        <p14:creationId xmlns:p14="http://schemas.microsoft.com/office/powerpoint/2010/main" val="59761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8D912274-9A5D-4505-8DA3-7EA4FF8B66A5}"/>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Planning 是动态数据的前提</a:t>
            </a:r>
          </a:p>
        </p:txBody>
      </p:sp>
      <p:sp>
        <p:nvSpPr>
          <p:cNvPr id="2" name="直线连接符 1">
            <a:extLst>
              <a:ext uri="{FF2B5EF4-FFF2-40B4-BE49-F238E27FC236}">
                <a16:creationId xmlns:a16="http://schemas.microsoft.com/office/drawing/2014/main" id="{6691A9C0-31BC-439D-81B1-2D8262CA27D8}"/>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EB83CFCE-FE57-4FD0-877F-043C1EB08063}"/>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09</a:t>
            </a:r>
          </a:p>
        </p:txBody>
      </p:sp>
      <p:sp>
        <p:nvSpPr>
          <p:cNvPr id="4" name="圆角矩形 3">
            <a:extLst>
              <a:ext uri="{FF2B5EF4-FFF2-40B4-BE49-F238E27FC236}">
                <a16:creationId xmlns:a16="http://schemas.microsoft.com/office/drawing/2014/main" id="{C91990D3-51E3-4DEF-AF4A-F2A34411EBB1}"/>
              </a:ext>
            </a:extLst>
          </p:cNvPr>
          <p:cNvSpPr>
            <a:spLocks noGrp="1"/>
          </p:cNvSpPr>
          <p:nvPr/>
        </p:nvSpPr>
        <p:spPr>
          <a:xfrm>
            <a:off x="762000" y="2428875"/>
            <a:ext cx="1333500" cy="552450"/>
          </a:xfrm>
          <a:prstGeom prst="roundRect">
            <a:avLst>
              <a:gd name="adj" fmla="val 10345"/>
            </a:avLst>
          </a:prstGeom>
          <a:solidFill>
            <a:srgbClr val="E9F6FB"/>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24H 计划</a:t>
            </a:r>
          </a:p>
        </p:txBody>
      </p:sp>
      <p:sp>
        <p:nvSpPr>
          <p:cNvPr id="5" name="圆角矩形 4">
            <a:extLst>
              <a:ext uri="{FF2B5EF4-FFF2-40B4-BE49-F238E27FC236}">
                <a16:creationId xmlns:a16="http://schemas.microsoft.com/office/drawing/2014/main" id="{9B15437F-AEA5-40DA-8C4A-26ADCF8E227D}"/>
              </a:ext>
            </a:extLst>
          </p:cNvPr>
          <p:cNvSpPr>
            <a:spLocks noGrp="1"/>
          </p:cNvSpPr>
          <p:nvPr/>
        </p:nvSpPr>
        <p:spPr>
          <a:xfrm>
            <a:off x="2571750" y="2428875"/>
            <a:ext cx="1333500" cy="552450"/>
          </a:xfrm>
          <a:prstGeom prst="roundRect">
            <a:avLst>
              <a:gd name="adj" fmla="val 10345"/>
            </a:avLst>
          </a:prstGeom>
          <a:solidFill>
            <a:srgbClr val="F0F8E8"/>
          </a:solidFill>
          <a:ln w="14288">
            <a:solidFill>
              <a:srgbClr val="76BC21"/>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现场数据</a:t>
            </a:r>
          </a:p>
        </p:txBody>
      </p:sp>
      <p:sp>
        <p:nvSpPr>
          <p:cNvPr id="6" name="圆角矩形 5">
            <a:extLst>
              <a:ext uri="{FF2B5EF4-FFF2-40B4-BE49-F238E27FC236}">
                <a16:creationId xmlns:a16="http://schemas.microsoft.com/office/drawing/2014/main" id="{DE03ADEB-8AE6-42C2-A44F-418227339454}"/>
              </a:ext>
            </a:extLst>
          </p:cNvPr>
          <p:cNvSpPr>
            <a:spLocks noGrp="1"/>
          </p:cNvSpPr>
          <p:nvPr/>
        </p:nvSpPr>
        <p:spPr>
          <a:xfrm>
            <a:off x="4381500" y="2428875"/>
            <a:ext cx="1333500" cy="552450"/>
          </a:xfrm>
          <a:prstGeom prst="roundRect">
            <a:avLst>
              <a:gd name="adj" fmla="val 10345"/>
            </a:avLst>
          </a:prstGeom>
          <a:solidFill>
            <a:srgbClr val="E9F6FB"/>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偏差判断</a:t>
            </a:r>
          </a:p>
        </p:txBody>
      </p:sp>
      <p:sp>
        <p:nvSpPr>
          <p:cNvPr id="7" name="圆角矩形 6">
            <a:extLst>
              <a:ext uri="{FF2B5EF4-FFF2-40B4-BE49-F238E27FC236}">
                <a16:creationId xmlns:a16="http://schemas.microsoft.com/office/drawing/2014/main" id="{CA014050-33AC-4F4A-AF10-A04D88DEAF3A}"/>
              </a:ext>
            </a:extLst>
          </p:cNvPr>
          <p:cNvSpPr>
            <a:spLocks noGrp="1"/>
          </p:cNvSpPr>
          <p:nvPr/>
        </p:nvSpPr>
        <p:spPr>
          <a:xfrm>
            <a:off x="6191250" y="2428875"/>
            <a:ext cx="1333500" cy="552450"/>
          </a:xfrm>
          <a:prstGeom prst="roundRect">
            <a:avLst>
              <a:gd name="adj" fmla="val 10345"/>
            </a:avLst>
          </a:prstGeom>
          <a:solidFill>
            <a:srgbClr val="F0F8E8"/>
          </a:solidFill>
          <a:ln w="14288">
            <a:solidFill>
              <a:srgbClr val="76BC21"/>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短周期 Replan</a:t>
            </a:r>
          </a:p>
        </p:txBody>
      </p:sp>
      <p:sp>
        <p:nvSpPr>
          <p:cNvPr id="8" name="圆角矩形 7">
            <a:extLst>
              <a:ext uri="{FF2B5EF4-FFF2-40B4-BE49-F238E27FC236}">
                <a16:creationId xmlns:a16="http://schemas.microsoft.com/office/drawing/2014/main" id="{006E4AD0-CDFB-430C-A609-0A2E09D74429}"/>
              </a:ext>
            </a:extLst>
          </p:cNvPr>
          <p:cNvSpPr>
            <a:spLocks noGrp="1"/>
          </p:cNvSpPr>
          <p:nvPr/>
        </p:nvSpPr>
        <p:spPr>
          <a:xfrm>
            <a:off x="8001000" y="2428875"/>
            <a:ext cx="1333500" cy="552450"/>
          </a:xfrm>
          <a:prstGeom prst="roundRect">
            <a:avLst>
              <a:gd name="adj" fmla="val 10345"/>
            </a:avLst>
          </a:prstGeom>
          <a:solidFill>
            <a:srgbClr val="E9F6FB"/>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物料拉动</a:t>
            </a:r>
          </a:p>
        </p:txBody>
      </p:sp>
      <p:sp>
        <p:nvSpPr>
          <p:cNvPr id="9" name="圆角矩形 8">
            <a:extLst>
              <a:ext uri="{FF2B5EF4-FFF2-40B4-BE49-F238E27FC236}">
                <a16:creationId xmlns:a16="http://schemas.microsoft.com/office/drawing/2014/main" id="{E7CA7843-F66C-4992-897E-2EADF9B63E16}"/>
              </a:ext>
            </a:extLst>
          </p:cNvPr>
          <p:cNvSpPr>
            <a:spLocks noGrp="1"/>
          </p:cNvSpPr>
          <p:nvPr/>
        </p:nvSpPr>
        <p:spPr>
          <a:xfrm>
            <a:off x="9810750" y="2428875"/>
            <a:ext cx="1333500" cy="552450"/>
          </a:xfrm>
          <a:prstGeom prst="roundRect">
            <a:avLst>
              <a:gd name="adj" fmla="val 10345"/>
            </a:avLst>
          </a:prstGeom>
          <a:solidFill>
            <a:srgbClr val="F0F8E8"/>
          </a:solidFill>
          <a:ln w="14288">
            <a:solidFill>
              <a:srgbClr val="76BC21"/>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执行反馈</a:t>
            </a:r>
          </a:p>
        </p:txBody>
      </p:sp>
      <p:cxnSp>
        <p:nvCxnSpPr>
          <p:cNvPr id="28" name="直线箭头连接符 27"/>
          <p:cNvCxnSpPr>
            <a:stCxn id="4" idx="3"/>
            <a:endCxn id="5" idx="1"/>
          </p:cNvCxnSpPr>
          <p:nvPr/>
        </p:nvCxnSpPr>
        <p:spPr>
          <a:xfrm>
            <a:off x="2095500" y="2705100"/>
            <a:ext cx="476250" cy="0"/>
          </a:xfrm>
          <a:prstGeom prst="straightConnector1">
            <a:avLst/>
          </a:prstGeom>
          <a:ln w="14288">
            <a:solidFill>
              <a:srgbClr val="8DA5AE"/>
            </a:solidFill>
            <a:prstDash val="solid"/>
            <a:headEnd type="triangle" w="sm" len="sm"/>
          </a:ln>
        </p:spPr>
      </p:cxnSp>
      <p:cxnSp>
        <p:nvCxnSpPr>
          <p:cNvPr id="29" name="直线箭头连接符 28"/>
          <p:cNvCxnSpPr>
            <a:stCxn id="5" idx="3"/>
            <a:endCxn id="6" idx="1"/>
          </p:cNvCxnSpPr>
          <p:nvPr/>
        </p:nvCxnSpPr>
        <p:spPr>
          <a:xfrm>
            <a:off x="3905250" y="2705100"/>
            <a:ext cx="476250" cy="0"/>
          </a:xfrm>
          <a:prstGeom prst="straightConnector1">
            <a:avLst/>
          </a:prstGeom>
          <a:ln w="14288">
            <a:solidFill>
              <a:srgbClr val="8DA5AE"/>
            </a:solidFill>
            <a:prstDash val="solid"/>
            <a:headEnd type="triangle" w="sm" len="sm"/>
          </a:ln>
        </p:spPr>
      </p:cxnSp>
      <p:cxnSp>
        <p:nvCxnSpPr>
          <p:cNvPr id="30" name="直线箭头连接符 29"/>
          <p:cNvCxnSpPr>
            <a:stCxn id="6" idx="3"/>
            <a:endCxn id="7" idx="1"/>
          </p:cNvCxnSpPr>
          <p:nvPr/>
        </p:nvCxnSpPr>
        <p:spPr>
          <a:xfrm>
            <a:off x="5715000" y="2705100"/>
            <a:ext cx="476250" cy="0"/>
          </a:xfrm>
          <a:prstGeom prst="straightConnector1">
            <a:avLst/>
          </a:prstGeom>
          <a:ln w="14288">
            <a:solidFill>
              <a:srgbClr val="8DA5AE"/>
            </a:solidFill>
            <a:prstDash val="solid"/>
            <a:headEnd type="triangle" w="sm" len="sm"/>
          </a:ln>
        </p:spPr>
      </p:cxnSp>
      <p:cxnSp>
        <p:nvCxnSpPr>
          <p:cNvPr id="31" name="直线箭头连接符 30"/>
          <p:cNvCxnSpPr>
            <a:stCxn id="7" idx="3"/>
            <a:endCxn id="8" idx="1"/>
          </p:cNvCxnSpPr>
          <p:nvPr/>
        </p:nvCxnSpPr>
        <p:spPr>
          <a:xfrm>
            <a:off x="7524750" y="2705100"/>
            <a:ext cx="476250" cy="0"/>
          </a:xfrm>
          <a:prstGeom prst="straightConnector1">
            <a:avLst/>
          </a:prstGeom>
          <a:ln w="14288">
            <a:solidFill>
              <a:srgbClr val="8DA5AE"/>
            </a:solidFill>
            <a:prstDash val="solid"/>
            <a:headEnd type="triangle" w="sm" len="sm"/>
          </a:ln>
        </p:spPr>
      </p:cxnSp>
      <p:cxnSp>
        <p:nvCxnSpPr>
          <p:cNvPr id="32" name="直线箭头连接符 31"/>
          <p:cNvCxnSpPr>
            <a:stCxn id="8" idx="3"/>
            <a:endCxn id="9" idx="1"/>
          </p:cNvCxnSpPr>
          <p:nvPr/>
        </p:nvCxnSpPr>
        <p:spPr>
          <a:xfrm>
            <a:off x="9334500" y="2705100"/>
            <a:ext cx="476250" cy="0"/>
          </a:xfrm>
          <a:prstGeom prst="straightConnector1">
            <a:avLst/>
          </a:prstGeom>
          <a:ln w="14288">
            <a:solidFill>
              <a:srgbClr val="8DA5AE"/>
            </a:solidFill>
            <a:prstDash val="solid"/>
            <a:headEnd type="triangle" w="sm" len="sm"/>
          </a:ln>
        </p:spPr>
      </p:cxnSp>
      <p:sp>
        <p:nvSpPr>
          <p:cNvPr id="15" name="矩形 14">
            <a:extLst>
              <a:ext uri="{FF2B5EF4-FFF2-40B4-BE49-F238E27FC236}">
                <a16:creationId xmlns:a16="http://schemas.microsoft.com/office/drawing/2014/main" id="{53FC7B73-D4FF-4270-B03F-8D75CF5AB101}"/>
              </a:ext>
            </a:extLst>
          </p:cNvPr>
          <p:cNvSpPr>
            <a:spLocks noGrp="1"/>
          </p:cNvSpPr>
          <p:nvPr/>
        </p:nvSpPr>
        <p:spPr>
          <a:xfrm>
            <a:off x="1600200" y="4095750"/>
            <a:ext cx="8991600" cy="666750"/>
          </a:xfrm>
          <a:prstGeom prst="rect">
            <a:avLst/>
          </a:prstGeom>
          <a:noFill/>
          <a:ln w="0">
            <a:noFill/>
            <a:prstDash val="solid"/>
          </a:ln>
        </p:spPr>
        <p:txBody>
          <a:bodyPr>
            <a:normAutofit fontScale="92500" lnSpcReduction="20000"/>
          </a:bodyPr>
          <a:lstStyle/>
          <a:p>
            <a:pPr algn="ctr">
              <a:defRPr sz="1650" b="0">
                <a:solidFill>
                  <a:srgbClr val="53626B"/>
                </a:solidFill>
                <a:latin typeface="Songti SC"/>
                <a:ea typeface="Songti SC"/>
                <a:cs typeface="Songti SC"/>
              </a:defRPr>
            </a:pPr>
            <a:r>
              <a:rPr sz="1650" b="0" dirty="0" err="1">
                <a:solidFill>
                  <a:srgbClr val="53626B"/>
                </a:solidFill>
                <a:latin typeface="Songti SC"/>
                <a:ea typeface="Songti SC"/>
                <a:cs typeface="Songti SC"/>
              </a:rPr>
              <a:t>没有计划基准，动态数据只能记录现场</a:t>
            </a:r>
            <a:r>
              <a:rPr sz="1650" b="0" dirty="0">
                <a:solidFill>
                  <a:srgbClr val="53626B"/>
                </a:solidFill>
                <a:latin typeface="Songti SC"/>
                <a:ea typeface="Songti SC"/>
                <a:cs typeface="Songti SC"/>
              </a:rPr>
              <a:t>。</a:t>
            </a:r>
            <a:endParaRPr lang="en-US" sz="1650" dirty="0">
              <a:solidFill>
                <a:srgbClr val="53626B"/>
              </a:solidFill>
              <a:latin typeface="Songti SC"/>
              <a:ea typeface="Songti SC"/>
              <a:cs typeface="Songti SC"/>
            </a:endParaRPr>
          </a:p>
          <a:p>
            <a:pPr algn="ctr">
              <a:defRPr sz="1650" b="0">
                <a:solidFill>
                  <a:srgbClr val="53626B"/>
                </a:solidFill>
                <a:latin typeface="Songti SC"/>
                <a:ea typeface="Songti SC"/>
                <a:cs typeface="Songti SC"/>
              </a:defRPr>
            </a:pPr>
            <a:endParaRPr lang="en-US" sz="1650" b="0" dirty="0">
              <a:solidFill>
                <a:srgbClr val="53626B"/>
              </a:solidFill>
              <a:latin typeface="Songti SC"/>
              <a:ea typeface="Songti SC"/>
              <a:cs typeface="Songti SC"/>
            </a:endParaRPr>
          </a:p>
          <a:p>
            <a:pPr algn="ctr">
              <a:defRPr sz="1650" b="0">
                <a:solidFill>
                  <a:srgbClr val="53626B"/>
                </a:solidFill>
                <a:latin typeface="Songti SC"/>
                <a:ea typeface="Songti SC"/>
                <a:cs typeface="Songti SC"/>
              </a:defRPr>
            </a:pPr>
            <a:r>
              <a:rPr sz="1650" b="0" dirty="0" err="1">
                <a:solidFill>
                  <a:srgbClr val="53626B"/>
                </a:solidFill>
                <a:latin typeface="Songti SC"/>
                <a:ea typeface="Songti SC"/>
                <a:cs typeface="Songti SC"/>
              </a:rPr>
              <a:t>有计划基准，数据才能判断偏差，并触发调整</a:t>
            </a:r>
            <a:r>
              <a:rPr sz="1650" b="0" dirty="0">
                <a:solidFill>
                  <a:srgbClr val="53626B"/>
                </a:solidFill>
                <a:latin typeface="Songti SC"/>
                <a:ea typeface="Songti SC"/>
                <a:cs typeface="Songti SC"/>
              </a:rPr>
              <a:t>。</a:t>
            </a:r>
          </a:p>
        </p:txBody>
      </p:sp>
      <p:sp>
        <p:nvSpPr>
          <p:cNvPr id="16" name="矩形 15">
            <a:extLst>
              <a:ext uri="{FF2B5EF4-FFF2-40B4-BE49-F238E27FC236}">
                <a16:creationId xmlns:a16="http://schemas.microsoft.com/office/drawing/2014/main" id="{88332D2B-D149-4820-991A-4B2455416A2F}"/>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7" name="矩形 16">
            <a:extLst>
              <a:ext uri="{FF2B5EF4-FFF2-40B4-BE49-F238E27FC236}">
                <a16:creationId xmlns:a16="http://schemas.microsoft.com/office/drawing/2014/main" id="{02DD1BEF-D06C-41DD-AC3D-CFE5B138699A}"/>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18" name="矩形 17">
            <a:extLst>
              <a:ext uri="{FF2B5EF4-FFF2-40B4-BE49-F238E27FC236}">
                <a16:creationId xmlns:a16="http://schemas.microsoft.com/office/drawing/2014/main" id="{28D803B8-535B-401C-A750-71181A5B1E5D}"/>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现场穿插：DEMO2 场地规划软件</a:t>
            </a:r>
          </a:p>
        </p:txBody>
      </p:sp>
    </p:spTree>
    <p:extLst>
      <p:ext uri="{BB962C8B-B14F-4D97-AF65-F5344CB8AC3E}">
        <p14:creationId xmlns:p14="http://schemas.microsoft.com/office/powerpoint/2010/main" val="136015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5D916635-D82F-4652-8D4E-97E2DC28A444}"/>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工单驱动与拉动式物料流</a:t>
            </a:r>
          </a:p>
        </p:txBody>
      </p:sp>
      <p:sp>
        <p:nvSpPr>
          <p:cNvPr id="2" name="直线连接符 1">
            <a:extLst>
              <a:ext uri="{FF2B5EF4-FFF2-40B4-BE49-F238E27FC236}">
                <a16:creationId xmlns:a16="http://schemas.microsoft.com/office/drawing/2014/main" id="{080BF824-DF40-458A-8636-4C9559A3A447}"/>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CD00E5FB-A557-4AA6-8540-127D44BEFE27}"/>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10</a:t>
            </a:r>
          </a:p>
        </p:txBody>
      </p:sp>
      <p:sp>
        <p:nvSpPr>
          <p:cNvPr id="4" name="圆角矩形 3">
            <a:extLst>
              <a:ext uri="{FF2B5EF4-FFF2-40B4-BE49-F238E27FC236}">
                <a16:creationId xmlns:a16="http://schemas.microsoft.com/office/drawing/2014/main" id="{6597BEF3-33C4-4260-8C43-AD7DD7E85787}"/>
              </a:ext>
            </a:extLst>
          </p:cNvPr>
          <p:cNvSpPr>
            <a:spLocks noGrp="1"/>
          </p:cNvSpPr>
          <p:nvPr/>
        </p:nvSpPr>
        <p:spPr>
          <a:xfrm>
            <a:off x="876300" y="1390650"/>
            <a:ext cx="4619625" cy="457200"/>
          </a:xfrm>
          <a:prstGeom prst="roundRect">
            <a:avLst>
              <a:gd name="adj" fmla="val 12500"/>
            </a:avLst>
          </a:prstGeom>
          <a:solidFill>
            <a:srgbClr val="E9F6FB"/>
          </a:solidFill>
          <a:ln w="14288">
            <a:solidFill>
              <a:srgbClr val="23A8D8"/>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工单驱动适用场景</a:t>
            </a:r>
          </a:p>
        </p:txBody>
      </p:sp>
      <p:sp>
        <p:nvSpPr>
          <p:cNvPr id="5" name="圆角矩形 4">
            <a:extLst>
              <a:ext uri="{FF2B5EF4-FFF2-40B4-BE49-F238E27FC236}">
                <a16:creationId xmlns:a16="http://schemas.microsoft.com/office/drawing/2014/main" id="{62465319-4CD3-4263-8F71-87229321F630}"/>
              </a:ext>
            </a:extLst>
          </p:cNvPr>
          <p:cNvSpPr>
            <a:spLocks noGrp="1"/>
          </p:cNvSpPr>
          <p:nvPr/>
        </p:nvSpPr>
        <p:spPr>
          <a:xfrm>
            <a:off x="6705600" y="1390650"/>
            <a:ext cx="4619625" cy="457200"/>
          </a:xfrm>
          <a:prstGeom prst="roundRect">
            <a:avLst>
              <a:gd name="adj" fmla="val 12500"/>
            </a:avLst>
          </a:prstGeom>
          <a:solidFill>
            <a:srgbClr val="F0F8E8"/>
          </a:solidFill>
          <a:ln w="14288">
            <a:solidFill>
              <a:srgbClr val="76BC21"/>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拉动式物流适用场景</a:t>
            </a:r>
          </a:p>
        </p:txBody>
      </p:sp>
      <p:sp>
        <p:nvSpPr>
          <p:cNvPr id="6" name="椭圆 5">
            <a:extLst>
              <a:ext uri="{FF2B5EF4-FFF2-40B4-BE49-F238E27FC236}">
                <a16:creationId xmlns:a16="http://schemas.microsoft.com/office/drawing/2014/main" id="{3B215B72-329B-468A-8B27-DFDDAB0AA3D5}"/>
              </a:ext>
            </a:extLst>
          </p:cNvPr>
          <p:cNvSpPr>
            <a:spLocks noGrp="1"/>
          </p:cNvSpPr>
          <p:nvPr/>
        </p:nvSpPr>
        <p:spPr>
          <a:xfrm>
            <a:off x="1047750" y="2247900"/>
            <a:ext cx="95250" cy="95250"/>
          </a:xfrm>
          <a:prstGeom prst="ellipse">
            <a:avLst/>
          </a:prstGeom>
          <a:solidFill>
            <a:srgbClr val="23A8D8"/>
          </a:solidFill>
          <a:ln w="0">
            <a:noFill/>
            <a:prstDash val="solid"/>
          </a:ln>
        </p:spPr>
      </p:sp>
      <p:sp>
        <p:nvSpPr>
          <p:cNvPr id="7" name="矩形 6">
            <a:extLst>
              <a:ext uri="{FF2B5EF4-FFF2-40B4-BE49-F238E27FC236}">
                <a16:creationId xmlns:a16="http://schemas.microsoft.com/office/drawing/2014/main" id="{CB1E851D-0B00-4633-B269-D69B16148757}"/>
              </a:ext>
            </a:extLst>
          </p:cNvPr>
          <p:cNvSpPr>
            <a:spLocks noGrp="1"/>
          </p:cNvSpPr>
          <p:nvPr/>
        </p:nvSpPr>
        <p:spPr>
          <a:xfrm>
            <a:off x="1276350" y="21717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工单可以驱动料单和发料动作。</a:t>
            </a:r>
          </a:p>
        </p:txBody>
      </p:sp>
      <p:sp>
        <p:nvSpPr>
          <p:cNvPr id="8" name="椭圆 7">
            <a:extLst>
              <a:ext uri="{FF2B5EF4-FFF2-40B4-BE49-F238E27FC236}">
                <a16:creationId xmlns:a16="http://schemas.microsoft.com/office/drawing/2014/main" id="{1522C3BD-144C-48A6-B297-C1030EA43822}"/>
              </a:ext>
            </a:extLst>
          </p:cNvPr>
          <p:cNvSpPr>
            <a:spLocks noGrp="1"/>
          </p:cNvSpPr>
          <p:nvPr/>
        </p:nvSpPr>
        <p:spPr>
          <a:xfrm>
            <a:off x="1047750" y="2895600"/>
            <a:ext cx="95250" cy="95250"/>
          </a:xfrm>
          <a:prstGeom prst="ellipse">
            <a:avLst/>
          </a:prstGeom>
          <a:solidFill>
            <a:srgbClr val="76BC21"/>
          </a:solidFill>
          <a:ln w="0">
            <a:noFill/>
            <a:prstDash val="solid"/>
          </a:ln>
        </p:spPr>
      </p:sp>
      <p:sp>
        <p:nvSpPr>
          <p:cNvPr id="9" name="矩形 8">
            <a:extLst>
              <a:ext uri="{FF2B5EF4-FFF2-40B4-BE49-F238E27FC236}">
                <a16:creationId xmlns:a16="http://schemas.microsoft.com/office/drawing/2014/main" id="{97C53590-F196-4283-8396-7F35A056A950}"/>
              </a:ext>
            </a:extLst>
          </p:cNvPr>
          <p:cNvSpPr>
            <a:spLocks noGrp="1"/>
          </p:cNvSpPr>
          <p:nvPr/>
        </p:nvSpPr>
        <p:spPr>
          <a:xfrm>
            <a:off x="1276350" y="28194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铝锭等原材料发至铸造产线，可以由工单牵引。</a:t>
            </a:r>
          </a:p>
        </p:txBody>
      </p:sp>
      <p:sp>
        <p:nvSpPr>
          <p:cNvPr id="10" name="椭圆 9">
            <a:extLst>
              <a:ext uri="{FF2B5EF4-FFF2-40B4-BE49-F238E27FC236}">
                <a16:creationId xmlns:a16="http://schemas.microsoft.com/office/drawing/2014/main" id="{EB09F24F-A73F-4C71-946D-7C687ED6D7E2}"/>
              </a:ext>
            </a:extLst>
          </p:cNvPr>
          <p:cNvSpPr>
            <a:spLocks noGrp="1"/>
          </p:cNvSpPr>
          <p:nvPr/>
        </p:nvSpPr>
        <p:spPr>
          <a:xfrm>
            <a:off x="1047750" y="3543300"/>
            <a:ext cx="95250" cy="95250"/>
          </a:xfrm>
          <a:prstGeom prst="ellipse">
            <a:avLst/>
          </a:prstGeom>
          <a:solidFill>
            <a:srgbClr val="23A8D8"/>
          </a:solidFill>
          <a:ln w="0">
            <a:noFill/>
            <a:prstDash val="solid"/>
          </a:ln>
        </p:spPr>
      </p:sp>
      <p:sp>
        <p:nvSpPr>
          <p:cNvPr id="11" name="矩形 10">
            <a:extLst>
              <a:ext uri="{FF2B5EF4-FFF2-40B4-BE49-F238E27FC236}">
                <a16:creationId xmlns:a16="http://schemas.microsoft.com/office/drawing/2014/main" id="{9124483E-384D-4730-A6EC-C93EE93C2EAE}"/>
              </a:ext>
            </a:extLst>
          </p:cNvPr>
          <p:cNvSpPr>
            <a:spLocks noGrp="1"/>
          </p:cNvSpPr>
          <p:nvPr/>
        </p:nvSpPr>
        <p:spPr>
          <a:xfrm>
            <a:off x="1276350" y="34671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计划仍负责材料需求和产能边界。</a:t>
            </a:r>
          </a:p>
        </p:txBody>
      </p:sp>
      <p:sp>
        <p:nvSpPr>
          <p:cNvPr id="12" name="椭圆 11">
            <a:extLst>
              <a:ext uri="{FF2B5EF4-FFF2-40B4-BE49-F238E27FC236}">
                <a16:creationId xmlns:a16="http://schemas.microsoft.com/office/drawing/2014/main" id="{1A86BBD9-2183-44BE-87B5-652A3E882113}"/>
              </a:ext>
            </a:extLst>
          </p:cNvPr>
          <p:cNvSpPr>
            <a:spLocks noGrp="1"/>
          </p:cNvSpPr>
          <p:nvPr/>
        </p:nvSpPr>
        <p:spPr>
          <a:xfrm>
            <a:off x="6877050" y="2247900"/>
            <a:ext cx="95250" cy="95250"/>
          </a:xfrm>
          <a:prstGeom prst="ellipse">
            <a:avLst/>
          </a:prstGeom>
          <a:solidFill>
            <a:srgbClr val="23A8D8"/>
          </a:solidFill>
          <a:ln w="0">
            <a:noFill/>
            <a:prstDash val="solid"/>
          </a:ln>
        </p:spPr>
      </p:sp>
      <p:sp>
        <p:nvSpPr>
          <p:cNvPr id="13" name="矩形 12">
            <a:extLst>
              <a:ext uri="{FF2B5EF4-FFF2-40B4-BE49-F238E27FC236}">
                <a16:creationId xmlns:a16="http://schemas.microsoft.com/office/drawing/2014/main" id="{6F9F785D-3AD0-4A66-B956-7C82E0D53299}"/>
              </a:ext>
            </a:extLst>
          </p:cNvPr>
          <p:cNvSpPr>
            <a:spLocks noGrp="1"/>
          </p:cNvSpPr>
          <p:nvPr/>
        </p:nvSpPr>
        <p:spPr>
          <a:xfrm>
            <a:off x="7105650" y="21717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铸造完成品到后续工序。</a:t>
            </a:r>
          </a:p>
        </p:txBody>
      </p:sp>
      <p:sp>
        <p:nvSpPr>
          <p:cNvPr id="14" name="椭圆 13">
            <a:extLst>
              <a:ext uri="{FF2B5EF4-FFF2-40B4-BE49-F238E27FC236}">
                <a16:creationId xmlns:a16="http://schemas.microsoft.com/office/drawing/2014/main" id="{849DDE55-015D-4990-AFE9-CCD55F9D0A80}"/>
              </a:ext>
            </a:extLst>
          </p:cNvPr>
          <p:cNvSpPr>
            <a:spLocks noGrp="1"/>
          </p:cNvSpPr>
          <p:nvPr/>
        </p:nvSpPr>
        <p:spPr>
          <a:xfrm>
            <a:off x="6877050" y="2895600"/>
            <a:ext cx="95250" cy="95250"/>
          </a:xfrm>
          <a:prstGeom prst="ellipse">
            <a:avLst/>
          </a:prstGeom>
          <a:solidFill>
            <a:srgbClr val="76BC21"/>
          </a:solidFill>
          <a:ln w="0">
            <a:noFill/>
            <a:prstDash val="solid"/>
          </a:ln>
        </p:spPr>
      </p:sp>
      <p:sp>
        <p:nvSpPr>
          <p:cNvPr id="15" name="矩形 14">
            <a:extLst>
              <a:ext uri="{FF2B5EF4-FFF2-40B4-BE49-F238E27FC236}">
                <a16:creationId xmlns:a16="http://schemas.microsoft.com/office/drawing/2014/main" id="{42399C96-DB3C-44C4-AB31-AA39F299F0A4}"/>
              </a:ext>
            </a:extLst>
          </p:cNvPr>
          <p:cNvSpPr>
            <a:spLocks noGrp="1"/>
          </p:cNvSpPr>
          <p:nvPr/>
        </p:nvSpPr>
        <p:spPr>
          <a:xfrm>
            <a:off x="7105650" y="28194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机加到装配。</a:t>
            </a:r>
          </a:p>
        </p:txBody>
      </p:sp>
      <p:sp>
        <p:nvSpPr>
          <p:cNvPr id="16" name="椭圆 15">
            <a:extLst>
              <a:ext uri="{FF2B5EF4-FFF2-40B4-BE49-F238E27FC236}">
                <a16:creationId xmlns:a16="http://schemas.microsoft.com/office/drawing/2014/main" id="{FA99CE92-8417-4705-8F3D-13BF1955A35F}"/>
              </a:ext>
            </a:extLst>
          </p:cNvPr>
          <p:cNvSpPr>
            <a:spLocks noGrp="1"/>
          </p:cNvSpPr>
          <p:nvPr/>
        </p:nvSpPr>
        <p:spPr>
          <a:xfrm>
            <a:off x="6877050" y="3543300"/>
            <a:ext cx="95250" cy="95250"/>
          </a:xfrm>
          <a:prstGeom prst="ellipse">
            <a:avLst/>
          </a:prstGeom>
          <a:solidFill>
            <a:srgbClr val="23A8D8"/>
          </a:solidFill>
          <a:ln w="0">
            <a:noFill/>
            <a:prstDash val="solid"/>
          </a:ln>
        </p:spPr>
      </p:sp>
      <p:sp>
        <p:nvSpPr>
          <p:cNvPr id="17" name="矩形 16">
            <a:extLst>
              <a:ext uri="{FF2B5EF4-FFF2-40B4-BE49-F238E27FC236}">
                <a16:creationId xmlns:a16="http://schemas.microsoft.com/office/drawing/2014/main" id="{5E2A77FC-5F74-41BC-830D-C445D1E117FF}"/>
              </a:ext>
            </a:extLst>
          </p:cNvPr>
          <p:cNvSpPr>
            <a:spLocks noGrp="1"/>
          </p:cNvSpPr>
          <p:nvPr/>
        </p:nvSpPr>
        <p:spPr>
          <a:xfrm>
            <a:off x="7105650" y="3467100"/>
            <a:ext cx="3867150" cy="704850"/>
          </a:xfrm>
          <a:prstGeom prst="rect">
            <a:avLst/>
          </a:prstGeom>
          <a:noFill/>
          <a:ln w="0">
            <a:no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排产基于库存水位展开，真实物料移动由后工序消耗节奏触发。</a:t>
            </a:r>
          </a:p>
        </p:txBody>
      </p:sp>
      <p:sp>
        <p:nvSpPr>
          <p:cNvPr id="18" name="矩形 17">
            <a:extLst>
              <a:ext uri="{FF2B5EF4-FFF2-40B4-BE49-F238E27FC236}">
                <a16:creationId xmlns:a16="http://schemas.microsoft.com/office/drawing/2014/main" id="{A36C3276-43D6-40C3-9556-8BFBA375B30D}"/>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9" name="矩形 18">
            <a:extLst>
              <a:ext uri="{FF2B5EF4-FFF2-40B4-BE49-F238E27FC236}">
                <a16:creationId xmlns:a16="http://schemas.microsoft.com/office/drawing/2014/main" id="{E7C4950D-F05A-4C70-B177-A587337AACD3}"/>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20" name="矩形 19">
            <a:extLst>
              <a:ext uri="{FF2B5EF4-FFF2-40B4-BE49-F238E27FC236}">
                <a16:creationId xmlns:a16="http://schemas.microsoft.com/office/drawing/2014/main" id="{70773CF1-E922-4F34-A9AB-60C453B06CB6}"/>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现场穿插：价值流画板</a:t>
            </a:r>
          </a:p>
        </p:txBody>
      </p:sp>
    </p:spTree>
    <p:extLst>
      <p:ext uri="{BB962C8B-B14F-4D97-AF65-F5344CB8AC3E}">
        <p14:creationId xmlns:p14="http://schemas.microsoft.com/office/powerpoint/2010/main" val="1088292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A739783-6E61-42B9-88E2-742CA5A461E1}"/>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阶段二的实现方法</a:t>
            </a:r>
          </a:p>
        </p:txBody>
      </p:sp>
      <p:sp>
        <p:nvSpPr>
          <p:cNvPr id="2" name="直线连接符 1">
            <a:extLst>
              <a:ext uri="{FF2B5EF4-FFF2-40B4-BE49-F238E27FC236}">
                <a16:creationId xmlns:a16="http://schemas.microsoft.com/office/drawing/2014/main" id="{BCA28405-CEE0-4D69-AA9A-CABDBCC46800}"/>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6EFF5E73-3443-4BF0-80A4-37130362A973}"/>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11</a:t>
            </a:r>
          </a:p>
        </p:txBody>
      </p:sp>
      <p:sp>
        <p:nvSpPr>
          <p:cNvPr id="4" name="圆角矩形 3">
            <a:extLst>
              <a:ext uri="{FF2B5EF4-FFF2-40B4-BE49-F238E27FC236}">
                <a16:creationId xmlns:a16="http://schemas.microsoft.com/office/drawing/2014/main" id="{C9A35FB5-F94D-4E37-9A13-E3EC26D476E6}"/>
              </a:ext>
            </a:extLst>
          </p:cNvPr>
          <p:cNvSpPr>
            <a:spLocks noGrp="1"/>
          </p:cNvSpPr>
          <p:nvPr/>
        </p:nvSpPr>
        <p:spPr>
          <a:xfrm>
            <a:off x="800100" y="1504950"/>
            <a:ext cx="4476750" cy="457200"/>
          </a:xfrm>
          <a:prstGeom prst="roundRect">
            <a:avLst>
              <a:gd name="adj" fmla="val 12500"/>
            </a:avLst>
          </a:prstGeom>
          <a:solidFill>
            <a:srgbClr val="E9F6FB"/>
          </a:solidFill>
          <a:ln w="14288">
            <a:solidFill>
              <a:srgbClr val="23A8D8"/>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价值流落位</a:t>
            </a:r>
          </a:p>
        </p:txBody>
      </p:sp>
      <p:sp>
        <p:nvSpPr>
          <p:cNvPr id="5" name="圆角矩形 4">
            <a:extLst>
              <a:ext uri="{FF2B5EF4-FFF2-40B4-BE49-F238E27FC236}">
                <a16:creationId xmlns:a16="http://schemas.microsoft.com/office/drawing/2014/main" id="{2C826725-9756-437B-8735-C711BF68123A}"/>
              </a:ext>
            </a:extLst>
          </p:cNvPr>
          <p:cNvSpPr>
            <a:spLocks noGrp="1"/>
          </p:cNvSpPr>
          <p:nvPr/>
        </p:nvSpPr>
        <p:spPr>
          <a:xfrm>
            <a:off x="800100" y="2095500"/>
            <a:ext cx="4476750" cy="876300"/>
          </a:xfrm>
          <a:prstGeom prst="roundRect">
            <a:avLst>
              <a:gd name="adj" fmla="val 6522"/>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把全工序数据采集放回过程节点，而不是放在系统模块里讨论。</a:t>
            </a:r>
          </a:p>
        </p:txBody>
      </p:sp>
      <p:sp>
        <p:nvSpPr>
          <p:cNvPr id="6" name="圆角矩形 5">
            <a:extLst>
              <a:ext uri="{FF2B5EF4-FFF2-40B4-BE49-F238E27FC236}">
                <a16:creationId xmlns:a16="http://schemas.microsoft.com/office/drawing/2014/main" id="{6600B74F-8D11-4C7D-912C-54C2AF2D64F3}"/>
              </a:ext>
            </a:extLst>
          </p:cNvPr>
          <p:cNvSpPr>
            <a:spLocks noGrp="1"/>
          </p:cNvSpPr>
          <p:nvPr/>
        </p:nvSpPr>
        <p:spPr>
          <a:xfrm>
            <a:off x="6324600" y="1504950"/>
            <a:ext cx="4476750" cy="457200"/>
          </a:xfrm>
          <a:prstGeom prst="roundRect">
            <a:avLst>
              <a:gd name="adj" fmla="val 12500"/>
            </a:avLst>
          </a:prstGeom>
          <a:solidFill>
            <a:srgbClr val="F0F8E8"/>
          </a:solidFill>
          <a:ln w="14288">
            <a:solidFill>
              <a:srgbClr val="76BC21"/>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动作反推</a:t>
            </a:r>
          </a:p>
        </p:txBody>
      </p:sp>
      <p:sp>
        <p:nvSpPr>
          <p:cNvPr id="7" name="圆角矩形 6">
            <a:extLst>
              <a:ext uri="{FF2B5EF4-FFF2-40B4-BE49-F238E27FC236}">
                <a16:creationId xmlns:a16="http://schemas.microsoft.com/office/drawing/2014/main" id="{14251133-87AD-4427-8927-91C8F06EFB01}"/>
              </a:ext>
            </a:extLst>
          </p:cNvPr>
          <p:cNvSpPr>
            <a:spLocks noGrp="1"/>
          </p:cNvSpPr>
          <p:nvPr/>
        </p:nvSpPr>
        <p:spPr>
          <a:xfrm>
            <a:off x="6324600" y="2095500"/>
            <a:ext cx="4476750" cy="876300"/>
          </a:xfrm>
          <a:prstGeom prst="roundRect">
            <a:avLst>
              <a:gd name="adj" fmla="val 6522"/>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先定义停线、曲线、经验值和 replan，再定义数据范围。</a:t>
            </a:r>
          </a:p>
        </p:txBody>
      </p:sp>
      <p:sp>
        <p:nvSpPr>
          <p:cNvPr id="8" name="圆角矩形 7">
            <a:extLst>
              <a:ext uri="{FF2B5EF4-FFF2-40B4-BE49-F238E27FC236}">
                <a16:creationId xmlns:a16="http://schemas.microsoft.com/office/drawing/2014/main" id="{DFACFC94-05C7-463F-9008-9588559CB19F}"/>
              </a:ext>
            </a:extLst>
          </p:cNvPr>
          <p:cNvSpPr>
            <a:spLocks noGrp="1"/>
          </p:cNvSpPr>
          <p:nvPr/>
        </p:nvSpPr>
        <p:spPr>
          <a:xfrm>
            <a:off x="800100" y="3505200"/>
            <a:ext cx="4476750" cy="457200"/>
          </a:xfrm>
          <a:prstGeom prst="roundRect">
            <a:avLst>
              <a:gd name="adj" fmla="val 12500"/>
            </a:avLst>
          </a:prstGeom>
          <a:solidFill>
            <a:srgbClr val="E9F6FB"/>
          </a:solidFill>
          <a:ln w="14288">
            <a:solidFill>
              <a:srgbClr val="23A8D8"/>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计划基准</a:t>
            </a:r>
          </a:p>
        </p:txBody>
      </p:sp>
      <p:sp>
        <p:nvSpPr>
          <p:cNvPr id="9" name="圆角矩形 8">
            <a:extLst>
              <a:ext uri="{FF2B5EF4-FFF2-40B4-BE49-F238E27FC236}">
                <a16:creationId xmlns:a16="http://schemas.microsoft.com/office/drawing/2014/main" id="{E156BFC5-2D87-44E1-8E7F-7C6333628B46}"/>
              </a:ext>
            </a:extLst>
          </p:cNvPr>
          <p:cNvSpPr>
            <a:spLocks noGrp="1"/>
          </p:cNvSpPr>
          <p:nvPr/>
        </p:nvSpPr>
        <p:spPr>
          <a:xfrm>
            <a:off x="800100" y="4095750"/>
            <a:ext cx="4476750" cy="876300"/>
          </a:xfrm>
          <a:prstGeom prst="roundRect">
            <a:avLst>
              <a:gd name="adj" fmla="val 6522"/>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建立 24H 计划和工序节拍基准，让动态数据有判断对象。</a:t>
            </a:r>
          </a:p>
        </p:txBody>
      </p:sp>
      <p:sp>
        <p:nvSpPr>
          <p:cNvPr id="10" name="圆角矩形 9">
            <a:extLst>
              <a:ext uri="{FF2B5EF4-FFF2-40B4-BE49-F238E27FC236}">
                <a16:creationId xmlns:a16="http://schemas.microsoft.com/office/drawing/2014/main" id="{C80A284D-3C06-46DF-A783-EFE93AD9E9EE}"/>
              </a:ext>
            </a:extLst>
          </p:cNvPr>
          <p:cNvSpPr>
            <a:spLocks noGrp="1"/>
          </p:cNvSpPr>
          <p:nvPr/>
        </p:nvSpPr>
        <p:spPr>
          <a:xfrm>
            <a:off x="6324600" y="3505200"/>
            <a:ext cx="4476750" cy="457200"/>
          </a:xfrm>
          <a:prstGeom prst="roundRect">
            <a:avLst>
              <a:gd name="adj" fmla="val 12500"/>
            </a:avLst>
          </a:prstGeom>
          <a:solidFill>
            <a:srgbClr val="F0F8E8"/>
          </a:solidFill>
          <a:ln w="14288">
            <a:solidFill>
              <a:srgbClr val="76BC21"/>
            </a:solidFill>
            <a:prstDash val="solid"/>
          </a:ln>
        </p:spPr>
        <p:txBody>
          <a:bodyPr>
            <a:normAutofit/>
          </a:bodyPr>
          <a:lstStyle/>
          <a:p>
            <a:pPr algn="ctr">
              <a:defRPr sz="1575" b="1">
                <a:solidFill>
                  <a:srgbClr val="1F2A33"/>
                </a:solidFill>
                <a:latin typeface="Songti SC"/>
                <a:ea typeface="Songti SC"/>
                <a:cs typeface="Songti SC"/>
              </a:defRPr>
            </a:pPr>
            <a:r>
              <a:rPr sz="1575" b="1">
                <a:solidFill>
                  <a:srgbClr val="1F2A33"/>
                </a:solidFill>
                <a:latin typeface="Songti SC"/>
                <a:ea typeface="Songti SC"/>
                <a:cs typeface="Songti SC"/>
              </a:rPr>
              <a:t>拉动补强</a:t>
            </a:r>
          </a:p>
        </p:txBody>
      </p:sp>
      <p:sp>
        <p:nvSpPr>
          <p:cNvPr id="11" name="圆角矩形 10">
            <a:extLst>
              <a:ext uri="{FF2B5EF4-FFF2-40B4-BE49-F238E27FC236}">
                <a16:creationId xmlns:a16="http://schemas.microsoft.com/office/drawing/2014/main" id="{575BE13A-A9CA-4D55-86D3-1EA1D9DEE9FB}"/>
              </a:ext>
            </a:extLst>
          </p:cNvPr>
          <p:cNvSpPr>
            <a:spLocks noGrp="1"/>
          </p:cNvSpPr>
          <p:nvPr/>
        </p:nvSpPr>
        <p:spPr>
          <a:xfrm>
            <a:off x="6324600" y="4095750"/>
            <a:ext cx="4476750" cy="876300"/>
          </a:xfrm>
          <a:prstGeom prst="roundRect">
            <a:avLst>
              <a:gd name="adj" fmla="val 6522"/>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补足跨工序库存水位和后工序拉动前工序的能力。</a:t>
            </a:r>
          </a:p>
        </p:txBody>
      </p:sp>
      <p:sp>
        <p:nvSpPr>
          <p:cNvPr id="12" name="矩形 11">
            <a:extLst>
              <a:ext uri="{FF2B5EF4-FFF2-40B4-BE49-F238E27FC236}">
                <a16:creationId xmlns:a16="http://schemas.microsoft.com/office/drawing/2014/main" id="{44A2139C-B688-432A-8C09-A790A311C8D3}"/>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3" name="矩形 12">
            <a:extLst>
              <a:ext uri="{FF2B5EF4-FFF2-40B4-BE49-F238E27FC236}">
                <a16:creationId xmlns:a16="http://schemas.microsoft.com/office/drawing/2014/main" id="{437C8916-B081-41F4-B082-E904B7357BA2}"/>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14" name="矩形 13">
            <a:extLst>
              <a:ext uri="{FF2B5EF4-FFF2-40B4-BE49-F238E27FC236}">
                <a16:creationId xmlns:a16="http://schemas.microsoft.com/office/drawing/2014/main" id="{EBFE88A8-A073-434E-9E63-7F6B09BBE0E6}"/>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现场穿插：价值流画板，DEMO2 场地规划软件</a:t>
            </a:r>
          </a:p>
        </p:txBody>
      </p:sp>
    </p:spTree>
    <p:extLst>
      <p:ext uri="{BB962C8B-B14F-4D97-AF65-F5344CB8AC3E}">
        <p14:creationId xmlns:p14="http://schemas.microsoft.com/office/powerpoint/2010/main" val="336553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FF4332B7-845C-491F-AD3C-4B2E69643C0A}"/>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阶段二后的数字孪生基础</a:t>
            </a:r>
          </a:p>
        </p:txBody>
      </p:sp>
      <p:sp>
        <p:nvSpPr>
          <p:cNvPr id="2" name="直线连接符 1">
            <a:extLst>
              <a:ext uri="{FF2B5EF4-FFF2-40B4-BE49-F238E27FC236}">
                <a16:creationId xmlns:a16="http://schemas.microsoft.com/office/drawing/2014/main" id="{BF085151-3CAF-4C33-930B-4F3C3EB7365F}"/>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38B75687-5FE3-4A7F-9F69-783F522A4634}"/>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12</a:t>
            </a:r>
          </a:p>
        </p:txBody>
      </p:sp>
      <p:sp>
        <p:nvSpPr>
          <p:cNvPr id="4" name="圆角矩形 3">
            <a:extLst>
              <a:ext uri="{FF2B5EF4-FFF2-40B4-BE49-F238E27FC236}">
                <a16:creationId xmlns:a16="http://schemas.microsoft.com/office/drawing/2014/main" id="{9FC9B596-9630-42F6-B136-508EF29B2E9A}"/>
              </a:ext>
            </a:extLst>
          </p:cNvPr>
          <p:cNvSpPr>
            <a:spLocks noGrp="1"/>
          </p:cNvSpPr>
          <p:nvPr/>
        </p:nvSpPr>
        <p:spPr>
          <a:xfrm>
            <a:off x="1123950" y="1714500"/>
            <a:ext cx="2095500" cy="704850"/>
          </a:xfrm>
          <a:prstGeom prst="roundRect">
            <a:avLst>
              <a:gd name="adj" fmla="val 8108"/>
            </a:avLst>
          </a:prstGeom>
          <a:solidFill>
            <a:srgbClr val="E9F6FB"/>
          </a:solidFill>
          <a:ln w="14288">
            <a:solidFill>
              <a:srgbClr val="23A8D8"/>
            </a:solidFill>
            <a:prstDash val="solid"/>
          </a:ln>
        </p:spPr>
        <p:txBody>
          <a:bodyPr>
            <a:normAutofit/>
          </a:bodyPr>
          <a:lstStyle/>
          <a:p>
            <a:pPr algn="ctr">
              <a:defRPr sz="1650" b="1">
                <a:solidFill>
                  <a:srgbClr val="1F2A33"/>
                </a:solidFill>
                <a:latin typeface="Songti SC"/>
                <a:ea typeface="Songti SC"/>
                <a:cs typeface="Songti SC"/>
              </a:defRPr>
            </a:pPr>
            <a:r>
              <a:rPr sz="1650" b="1">
                <a:solidFill>
                  <a:srgbClr val="1F2A33"/>
                </a:solidFill>
                <a:latin typeface="Songti SC"/>
                <a:ea typeface="Songti SC"/>
                <a:cs typeface="Songti SC"/>
              </a:rPr>
              <a:t>现场过程</a:t>
            </a:r>
          </a:p>
        </p:txBody>
      </p:sp>
      <p:sp>
        <p:nvSpPr>
          <p:cNvPr id="5" name="圆角矩形 4">
            <a:extLst>
              <a:ext uri="{FF2B5EF4-FFF2-40B4-BE49-F238E27FC236}">
                <a16:creationId xmlns:a16="http://schemas.microsoft.com/office/drawing/2014/main" id="{4514A1BC-F6A6-46E5-A278-ED7A6436AA7F}"/>
              </a:ext>
            </a:extLst>
          </p:cNvPr>
          <p:cNvSpPr>
            <a:spLocks noGrp="1"/>
          </p:cNvSpPr>
          <p:nvPr/>
        </p:nvSpPr>
        <p:spPr>
          <a:xfrm>
            <a:off x="5048250" y="1714500"/>
            <a:ext cx="2095500" cy="704850"/>
          </a:xfrm>
          <a:prstGeom prst="roundRect">
            <a:avLst>
              <a:gd name="adj" fmla="val 8108"/>
            </a:avLst>
          </a:prstGeom>
          <a:solidFill>
            <a:srgbClr val="F0F8E8"/>
          </a:solidFill>
          <a:ln w="14288">
            <a:solidFill>
              <a:srgbClr val="76BC21"/>
            </a:solidFill>
            <a:prstDash val="solid"/>
          </a:ln>
        </p:spPr>
        <p:txBody>
          <a:bodyPr>
            <a:normAutofit/>
          </a:bodyPr>
          <a:lstStyle/>
          <a:p>
            <a:pPr algn="ctr">
              <a:defRPr sz="1650" b="1">
                <a:solidFill>
                  <a:srgbClr val="1F2A33"/>
                </a:solidFill>
                <a:latin typeface="Songti SC"/>
                <a:ea typeface="Songti SC"/>
                <a:cs typeface="Songti SC"/>
              </a:defRPr>
            </a:pPr>
            <a:r>
              <a:rPr sz="1650" b="1">
                <a:solidFill>
                  <a:srgbClr val="1F2A33"/>
                </a:solidFill>
                <a:latin typeface="Songti SC"/>
                <a:ea typeface="Songti SC"/>
                <a:cs typeface="Songti SC"/>
              </a:rPr>
              <a:t>数字投影</a:t>
            </a:r>
          </a:p>
        </p:txBody>
      </p:sp>
      <p:sp>
        <p:nvSpPr>
          <p:cNvPr id="6" name="圆角矩形 5">
            <a:extLst>
              <a:ext uri="{FF2B5EF4-FFF2-40B4-BE49-F238E27FC236}">
                <a16:creationId xmlns:a16="http://schemas.microsoft.com/office/drawing/2014/main" id="{78815FA4-BA9B-43C1-9A5F-1F1FD72D822B}"/>
              </a:ext>
            </a:extLst>
          </p:cNvPr>
          <p:cNvSpPr>
            <a:spLocks noGrp="1"/>
          </p:cNvSpPr>
          <p:nvPr/>
        </p:nvSpPr>
        <p:spPr>
          <a:xfrm>
            <a:off x="8972550" y="1714500"/>
            <a:ext cx="2095500" cy="704850"/>
          </a:xfrm>
          <a:prstGeom prst="roundRect">
            <a:avLst>
              <a:gd name="adj" fmla="val 8108"/>
            </a:avLst>
          </a:prstGeom>
          <a:solidFill>
            <a:srgbClr val="E9F6FB"/>
          </a:solidFill>
          <a:ln w="14288">
            <a:solidFill>
              <a:srgbClr val="23A8D8"/>
            </a:solidFill>
            <a:prstDash val="solid"/>
          </a:ln>
        </p:spPr>
        <p:txBody>
          <a:bodyPr>
            <a:normAutofit/>
          </a:bodyPr>
          <a:lstStyle/>
          <a:p>
            <a:pPr algn="ctr">
              <a:defRPr sz="1650" b="1">
                <a:solidFill>
                  <a:srgbClr val="1F2A33"/>
                </a:solidFill>
                <a:latin typeface="Songti SC"/>
                <a:ea typeface="Songti SC"/>
                <a:cs typeface="Songti SC"/>
              </a:defRPr>
            </a:pPr>
            <a:r>
              <a:rPr sz="1650" b="1">
                <a:solidFill>
                  <a:srgbClr val="1F2A33"/>
                </a:solidFill>
                <a:latin typeface="Songti SC"/>
                <a:ea typeface="Songti SC"/>
                <a:cs typeface="Songti SC"/>
              </a:rPr>
              <a:t>管理判断</a:t>
            </a:r>
          </a:p>
        </p:txBody>
      </p:sp>
      <p:sp>
        <p:nvSpPr>
          <p:cNvPr id="7" name="直线连接符 6">
            <a:extLst>
              <a:ext uri="{FF2B5EF4-FFF2-40B4-BE49-F238E27FC236}">
                <a16:creationId xmlns:a16="http://schemas.microsoft.com/office/drawing/2014/main" id="{85F9CF2D-561A-40D0-96F1-8A926D879D3D}"/>
              </a:ext>
            </a:extLst>
          </p:cNvPr>
          <p:cNvSpPr>
            <a:spLocks noGrp="1"/>
          </p:cNvSpPr>
          <p:nvPr/>
        </p:nvSpPr>
        <p:spPr>
          <a:xfrm>
            <a:off x="3219450" y="2066925"/>
            <a:ext cx="1828800" cy="0"/>
          </a:xfrm>
          <a:prstGeom prst="line">
            <a:avLst/>
          </a:prstGeom>
          <a:noFill/>
          <a:ln w="14288">
            <a:solidFill>
              <a:srgbClr val="A8B8BF"/>
            </a:solidFill>
            <a:prstDash val="solid"/>
          </a:ln>
        </p:spPr>
      </p:sp>
      <p:sp>
        <p:nvSpPr>
          <p:cNvPr id="8" name="直线连接符 7">
            <a:extLst>
              <a:ext uri="{FF2B5EF4-FFF2-40B4-BE49-F238E27FC236}">
                <a16:creationId xmlns:a16="http://schemas.microsoft.com/office/drawing/2014/main" id="{572DB15B-F2C9-4316-AF47-DBF54816F414}"/>
              </a:ext>
            </a:extLst>
          </p:cNvPr>
          <p:cNvSpPr>
            <a:spLocks noGrp="1"/>
          </p:cNvSpPr>
          <p:nvPr/>
        </p:nvSpPr>
        <p:spPr>
          <a:xfrm>
            <a:off x="7143750" y="2066925"/>
            <a:ext cx="1828800" cy="0"/>
          </a:xfrm>
          <a:prstGeom prst="line">
            <a:avLst/>
          </a:prstGeom>
          <a:noFill/>
          <a:ln w="14288">
            <a:solidFill>
              <a:srgbClr val="A8B8BF"/>
            </a:solidFill>
            <a:prstDash val="solid"/>
          </a:ln>
        </p:spPr>
      </p:sp>
      <p:sp>
        <p:nvSpPr>
          <p:cNvPr id="9" name="圆角矩形 8">
            <a:extLst>
              <a:ext uri="{FF2B5EF4-FFF2-40B4-BE49-F238E27FC236}">
                <a16:creationId xmlns:a16="http://schemas.microsoft.com/office/drawing/2014/main" id="{20BBBF6B-E421-4128-8121-D4D6F31E99CD}"/>
              </a:ext>
            </a:extLst>
          </p:cNvPr>
          <p:cNvSpPr>
            <a:spLocks noGrp="1"/>
          </p:cNvSpPr>
          <p:nvPr/>
        </p:nvSpPr>
        <p:spPr>
          <a:xfrm>
            <a:off x="1657350" y="3143250"/>
            <a:ext cx="2000250" cy="400050"/>
          </a:xfrm>
          <a:prstGeom prst="roundRect">
            <a:avLst>
              <a:gd name="adj" fmla="val 14286"/>
            </a:avLst>
          </a:prstGeom>
          <a:solidFill>
            <a:srgbClr val="FFFFFF"/>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计划基准</a:t>
            </a:r>
          </a:p>
        </p:txBody>
      </p:sp>
      <p:sp>
        <p:nvSpPr>
          <p:cNvPr id="10" name="圆角矩形 9">
            <a:extLst>
              <a:ext uri="{FF2B5EF4-FFF2-40B4-BE49-F238E27FC236}">
                <a16:creationId xmlns:a16="http://schemas.microsoft.com/office/drawing/2014/main" id="{3409CF0D-FAFA-428A-90F0-E5914C0EA1B4}"/>
              </a:ext>
            </a:extLst>
          </p:cNvPr>
          <p:cNvSpPr>
            <a:spLocks noGrp="1"/>
          </p:cNvSpPr>
          <p:nvPr/>
        </p:nvSpPr>
        <p:spPr>
          <a:xfrm>
            <a:off x="4610100" y="3143250"/>
            <a:ext cx="2000250" cy="400050"/>
          </a:xfrm>
          <a:prstGeom prst="roundRect">
            <a:avLst>
              <a:gd name="adj" fmla="val 14286"/>
            </a:avLst>
          </a:prstGeom>
          <a:solidFill>
            <a:srgbClr val="FFFFFF"/>
          </a:solidFill>
          <a:ln w="14288">
            <a:solidFill>
              <a:srgbClr val="76BC21"/>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设备状态</a:t>
            </a:r>
          </a:p>
        </p:txBody>
      </p:sp>
      <p:sp>
        <p:nvSpPr>
          <p:cNvPr id="11" name="圆角矩形 10">
            <a:extLst>
              <a:ext uri="{FF2B5EF4-FFF2-40B4-BE49-F238E27FC236}">
                <a16:creationId xmlns:a16="http://schemas.microsoft.com/office/drawing/2014/main" id="{01E853B2-FBE5-4A6F-A0E9-FAE8EDDA2202}"/>
              </a:ext>
            </a:extLst>
          </p:cNvPr>
          <p:cNvSpPr>
            <a:spLocks noGrp="1"/>
          </p:cNvSpPr>
          <p:nvPr/>
        </p:nvSpPr>
        <p:spPr>
          <a:xfrm>
            <a:off x="7562850" y="3143250"/>
            <a:ext cx="2000250" cy="400050"/>
          </a:xfrm>
          <a:prstGeom prst="roundRect">
            <a:avLst>
              <a:gd name="adj" fmla="val 14286"/>
            </a:avLst>
          </a:prstGeom>
          <a:solidFill>
            <a:srgbClr val="FFFFFF"/>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质量曲线</a:t>
            </a:r>
          </a:p>
        </p:txBody>
      </p:sp>
      <p:sp>
        <p:nvSpPr>
          <p:cNvPr id="12" name="圆角矩形 11">
            <a:extLst>
              <a:ext uri="{FF2B5EF4-FFF2-40B4-BE49-F238E27FC236}">
                <a16:creationId xmlns:a16="http://schemas.microsoft.com/office/drawing/2014/main" id="{65F3E02A-B900-4A1A-B2C7-ABB188435E71}"/>
              </a:ext>
            </a:extLst>
          </p:cNvPr>
          <p:cNvSpPr>
            <a:spLocks noGrp="1"/>
          </p:cNvSpPr>
          <p:nvPr/>
        </p:nvSpPr>
        <p:spPr>
          <a:xfrm>
            <a:off x="1657350" y="3829050"/>
            <a:ext cx="2000250" cy="400050"/>
          </a:xfrm>
          <a:prstGeom prst="roundRect">
            <a:avLst>
              <a:gd name="adj" fmla="val 14286"/>
            </a:avLst>
          </a:prstGeom>
          <a:solidFill>
            <a:srgbClr val="FFFFFF"/>
          </a:solidFill>
          <a:ln w="14288">
            <a:solidFill>
              <a:srgbClr val="76BC21"/>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参数经验</a:t>
            </a:r>
          </a:p>
        </p:txBody>
      </p:sp>
      <p:sp>
        <p:nvSpPr>
          <p:cNvPr id="13" name="圆角矩形 12">
            <a:extLst>
              <a:ext uri="{FF2B5EF4-FFF2-40B4-BE49-F238E27FC236}">
                <a16:creationId xmlns:a16="http://schemas.microsoft.com/office/drawing/2014/main" id="{68A948E3-D18B-4896-9012-A6179511EA68}"/>
              </a:ext>
            </a:extLst>
          </p:cNvPr>
          <p:cNvSpPr>
            <a:spLocks noGrp="1"/>
          </p:cNvSpPr>
          <p:nvPr/>
        </p:nvSpPr>
        <p:spPr>
          <a:xfrm>
            <a:off x="4610100" y="3829050"/>
            <a:ext cx="2000250" cy="400050"/>
          </a:xfrm>
          <a:prstGeom prst="roundRect">
            <a:avLst>
              <a:gd name="adj" fmla="val 14286"/>
            </a:avLst>
          </a:prstGeom>
          <a:solidFill>
            <a:srgbClr val="FFFFFF"/>
          </a:solidFill>
          <a:ln w="14288">
            <a:solidFill>
              <a:srgbClr val="23A8D8"/>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WIP 水位</a:t>
            </a:r>
          </a:p>
        </p:txBody>
      </p:sp>
      <p:sp>
        <p:nvSpPr>
          <p:cNvPr id="14" name="圆角矩形 13">
            <a:extLst>
              <a:ext uri="{FF2B5EF4-FFF2-40B4-BE49-F238E27FC236}">
                <a16:creationId xmlns:a16="http://schemas.microsoft.com/office/drawing/2014/main" id="{F0347369-5BF4-4BF9-B449-A9C50E9AB94F}"/>
              </a:ext>
            </a:extLst>
          </p:cNvPr>
          <p:cNvSpPr>
            <a:spLocks noGrp="1"/>
          </p:cNvSpPr>
          <p:nvPr/>
        </p:nvSpPr>
        <p:spPr>
          <a:xfrm>
            <a:off x="7562850" y="3829050"/>
            <a:ext cx="2000250" cy="400050"/>
          </a:xfrm>
          <a:prstGeom prst="roundRect">
            <a:avLst>
              <a:gd name="adj" fmla="val 14286"/>
            </a:avLst>
          </a:prstGeom>
          <a:solidFill>
            <a:srgbClr val="FFFFFF"/>
          </a:solidFill>
          <a:ln w="14288">
            <a:solidFill>
              <a:srgbClr val="76BC21"/>
            </a:solidFill>
            <a:prstDash val="solid"/>
          </a:ln>
        </p:spPr>
        <p:txBody>
          <a:bodyPr>
            <a:normAutofit/>
          </a:bodyPr>
          <a:lstStyle/>
          <a:p>
            <a:pPr algn="ctr">
              <a:defRPr sz="1350" b="1">
                <a:solidFill>
                  <a:srgbClr val="1F2A33"/>
                </a:solidFill>
                <a:latin typeface="Songti SC"/>
                <a:ea typeface="Songti SC"/>
                <a:cs typeface="Songti SC"/>
              </a:defRPr>
            </a:pPr>
            <a:r>
              <a:rPr sz="1350" b="1">
                <a:solidFill>
                  <a:srgbClr val="1F2A33"/>
                </a:solidFill>
                <a:latin typeface="Songti SC"/>
                <a:ea typeface="Songti SC"/>
                <a:cs typeface="Songti SC"/>
              </a:rPr>
              <a:t>进度偏差</a:t>
            </a:r>
          </a:p>
        </p:txBody>
      </p:sp>
      <p:sp>
        <p:nvSpPr>
          <p:cNvPr id="15" name="矩形 14">
            <a:extLst>
              <a:ext uri="{FF2B5EF4-FFF2-40B4-BE49-F238E27FC236}">
                <a16:creationId xmlns:a16="http://schemas.microsoft.com/office/drawing/2014/main" id="{2F7174F5-4CB9-4E6C-BECB-EADA1E01E9D2}"/>
              </a:ext>
            </a:extLst>
          </p:cNvPr>
          <p:cNvSpPr>
            <a:spLocks noGrp="1"/>
          </p:cNvSpPr>
          <p:nvPr/>
        </p:nvSpPr>
        <p:spPr>
          <a:xfrm>
            <a:off x="1428750" y="5334000"/>
            <a:ext cx="9334500" cy="533400"/>
          </a:xfrm>
          <a:prstGeom prst="rect">
            <a:avLst/>
          </a:prstGeom>
          <a:noFill/>
          <a:ln w="0">
            <a:noFill/>
            <a:prstDash val="solid"/>
          </a:ln>
        </p:spPr>
        <p:txBody>
          <a:bodyPr>
            <a:normAutofit/>
          </a:bodyPr>
          <a:lstStyle/>
          <a:p>
            <a:pPr algn="ctr">
              <a:defRPr sz="1575" b="0">
                <a:solidFill>
                  <a:srgbClr val="53626B"/>
                </a:solidFill>
                <a:latin typeface="Songti SC"/>
                <a:ea typeface="Songti SC"/>
                <a:cs typeface="Songti SC"/>
              </a:defRPr>
            </a:pPr>
            <a:r>
              <a:rPr sz="1575" b="0">
                <a:solidFill>
                  <a:srgbClr val="53626B"/>
                </a:solidFill>
                <a:latin typeface="Songti SC"/>
                <a:ea typeface="Songti SC"/>
                <a:cs typeface="Songti SC"/>
              </a:rPr>
              <a:t>当计划、设备、质量、参数和实物流都能投影到同一张图上，数字孪生才具备调整能力。</a:t>
            </a:r>
          </a:p>
        </p:txBody>
      </p:sp>
      <p:sp>
        <p:nvSpPr>
          <p:cNvPr id="16" name="矩形 15">
            <a:extLst>
              <a:ext uri="{FF2B5EF4-FFF2-40B4-BE49-F238E27FC236}">
                <a16:creationId xmlns:a16="http://schemas.microsoft.com/office/drawing/2014/main" id="{08A906F1-C6A2-44F8-A2BF-5AD7EA26665F}"/>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7" name="矩形 16">
            <a:extLst>
              <a:ext uri="{FF2B5EF4-FFF2-40B4-BE49-F238E27FC236}">
                <a16:creationId xmlns:a16="http://schemas.microsoft.com/office/drawing/2014/main" id="{AB09531B-90A5-406B-9B01-F84A74E3EC47}"/>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18" name="矩形 17">
            <a:extLst>
              <a:ext uri="{FF2B5EF4-FFF2-40B4-BE49-F238E27FC236}">
                <a16:creationId xmlns:a16="http://schemas.microsoft.com/office/drawing/2014/main" id="{213B3CF0-CF01-4883-90E6-64860D7E2AC1}"/>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现场穿插：价值流画板，DEMO2 场地规划软件</a:t>
            </a:r>
          </a:p>
        </p:txBody>
      </p:sp>
    </p:spTree>
    <p:extLst>
      <p:ext uri="{BB962C8B-B14F-4D97-AF65-F5344CB8AC3E}">
        <p14:creationId xmlns:p14="http://schemas.microsoft.com/office/powerpoint/2010/main" val="669884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26A47849-5B09-414C-BEA1-110DFD1FD2B3}"/>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AI 的介入位置</a:t>
            </a:r>
          </a:p>
        </p:txBody>
      </p:sp>
      <p:sp>
        <p:nvSpPr>
          <p:cNvPr id="2" name="直线连接符 1">
            <a:extLst>
              <a:ext uri="{FF2B5EF4-FFF2-40B4-BE49-F238E27FC236}">
                <a16:creationId xmlns:a16="http://schemas.microsoft.com/office/drawing/2014/main" id="{D910A3D4-FE0D-42F3-8326-A9ABC1D3773C}"/>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A9DFDBAE-44F3-4249-B80C-0C3BBE6423E7}"/>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13</a:t>
            </a:r>
          </a:p>
        </p:txBody>
      </p:sp>
      <p:sp>
        <p:nvSpPr>
          <p:cNvPr id="4" name="圆角矩形 3">
            <a:extLst>
              <a:ext uri="{FF2B5EF4-FFF2-40B4-BE49-F238E27FC236}">
                <a16:creationId xmlns:a16="http://schemas.microsoft.com/office/drawing/2014/main" id="{D8FEF303-E90B-4879-9AEF-2720994AC263}"/>
              </a:ext>
            </a:extLst>
          </p:cNvPr>
          <p:cNvSpPr>
            <a:spLocks noGrp="1"/>
          </p:cNvSpPr>
          <p:nvPr/>
        </p:nvSpPr>
        <p:spPr>
          <a:xfrm>
            <a:off x="1162050" y="1657350"/>
            <a:ext cx="2476500" cy="476250"/>
          </a:xfrm>
          <a:prstGeom prst="roundRect">
            <a:avLst>
              <a:gd name="adj" fmla="val 12000"/>
            </a:avLst>
          </a:prstGeom>
          <a:solidFill>
            <a:srgbClr val="E9F6FB"/>
          </a:solidFill>
          <a:ln w="14288">
            <a:solidFill>
              <a:srgbClr val="23A8D8"/>
            </a:solidFill>
            <a:prstDash val="solid"/>
          </a:ln>
        </p:spPr>
        <p:txBody>
          <a:bodyPr>
            <a:normAutofit/>
          </a:bodyPr>
          <a:lstStyle/>
          <a:p>
            <a:pPr algn="ctr">
              <a:defRPr sz="1650" b="1">
                <a:solidFill>
                  <a:srgbClr val="1F2A33"/>
                </a:solidFill>
                <a:latin typeface="Songti SC"/>
                <a:ea typeface="Songti SC"/>
                <a:cs typeface="Songti SC"/>
              </a:defRPr>
            </a:pPr>
            <a:r>
              <a:rPr sz="1650" b="1">
                <a:solidFill>
                  <a:srgbClr val="1F2A33"/>
                </a:solidFill>
                <a:latin typeface="Songti SC"/>
                <a:ea typeface="Songti SC"/>
                <a:cs typeface="Songti SC"/>
              </a:rPr>
              <a:t>设备边缘</a:t>
            </a:r>
          </a:p>
        </p:txBody>
      </p:sp>
      <p:sp>
        <p:nvSpPr>
          <p:cNvPr id="5" name="圆角矩形 4">
            <a:extLst>
              <a:ext uri="{FF2B5EF4-FFF2-40B4-BE49-F238E27FC236}">
                <a16:creationId xmlns:a16="http://schemas.microsoft.com/office/drawing/2014/main" id="{34CC8DDE-69D0-4E87-AEE2-8127D171BE0B}"/>
              </a:ext>
            </a:extLst>
          </p:cNvPr>
          <p:cNvSpPr>
            <a:spLocks noGrp="1"/>
          </p:cNvSpPr>
          <p:nvPr/>
        </p:nvSpPr>
        <p:spPr>
          <a:xfrm>
            <a:off x="1162050" y="2381250"/>
            <a:ext cx="2476500" cy="1238250"/>
          </a:xfrm>
          <a:prstGeom prst="roundRect">
            <a:avLst>
              <a:gd name="adj" fmla="val 4615"/>
            </a:avLst>
          </a:prstGeom>
          <a:solidFill>
            <a:srgbClr val="FFFFFF"/>
          </a:solidFill>
          <a:ln w="14288">
            <a:solidFill>
              <a:srgbClr val="B9C9CF"/>
            </a:solid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在状态异常和质量指标偏离时，辅助判断停线、降速或参数切换。</a:t>
            </a:r>
          </a:p>
        </p:txBody>
      </p:sp>
      <p:sp>
        <p:nvSpPr>
          <p:cNvPr id="6" name="圆角矩形 5">
            <a:extLst>
              <a:ext uri="{FF2B5EF4-FFF2-40B4-BE49-F238E27FC236}">
                <a16:creationId xmlns:a16="http://schemas.microsoft.com/office/drawing/2014/main" id="{02B027AF-02A5-443D-AECB-95CEB3124AC9}"/>
              </a:ext>
            </a:extLst>
          </p:cNvPr>
          <p:cNvSpPr>
            <a:spLocks noGrp="1"/>
          </p:cNvSpPr>
          <p:nvPr/>
        </p:nvSpPr>
        <p:spPr>
          <a:xfrm>
            <a:off x="4495800" y="1657350"/>
            <a:ext cx="2476500" cy="476250"/>
          </a:xfrm>
          <a:prstGeom prst="roundRect">
            <a:avLst>
              <a:gd name="adj" fmla="val 12000"/>
            </a:avLst>
          </a:prstGeom>
          <a:solidFill>
            <a:srgbClr val="F0F8E8"/>
          </a:solidFill>
          <a:ln w="14288">
            <a:solidFill>
              <a:srgbClr val="76BC21"/>
            </a:solidFill>
            <a:prstDash val="solid"/>
          </a:ln>
        </p:spPr>
        <p:txBody>
          <a:bodyPr>
            <a:normAutofit/>
          </a:bodyPr>
          <a:lstStyle/>
          <a:p>
            <a:pPr algn="ctr">
              <a:defRPr sz="1650" b="1">
                <a:solidFill>
                  <a:srgbClr val="1F2A33"/>
                </a:solidFill>
                <a:latin typeface="Songti SC"/>
                <a:ea typeface="Songti SC"/>
                <a:cs typeface="Songti SC"/>
              </a:defRPr>
            </a:pPr>
            <a:r>
              <a:rPr sz="1650" b="1">
                <a:solidFill>
                  <a:srgbClr val="1F2A33"/>
                </a:solidFill>
                <a:latin typeface="Songti SC"/>
                <a:ea typeface="Songti SC"/>
                <a:cs typeface="Songti SC"/>
              </a:rPr>
              <a:t>计划重排</a:t>
            </a:r>
          </a:p>
        </p:txBody>
      </p:sp>
      <p:sp>
        <p:nvSpPr>
          <p:cNvPr id="7" name="圆角矩形 6">
            <a:extLst>
              <a:ext uri="{FF2B5EF4-FFF2-40B4-BE49-F238E27FC236}">
                <a16:creationId xmlns:a16="http://schemas.microsoft.com/office/drawing/2014/main" id="{AD84C8EB-770E-4BF9-B48F-7316E61D08B5}"/>
              </a:ext>
            </a:extLst>
          </p:cNvPr>
          <p:cNvSpPr>
            <a:spLocks noGrp="1"/>
          </p:cNvSpPr>
          <p:nvPr/>
        </p:nvSpPr>
        <p:spPr>
          <a:xfrm>
            <a:off x="4495800" y="2381250"/>
            <a:ext cx="2476500" cy="1238250"/>
          </a:xfrm>
          <a:prstGeom prst="roundRect">
            <a:avLst>
              <a:gd name="adj" fmla="val 4615"/>
            </a:avLst>
          </a:prstGeom>
          <a:solidFill>
            <a:srgbClr val="FFFFFF"/>
          </a:solidFill>
          <a:ln w="14288">
            <a:solidFill>
              <a:srgbClr val="B9C9CF"/>
            </a:solid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用更小颗粒度监控工序进度，并生成短周期 replan 建议。</a:t>
            </a:r>
          </a:p>
        </p:txBody>
      </p:sp>
      <p:sp>
        <p:nvSpPr>
          <p:cNvPr id="8" name="圆角矩形 7">
            <a:extLst>
              <a:ext uri="{FF2B5EF4-FFF2-40B4-BE49-F238E27FC236}">
                <a16:creationId xmlns:a16="http://schemas.microsoft.com/office/drawing/2014/main" id="{90448439-C877-45D6-8940-A5AFEEFA9A3A}"/>
              </a:ext>
            </a:extLst>
          </p:cNvPr>
          <p:cNvSpPr>
            <a:spLocks noGrp="1"/>
          </p:cNvSpPr>
          <p:nvPr/>
        </p:nvSpPr>
        <p:spPr>
          <a:xfrm>
            <a:off x="7829550" y="1657350"/>
            <a:ext cx="2476500" cy="476250"/>
          </a:xfrm>
          <a:prstGeom prst="roundRect">
            <a:avLst>
              <a:gd name="adj" fmla="val 12000"/>
            </a:avLst>
          </a:prstGeom>
          <a:solidFill>
            <a:srgbClr val="E9F6FB"/>
          </a:solidFill>
          <a:ln w="14288">
            <a:solidFill>
              <a:srgbClr val="23A8D8"/>
            </a:solidFill>
            <a:prstDash val="solid"/>
          </a:ln>
        </p:spPr>
        <p:txBody>
          <a:bodyPr>
            <a:normAutofit/>
          </a:bodyPr>
          <a:lstStyle/>
          <a:p>
            <a:pPr algn="ctr">
              <a:defRPr sz="1650" b="1">
                <a:solidFill>
                  <a:srgbClr val="1F2A33"/>
                </a:solidFill>
                <a:latin typeface="Songti SC"/>
                <a:ea typeface="Songti SC"/>
                <a:cs typeface="Songti SC"/>
              </a:defRPr>
            </a:pPr>
            <a:r>
              <a:rPr sz="1650" b="1">
                <a:solidFill>
                  <a:srgbClr val="1F2A33"/>
                </a:solidFill>
                <a:latin typeface="Songti SC"/>
                <a:ea typeface="Songti SC"/>
                <a:cs typeface="Songti SC"/>
              </a:rPr>
              <a:t>参数过滤</a:t>
            </a:r>
          </a:p>
        </p:txBody>
      </p:sp>
      <p:sp>
        <p:nvSpPr>
          <p:cNvPr id="9" name="圆角矩形 8">
            <a:extLst>
              <a:ext uri="{FF2B5EF4-FFF2-40B4-BE49-F238E27FC236}">
                <a16:creationId xmlns:a16="http://schemas.microsoft.com/office/drawing/2014/main" id="{4353D95B-B8B8-4D63-BCF0-DE015907BBEC}"/>
              </a:ext>
            </a:extLst>
          </p:cNvPr>
          <p:cNvSpPr>
            <a:spLocks noGrp="1"/>
          </p:cNvSpPr>
          <p:nvPr/>
        </p:nvSpPr>
        <p:spPr>
          <a:xfrm>
            <a:off x="7829550" y="2381250"/>
            <a:ext cx="2476500" cy="1238250"/>
          </a:xfrm>
          <a:prstGeom prst="roundRect">
            <a:avLst>
              <a:gd name="adj" fmla="val 4615"/>
            </a:avLst>
          </a:prstGeom>
          <a:solidFill>
            <a:srgbClr val="FFFFFF"/>
          </a:solidFill>
          <a:ln w="14288">
            <a:solidFill>
              <a:srgbClr val="B9C9CF"/>
            </a:solidFill>
            <a:prstDash val="solid"/>
          </a:ln>
        </p:spPr>
        <p:txBody>
          <a:bodyPr>
            <a:normAutofit/>
          </a:bodyPr>
          <a:lstStyle/>
          <a:p>
            <a:pPr>
              <a:defRPr sz="1425" b="0">
                <a:solidFill>
                  <a:srgbClr val="1F2A33"/>
                </a:solidFill>
                <a:latin typeface="Songti SC"/>
                <a:ea typeface="Songti SC"/>
                <a:cs typeface="Songti SC"/>
              </a:defRPr>
            </a:pPr>
            <a:r>
              <a:rPr sz="1425" b="0">
                <a:solidFill>
                  <a:srgbClr val="1F2A33"/>
                </a:solidFill>
                <a:latin typeface="Songti SC"/>
                <a:ea typeface="Songti SC"/>
                <a:cs typeface="Songti SC"/>
              </a:rPr>
              <a:t>过滤非必要数据，保留对产品状态和工艺设定有效的参数。</a:t>
            </a:r>
          </a:p>
        </p:txBody>
      </p:sp>
      <p:sp>
        <p:nvSpPr>
          <p:cNvPr id="10" name="矩形 9">
            <a:extLst>
              <a:ext uri="{FF2B5EF4-FFF2-40B4-BE49-F238E27FC236}">
                <a16:creationId xmlns:a16="http://schemas.microsoft.com/office/drawing/2014/main" id="{DA7BB81F-7968-4F6A-89A7-F08948D2B292}"/>
              </a:ext>
            </a:extLst>
          </p:cNvPr>
          <p:cNvSpPr>
            <a:spLocks noGrp="1"/>
          </p:cNvSpPr>
          <p:nvPr/>
        </p:nvSpPr>
        <p:spPr>
          <a:xfrm>
            <a:off x="1619250" y="4876800"/>
            <a:ext cx="8953500" cy="514350"/>
          </a:xfrm>
          <a:prstGeom prst="rect">
            <a:avLst/>
          </a:prstGeom>
          <a:noFill/>
          <a:ln w="0">
            <a:noFill/>
            <a:prstDash val="solid"/>
          </a:ln>
        </p:spPr>
        <p:txBody>
          <a:bodyPr>
            <a:normAutofit/>
          </a:bodyPr>
          <a:lstStyle/>
          <a:p>
            <a:pPr algn="ctr">
              <a:defRPr sz="1650" b="0">
                <a:solidFill>
                  <a:srgbClr val="53626B"/>
                </a:solidFill>
                <a:latin typeface="Songti SC"/>
                <a:ea typeface="Songti SC"/>
                <a:cs typeface="Songti SC"/>
              </a:defRPr>
            </a:pPr>
            <a:r>
              <a:rPr sz="1650" b="0">
                <a:solidFill>
                  <a:srgbClr val="53626B"/>
                </a:solidFill>
                <a:latin typeface="Songti SC"/>
                <a:ea typeface="Songti SC"/>
                <a:cs typeface="Songti SC"/>
              </a:rPr>
              <a:t>AI 的价值建立在阶段二形成的计划基准、现场数据和调整手段之上。</a:t>
            </a:r>
          </a:p>
        </p:txBody>
      </p:sp>
      <p:sp>
        <p:nvSpPr>
          <p:cNvPr id="11" name="矩形 10">
            <a:extLst>
              <a:ext uri="{FF2B5EF4-FFF2-40B4-BE49-F238E27FC236}">
                <a16:creationId xmlns:a16="http://schemas.microsoft.com/office/drawing/2014/main" id="{3D281DAA-70B5-4BDE-A2D1-0CFBA3E1C9C2}"/>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2" name="矩形 11">
            <a:extLst>
              <a:ext uri="{FF2B5EF4-FFF2-40B4-BE49-F238E27FC236}">
                <a16:creationId xmlns:a16="http://schemas.microsoft.com/office/drawing/2014/main" id="{C67397D0-F0BE-4339-ABCA-81500993BEBD}"/>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Tree>
    <p:extLst>
      <p:ext uri="{BB962C8B-B14F-4D97-AF65-F5344CB8AC3E}">
        <p14:creationId xmlns:p14="http://schemas.microsoft.com/office/powerpoint/2010/main" val="1348753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DD108199-29E1-49BF-B2D6-BF2B819ECCE3}"/>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最终软件架构展望</a:t>
            </a:r>
          </a:p>
        </p:txBody>
      </p:sp>
      <p:sp>
        <p:nvSpPr>
          <p:cNvPr id="2" name="直线连接符 1">
            <a:extLst>
              <a:ext uri="{FF2B5EF4-FFF2-40B4-BE49-F238E27FC236}">
                <a16:creationId xmlns:a16="http://schemas.microsoft.com/office/drawing/2014/main" id="{023DD6F2-D5AC-4E15-BC4F-9ABCA969AD49}"/>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797FECE1-8CC8-4FAC-864F-18C4DCF4402B}"/>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14</a:t>
            </a:r>
          </a:p>
        </p:txBody>
      </p:sp>
      <p:sp>
        <p:nvSpPr>
          <p:cNvPr id="4" name="圆角矩形 3">
            <a:extLst>
              <a:ext uri="{FF2B5EF4-FFF2-40B4-BE49-F238E27FC236}">
                <a16:creationId xmlns:a16="http://schemas.microsoft.com/office/drawing/2014/main" id="{7D81D783-D45D-4A3C-9C54-BA1D819E0C2B}"/>
              </a:ext>
            </a:extLst>
          </p:cNvPr>
          <p:cNvSpPr>
            <a:spLocks noGrp="1"/>
          </p:cNvSpPr>
          <p:nvPr/>
        </p:nvSpPr>
        <p:spPr>
          <a:xfrm>
            <a:off x="1190625" y="1428750"/>
            <a:ext cx="1809750" cy="495300"/>
          </a:xfrm>
          <a:prstGeom prst="roundRect">
            <a:avLst>
              <a:gd name="adj" fmla="val 11538"/>
            </a:avLst>
          </a:prstGeom>
          <a:solidFill>
            <a:srgbClr val="E9F6FB"/>
          </a:solidFill>
          <a:ln w="14288">
            <a:solidFill>
              <a:srgbClr val="23A8D8"/>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计划层</a:t>
            </a:r>
          </a:p>
        </p:txBody>
      </p:sp>
      <p:sp>
        <p:nvSpPr>
          <p:cNvPr id="5" name="圆角矩形 4">
            <a:extLst>
              <a:ext uri="{FF2B5EF4-FFF2-40B4-BE49-F238E27FC236}">
                <a16:creationId xmlns:a16="http://schemas.microsoft.com/office/drawing/2014/main" id="{8E984013-B783-4D47-B5EB-4A5C9BC9B267}"/>
              </a:ext>
            </a:extLst>
          </p:cNvPr>
          <p:cNvSpPr>
            <a:spLocks noGrp="1"/>
          </p:cNvSpPr>
          <p:nvPr/>
        </p:nvSpPr>
        <p:spPr>
          <a:xfrm>
            <a:off x="3314700" y="1428750"/>
            <a:ext cx="7429500" cy="495300"/>
          </a:xfrm>
          <a:prstGeom prst="roundRect">
            <a:avLst>
              <a:gd name="adj" fmla="val 1153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形成 24H 基准、短周期 replan 和成本展开入口。</a:t>
            </a:r>
          </a:p>
        </p:txBody>
      </p:sp>
      <p:sp>
        <p:nvSpPr>
          <p:cNvPr id="6" name="圆角矩形 5">
            <a:extLst>
              <a:ext uri="{FF2B5EF4-FFF2-40B4-BE49-F238E27FC236}">
                <a16:creationId xmlns:a16="http://schemas.microsoft.com/office/drawing/2014/main" id="{2D8E6BC1-1799-4712-8B34-E2F4817E3DD5}"/>
              </a:ext>
            </a:extLst>
          </p:cNvPr>
          <p:cNvSpPr>
            <a:spLocks noGrp="1"/>
          </p:cNvSpPr>
          <p:nvPr/>
        </p:nvSpPr>
        <p:spPr>
          <a:xfrm>
            <a:off x="1190625" y="2428875"/>
            <a:ext cx="1809750" cy="495300"/>
          </a:xfrm>
          <a:prstGeom prst="roundRect">
            <a:avLst>
              <a:gd name="adj" fmla="val 11538"/>
            </a:avLst>
          </a:prstGeom>
          <a:solidFill>
            <a:srgbClr val="F0F8E8"/>
          </a:solidFill>
          <a:ln w="14288">
            <a:solidFill>
              <a:srgbClr val="76BC21"/>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过程层</a:t>
            </a:r>
          </a:p>
        </p:txBody>
      </p:sp>
      <p:sp>
        <p:nvSpPr>
          <p:cNvPr id="7" name="圆角矩形 6">
            <a:extLst>
              <a:ext uri="{FF2B5EF4-FFF2-40B4-BE49-F238E27FC236}">
                <a16:creationId xmlns:a16="http://schemas.microsoft.com/office/drawing/2014/main" id="{C0BB0E55-E1B8-4860-B456-61569FC01CBC}"/>
              </a:ext>
            </a:extLst>
          </p:cNvPr>
          <p:cNvSpPr>
            <a:spLocks noGrp="1"/>
          </p:cNvSpPr>
          <p:nvPr/>
        </p:nvSpPr>
        <p:spPr>
          <a:xfrm>
            <a:off x="3314700" y="2428875"/>
            <a:ext cx="7429500" cy="495300"/>
          </a:xfrm>
          <a:prstGeom prst="roundRect">
            <a:avLst>
              <a:gd name="adj" fmla="val 1153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承接工序、质量、设备、节拍和 WIP 的真实动作。</a:t>
            </a:r>
          </a:p>
        </p:txBody>
      </p:sp>
      <p:sp>
        <p:nvSpPr>
          <p:cNvPr id="8" name="圆角矩形 7">
            <a:extLst>
              <a:ext uri="{FF2B5EF4-FFF2-40B4-BE49-F238E27FC236}">
                <a16:creationId xmlns:a16="http://schemas.microsoft.com/office/drawing/2014/main" id="{5E7C0E56-614F-4A9E-A0AD-8B5EE96727E4}"/>
              </a:ext>
            </a:extLst>
          </p:cNvPr>
          <p:cNvSpPr>
            <a:spLocks noGrp="1"/>
          </p:cNvSpPr>
          <p:nvPr/>
        </p:nvSpPr>
        <p:spPr>
          <a:xfrm>
            <a:off x="1190625" y="3429000"/>
            <a:ext cx="1809750" cy="495300"/>
          </a:xfrm>
          <a:prstGeom prst="roundRect">
            <a:avLst>
              <a:gd name="adj" fmla="val 11538"/>
            </a:avLst>
          </a:prstGeom>
          <a:solidFill>
            <a:srgbClr val="E9F6FB"/>
          </a:solidFill>
          <a:ln w="14288">
            <a:solidFill>
              <a:srgbClr val="23A8D8"/>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数据层</a:t>
            </a:r>
          </a:p>
        </p:txBody>
      </p:sp>
      <p:sp>
        <p:nvSpPr>
          <p:cNvPr id="9" name="圆角矩形 8">
            <a:extLst>
              <a:ext uri="{FF2B5EF4-FFF2-40B4-BE49-F238E27FC236}">
                <a16:creationId xmlns:a16="http://schemas.microsoft.com/office/drawing/2014/main" id="{3168992A-ADC9-43A5-8C2C-D84D503C81DE}"/>
              </a:ext>
            </a:extLst>
          </p:cNvPr>
          <p:cNvSpPr>
            <a:spLocks noGrp="1"/>
          </p:cNvSpPr>
          <p:nvPr/>
        </p:nvSpPr>
        <p:spPr>
          <a:xfrm>
            <a:off x="3314700" y="3429000"/>
            <a:ext cx="7429500" cy="495300"/>
          </a:xfrm>
          <a:prstGeom prst="roundRect">
            <a:avLst>
              <a:gd name="adj" fmla="val 1153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按动作目的采集、过滤和沉淀有效参数。</a:t>
            </a:r>
          </a:p>
        </p:txBody>
      </p:sp>
      <p:sp>
        <p:nvSpPr>
          <p:cNvPr id="10" name="圆角矩形 9">
            <a:extLst>
              <a:ext uri="{FF2B5EF4-FFF2-40B4-BE49-F238E27FC236}">
                <a16:creationId xmlns:a16="http://schemas.microsoft.com/office/drawing/2014/main" id="{20FA16E5-A578-4B05-82BA-A18B606545A7}"/>
              </a:ext>
            </a:extLst>
          </p:cNvPr>
          <p:cNvSpPr>
            <a:spLocks noGrp="1"/>
          </p:cNvSpPr>
          <p:nvPr/>
        </p:nvSpPr>
        <p:spPr>
          <a:xfrm>
            <a:off x="1190625" y="4429125"/>
            <a:ext cx="1809750" cy="495300"/>
          </a:xfrm>
          <a:prstGeom prst="roundRect">
            <a:avLst>
              <a:gd name="adj" fmla="val 11538"/>
            </a:avLst>
          </a:prstGeom>
          <a:solidFill>
            <a:srgbClr val="F0F8E8"/>
          </a:solidFill>
          <a:ln w="14288">
            <a:solidFill>
              <a:srgbClr val="76BC21"/>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智能层</a:t>
            </a:r>
          </a:p>
        </p:txBody>
      </p:sp>
      <p:sp>
        <p:nvSpPr>
          <p:cNvPr id="11" name="圆角矩形 10">
            <a:extLst>
              <a:ext uri="{FF2B5EF4-FFF2-40B4-BE49-F238E27FC236}">
                <a16:creationId xmlns:a16="http://schemas.microsoft.com/office/drawing/2014/main" id="{AA0A1232-A0A2-4B80-99D5-B36630488975}"/>
              </a:ext>
            </a:extLst>
          </p:cNvPr>
          <p:cNvSpPr>
            <a:spLocks noGrp="1"/>
          </p:cNvSpPr>
          <p:nvPr/>
        </p:nvSpPr>
        <p:spPr>
          <a:xfrm>
            <a:off x="3314700" y="4429125"/>
            <a:ext cx="7429500" cy="495300"/>
          </a:xfrm>
          <a:prstGeom prst="roundRect">
            <a:avLst>
              <a:gd name="adj" fmla="val 11538"/>
            </a:avLst>
          </a:prstGeom>
          <a:solidFill>
            <a:srgbClr val="FFFFFF"/>
          </a:solidFill>
          <a:ln w="14288">
            <a:solidFill>
              <a:srgbClr val="B9C9CF"/>
            </a:solidFill>
            <a:prstDash val="solid"/>
          </a:ln>
        </p:spPr>
        <p:txBody>
          <a:bodyPr>
            <a:normAutofit/>
          </a:bodyPr>
          <a:lstStyle/>
          <a:p>
            <a:pPr>
              <a:defRPr sz="1500" b="0">
                <a:solidFill>
                  <a:srgbClr val="1F2A33"/>
                </a:solidFill>
                <a:latin typeface="Songti SC"/>
                <a:ea typeface="Songti SC"/>
                <a:cs typeface="Songti SC"/>
              </a:defRPr>
            </a:pPr>
            <a:r>
              <a:rPr sz="1500" b="0">
                <a:solidFill>
                  <a:srgbClr val="1F2A33"/>
                </a:solidFill>
                <a:latin typeface="Songti SC"/>
                <a:ea typeface="Songti SC"/>
                <a:cs typeface="Songti SC"/>
              </a:rPr>
              <a:t>在边缘和计划层分别承担快速响应和优化建议。</a:t>
            </a:r>
          </a:p>
        </p:txBody>
      </p:sp>
      <p:sp>
        <p:nvSpPr>
          <p:cNvPr id="12" name="矩形 11">
            <a:extLst>
              <a:ext uri="{FF2B5EF4-FFF2-40B4-BE49-F238E27FC236}">
                <a16:creationId xmlns:a16="http://schemas.microsoft.com/office/drawing/2014/main" id="{D61A46A7-F7C1-4D8F-BDE9-E38EEF6764BE}"/>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3" name="矩形 12">
            <a:extLst>
              <a:ext uri="{FF2B5EF4-FFF2-40B4-BE49-F238E27FC236}">
                <a16:creationId xmlns:a16="http://schemas.microsoft.com/office/drawing/2014/main" id="{F342BD45-F748-4FD5-A2E2-CE701E5656E1}"/>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Tree>
    <p:extLst>
      <p:ext uri="{BB962C8B-B14F-4D97-AF65-F5344CB8AC3E}">
        <p14:creationId xmlns:p14="http://schemas.microsoft.com/office/powerpoint/2010/main" val="1794500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DD9D0714-94AE-4051-82E5-1BC77398163D}"/>
              </a:ext>
            </a:extLst>
          </p:cNvPr>
          <p:cNvSpPr>
            <a:spLocks noGrp="1"/>
          </p:cNvSpPr>
          <p:nvPr/>
        </p:nvSpPr>
        <p:spPr>
          <a:xfrm>
            <a:off x="552450" y="342900"/>
            <a:ext cx="8382000" cy="533400"/>
          </a:xfrm>
          <a:prstGeom prst="rect">
            <a:avLst/>
          </a:prstGeom>
          <a:noFill/>
          <a:ln w="0">
            <a:noFill/>
            <a:prstDash val="solid"/>
          </a:ln>
        </p:spPr>
        <p:txBody>
          <a:bodyPr>
            <a:normAutofit/>
          </a:bodyPr>
          <a:lstStyle/>
          <a:p>
            <a:pPr>
              <a:defRPr sz="2100" b="1">
                <a:solidFill>
                  <a:srgbClr val="1F2A33"/>
                </a:solidFill>
                <a:latin typeface="Songti SC"/>
                <a:ea typeface="Songti SC"/>
                <a:cs typeface="Songti SC"/>
              </a:defRPr>
            </a:pPr>
            <a:r>
              <a:rPr sz="2100" b="1">
                <a:solidFill>
                  <a:srgbClr val="1F2A33"/>
                </a:solidFill>
                <a:latin typeface="Songti SC"/>
                <a:ea typeface="Songti SC"/>
                <a:cs typeface="Songti SC"/>
              </a:rPr>
              <a:t>阶段路线与下一步</a:t>
            </a:r>
          </a:p>
        </p:txBody>
      </p:sp>
      <p:sp>
        <p:nvSpPr>
          <p:cNvPr id="2" name="直线连接符 1">
            <a:extLst>
              <a:ext uri="{FF2B5EF4-FFF2-40B4-BE49-F238E27FC236}">
                <a16:creationId xmlns:a16="http://schemas.microsoft.com/office/drawing/2014/main" id="{B13249E1-A031-4C24-98CA-49684A9B4E8E}"/>
              </a:ext>
            </a:extLst>
          </p:cNvPr>
          <p:cNvSpPr>
            <a:spLocks noGrp="1"/>
          </p:cNvSpPr>
          <p:nvPr/>
        </p:nvSpPr>
        <p:spPr>
          <a:xfrm>
            <a:off x="552450" y="914400"/>
            <a:ext cx="10572750" cy="0"/>
          </a:xfrm>
          <a:prstGeom prst="line">
            <a:avLst/>
          </a:prstGeom>
          <a:noFill/>
          <a:ln w="10478">
            <a:solidFill>
              <a:srgbClr val="D3DEE2"/>
            </a:solidFill>
            <a:prstDash val="solid"/>
          </a:ln>
        </p:spPr>
      </p:sp>
      <p:sp>
        <p:nvSpPr>
          <p:cNvPr id="3" name="矩形 2">
            <a:extLst>
              <a:ext uri="{FF2B5EF4-FFF2-40B4-BE49-F238E27FC236}">
                <a16:creationId xmlns:a16="http://schemas.microsoft.com/office/drawing/2014/main" id="{2108A12F-9527-4321-BBCB-4B99117F7BD4}"/>
              </a:ext>
            </a:extLst>
          </p:cNvPr>
          <p:cNvSpPr>
            <a:spLocks noGrp="1"/>
          </p:cNvSpPr>
          <p:nvPr/>
        </p:nvSpPr>
        <p:spPr>
          <a:xfrm>
            <a:off x="11220450" y="400050"/>
            <a:ext cx="419100" cy="266700"/>
          </a:xfrm>
          <a:prstGeom prst="rect">
            <a:avLst/>
          </a:prstGeom>
          <a:noFill/>
          <a:ln w="0">
            <a:noFill/>
            <a:prstDash val="solid"/>
          </a:ln>
        </p:spPr>
        <p:txBody>
          <a:bodyPr>
            <a:normAutofit/>
          </a:bodyPr>
          <a:lstStyle/>
          <a:p>
            <a:pPr algn="r">
              <a:defRPr sz="1125" b="1">
                <a:solidFill>
                  <a:srgbClr val="76BC21"/>
                </a:solidFill>
                <a:latin typeface="Arial"/>
                <a:ea typeface="Arial"/>
                <a:cs typeface="Arial"/>
              </a:defRPr>
            </a:pPr>
            <a:r>
              <a:rPr sz="1125" b="1">
                <a:solidFill>
                  <a:srgbClr val="76BC21"/>
                </a:solidFill>
                <a:latin typeface="Arial"/>
                <a:ea typeface="Arial"/>
                <a:cs typeface="Arial"/>
              </a:rPr>
              <a:t>15</a:t>
            </a:r>
          </a:p>
        </p:txBody>
      </p:sp>
      <p:sp>
        <p:nvSpPr>
          <p:cNvPr id="4" name="圆角矩形 3">
            <a:extLst>
              <a:ext uri="{FF2B5EF4-FFF2-40B4-BE49-F238E27FC236}">
                <a16:creationId xmlns:a16="http://schemas.microsoft.com/office/drawing/2014/main" id="{9A5FF67B-EE46-4FEB-9AA7-4D99286E73F6}"/>
              </a:ext>
            </a:extLst>
          </p:cNvPr>
          <p:cNvSpPr>
            <a:spLocks noGrp="1"/>
          </p:cNvSpPr>
          <p:nvPr/>
        </p:nvSpPr>
        <p:spPr>
          <a:xfrm>
            <a:off x="1000125" y="1524000"/>
            <a:ext cx="2619375" cy="419100"/>
          </a:xfrm>
          <a:prstGeom prst="roundRect">
            <a:avLst>
              <a:gd name="adj" fmla="val 13636"/>
            </a:avLst>
          </a:prstGeom>
          <a:solidFill>
            <a:srgbClr val="E9F6FB"/>
          </a:solidFill>
          <a:ln w="14288">
            <a:solidFill>
              <a:srgbClr val="23A8D8"/>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阶段一</a:t>
            </a:r>
          </a:p>
        </p:txBody>
      </p:sp>
      <p:sp>
        <p:nvSpPr>
          <p:cNvPr id="5" name="圆角矩形 4">
            <a:extLst>
              <a:ext uri="{FF2B5EF4-FFF2-40B4-BE49-F238E27FC236}">
                <a16:creationId xmlns:a16="http://schemas.microsoft.com/office/drawing/2014/main" id="{362EACA3-620A-4720-B4F0-5E4FB045CF72}"/>
              </a:ext>
            </a:extLst>
          </p:cNvPr>
          <p:cNvSpPr>
            <a:spLocks noGrp="1"/>
          </p:cNvSpPr>
          <p:nvPr/>
        </p:nvSpPr>
        <p:spPr>
          <a:xfrm>
            <a:off x="1000125" y="2114550"/>
            <a:ext cx="2619375" cy="666750"/>
          </a:xfrm>
          <a:prstGeom prst="roundRect">
            <a:avLst>
              <a:gd name="adj" fmla="val 8571"/>
            </a:avLst>
          </a:prstGeom>
          <a:solidFill>
            <a:srgbClr val="FFFFFF"/>
          </a:solidFill>
          <a:ln w="14288">
            <a:solidFill>
              <a:srgbClr val="B9C9CF"/>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当前功能业务理解</a:t>
            </a:r>
          </a:p>
        </p:txBody>
      </p:sp>
      <p:sp>
        <p:nvSpPr>
          <p:cNvPr id="6" name="圆角矩形 5">
            <a:extLst>
              <a:ext uri="{FF2B5EF4-FFF2-40B4-BE49-F238E27FC236}">
                <a16:creationId xmlns:a16="http://schemas.microsoft.com/office/drawing/2014/main" id="{3E23F7BF-2B56-44A1-A616-F85819D473E3}"/>
              </a:ext>
            </a:extLst>
          </p:cNvPr>
          <p:cNvSpPr>
            <a:spLocks noGrp="1"/>
          </p:cNvSpPr>
          <p:nvPr/>
        </p:nvSpPr>
        <p:spPr>
          <a:xfrm>
            <a:off x="1000125" y="2971800"/>
            <a:ext cx="2619375" cy="1485900"/>
          </a:xfrm>
          <a:prstGeom prst="roundRect">
            <a:avLst>
              <a:gd name="adj" fmla="val 3846"/>
            </a:avLst>
          </a:prstGeom>
          <a:solidFill>
            <a:srgbClr val="FFFFFF"/>
          </a:solidFill>
          <a:ln w="14288">
            <a:solidFill>
              <a:srgbClr val="B9C9CF"/>
            </a:solidFill>
            <a:prstDash val="solid"/>
          </a:ln>
        </p:spPr>
        <p:txBody>
          <a:bodyPr>
            <a:normAutofit/>
          </a:bodyPr>
          <a:lstStyle/>
          <a:p>
            <a:pPr>
              <a:defRPr sz="1350" b="0">
                <a:solidFill>
                  <a:srgbClr val="1F2A33"/>
                </a:solidFill>
                <a:latin typeface="Songti SC"/>
                <a:ea typeface="Songti SC"/>
                <a:cs typeface="Songti SC"/>
              </a:defRPr>
            </a:pPr>
            <a:r>
              <a:rPr sz="1350" b="0">
                <a:solidFill>
                  <a:srgbClr val="1F2A33"/>
                </a:solidFill>
                <a:latin typeface="Songti SC"/>
                <a:ea typeface="Songti SC"/>
                <a:cs typeface="Songti SC"/>
              </a:rPr>
              <a:t>价值流画板、功能重组表、当前能力判断</a:t>
            </a:r>
          </a:p>
        </p:txBody>
      </p:sp>
      <p:sp>
        <p:nvSpPr>
          <p:cNvPr id="7" name="圆角矩形 6">
            <a:extLst>
              <a:ext uri="{FF2B5EF4-FFF2-40B4-BE49-F238E27FC236}">
                <a16:creationId xmlns:a16="http://schemas.microsoft.com/office/drawing/2014/main" id="{9A7F2ED9-46C5-47F3-B91E-272F5819938D}"/>
              </a:ext>
            </a:extLst>
          </p:cNvPr>
          <p:cNvSpPr>
            <a:spLocks noGrp="1"/>
          </p:cNvSpPr>
          <p:nvPr/>
        </p:nvSpPr>
        <p:spPr>
          <a:xfrm>
            <a:off x="4543425" y="1524000"/>
            <a:ext cx="2619375" cy="419100"/>
          </a:xfrm>
          <a:prstGeom prst="roundRect">
            <a:avLst>
              <a:gd name="adj" fmla="val 13636"/>
            </a:avLst>
          </a:prstGeom>
          <a:solidFill>
            <a:srgbClr val="F0F8E8"/>
          </a:solidFill>
          <a:ln w="14288">
            <a:solidFill>
              <a:srgbClr val="76BC21"/>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阶段二</a:t>
            </a:r>
          </a:p>
        </p:txBody>
      </p:sp>
      <p:sp>
        <p:nvSpPr>
          <p:cNvPr id="8" name="圆角矩形 7">
            <a:extLst>
              <a:ext uri="{FF2B5EF4-FFF2-40B4-BE49-F238E27FC236}">
                <a16:creationId xmlns:a16="http://schemas.microsoft.com/office/drawing/2014/main" id="{418DFE2D-D995-4071-A382-FF324F5E4C07}"/>
              </a:ext>
            </a:extLst>
          </p:cNvPr>
          <p:cNvSpPr>
            <a:spLocks noGrp="1"/>
          </p:cNvSpPr>
          <p:nvPr/>
        </p:nvSpPr>
        <p:spPr>
          <a:xfrm>
            <a:off x="4543425" y="2114550"/>
            <a:ext cx="2619375" cy="666750"/>
          </a:xfrm>
          <a:prstGeom prst="roundRect">
            <a:avLst>
              <a:gd name="adj" fmla="val 8571"/>
            </a:avLst>
          </a:prstGeom>
          <a:solidFill>
            <a:srgbClr val="FFFFFF"/>
          </a:solidFill>
          <a:ln w="14288">
            <a:solidFill>
              <a:srgbClr val="B9C9CF"/>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数据采集与计划闭环</a:t>
            </a:r>
          </a:p>
        </p:txBody>
      </p:sp>
      <p:sp>
        <p:nvSpPr>
          <p:cNvPr id="9" name="圆角矩形 8">
            <a:extLst>
              <a:ext uri="{FF2B5EF4-FFF2-40B4-BE49-F238E27FC236}">
                <a16:creationId xmlns:a16="http://schemas.microsoft.com/office/drawing/2014/main" id="{48084253-1BFC-4B9B-9242-2513792F9896}"/>
              </a:ext>
            </a:extLst>
          </p:cNvPr>
          <p:cNvSpPr>
            <a:spLocks noGrp="1"/>
          </p:cNvSpPr>
          <p:nvPr/>
        </p:nvSpPr>
        <p:spPr>
          <a:xfrm>
            <a:off x="4543425" y="2971800"/>
            <a:ext cx="2619375" cy="1485900"/>
          </a:xfrm>
          <a:prstGeom prst="roundRect">
            <a:avLst>
              <a:gd name="adj" fmla="val 3846"/>
            </a:avLst>
          </a:prstGeom>
          <a:solidFill>
            <a:srgbClr val="FFFFFF"/>
          </a:solidFill>
          <a:ln w="14288">
            <a:solidFill>
              <a:srgbClr val="B9C9CF"/>
            </a:solidFill>
            <a:prstDash val="solid"/>
          </a:ln>
        </p:spPr>
        <p:txBody>
          <a:bodyPr>
            <a:normAutofit/>
          </a:bodyPr>
          <a:lstStyle/>
          <a:p>
            <a:pPr>
              <a:defRPr sz="1350" b="0">
                <a:solidFill>
                  <a:srgbClr val="1F2A33"/>
                </a:solidFill>
                <a:latin typeface="Songti SC"/>
                <a:ea typeface="Songti SC"/>
                <a:cs typeface="Songti SC"/>
              </a:defRPr>
            </a:pPr>
            <a:r>
              <a:rPr sz="1350" b="0">
                <a:solidFill>
                  <a:srgbClr val="1F2A33"/>
                </a:solidFill>
                <a:latin typeface="Songti SC"/>
                <a:ea typeface="Songti SC"/>
                <a:cs typeface="Songti SC"/>
              </a:rPr>
              <a:t>全工序数据、24H 计划、拉动物流、replan</a:t>
            </a:r>
          </a:p>
        </p:txBody>
      </p:sp>
      <p:sp>
        <p:nvSpPr>
          <p:cNvPr id="10" name="圆角矩形 9">
            <a:extLst>
              <a:ext uri="{FF2B5EF4-FFF2-40B4-BE49-F238E27FC236}">
                <a16:creationId xmlns:a16="http://schemas.microsoft.com/office/drawing/2014/main" id="{942ED88F-CCD6-47E7-9654-FA540DE80DE0}"/>
              </a:ext>
            </a:extLst>
          </p:cNvPr>
          <p:cNvSpPr>
            <a:spLocks noGrp="1"/>
          </p:cNvSpPr>
          <p:nvPr/>
        </p:nvSpPr>
        <p:spPr>
          <a:xfrm>
            <a:off x="8086725" y="1524000"/>
            <a:ext cx="2619375" cy="419100"/>
          </a:xfrm>
          <a:prstGeom prst="roundRect">
            <a:avLst>
              <a:gd name="adj" fmla="val 13636"/>
            </a:avLst>
          </a:prstGeom>
          <a:solidFill>
            <a:srgbClr val="E9F6FB"/>
          </a:solidFill>
          <a:ln w="14288">
            <a:solidFill>
              <a:srgbClr val="23A8D8"/>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阶段三</a:t>
            </a:r>
          </a:p>
        </p:txBody>
      </p:sp>
      <p:sp>
        <p:nvSpPr>
          <p:cNvPr id="11" name="圆角矩形 10">
            <a:extLst>
              <a:ext uri="{FF2B5EF4-FFF2-40B4-BE49-F238E27FC236}">
                <a16:creationId xmlns:a16="http://schemas.microsoft.com/office/drawing/2014/main" id="{6447EE62-0BF6-4815-8734-0F8C08752F88}"/>
              </a:ext>
            </a:extLst>
          </p:cNvPr>
          <p:cNvSpPr>
            <a:spLocks noGrp="1"/>
          </p:cNvSpPr>
          <p:nvPr/>
        </p:nvSpPr>
        <p:spPr>
          <a:xfrm>
            <a:off x="8086725" y="2114550"/>
            <a:ext cx="2619375" cy="666750"/>
          </a:xfrm>
          <a:prstGeom prst="roundRect">
            <a:avLst>
              <a:gd name="adj" fmla="val 8571"/>
            </a:avLst>
          </a:prstGeom>
          <a:solidFill>
            <a:srgbClr val="FFFFFF"/>
          </a:solidFill>
          <a:ln w="14288">
            <a:solidFill>
              <a:srgbClr val="B9C9CF"/>
            </a:solidFill>
            <a:prstDash val="solid"/>
          </a:ln>
        </p:spPr>
        <p:txBody>
          <a:bodyPr>
            <a:normAutofit/>
          </a:bodyPr>
          <a:lstStyle/>
          <a:p>
            <a:pPr algn="ctr">
              <a:defRPr sz="1500" b="1">
                <a:solidFill>
                  <a:srgbClr val="1F2A33"/>
                </a:solidFill>
                <a:latin typeface="Songti SC"/>
                <a:ea typeface="Songti SC"/>
                <a:cs typeface="Songti SC"/>
              </a:defRPr>
            </a:pPr>
            <a:r>
              <a:rPr sz="1500" b="1">
                <a:solidFill>
                  <a:srgbClr val="1F2A33"/>
                </a:solidFill>
                <a:latin typeface="Songti SC"/>
                <a:ea typeface="Songti SC"/>
                <a:cs typeface="Songti SC"/>
              </a:rPr>
              <a:t>AI 与数字孪生调整</a:t>
            </a:r>
          </a:p>
        </p:txBody>
      </p:sp>
      <p:sp>
        <p:nvSpPr>
          <p:cNvPr id="12" name="圆角矩形 11">
            <a:extLst>
              <a:ext uri="{FF2B5EF4-FFF2-40B4-BE49-F238E27FC236}">
                <a16:creationId xmlns:a16="http://schemas.microsoft.com/office/drawing/2014/main" id="{68E50201-743A-4F19-BD29-BE309ADEA8D8}"/>
              </a:ext>
            </a:extLst>
          </p:cNvPr>
          <p:cNvSpPr>
            <a:spLocks noGrp="1"/>
          </p:cNvSpPr>
          <p:nvPr/>
        </p:nvSpPr>
        <p:spPr>
          <a:xfrm>
            <a:off x="8086725" y="2971800"/>
            <a:ext cx="2619375" cy="1485900"/>
          </a:xfrm>
          <a:prstGeom prst="roundRect">
            <a:avLst>
              <a:gd name="adj" fmla="val 3846"/>
            </a:avLst>
          </a:prstGeom>
          <a:solidFill>
            <a:srgbClr val="FFFFFF"/>
          </a:solidFill>
          <a:ln w="14288">
            <a:solidFill>
              <a:srgbClr val="B9C9CF"/>
            </a:solidFill>
            <a:prstDash val="solid"/>
          </a:ln>
        </p:spPr>
        <p:txBody>
          <a:bodyPr>
            <a:normAutofit/>
          </a:bodyPr>
          <a:lstStyle/>
          <a:p>
            <a:pPr>
              <a:defRPr sz="1350" b="0">
                <a:solidFill>
                  <a:srgbClr val="1F2A33"/>
                </a:solidFill>
                <a:latin typeface="Songti SC"/>
                <a:ea typeface="Songti SC"/>
                <a:cs typeface="Songti SC"/>
              </a:defRPr>
            </a:pPr>
            <a:r>
              <a:rPr sz="1350" b="0">
                <a:solidFill>
                  <a:srgbClr val="1F2A33"/>
                </a:solidFill>
                <a:latin typeface="Songti SC"/>
                <a:ea typeface="Songti SC"/>
                <a:cs typeface="Songti SC"/>
              </a:rPr>
              <a:t>边缘模型、参数过滤、短周期重排、成本优化</a:t>
            </a:r>
          </a:p>
        </p:txBody>
      </p:sp>
      <p:sp>
        <p:nvSpPr>
          <p:cNvPr id="13" name="矩形 12">
            <a:extLst>
              <a:ext uri="{FF2B5EF4-FFF2-40B4-BE49-F238E27FC236}">
                <a16:creationId xmlns:a16="http://schemas.microsoft.com/office/drawing/2014/main" id="{A3DC92C8-70CE-4A77-B390-FE8E91BBA9DD}"/>
              </a:ext>
            </a:extLst>
          </p:cNvPr>
          <p:cNvSpPr>
            <a:spLocks noGrp="1"/>
          </p:cNvSpPr>
          <p:nvPr/>
        </p:nvSpPr>
        <p:spPr>
          <a:xfrm>
            <a:off x="0" y="6553200"/>
            <a:ext cx="8763000" cy="171450"/>
          </a:xfrm>
          <a:prstGeom prst="rect">
            <a:avLst/>
          </a:prstGeom>
          <a:solidFill>
            <a:srgbClr val="23A8D8"/>
          </a:solidFill>
          <a:ln w="0">
            <a:solidFill>
              <a:srgbClr val="23A8D8"/>
            </a:solidFill>
            <a:prstDash val="solid"/>
          </a:ln>
        </p:spPr>
      </p:sp>
      <p:sp>
        <p:nvSpPr>
          <p:cNvPr id="14" name="矩形 13">
            <a:extLst>
              <a:ext uri="{FF2B5EF4-FFF2-40B4-BE49-F238E27FC236}">
                <a16:creationId xmlns:a16="http://schemas.microsoft.com/office/drawing/2014/main" id="{68543DEF-0395-4C71-B82C-D1F1C5BB7FD2}"/>
              </a:ext>
            </a:extLst>
          </p:cNvPr>
          <p:cNvSpPr>
            <a:spLocks noGrp="1"/>
          </p:cNvSpPr>
          <p:nvPr/>
        </p:nvSpPr>
        <p:spPr>
          <a:xfrm>
            <a:off x="8763000" y="6553200"/>
            <a:ext cx="3429000" cy="171450"/>
          </a:xfrm>
          <a:prstGeom prst="rect">
            <a:avLst/>
          </a:prstGeom>
          <a:solidFill>
            <a:srgbClr val="76BC21"/>
          </a:solidFill>
          <a:ln w="0">
            <a:solidFill>
              <a:srgbClr val="76BC21"/>
            </a:solidFill>
            <a:prstDash val="solid"/>
          </a:ln>
        </p:spPr>
      </p:sp>
      <p:sp>
        <p:nvSpPr>
          <p:cNvPr id="15" name="矩形 14">
            <a:extLst>
              <a:ext uri="{FF2B5EF4-FFF2-40B4-BE49-F238E27FC236}">
                <a16:creationId xmlns:a16="http://schemas.microsoft.com/office/drawing/2014/main" id="{2C1EFB94-3345-4876-BF52-5C82D385AAA8}"/>
              </a:ext>
            </a:extLst>
          </p:cNvPr>
          <p:cNvSpPr>
            <a:spLocks noGrp="1"/>
          </p:cNvSpPr>
          <p:nvPr/>
        </p:nvSpPr>
        <p:spPr>
          <a:xfrm>
            <a:off x="552450" y="6191250"/>
            <a:ext cx="6191250" cy="228600"/>
          </a:xfrm>
          <a:prstGeom prst="rect">
            <a:avLst/>
          </a:prstGeom>
          <a:noFill/>
          <a:ln w="0">
            <a:noFill/>
            <a:prstDash val="solid"/>
          </a:ln>
        </p:spPr>
        <p:txBody>
          <a:bodyPr>
            <a:normAutofit fontScale="85714"/>
          </a:bodyPr>
          <a:lstStyle/>
          <a:p>
            <a:pPr>
              <a:defRPr sz="1050" b="0">
                <a:solidFill>
                  <a:srgbClr val="53626B"/>
                </a:solidFill>
                <a:latin typeface="Songti SC"/>
                <a:ea typeface="Songti SC"/>
                <a:cs typeface="Songti SC"/>
              </a:defRPr>
            </a:pPr>
            <a:r>
              <a:rPr sz="1050" b="0">
                <a:solidFill>
                  <a:srgbClr val="53626B"/>
                </a:solidFill>
                <a:latin typeface="Songti SC"/>
                <a:ea typeface="Songti SC"/>
                <a:cs typeface="Songti SC"/>
              </a:rPr>
              <a:t>现场穿插：价值流画板</a:t>
            </a:r>
          </a:p>
        </p:txBody>
      </p:sp>
    </p:spTree>
    <p:extLst>
      <p:ext uri="{BB962C8B-B14F-4D97-AF65-F5344CB8AC3E}">
        <p14:creationId xmlns:p14="http://schemas.microsoft.com/office/powerpoint/2010/main" val="2246847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741</Words>
  <Application>Microsoft Macintosh PowerPoint</Application>
  <DocSecurity>0</DocSecurity>
  <PresentationFormat>宽屏</PresentationFormat>
  <Paragraphs>223</Paragraphs>
  <Slides>16</Slides>
  <Notes>16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Songti SC</vt: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 Jiajun</cp:lastModifiedBy>
  <cp:revision>2</cp:revision>
  <dcterms:created xsi:type="dcterms:W3CDTF">2026-09-20T02:36:53Z</dcterms:created>
  <dcterms:modified xsi:type="dcterms:W3CDTF">2026-09-20T03:35:20Z</dcterms:modified>
</cp:coreProperties>
</file>