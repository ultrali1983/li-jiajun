
<file path=[Content_Types].xml><?xml version="1.0" encoding="utf-8"?>
<ns0:Types xmlns:ns0="http://schemas.openxmlformats.org/package/2006/content-types">
  <ns0:Default Extension="png" ContentType="image/png"/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notesMasters/notesMaster1.xml" ContentType="application/vnd.openxmlformats-officedocument.presentationml.notesMaster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theme/theme2.xml" ContentType="application/vnd.openxmlformats-officedocument.theme+xml"/>
  <ns0:Override PartName="/ppt/notesSlides/notesSlide1.xml" ContentType="application/vnd.openxmlformats-officedocument.presentationml.notesSlide+xml"/>
  <ns0:Override PartName="/ppt/notesSlides/notesSlide2.xml" ContentType="application/vnd.openxmlformats-officedocument.presentationml.notesSlide+xml"/>
  <ns0:Override PartName="/ppt/notesSlides/notesSlide3.xml" ContentType="application/vnd.openxmlformats-officedocument.presentationml.notesSlide+xml"/>
  <ns0:Override PartName="/ppt/notesSlides/notesSlide4.xml" ContentType="application/vnd.openxmlformats-officedocument.presentationml.notesSlide+xml"/>
  <ns0:Override PartName="/ppt/notesSlides/notesSlide5.xml" ContentType="application/vnd.openxmlformats-officedocument.presentationml.notesSlide+xml"/>
  <ns0:Override PartName="/ppt/notesSlides/notesSlide6.xml" ContentType="application/vnd.openxmlformats-officedocument.presentationml.notesSlide+xml"/>
  <ns0:Override PartName="/ppt/notesSlides/notesSlide7.xml" ContentType="application/vnd.openxmlformats-officedocument.presentationml.notesSlide+xml"/>
  <ns0:Override PartName="/ppt/notesSlides/notesSlide8.xml" ContentType="application/vnd.openxmlformats-officedocument.presentationml.notesSlide+xml"/>
  <ns0:Override PartName="/ppt/notesSlides/notesSlide9.xml" ContentType="application/vnd.openxmlformats-officedocument.presentationml.notesSlide+xml"/>
  <ns0:Override PartName="/ppt/notesSlides/notesSlide10.xml" ContentType="application/vnd.openxmlformats-officedocument.presentationml.notesSlide+xml"/>
  <ns0:Override PartName="/ppt/notesSlides/notesSlide11.xml" ContentType="application/vnd.openxmlformats-officedocument.presentationml.notesSlide+xml"/>
  <ns0:Override PartName="/ppt/notesSlides/notesSlide12.xml" ContentType="application/vnd.openxmlformats-officedocument.presentationml.notesSlide+xml"/>
  <ns0:Override PartName="/ppt/notesSlides/notesSlide13.xml" ContentType="application/vnd.openxmlformats-officedocument.presentationml.notesSlide+xml"/>
  <ns0:Override PartName="/ppt/notesSlides/notesSlide14.xml" ContentType="application/vnd.openxmlformats-officedocument.presentationml.notesSlide+xml"/>
  <ns0:Override PartName="/ppt/notesSlides/notesSlide15.xml" ContentType="application/vnd.openxmlformats-officedocument.presentationml.notesSlide+xml"/>
  <ns0:Override PartName="/ppt/notesSlides/notesSlide16.xml" ContentType="application/vnd.openxmlformats-officedocument.presentationml.notesSlide+xml"/>
  <ns0:Override PartName="/ppt/notesSlides/notesSlide17.xml" ContentType="application/vnd.openxmlformats-officedocument.presentationml.notesSlide+xml"/>
  <ns0:Override PartName="/ppt/notesSlides/notesSlide18.xml" ContentType="application/vnd.openxmlformats-officedocument.presentationml.notesSlide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slides/slide19.xml" ContentType="application/vnd.openxmlformats-officedocument.presentationml.slide+xml"/>
</ns0: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20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4" r:id="rId25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485"/>
    <p:restoredTop sz="96081"/>
  </p:normalViewPr>
  <p:slideViewPr>
    <p:cSldViewPr snapToGrid="0">
      <p:cViewPr varScale="1">
        <p:scale>
          <a:sx n="120" d="100"/>
          <a:sy n="120" d="100"/>
        </p:scale>
        <p:origin x="3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?>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presProps" Target="pres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notesMaster" Target="notesMasters/notesMaster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tableStyles" Target="tableStyle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theme" Target="theme/theme1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viewProps" Target="viewProps.xml" /><Relationship Id="rId25" Type="http://schemas.openxmlformats.org/officeDocument/2006/relationships/slide" Target="slides/slide19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封面已去除公司 logo 和名称，仅保留原模板的蓝绿底栏风格。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用户手动加入的原系统/软件规划路径来源页，作为后续解读来源。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这里解释 CATL强化要求（浙江海威）的由来：主要客户关心供应商过程是否稳定、可控、可追溯。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这不是模块替换，而是把客户要求重新归入业务能力。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进入价值流后才能看清功能发生在哪、解决什么问题、输出什么证据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回答：CATL强化要求（浙江海威）是否能从二阶段系统规划中展开，以及当前条件是否足够。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结合成本展开：不同拉动方式会影响库存占用、等待时间、换线和异常调整成本。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%E6%B5%99%E6%B1%9F%E6%B5%B7%E5%A8%81/%E6%B5%B7%E5%A8%81%E4%BF%A1%E6%81%AF%E7%B3%BB%E7%BB%9F_%E4%B8%9A%E5%8A%A1%E8%BF%87%E7%A8%8B%E9%87%8D%E7%BB%84%E5%B7%A5%E4%BD%9C%E5%8F%B0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%E6%B5%99%E6%B1%9F%E6%B5%B7%E5%A8%81/%E6%B5%B7%E5%A8%81%E4%BB%B7%E5%80%BC%E6%B5%81_%E5%8A%9F%E8%83%BD%E6%A0%87%E6%B3%A8%E7%94%BB%E6%9D%BF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%E6%B5%99%E6%B1%9F%E6%B5%B7%E5%A8%81/%E6%B5%B7%E5%A8%81%E4%BB%B7%E5%80%BC%E6%B5%81_%E5%8A%9F%E8%83%BD%E6%A0%87%E6%B3%A8%E7%94%BB%E6%9D%BF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%E6%B5%99%E6%B1%9F%E6%B5%B7%E5%A8%81/%E6%B5%B7%E5%A8%81%E4%BF%A1%E6%81%AF%E7%B3%BB%E7%BB%9F_%E4%B8%9A%E5%8A%A1%E8%BF%87%E7%A8%8B%E9%87%8D%E7%BB%84%E5%B7%A5%E4%BD%9C%E5%8F%B0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%E6%B5%99%E6%B1%9F%E6%B5%B7%E5%A8%81/%E6%B5%B7%E5%A8%81%E4%BB%B7%E5%80%BC%E6%B5%81_%E5%8A%9F%E8%83%BD%E6%A0%87%E6%B3%A8%E7%94%BB%E6%9D%BF.html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%E6%B5%99%E6%B1%9F%E6%B5%B7%E5%A8%81/%E6%B5%B7%E5%A8%81%E4%BB%B7%E5%80%BC%E6%B5%81_%E5%8A%9F%E8%83%BD%E6%A0%87%E6%B3%A8%E7%94%BB%E6%9D%BF.ht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capa.%20calculation/%E6%8E%92%E4%BA%A7%E6%A8%A1%E5%9E%8B/formal.html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%E6%B5%99%E6%B1%9F%E6%B5%B7%E5%A8%81/%E6%B5%B7%E5%A8%81%E4%BB%B7%E5%80%BC%E6%B5%81_%E5%8A%9F%E8%83%BD%E6%A0%87%E6%B3%A8%E7%94%BB%E6%9D%BF.html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%E6%B5%99%E6%B1%9F%E6%B5%B7%E5%A8%81/%E6%B5%B7%E5%A8%81%E4%BB%B7%E5%80%BC%E6%B5%81_%E5%8A%9F%E8%83%BD%E6%A0%87%E6%B3%A8%E7%94%BB%E6%9D%BF.html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0DEFB513-296D-4E18-9270-3CF848062694}"/>
              </a:ext>
            </a:extLst>
          </p:cNvPr>
          <p:cNvSpPr>
            <a:spLocks noGrp="1"/>
          </p:cNvSpPr>
          <p:nvPr/>
        </p:nvSpPr>
        <p:spPr>
          <a:xfrm>
            <a:off x="1524000" y="2362200"/>
            <a:ext cx="9144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信息系统建设理解与下一阶段路径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5CD6A78-BE73-4C56-9049-76094B138B43}"/>
              </a:ext>
            </a:extLst>
          </p:cNvPr>
          <p:cNvSpPr>
            <a:spLocks noGrp="1"/>
          </p:cNvSpPr>
          <p:nvPr/>
        </p:nvSpPr>
        <p:spPr>
          <a:xfrm>
            <a:off x="2286000" y="3143250"/>
            <a:ext cx="762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客户要求、运营能力与系统建设路径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637E805-AA32-4752-90D9-86F2D8B5B3F5}"/>
              </a:ext>
            </a:extLst>
          </p:cNvPr>
          <p:cNvSpPr>
            <a:spLocks noGrp="1"/>
          </p:cNvSpPr>
          <p:nvPr/>
        </p:nvSpPr>
        <p:spPr>
          <a:xfrm>
            <a:off x="0" y="6210300"/>
            <a:ext cx="7429500" cy="2857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</a:ln>
        </p:spPr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01DE2678-2547-4DAB-8FE5-3ACC0B3D8912}"/>
              </a:ext>
            </a:extLst>
          </p:cNvPr>
          <p:cNvSpPr>
            <a:spLocks noGrp="1"/>
          </p:cNvSpPr>
          <p:nvPr/>
        </p:nvSpPr>
        <p:spPr>
          <a:xfrm>
            <a:off x="7239000" y="6210300"/>
            <a:ext cx="1143000" cy="285750"/>
          </a:xfrm>
          <a:prstGeom prst="parallelogram">
            <a:avLst/>
          </a:prstGeom>
          <a:solidFill>
            <a:srgbClr val="23A8D8"/>
          </a:solidFill>
          <a:ln w="0">
            <a:solidFill>
              <a:srgbClr val="23A8D8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916F003-955B-40F3-AE6B-9F9552BEDD9E}"/>
              </a:ext>
            </a:extLst>
          </p:cNvPr>
          <p:cNvSpPr>
            <a:spLocks noGrp="1"/>
          </p:cNvSpPr>
          <p:nvPr/>
        </p:nvSpPr>
        <p:spPr>
          <a:xfrm>
            <a:off x="8172450" y="6210300"/>
            <a:ext cx="4019550" cy="2857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</a:ln>
        </p:spPr>
      </p:sp>
    </p:spTree>
    <p:extLst>
      <p:ext uri="{BB962C8B-B14F-4D97-AF65-F5344CB8AC3E}">
        <p14:creationId xmlns:p14="http://schemas.microsoft.com/office/powerpoint/2010/main" val="1518594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6C895884-3FB8-4F6E-8602-BBFA086BA4DA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原系统/软件规划路径来源页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97325038-C902-4CBB-B8D0-079594590BD5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0BCBA13-F2CE-4162-92DD-07BB93C1BB90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342900"/>
            <a:ext cx="12192000" cy="6858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8F4ACCC-A5FF-4075-AE19-8210529A4478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C39ED1F-02F0-4D3A-86AC-C344B7D85262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78322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9C8EBD76-6EF9-48CF-9B6E-644910DBA9A5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20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系统搭建与路径</a:t>
            </a:r>
            <a:endParaRPr sz="20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AED45B83-ADF5-4A8E-A23B-E6DCD98ADA14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DF9DB6A-5C3E-4A33-9983-A99C884FDA80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BB914E1A-0D61-4B77-8F05-BEEB7EF3E68C}"/>
              </a:ext>
            </a:extLst>
          </p:cNvPr>
          <p:cNvSpPr>
            <a:spLocks noGrp="1"/>
          </p:cNvSpPr>
          <p:nvPr/>
        </p:nvSpPr>
        <p:spPr>
          <a:xfrm>
            <a:off x="81915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原系统/软件规划路径解读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E674FEEC-165E-4C72-95EA-BB5C62F6ECBB}"/>
              </a:ext>
            </a:extLst>
          </p:cNvPr>
          <p:cNvSpPr>
            <a:spLocks noGrp="1"/>
          </p:cNvSpPr>
          <p:nvPr/>
        </p:nvSpPr>
        <p:spPr>
          <a:xfrm>
            <a:off x="81915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宁波海威与浙江海威已有两阶段系统规划，浙江海威</a:t>
            </a:r>
            <a:r>
              <a:rPr lang="zh-CN" altLang="en-US"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基于</a:t>
            </a: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CATL要求进一步补强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5C2CCBA1-061C-4A92-BE5D-E37FB10E3187}"/>
              </a:ext>
            </a:extLst>
          </p:cNvPr>
          <p:cNvSpPr>
            <a:spLocks noGrp="1"/>
          </p:cNvSpPr>
          <p:nvPr/>
        </p:nvSpPr>
        <p:spPr>
          <a:xfrm>
            <a:off x="453390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运营能力剖析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025F00C9-449E-462B-9C6C-4C679DE17E9D}"/>
              </a:ext>
            </a:extLst>
          </p:cNvPr>
          <p:cNvSpPr>
            <a:spLocks noGrp="1"/>
          </p:cNvSpPr>
          <p:nvPr/>
        </p:nvSpPr>
        <p:spPr>
          <a:xfrm>
            <a:off x="453390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客户关注的不是系统名称，而是稳定交付、过程可控和质量可证明。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70ECD985-13C9-416D-A106-CBAE40C334ED}"/>
              </a:ext>
            </a:extLst>
          </p:cNvPr>
          <p:cNvSpPr>
            <a:spLocks noGrp="1"/>
          </p:cNvSpPr>
          <p:nvPr/>
        </p:nvSpPr>
        <p:spPr>
          <a:xfrm>
            <a:off x="824865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系统建设路径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28B0BD33-9791-4CF2-B6CE-33CEF8D8AA65}"/>
              </a:ext>
            </a:extLst>
          </p:cNvPr>
          <p:cNvSpPr>
            <a:spLocks noGrp="1"/>
          </p:cNvSpPr>
          <p:nvPr/>
        </p:nvSpPr>
        <p:spPr>
          <a:xfrm>
            <a:off x="824865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系统工具要回应当前运作问题，并强化计划、物料、质量和设备数据能力。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A89648C-069F-40C1-B248-1B3157903450}"/>
              </a:ext>
            </a:extLst>
          </p:cNvPr>
          <p:cNvSpPr>
            <a:spLocks noGrp="1"/>
          </p:cNvSpPr>
          <p:nvPr/>
        </p:nvSpPr>
        <p:spPr>
          <a:xfrm>
            <a:off x="1809750" y="497205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客户要求是入口，运营能力是主题，系统功能是手段。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AFA3A8E-9A4F-48AF-882E-A6DCABF410F1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285339C-FCF4-4B7C-B665-B514380610B3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78885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A91E43E-B65E-403D-9138-2BD49BE136B9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原系统规划路径的重新</a:t>
            </a:r>
            <a:r>
              <a:rPr lang="zh-CN" altLang="en-US" sz="20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解读</a:t>
            </a:r>
            <a:endParaRPr sz="20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6A14F536-2D2A-48F4-AEBA-FAB2673282BC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CD34EA8-8D8C-472A-B160-183E51BA6CD2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D8A6F7B1-076B-4366-B7DB-8DF48A329A2D}"/>
              </a:ext>
            </a:extLst>
          </p:cNvPr>
          <p:cNvSpPr>
            <a:spLocks noGrp="1"/>
          </p:cNvSpPr>
          <p:nvPr/>
        </p:nvSpPr>
        <p:spPr>
          <a:xfrm>
            <a:off x="8763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原有系统建设思路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FF2CFE85-4D23-4C8B-B87A-E486EDBBA579}"/>
              </a:ext>
            </a:extLst>
          </p:cNvPr>
          <p:cNvSpPr>
            <a:spLocks noGrp="1"/>
          </p:cNvSpPr>
          <p:nvPr/>
        </p:nvSpPr>
        <p:spPr>
          <a:xfrm>
            <a:off x="67056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16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“</a:t>
            </a:r>
            <a:r>
              <a:rPr sz="16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CATL要求</a:t>
            </a:r>
            <a:r>
              <a:rPr lang="zh-CN" altLang="en-US" sz="16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”</a:t>
            </a:r>
            <a:r>
              <a:rPr sz="16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的变化</a:t>
            </a:r>
            <a:endParaRPr sz="16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6C189DA-D9BF-4099-92BA-586F1C2B1B15}"/>
              </a:ext>
            </a:extLst>
          </p:cNvPr>
          <p:cNvSpPr>
            <a:spLocks noGrp="1"/>
          </p:cNvSpPr>
          <p:nvPr/>
        </p:nvSpPr>
        <p:spPr>
          <a:xfrm>
            <a:off x="10477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21EB332-D7B3-478F-B206-AB82A9678AF5}"/>
              </a:ext>
            </a:extLst>
          </p:cNvPr>
          <p:cNvSpPr>
            <a:spLocks noGrp="1"/>
          </p:cNvSpPr>
          <p:nvPr/>
        </p:nvSpPr>
        <p:spPr>
          <a:xfrm>
            <a:off x="12763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一阶段系统规划（宁波海威+浙江海威）偏 WMS/MES，解决库存、出入库、生产执行和基础追溯。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20BCA495-EC8E-4119-AE16-B45D9F779046}"/>
              </a:ext>
            </a:extLst>
          </p:cNvPr>
          <p:cNvSpPr>
            <a:spLocks noGrp="1"/>
          </p:cNvSpPr>
          <p:nvPr/>
        </p:nvSpPr>
        <p:spPr>
          <a:xfrm>
            <a:off x="1047750" y="28956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3839274-F6BD-42C1-B505-98EDF6D470EF}"/>
              </a:ext>
            </a:extLst>
          </p:cNvPr>
          <p:cNvSpPr>
            <a:spLocks noGrp="1"/>
          </p:cNvSpPr>
          <p:nvPr/>
        </p:nvSpPr>
        <p:spPr>
          <a:xfrm>
            <a:off x="1276350" y="28194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二阶段系统规划（宁波海威+浙江海威）本来就计划补强 QMS、TPM、IoT 等能力。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1CE0C2FD-96D2-4FEC-84AA-D4FCB94E78AE}"/>
              </a:ext>
            </a:extLst>
          </p:cNvPr>
          <p:cNvSpPr>
            <a:spLocks noGrp="1"/>
          </p:cNvSpPr>
          <p:nvPr/>
        </p:nvSpPr>
        <p:spPr>
          <a:xfrm>
            <a:off x="1047750" y="35433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F822DEE-47BD-4891-AF5C-77D7F2F0D764}"/>
              </a:ext>
            </a:extLst>
          </p:cNvPr>
          <p:cNvSpPr>
            <a:spLocks noGrp="1"/>
          </p:cNvSpPr>
          <p:nvPr/>
        </p:nvSpPr>
        <p:spPr>
          <a:xfrm>
            <a:off x="1276350" y="34671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原系统/软件规划路径不是从无到有，而是宁波海威与浙江海威共同的一阶段/二阶段系统规划；CATL强化要求（浙江海威）是在浙江海威（嵊州）面向主要客户 CATL 的运营能力补强。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A085BFA5-460C-4030-B422-605F05FF6A01}"/>
              </a:ext>
            </a:extLst>
          </p:cNvPr>
          <p:cNvSpPr>
            <a:spLocks noGrp="1"/>
          </p:cNvSpPr>
          <p:nvPr/>
        </p:nvSpPr>
        <p:spPr>
          <a:xfrm>
            <a:off x="68770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56363E5-BA2C-44B9-819D-80ED0A8D1C4F}"/>
              </a:ext>
            </a:extLst>
          </p:cNvPr>
          <p:cNvSpPr>
            <a:spLocks noGrp="1"/>
          </p:cNvSpPr>
          <p:nvPr/>
        </p:nvSpPr>
        <p:spPr>
          <a:xfrm>
            <a:off x="71056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CATL要求（浙江海威）把功能清单推向过程控制要求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。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F61C19B5-0E93-494B-995B-ED9A9E78C57F}"/>
              </a:ext>
            </a:extLst>
          </p:cNvPr>
          <p:cNvSpPr>
            <a:spLocks noGrp="1"/>
          </p:cNvSpPr>
          <p:nvPr/>
        </p:nvSpPr>
        <p:spPr>
          <a:xfrm>
            <a:off x="6877050" y="28956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B7B027E-393A-4399-AA4C-0A98752A2ED1}"/>
              </a:ext>
            </a:extLst>
          </p:cNvPr>
          <p:cNvSpPr>
            <a:spLocks noGrp="1"/>
          </p:cNvSpPr>
          <p:nvPr/>
        </p:nvSpPr>
        <p:spPr>
          <a:xfrm>
            <a:off x="7105650" y="28194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强化项更关注批次、参数、权限、点检、SPC 和全工序数据。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FC9D3852-1C8E-4790-86FA-E6EFDC32265F}"/>
              </a:ext>
            </a:extLst>
          </p:cNvPr>
          <p:cNvSpPr>
            <a:spLocks noGrp="1"/>
          </p:cNvSpPr>
          <p:nvPr/>
        </p:nvSpPr>
        <p:spPr>
          <a:xfrm>
            <a:off x="6877050" y="35433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37B89CF-8BF7-4031-91D9-1C47380E4C80}"/>
              </a:ext>
            </a:extLst>
          </p:cNvPr>
          <p:cNvSpPr>
            <a:spLocks noGrp="1"/>
          </p:cNvSpPr>
          <p:nvPr/>
        </p:nvSpPr>
        <p:spPr>
          <a:xfrm>
            <a:off x="7105650" y="34671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系统建设从功能补充，转向浙江海威（嵊州）的运营能力证明。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95A0781-A3F1-4DAD-9907-ECECA54D45CF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868C0B1-A999-4F32-A0AB-C2569D70FE1E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22270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93ED4F02-9AB0-4F98-9D24-EDCE217E039A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客户关注的是运营能力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1A1C17AF-3943-4007-B002-BDD30D43D3B6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9DC21C7-9E5E-4936-8DEA-838C70E579F7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5DAD2F85-9DD7-4C59-B581-A11612669207}"/>
              </a:ext>
            </a:extLst>
          </p:cNvPr>
          <p:cNvSpPr>
            <a:spLocks noGrp="1"/>
          </p:cNvSpPr>
          <p:nvPr/>
        </p:nvSpPr>
        <p:spPr>
          <a:xfrm>
            <a:off x="800100" y="1504950"/>
            <a:ext cx="4476750" cy="457200"/>
          </a:xfrm>
          <a:prstGeom prst="roundRect">
            <a:avLst>
              <a:gd name="adj" fmla="val 125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稳定交付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698DD88D-3D19-4C39-8D8C-63529A2E5D0F}"/>
              </a:ext>
            </a:extLst>
          </p:cNvPr>
          <p:cNvSpPr>
            <a:spLocks noGrp="1"/>
          </p:cNvSpPr>
          <p:nvPr/>
        </p:nvSpPr>
        <p:spPr>
          <a:xfrm>
            <a:off x="800100" y="2095500"/>
            <a:ext cx="447675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计划能否牵引物料、工序和设备，交期偏差能否及时反馈。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F75D7F8C-60CD-4421-8661-FB164FDEC2FC}"/>
              </a:ext>
            </a:extLst>
          </p:cNvPr>
          <p:cNvSpPr>
            <a:spLocks noGrp="1"/>
          </p:cNvSpPr>
          <p:nvPr/>
        </p:nvSpPr>
        <p:spPr>
          <a:xfrm>
            <a:off x="6324600" y="1504950"/>
            <a:ext cx="4476750" cy="457200"/>
          </a:xfrm>
          <a:prstGeom prst="roundRect">
            <a:avLst>
              <a:gd name="adj" fmla="val 125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过程可控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E2E5ADD1-36CF-4087-B0A9-84C7A7C336E3}"/>
              </a:ext>
            </a:extLst>
          </p:cNvPr>
          <p:cNvSpPr>
            <a:spLocks noGrp="1"/>
          </p:cNvSpPr>
          <p:nvPr/>
        </p:nvSpPr>
        <p:spPr>
          <a:xfrm>
            <a:off x="6324600" y="2095500"/>
            <a:ext cx="447675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人员、参数、程序、工装夹具和检测动作是否被过程约束。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E52C833B-A251-40F5-9949-CE0B0611F175}"/>
              </a:ext>
            </a:extLst>
          </p:cNvPr>
          <p:cNvSpPr>
            <a:spLocks noGrp="1"/>
          </p:cNvSpPr>
          <p:nvPr/>
        </p:nvSpPr>
        <p:spPr>
          <a:xfrm>
            <a:off x="800100" y="3505200"/>
            <a:ext cx="4476750" cy="457200"/>
          </a:xfrm>
          <a:prstGeom prst="roundRect">
            <a:avLst>
              <a:gd name="adj" fmla="val 125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质量可证明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3BCFB786-1A06-4DAC-8B57-A68B28164973}"/>
              </a:ext>
            </a:extLst>
          </p:cNvPr>
          <p:cNvSpPr>
            <a:spLocks noGrp="1"/>
          </p:cNvSpPr>
          <p:nvPr/>
        </p:nvSpPr>
        <p:spPr>
          <a:xfrm>
            <a:off x="800100" y="4095750"/>
            <a:ext cx="447675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质量不是只有检验记录，还要有标准、曲线、SPC 和异常闭环证据。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2395E95C-8F69-4DBB-A30A-6BE53F178DEB}"/>
              </a:ext>
            </a:extLst>
          </p:cNvPr>
          <p:cNvSpPr>
            <a:spLocks noGrp="1"/>
          </p:cNvSpPr>
          <p:nvPr/>
        </p:nvSpPr>
        <p:spPr>
          <a:xfrm>
            <a:off x="6324600" y="3505200"/>
            <a:ext cx="4476750" cy="457200"/>
          </a:xfrm>
          <a:prstGeom prst="roundRect">
            <a:avLst>
              <a:gd name="adj" fmla="val 125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异常可闭环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EE18EB8E-8024-49A5-A262-5283D18B9EDB}"/>
              </a:ext>
            </a:extLst>
          </p:cNvPr>
          <p:cNvSpPr>
            <a:spLocks noGrp="1"/>
          </p:cNvSpPr>
          <p:nvPr/>
        </p:nvSpPr>
        <p:spPr>
          <a:xfrm>
            <a:off x="6324600" y="4095750"/>
            <a:ext cx="447675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异常出现后，系统能否触发停线、确认、replan 或客户要求的处理动作。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8A2C6D6-9D16-46A0-8F62-0DE452CC9EEA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7D9D522-EA7D-422A-A493-3F47994333D2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33553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A61ABFB8-3FD0-45DE-822C-6A689DAE7EA0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功能从系统模块转向业务能力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638124A5-D8C0-43D7-8424-4487EF9BC78A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2348EF6-81BD-4EB0-A2C7-0E19E55CB2B9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87911748-0B13-48A1-A13D-AF15F8E1FD8E}"/>
              </a:ext>
            </a:extLst>
          </p:cNvPr>
          <p:cNvSpPr>
            <a:spLocks noGrp="1"/>
          </p:cNvSpPr>
          <p:nvPr/>
        </p:nvSpPr>
        <p:spPr>
          <a:xfrm>
            <a:off x="1066800" y="1371600"/>
            <a:ext cx="2857500" cy="323850"/>
          </a:xfrm>
          <a:prstGeom prst="roundRect">
            <a:avLst>
              <a:gd name="adj" fmla="val 17647"/>
            </a:avLst>
          </a:prstGeom>
          <a:solidFill>
            <a:srgbClr val="E9F6FB"/>
          </a:solidFill>
          <a:ln w="14288">
            <a:noFill/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原系统语言来源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A3301B33-F71E-44FC-9021-6974EA385593}"/>
              </a:ext>
            </a:extLst>
          </p:cNvPr>
          <p:cNvSpPr>
            <a:spLocks noGrp="1"/>
          </p:cNvSpPr>
          <p:nvPr/>
        </p:nvSpPr>
        <p:spPr>
          <a:xfrm>
            <a:off x="7524750" y="1371600"/>
            <a:ext cx="3143250" cy="323850"/>
          </a:xfrm>
          <a:prstGeom prst="roundRect">
            <a:avLst>
              <a:gd name="adj" fmla="val 17647"/>
            </a:avLst>
          </a:prstGeom>
          <a:solidFill>
            <a:srgbClr val="F0F8E8"/>
          </a:solidFill>
          <a:ln w="14288">
            <a:noFill/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重组后的业务能力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8EE948D9-F744-4917-A8C2-2AE11F080AF1}"/>
              </a:ext>
            </a:extLst>
          </p:cNvPr>
          <p:cNvSpPr>
            <a:spLocks noGrp="1"/>
          </p:cNvSpPr>
          <p:nvPr/>
        </p:nvSpPr>
        <p:spPr>
          <a:xfrm>
            <a:off x="1428750" y="1981200"/>
            <a:ext cx="2095500" cy="400050"/>
          </a:xfrm>
          <a:prstGeom prst="roundRect">
            <a:avLst>
              <a:gd name="adj" fmla="val 14286"/>
            </a:avLst>
          </a:prstGeom>
          <a:solidFill>
            <a:srgbClr val="23A8D8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WMS / MES / TPM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5AF3093C-6506-4A29-AA1C-B9F07F0FEA86}"/>
              </a:ext>
            </a:extLst>
          </p:cNvPr>
          <p:cNvSpPr>
            <a:spLocks noGrp="1"/>
          </p:cNvSpPr>
          <p:nvPr/>
        </p:nvSpPr>
        <p:spPr>
          <a:xfrm>
            <a:off x="7524750" y="1981200"/>
            <a:ext cx="3143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实物／物料流管理</a:t>
            </a:r>
          </a:p>
        </p:txBody>
      </p:sp>
      <p:sp>
        <p:nvSpPr>
          <p:cNvPr id="8" name="直线连接符 7">
            <a:extLst>
              <a:ext uri="{FF2B5EF4-FFF2-40B4-BE49-F238E27FC236}">
                <a16:creationId xmlns:a16="http://schemas.microsoft.com/office/drawing/2014/main" id="{1B090A9A-6D37-4067-85AD-1FAB4DCC3971}"/>
              </a:ext>
            </a:extLst>
          </p:cNvPr>
          <p:cNvSpPr>
            <a:spLocks noGrp="1"/>
          </p:cNvSpPr>
          <p:nvPr/>
        </p:nvSpPr>
        <p:spPr>
          <a:xfrm>
            <a:off x="3714750" y="2181225"/>
            <a:ext cx="3619500" cy="0"/>
          </a:xfrm>
          <a:prstGeom prst="line">
            <a:avLst/>
          </a:prstGeom>
          <a:noFill/>
          <a:ln w="13335">
            <a:solidFill>
              <a:srgbClr val="8DA5AE"/>
            </a:solidFill>
            <a:prstDash val="solid"/>
          </a:ln>
        </p:spPr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F4A3067C-438C-4403-861C-EF8ABEE506BF}"/>
              </a:ext>
            </a:extLst>
          </p:cNvPr>
          <p:cNvSpPr>
            <a:spLocks noGrp="1"/>
          </p:cNvSpPr>
          <p:nvPr/>
        </p:nvSpPr>
        <p:spPr>
          <a:xfrm>
            <a:off x="1428750" y="2667000"/>
            <a:ext cx="2095500" cy="400050"/>
          </a:xfrm>
          <a:prstGeom prst="roundRect">
            <a:avLst>
              <a:gd name="adj" fmla="val 14286"/>
            </a:avLst>
          </a:prstGeom>
          <a:solidFill>
            <a:srgbClr val="23A8D8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WMS / MES / TPM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3ECA811E-8621-4950-9559-F4AB95AB4C04}"/>
              </a:ext>
            </a:extLst>
          </p:cNvPr>
          <p:cNvSpPr>
            <a:spLocks noGrp="1"/>
          </p:cNvSpPr>
          <p:nvPr/>
        </p:nvSpPr>
        <p:spPr>
          <a:xfrm>
            <a:off x="7524750" y="2667000"/>
            <a:ext cx="3143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生产计划管理</a:t>
            </a:r>
          </a:p>
        </p:txBody>
      </p:sp>
      <p:sp>
        <p:nvSpPr>
          <p:cNvPr id="11" name="直线连接符 10">
            <a:extLst>
              <a:ext uri="{FF2B5EF4-FFF2-40B4-BE49-F238E27FC236}">
                <a16:creationId xmlns:a16="http://schemas.microsoft.com/office/drawing/2014/main" id="{81A76A3B-5465-4783-B56D-842CFADA4212}"/>
              </a:ext>
            </a:extLst>
          </p:cNvPr>
          <p:cNvSpPr>
            <a:spLocks noGrp="1"/>
          </p:cNvSpPr>
          <p:nvPr/>
        </p:nvSpPr>
        <p:spPr>
          <a:xfrm>
            <a:off x="3714750" y="2867025"/>
            <a:ext cx="3619500" cy="0"/>
          </a:xfrm>
          <a:prstGeom prst="line">
            <a:avLst/>
          </a:prstGeom>
          <a:noFill/>
          <a:ln w="13335">
            <a:solidFill>
              <a:srgbClr val="8DA5AE"/>
            </a:solidFill>
            <a:prstDash val="solid"/>
          </a:ln>
        </p:spPr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8A9D4755-EA8E-4F64-A8B7-FA411F5B6F18}"/>
              </a:ext>
            </a:extLst>
          </p:cNvPr>
          <p:cNvSpPr>
            <a:spLocks noGrp="1"/>
          </p:cNvSpPr>
          <p:nvPr/>
        </p:nvSpPr>
        <p:spPr>
          <a:xfrm>
            <a:off x="1428750" y="3352800"/>
            <a:ext cx="2095500" cy="400050"/>
          </a:xfrm>
          <a:prstGeom prst="roundRect">
            <a:avLst>
              <a:gd name="adj" fmla="val 14286"/>
            </a:avLst>
          </a:prstGeom>
          <a:solidFill>
            <a:srgbClr val="23A8D8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WMS / MES / TPM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FA66D25F-31E7-4377-94B4-277E3BE1C6ED}"/>
              </a:ext>
            </a:extLst>
          </p:cNvPr>
          <p:cNvSpPr>
            <a:spLocks noGrp="1"/>
          </p:cNvSpPr>
          <p:nvPr/>
        </p:nvSpPr>
        <p:spPr>
          <a:xfrm>
            <a:off x="7524750" y="3352800"/>
            <a:ext cx="3143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生产过程与工艺管理</a:t>
            </a:r>
          </a:p>
        </p:txBody>
      </p:sp>
      <p:sp>
        <p:nvSpPr>
          <p:cNvPr id="14" name="直线连接符 13">
            <a:extLst>
              <a:ext uri="{FF2B5EF4-FFF2-40B4-BE49-F238E27FC236}">
                <a16:creationId xmlns:a16="http://schemas.microsoft.com/office/drawing/2014/main" id="{8B168371-E015-4180-9190-719538B27614}"/>
              </a:ext>
            </a:extLst>
          </p:cNvPr>
          <p:cNvSpPr>
            <a:spLocks noGrp="1"/>
          </p:cNvSpPr>
          <p:nvPr/>
        </p:nvSpPr>
        <p:spPr>
          <a:xfrm>
            <a:off x="3714750" y="3552825"/>
            <a:ext cx="3619500" cy="0"/>
          </a:xfrm>
          <a:prstGeom prst="line">
            <a:avLst/>
          </a:prstGeom>
          <a:noFill/>
          <a:ln w="13335">
            <a:solidFill>
              <a:srgbClr val="8DA5AE"/>
            </a:solidFill>
            <a:prstDash val="solid"/>
          </a:ln>
        </p:spPr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31E69FFE-D843-4898-B84A-4F1E4E44442D}"/>
              </a:ext>
            </a:extLst>
          </p:cNvPr>
          <p:cNvSpPr>
            <a:spLocks noGrp="1"/>
          </p:cNvSpPr>
          <p:nvPr/>
        </p:nvSpPr>
        <p:spPr>
          <a:xfrm>
            <a:off x="1428750" y="4038600"/>
            <a:ext cx="2095500" cy="400050"/>
          </a:xfrm>
          <a:prstGeom prst="roundRect">
            <a:avLst>
              <a:gd name="adj" fmla="val 14286"/>
            </a:avLst>
          </a:prstGeom>
          <a:solidFill>
            <a:srgbClr val="23A8D8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QMS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6D46D5D7-41E2-4FD6-A167-E2703E7A406F}"/>
              </a:ext>
            </a:extLst>
          </p:cNvPr>
          <p:cNvSpPr>
            <a:spLocks noGrp="1"/>
          </p:cNvSpPr>
          <p:nvPr/>
        </p:nvSpPr>
        <p:spPr>
          <a:xfrm>
            <a:off x="7524750" y="4038600"/>
            <a:ext cx="3143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QM 相关界面输出</a:t>
            </a:r>
          </a:p>
        </p:txBody>
      </p:sp>
      <p:sp>
        <p:nvSpPr>
          <p:cNvPr id="17" name="直线连接符 16">
            <a:extLst>
              <a:ext uri="{FF2B5EF4-FFF2-40B4-BE49-F238E27FC236}">
                <a16:creationId xmlns:a16="http://schemas.microsoft.com/office/drawing/2014/main" id="{466F1BB8-FEFC-4B02-9463-2463C85396BC}"/>
              </a:ext>
            </a:extLst>
          </p:cNvPr>
          <p:cNvSpPr>
            <a:spLocks noGrp="1"/>
          </p:cNvSpPr>
          <p:nvPr/>
        </p:nvSpPr>
        <p:spPr>
          <a:xfrm>
            <a:off x="3714750" y="4238625"/>
            <a:ext cx="3619500" cy="0"/>
          </a:xfrm>
          <a:prstGeom prst="line">
            <a:avLst/>
          </a:prstGeom>
          <a:noFill/>
          <a:ln w="13335">
            <a:solidFill>
              <a:srgbClr val="8DA5AE"/>
            </a:solidFill>
            <a:prstDash val="solid"/>
          </a:ln>
        </p:spPr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17C62627-ABE5-40AF-9269-11F3D56D6109}"/>
              </a:ext>
            </a:extLst>
          </p:cNvPr>
          <p:cNvSpPr>
            <a:spLocks noGrp="1"/>
          </p:cNvSpPr>
          <p:nvPr/>
        </p:nvSpPr>
        <p:spPr>
          <a:xfrm>
            <a:off x="1428750" y="4724400"/>
            <a:ext cx="2095500" cy="400050"/>
          </a:xfrm>
          <a:prstGeom prst="roundRect">
            <a:avLst>
              <a:gd name="adj" fmla="val 14286"/>
            </a:avLst>
          </a:prstGeom>
          <a:solidFill>
            <a:srgbClr val="23A8D8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IoT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99A483BA-13AE-47FC-BACE-807A76E566DA}"/>
              </a:ext>
            </a:extLst>
          </p:cNvPr>
          <p:cNvSpPr>
            <a:spLocks noGrp="1"/>
          </p:cNvSpPr>
          <p:nvPr/>
        </p:nvSpPr>
        <p:spPr>
          <a:xfrm>
            <a:off x="7524750" y="4724400"/>
            <a:ext cx="3143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设备数据采集</a:t>
            </a:r>
          </a:p>
        </p:txBody>
      </p:sp>
      <p:sp>
        <p:nvSpPr>
          <p:cNvPr id="20" name="直线连接符 19">
            <a:extLst>
              <a:ext uri="{FF2B5EF4-FFF2-40B4-BE49-F238E27FC236}">
                <a16:creationId xmlns:a16="http://schemas.microsoft.com/office/drawing/2014/main" id="{51597CBD-8600-4A93-ACBE-C1E68CCE8925}"/>
              </a:ext>
            </a:extLst>
          </p:cNvPr>
          <p:cNvSpPr>
            <a:spLocks noGrp="1"/>
          </p:cNvSpPr>
          <p:nvPr/>
        </p:nvSpPr>
        <p:spPr>
          <a:xfrm>
            <a:off x="3714750" y="4924425"/>
            <a:ext cx="3619500" cy="0"/>
          </a:xfrm>
          <a:prstGeom prst="line">
            <a:avLst/>
          </a:prstGeom>
          <a:noFill/>
          <a:ln w="13335">
            <a:solidFill>
              <a:srgbClr val="8DA5AE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623490F-0CF3-4C66-9B97-0D0ED196E9F8}"/>
              </a:ext>
            </a:extLst>
          </p:cNvPr>
          <p:cNvSpPr>
            <a:spLocks noGrp="1"/>
          </p:cNvSpPr>
          <p:nvPr/>
        </p:nvSpPr>
        <p:spPr>
          <a:xfrm>
            <a:off x="2190750" y="5657850"/>
            <a:ext cx="781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这一步把系统清单转成经营和现场能讨论的业务语言。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C527BC0-B959-4573-A7C3-40750C16CCDC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D2C1047-ECF8-4607-AB3A-F480AEFF59A1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E5BD5AA-ED0B-49F0-8BE9-83B3EB73DA57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r:id="rId3"/>
              </a:rPr>
              <a:t>现场穿插：业务过程与功能重组工作台</a:t>
            </a:r>
          </a:p>
        </p:txBody>
      </p:sp>
    </p:spTree>
    <p:extLst>
      <p:ext uri="{BB962C8B-B14F-4D97-AF65-F5344CB8AC3E}">
        <p14:creationId xmlns:p14="http://schemas.microsoft.com/office/powerpoint/2010/main" val="578466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66CFF8D1-8076-4592-9307-E0C20301FC49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功能落到价值流后才有意义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DFED9D02-B5CB-4890-BD1C-BEF2C0BE0087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8803F5-6552-4A26-856D-0BEA59BE0D22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5DC3A4A-AC9A-4169-AF55-852EC4E56FC8}"/>
              </a:ext>
            </a:extLst>
          </p:cNvPr>
          <p:cNvSpPr>
            <a:spLocks noGrp="1"/>
          </p:cNvSpPr>
          <p:nvPr/>
        </p:nvSpPr>
        <p:spPr>
          <a:xfrm>
            <a:off x="1600200" y="5095875"/>
            <a:ext cx="8991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每个功能项都要落到过程节点，才能判断它服务的动作和管理意义。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C09951A-3637-44EF-9346-B40EF99AA609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79F64B5-BE86-4698-AC27-923196957E8D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59E5A01-FEAD-430E-BEC5-3C13240988EA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r:id="rId3"/>
              </a:rPr>
              <a:t>现场穿插：价值流画板</a:t>
            </a: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1DADD280-9700-159A-6AB0-79C8206699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069" b="26501"/>
          <a:stretch>
            <a:fillRect/>
          </a:stretch>
        </p:blipFill>
        <p:spPr>
          <a:xfrm>
            <a:off x="13851" y="1234781"/>
            <a:ext cx="12185001" cy="3568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922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A100D70E-4832-4D3B-91EE-15739A1F8C55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价值流中的三类状态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294C0EAE-9EA4-4A1C-8789-C5545681A637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617FA57-665B-4139-88B7-4B49201CE341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A0D32831-5496-4EFD-9103-3601ED241386}"/>
              </a:ext>
            </a:extLst>
          </p:cNvPr>
          <p:cNvSpPr>
            <a:spLocks noGrp="1"/>
          </p:cNvSpPr>
          <p:nvPr/>
        </p:nvSpPr>
        <p:spPr>
          <a:xfrm>
            <a:off x="81915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16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一阶段</a:t>
            </a:r>
            <a:r>
              <a:rPr sz="16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基础</a:t>
            </a:r>
            <a:endParaRPr sz="16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9769E4F1-011A-4E68-8332-8FE9B22DB4B9}"/>
              </a:ext>
            </a:extLst>
          </p:cNvPr>
          <p:cNvSpPr>
            <a:spLocks noGrp="1"/>
          </p:cNvSpPr>
          <p:nvPr/>
        </p:nvSpPr>
        <p:spPr>
          <a:xfrm>
            <a:off x="81915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库存、出入库、FIFO、派工、报工、追溯和检验入口，更多</a:t>
            </a:r>
            <a:r>
              <a:rPr sz="140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解决</a:t>
            </a:r>
            <a:r>
              <a:rPr lang="zh-CN" altLang="en-US" sz="140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“</a:t>
            </a:r>
            <a:r>
              <a:rPr sz="14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记录</a:t>
            </a: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和</a:t>
            </a:r>
            <a:r>
              <a:rPr sz="14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基础管控</a:t>
            </a:r>
            <a:r>
              <a:rPr lang="zh-CN" altLang="en-US" sz="14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”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20E9A72C-4D47-4F4D-97C2-3BD8AAAA3028}"/>
              </a:ext>
            </a:extLst>
          </p:cNvPr>
          <p:cNvSpPr>
            <a:spLocks noGrp="1"/>
          </p:cNvSpPr>
          <p:nvPr/>
        </p:nvSpPr>
        <p:spPr>
          <a:xfrm>
            <a:off x="453390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二阶段系统规划</a:t>
            </a:r>
            <a:endParaRPr sz="16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7AA31AB3-BA7F-49DC-8F19-8EC2759DAF7E}"/>
              </a:ext>
            </a:extLst>
          </p:cNvPr>
          <p:cNvSpPr>
            <a:spLocks noGrp="1"/>
          </p:cNvSpPr>
          <p:nvPr/>
        </p:nvSpPr>
        <p:spPr>
          <a:xfrm>
            <a:off x="453390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QMS、TPM、IoT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 </a:t>
            </a: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等方向，边界在于是否能进入过程动作并</a:t>
            </a:r>
            <a:r>
              <a:rPr lang="zh-CN" altLang="en-US"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“</a:t>
            </a:r>
            <a:r>
              <a:rPr sz="14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形成反馈</a:t>
            </a:r>
            <a:r>
              <a:rPr lang="zh-CN" altLang="en-US" sz="14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”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7FC182D7-975E-405F-8134-492AC4507816}"/>
              </a:ext>
            </a:extLst>
          </p:cNvPr>
          <p:cNvSpPr>
            <a:spLocks noGrp="1"/>
          </p:cNvSpPr>
          <p:nvPr/>
        </p:nvSpPr>
        <p:spPr>
          <a:xfrm>
            <a:off x="824865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CATL要求</a:t>
            </a:r>
            <a:endParaRPr sz="16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4739AC25-A89D-4E92-AA9B-41ACC0CECACD}"/>
              </a:ext>
            </a:extLst>
          </p:cNvPr>
          <p:cNvSpPr>
            <a:spLocks noGrp="1"/>
          </p:cNvSpPr>
          <p:nvPr/>
        </p:nvSpPr>
        <p:spPr>
          <a:xfrm>
            <a:off x="824865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权限、点检、参数、防错、SPC、设备数据和全工序控制继续加深。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EADB356-F043-4ADC-B1A1-66708BA6BD46}"/>
              </a:ext>
            </a:extLst>
          </p:cNvPr>
          <p:cNvSpPr>
            <a:spLocks noGrp="1"/>
          </p:cNvSpPr>
          <p:nvPr/>
        </p:nvSpPr>
        <p:spPr>
          <a:xfrm>
            <a:off x="1809750" y="497205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同一个价值流节点上，可能同时存在已有能力、二阶段系统规划和 CATL强化要求（浙江海威）。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7EF69D7-74CB-4F8E-90C1-6899FB29A8DF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BF33ADC-19E9-4CCA-BDF3-A8AD6FCD9F20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009D3E2-4BCE-4434-B75D-26845A5B2656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r:id="rId3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963468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C5616328-A54A-4443-8B41-290967EE505C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20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一阶段基础</a:t>
            </a:r>
            <a:r>
              <a:rPr sz="20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与二期边界</a:t>
            </a:r>
            <a:endParaRPr sz="20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74F7E97C-D01A-47BE-B346-033AF3368F1B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E4DDC9B-6433-422F-A3E1-D3C6F02085EF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8DB5B379-268C-441B-905D-3427BFF327C5}"/>
              </a:ext>
            </a:extLst>
          </p:cNvPr>
          <p:cNvSpPr>
            <a:spLocks noGrp="1"/>
          </p:cNvSpPr>
          <p:nvPr/>
        </p:nvSpPr>
        <p:spPr>
          <a:xfrm>
            <a:off x="8763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16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一阶段能力的</a:t>
            </a:r>
            <a:r>
              <a:rPr sz="16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现场</a:t>
            </a:r>
            <a:r>
              <a:rPr lang="zh-CN" altLang="en-US" sz="16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落地</a:t>
            </a:r>
            <a:endParaRPr sz="16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FA7249D0-6023-4654-9913-97201F16C1D6}"/>
              </a:ext>
            </a:extLst>
          </p:cNvPr>
          <p:cNvSpPr>
            <a:spLocks noGrp="1"/>
          </p:cNvSpPr>
          <p:nvPr/>
        </p:nvSpPr>
        <p:spPr>
          <a:xfrm>
            <a:off x="67056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二阶段系统规划的边界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67F29435-5600-4A65-A6A3-4CF59CA4191E}"/>
              </a:ext>
            </a:extLst>
          </p:cNvPr>
          <p:cNvSpPr>
            <a:spLocks noGrp="1"/>
          </p:cNvSpPr>
          <p:nvPr/>
        </p:nvSpPr>
        <p:spPr>
          <a:xfrm>
            <a:off x="10477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D139A81-449A-4896-8D99-3B35CF3C7261}"/>
              </a:ext>
            </a:extLst>
          </p:cNvPr>
          <p:cNvSpPr>
            <a:spLocks noGrp="1"/>
          </p:cNvSpPr>
          <p:nvPr/>
        </p:nvSpPr>
        <p:spPr>
          <a:xfrm>
            <a:off x="12763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把记录型功能转成现场动作入口。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E78C4498-D94A-4ED3-9039-27E817EC90B6}"/>
              </a:ext>
            </a:extLst>
          </p:cNvPr>
          <p:cNvSpPr>
            <a:spLocks noGrp="1"/>
          </p:cNvSpPr>
          <p:nvPr/>
        </p:nvSpPr>
        <p:spPr>
          <a:xfrm>
            <a:off x="1047750" y="2984808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CC36900-8BB4-4A11-8E64-91FF2CC291DF}"/>
              </a:ext>
            </a:extLst>
          </p:cNvPr>
          <p:cNvSpPr>
            <a:spLocks noGrp="1"/>
          </p:cNvSpPr>
          <p:nvPr/>
        </p:nvSpPr>
        <p:spPr>
          <a:xfrm>
            <a:off x="1276350" y="2908608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让库存、发料、报工、检验与计划偏差建立关联。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A9035B3E-20DD-4564-9B9A-5558DF315EBD}"/>
              </a:ext>
            </a:extLst>
          </p:cNvPr>
          <p:cNvSpPr>
            <a:spLocks noGrp="1"/>
          </p:cNvSpPr>
          <p:nvPr/>
        </p:nvSpPr>
        <p:spPr>
          <a:xfrm>
            <a:off x="1047750" y="3732867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3874AB9-23F5-413A-B60B-A174CF790EED}"/>
              </a:ext>
            </a:extLst>
          </p:cNvPr>
          <p:cNvSpPr>
            <a:spLocks noGrp="1"/>
          </p:cNvSpPr>
          <p:nvPr/>
        </p:nvSpPr>
        <p:spPr>
          <a:xfrm>
            <a:off x="1276350" y="3656667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补齐跨工序 WIP 水位和后工序拉动前工序的判断。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07D0184F-7CC4-4F1A-9DD8-72D945C22D31}"/>
              </a:ext>
            </a:extLst>
          </p:cNvPr>
          <p:cNvSpPr>
            <a:spLocks noGrp="1"/>
          </p:cNvSpPr>
          <p:nvPr/>
        </p:nvSpPr>
        <p:spPr>
          <a:xfrm>
            <a:off x="68770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B2B711C-47DB-4EB7-BDC7-F65425C7A6DA}"/>
              </a:ext>
            </a:extLst>
          </p:cNvPr>
          <p:cNvSpPr>
            <a:spLocks noGrp="1"/>
          </p:cNvSpPr>
          <p:nvPr/>
        </p:nvSpPr>
        <p:spPr>
          <a:xfrm>
            <a:off x="71056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QMS 边界：只记录质量结果，只能证明“</a:t>
            </a: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发生了什么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”；</a:t>
            </a: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能影响隔离、复检、停线、放行等过程动作，才承担“过程控制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”。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5A86F29A-9D90-4811-A899-461D6F1DF196}"/>
              </a:ext>
            </a:extLst>
          </p:cNvPr>
          <p:cNvSpPr>
            <a:spLocks noGrp="1"/>
          </p:cNvSpPr>
          <p:nvPr/>
        </p:nvSpPr>
        <p:spPr>
          <a:xfrm>
            <a:off x="6877050" y="300711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8DBCAFD-57B6-4FB5-A484-3159FC56E4AD}"/>
              </a:ext>
            </a:extLst>
          </p:cNvPr>
          <p:cNvSpPr>
            <a:spLocks noGrp="1"/>
          </p:cNvSpPr>
          <p:nvPr/>
        </p:nvSpPr>
        <p:spPr>
          <a:xfrm>
            <a:off x="7105650" y="293091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TPM/IoT 边界：只采集设备状态，只能看到设备变化；与计划、CT、产出、质量关联后，才能解释产出和质量波动。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3D28A50-490F-4ADB-B363-5054F7CD33B5}"/>
              </a:ext>
            </a:extLst>
          </p:cNvPr>
          <p:cNvSpPr>
            <a:spLocks noGrp="1"/>
          </p:cNvSpPr>
          <p:nvPr/>
        </p:nvSpPr>
        <p:spPr>
          <a:xfrm>
            <a:off x="6877050" y="3777471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4069185-2C45-418D-A9D8-AE92FA2127B4}"/>
              </a:ext>
            </a:extLst>
          </p:cNvPr>
          <p:cNvSpPr>
            <a:spLocks noGrp="1"/>
          </p:cNvSpPr>
          <p:nvPr/>
        </p:nvSpPr>
        <p:spPr>
          <a:xfrm>
            <a:off x="7105650" y="3701271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二阶段边界：能否承接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 </a:t>
            </a: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CATL要求，取决于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 Planning </a:t>
            </a: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基准、现场动作和数据反馈是否形成闭环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F70B5EC-B6A2-4532-8D31-FD40C38728BB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1B2EEC9-686C-460E-B096-4A6ACE8B2BFA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D87CDFF-715C-4F5A-844C-0E94DA5E21F7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r:id="rId3"/>
              </a:rPr>
              <a:t>现场穿插：业务过程与功能重组工作台</a:t>
            </a:r>
          </a:p>
        </p:txBody>
      </p:sp>
    </p:spTree>
    <p:extLst>
      <p:ext uri="{BB962C8B-B14F-4D97-AF65-F5344CB8AC3E}">
        <p14:creationId xmlns:p14="http://schemas.microsoft.com/office/powerpoint/2010/main" val="1627551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7227096C-5D2D-4A18-A7A0-DD3862F58F6B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后续加强能否实现目的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5F8A8087-EC9F-4C7C-9B15-8D9338658C11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8CE1C04-0B3D-4EFE-8AA3-59F8D7DAA8EB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1333500" y="1428750"/>
          <a:ext cx="9525000" cy="3524250"/>
        </p:xfrm>
        <a:graphic>
          <a:graphicData uri="http://schemas.openxmlformats.org/drawingml/2006/table">
            <a:tbl>
              <a:tblPr/>
              <a:tblGrid>
                <a:gridCol w="28863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86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485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后续加强方向</a:t>
                      </a:r>
                    </a:p>
                  </a:txBody>
                  <a:tcPr>
                    <a:solidFill>
                      <a:srgbClr val="F0F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实现条件</a:t>
                      </a:r>
                    </a:p>
                  </a:txBody>
                  <a:tcPr>
                    <a:solidFill>
                      <a:srgbClr val="F0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质量与异常闭环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需要标准、阈值、责任、停线和恢复规则，不只是 QMS 表单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设备与参数控制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需要产品状态、工艺参数和设备参数之间形成可解释关系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全工序数据采集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需要先定义采集后的动作，再定义点位、频率和采集手段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短周期计划调整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需要小时级计划基准、CT、Performance Rate 和真实执行反馈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9AF7ED85-049E-498D-B0C1-9EA789B60D6C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B440631-AACC-45B6-BBDF-AEA230D3402B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45925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BF5A99B4-F959-461B-9D89-A81F76203550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全工序数据的分类角度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74DCF124-E02F-4936-9BB2-86B3AC858260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64810AA-C6A2-4099-9182-BAC134D35E19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6835E302-61C8-46E5-BDF1-51D729E36D69}"/>
              </a:ext>
            </a:extLst>
          </p:cNvPr>
          <p:cNvSpPr>
            <a:spLocks noGrp="1"/>
          </p:cNvSpPr>
          <p:nvPr/>
        </p:nvSpPr>
        <p:spPr>
          <a:xfrm>
            <a:off x="5095875" y="2628900"/>
            <a:ext cx="2000250" cy="838200"/>
          </a:xfrm>
          <a:prstGeom prst="roundRect">
            <a:avLst>
              <a:gd name="adj" fmla="val 6818"/>
            </a:avLst>
          </a:prstGeom>
          <a:solidFill>
            <a:srgbClr val="76BC21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endParaRPr lang="en-US" sz="16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全工序数据</a:t>
            </a:r>
            <a:endParaRPr sz="16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2932BFB0-F007-4179-BFFC-F1DA2BEA843D}"/>
              </a:ext>
            </a:extLst>
          </p:cNvPr>
          <p:cNvSpPr>
            <a:spLocks noGrp="1"/>
          </p:cNvSpPr>
          <p:nvPr/>
        </p:nvSpPr>
        <p:spPr>
          <a:xfrm>
            <a:off x="1257300" y="152400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设备状态</a:t>
            </a:r>
          </a:p>
        </p:txBody>
      </p:sp>
      <p:cxnSp>
        <p:nvCxnSpPr>
          <p:cNvPr id="28" name="直线箭头连接符 27"/>
          <p:cNvCxnSpPr>
            <a:stCxn id="4" idx="1"/>
            <a:endCxn id="5" idx="3"/>
          </p:cNvCxnSpPr>
          <p:nvPr/>
        </p:nvCxnSpPr>
        <p:spPr>
          <a:xfrm flipH="1" flipV="1">
            <a:off x="2781300" y="1752600"/>
            <a:ext cx="2314575" cy="129540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7" name="圆角矩形 6">
            <a:extLst>
              <a:ext uri="{FF2B5EF4-FFF2-40B4-BE49-F238E27FC236}">
                <a16:creationId xmlns:a16="http://schemas.microsoft.com/office/drawing/2014/main" id="{FB213448-9DE1-4957-93D3-F7874597E4A4}"/>
              </a:ext>
            </a:extLst>
          </p:cNvPr>
          <p:cNvSpPr>
            <a:spLocks noGrp="1"/>
          </p:cNvSpPr>
          <p:nvPr/>
        </p:nvSpPr>
        <p:spPr>
          <a:xfrm>
            <a:off x="4000500" y="135255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质量指标</a:t>
            </a:r>
          </a:p>
        </p:txBody>
      </p:sp>
      <p:cxnSp>
        <p:nvCxnSpPr>
          <p:cNvPr id="30" name="直线箭头连接符 29"/>
          <p:cNvCxnSpPr>
            <a:stCxn id="4" idx="0"/>
            <a:endCxn id="7" idx="3"/>
          </p:cNvCxnSpPr>
          <p:nvPr/>
        </p:nvCxnSpPr>
        <p:spPr>
          <a:xfrm flipH="1" flipV="1">
            <a:off x="5524500" y="1581150"/>
            <a:ext cx="571500" cy="104775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9" name="圆角矩形 8">
            <a:extLst>
              <a:ext uri="{FF2B5EF4-FFF2-40B4-BE49-F238E27FC236}">
                <a16:creationId xmlns:a16="http://schemas.microsoft.com/office/drawing/2014/main" id="{35CDE045-4D4D-4E23-BB41-147F6669CD40}"/>
              </a:ext>
            </a:extLst>
          </p:cNvPr>
          <p:cNvSpPr>
            <a:spLocks noGrp="1"/>
          </p:cNvSpPr>
          <p:nvPr/>
        </p:nvSpPr>
        <p:spPr>
          <a:xfrm>
            <a:off x="7143750" y="135255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技术参数</a:t>
            </a:r>
          </a:p>
        </p:txBody>
      </p:sp>
      <p:cxnSp>
        <p:nvCxnSpPr>
          <p:cNvPr id="32" name="直线箭头连接符 31"/>
          <p:cNvCxnSpPr>
            <a:stCxn id="4" idx="3"/>
            <a:endCxn id="9" idx="1"/>
          </p:cNvCxnSpPr>
          <p:nvPr/>
        </p:nvCxnSpPr>
        <p:spPr>
          <a:xfrm flipV="1">
            <a:off x="7096125" y="1581150"/>
            <a:ext cx="47625" cy="146685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E2C477D1-25DF-45BC-AFBC-ED9F7312C769}"/>
              </a:ext>
            </a:extLst>
          </p:cNvPr>
          <p:cNvSpPr>
            <a:spLocks noGrp="1"/>
          </p:cNvSpPr>
          <p:nvPr/>
        </p:nvSpPr>
        <p:spPr>
          <a:xfrm>
            <a:off x="9620250" y="152400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产品状态</a:t>
            </a:r>
          </a:p>
        </p:txBody>
      </p:sp>
      <p:cxnSp>
        <p:nvCxnSpPr>
          <p:cNvPr id="34" name="直线箭头连接符 33"/>
          <p:cNvCxnSpPr>
            <a:stCxn id="4" idx="3"/>
            <a:endCxn id="11" idx="1"/>
          </p:cNvCxnSpPr>
          <p:nvPr/>
        </p:nvCxnSpPr>
        <p:spPr>
          <a:xfrm flipV="1">
            <a:off x="7096125" y="1752600"/>
            <a:ext cx="2524125" cy="129540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8EDF7BDE-B7DC-4F7D-BB3C-0F5DEBB9DF27}"/>
              </a:ext>
            </a:extLst>
          </p:cNvPr>
          <p:cNvSpPr>
            <a:spLocks noGrp="1"/>
          </p:cNvSpPr>
          <p:nvPr/>
        </p:nvSpPr>
        <p:spPr>
          <a:xfrm>
            <a:off x="1733550" y="428625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生产进度</a:t>
            </a:r>
          </a:p>
        </p:txBody>
      </p:sp>
      <p:cxnSp>
        <p:nvCxnSpPr>
          <p:cNvPr id="36" name="直线箭头连接符 35"/>
          <p:cNvCxnSpPr>
            <a:stCxn id="4" idx="1"/>
            <a:endCxn id="13" idx="3"/>
          </p:cNvCxnSpPr>
          <p:nvPr/>
        </p:nvCxnSpPr>
        <p:spPr>
          <a:xfrm flipH="1">
            <a:off x="3257550" y="3048000"/>
            <a:ext cx="1838325" cy="146685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7E03F7F5-29E7-4921-95AD-F91BD9C46DAB}"/>
              </a:ext>
            </a:extLst>
          </p:cNvPr>
          <p:cNvSpPr>
            <a:spLocks noGrp="1"/>
          </p:cNvSpPr>
          <p:nvPr/>
        </p:nvSpPr>
        <p:spPr>
          <a:xfrm>
            <a:off x="5257800" y="476250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节拍 CT</a:t>
            </a:r>
          </a:p>
        </p:txBody>
      </p:sp>
      <p:cxnSp>
        <p:nvCxnSpPr>
          <p:cNvPr id="38" name="直线箭头连接符 37"/>
          <p:cNvCxnSpPr>
            <a:stCxn id="4" idx="2"/>
            <a:endCxn id="15" idx="0"/>
          </p:cNvCxnSpPr>
          <p:nvPr/>
        </p:nvCxnSpPr>
        <p:spPr>
          <a:xfrm flipH="1">
            <a:off x="6019800" y="3467100"/>
            <a:ext cx="76200" cy="129540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D0AAF1F2-E2E0-4BFE-BD8A-D78BC56A1089}"/>
              </a:ext>
            </a:extLst>
          </p:cNvPr>
          <p:cNvSpPr>
            <a:spLocks noGrp="1"/>
          </p:cNvSpPr>
          <p:nvPr/>
        </p:nvSpPr>
        <p:spPr>
          <a:xfrm>
            <a:off x="8620125" y="428625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Performance Rate</a:t>
            </a:r>
          </a:p>
        </p:txBody>
      </p:sp>
      <p:cxnSp>
        <p:nvCxnSpPr>
          <p:cNvPr id="40" name="直线箭头连接符 39"/>
          <p:cNvCxnSpPr>
            <a:stCxn id="4" idx="3"/>
            <a:endCxn id="17" idx="1"/>
          </p:cNvCxnSpPr>
          <p:nvPr/>
        </p:nvCxnSpPr>
        <p:spPr>
          <a:xfrm>
            <a:off x="7096125" y="3048000"/>
            <a:ext cx="1524000" cy="146685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354BFFD6-4BB2-45CD-923C-90ABDE4C943E}"/>
              </a:ext>
            </a:extLst>
          </p:cNvPr>
          <p:cNvSpPr>
            <a:spLocks noGrp="1"/>
          </p:cNvSpPr>
          <p:nvPr/>
        </p:nvSpPr>
        <p:spPr>
          <a:xfrm>
            <a:off x="1428750" y="5772150"/>
            <a:ext cx="933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原系统/软件规划路径多次提到全工序数据。分类的目的，是区分哪些数据触发即时动作，哪些数据用于长期沉淀。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4A37277-CAC4-41AA-B154-C0262C00129D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2B9D673-68E6-4B0A-B88D-1377D557AB30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1627910-EA15-4ABA-ACD9-AA726766CE64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r:id="rId3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2010835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5B3EB628-2C89-4F63-8701-1DE7C9D1E370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数据采集意义的展开面向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F36A4F0D-FB1F-431B-8B76-8A0347B369E2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35B7AC2-2130-46ED-93C9-4C475296C7DF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9420A652-2002-4108-BE0F-4A182CF64D79}"/>
              </a:ext>
            </a:extLst>
          </p:cNvPr>
          <p:cNvSpPr>
            <a:spLocks noGrp="1"/>
          </p:cNvSpPr>
          <p:nvPr/>
        </p:nvSpPr>
        <p:spPr>
          <a:xfrm>
            <a:off x="81915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风险阻断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72F66EE7-AFB9-4CF3-A33D-4A2C60746D94}"/>
              </a:ext>
            </a:extLst>
          </p:cNvPr>
          <p:cNvSpPr>
            <a:spLocks noGrp="1"/>
          </p:cNvSpPr>
          <p:nvPr/>
        </p:nvSpPr>
        <p:spPr>
          <a:xfrm>
            <a:off x="81915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设备状态或质量指标异常时，触发停线、确认、曲线跟踪和异常闭环。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04EBB210-98FA-47ED-ABF8-31E33D71A998}"/>
              </a:ext>
            </a:extLst>
          </p:cNvPr>
          <p:cNvSpPr>
            <a:spLocks noGrp="1"/>
          </p:cNvSpPr>
          <p:nvPr/>
        </p:nvSpPr>
        <p:spPr>
          <a:xfrm>
            <a:off x="453390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经验沉淀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72A67EBE-35E2-4359-911F-FD9E52F73DE9}"/>
              </a:ext>
            </a:extLst>
          </p:cNvPr>
          <p:cNvSpPr>
            <a:spLocks noGrp="1"/>
          </p:cNvSpPr>
          <p:nvPr/>
        </p:nvSpPr>
        <p:spPr>
          <a:xfrm>
            <a:off x="453390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对照产品状态变化，沉淀有效技术参数，服务产品开发和工艺设定。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1AC68DDD-7F43-46EF-A5C3-7B6AB5FD6A0D}"/>
              </a:ext>
            </a:extLst>
          </p:cNvPr>
          <p:cNvSpPr>
            <a:spLocks noGrp="1"/>
          </p:cNvSpPr>
          <p:nvPr/>
        </p:nvSpPr>
        <p:spPr>
          <a:xfrm>
            <a:off x="824865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进度调整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A9898455-BDC2-4197-AA3B-0A803CADFDF2}"/>
              </a:ext>
            </a:extLst>
          </p:cNvPr>
          <p:cNvSpPr>
            <a:spLocks noGrp="1"/>
          </p:cNvSpPr>
          <p:nvPr/>
        </p:nvSpPr>
        <p:spPr>
          <a:xfrm>
            <a:off x="824865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跟踪工序衔接和 WIP 水位，触发短周期 replan，减少等待和堆积。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5F42401-5FD5-4968-A239-65CAEB6504C3}"/>
              </a:ext>
            </a:extLst>
          </p:cNvPr>
          <p:cNvSpPr>
            <a:spLocks noGrp="1"/>
          </p:cNvSpPr>
          <p:nvPr/>
        </p:nvSpPr>
        <p:spPr>
          <a:xfrm>
            <a:off x="1809750" y="497205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数据采集不是越多越好，而是要从后续动作反推范围和手段。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B94862D-6628-488D-9A4E-6B7E922D18E6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5EAFCB8-7101-41EC-93B3-A049AE9128B1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0153D3E-EFCD-4FC9-803A-1D88B512B930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r:id="rId3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1019157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5A658E3F-B418-4805-9756-B26D53475C54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数据的价值收益方向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C1758A52-EF90-4E90-839C-CC8F42A7C334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AD9A9BE-FDA6-4031-94F3-705CBF84270B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1333500" y="1428750"/>
          <a:ext cx="9525000" cy="3524250"/>
        </p:xfrm>
        <a:graphic>
          <a:graphicData uri="http://schemas.openxmlformats.org/drawingml/2006/table">
            <a:tbl>
              <a:tblPr/>
              <a:tblGrid>
                <a:gridCol w="28863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86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485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价值方向</a:t>
                      </a:r>
                    </a:p>
                  </a:txBody>
                  <a:tcPr>
                    <a:solidFill>
                      <a:srgbClr val="F0F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收益逻辑</a:t>
                      </a:r>
                    </a:p>
                  </a:txBody>
                  <a:tcPr>
                    <a:solidFill>
                      <a:srgbClr val="F0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减少质量损失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通过异常阻断和质量曲线，减少报废和问题流入后序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积累工艺经验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用技术参数和产品状态对照，形成可复用的经验值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减少波动浪费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通过进度跟踪和 replan，减少等待、堆积和断流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支撑客户证明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用过程证据回应 CATL强化要求（浙江海威）对稳定性、追溯和闭环的要求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919DED5D-2080-46C8-8670-25ECA7AFF74D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CE32862-773F-4C6A-94D1-C3869DDC7F05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5903157"/>
      </p:ext>
    </p:extLst>
  </p:cSld>
  <p:clrMapOvr>
    <a:masterClrMapping/>
  </p:clrMapOvr>
</p:sld>
</file>

<file path=ppt/slides/slide1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ns2:creationId id="{740FC8D3-E4E6-43DD-A802-96E2B4417B07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Planning 是后续重点</a:t>
            </a:r>
          </a:p>
        </p:txBody>
      </p:sp>
      <p:sp>
        <p:nvSpPr>
          <p:cNvPr id="2" name="直线连接符 1">
            <a:extLst>
              <a:ext uri="{FF2B5EF4-FFF2-40B4-BE49-F238E27FC236}">
                <ns2:creationId id="{CD65B631-034B-460F-9795-56A88E3CFF36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ns2:creationId id="{B7BC7647-8327-4D3A-8DE9-541923742281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圆角矩形 3">
            <a:extLst>
              <a:ext uri="{FF2B5EF4-FFF2-40B4-BE49-F238E27FC236}">
                <ns2:creationId id="{66DAC114-7138-4E07-A574-34A987A80B31}"/>
              </a:ext>
            </a:extLst>
          </p:cNvPr>
          <p:cNvSpPr>
            <a:spLocks noGrp="1"/>
          </p:cNvSpPr>
          <p:nvPr/>
        </p:nvSpPr>
        <p:spPr>
          <a:xfrm>
            <a:off x="400050" y="2428875"/>
            <a:ext cx="1123950" cy="552450"/>
          </a:xfrm>
          <a:prstGeom prst="roundRect">
            <a:avLst>
              <a:gd name="adj" fmla="val 10345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ERP </a:t>
            </a:r>
            <a:r>
              <a:rPr lang="en-US" altLang="zh-CN" sz="16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day</a:t>
            </a:r>
            <a:r>
              <a:rPr sz="16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 </a:t>
            </a:r>
            <a:r>
              <a:rPr sz="16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</a:t>
            </a:r>
            <a:endParaRPr sz="16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5" name="圆角矩形 4">
            <a:extLst>
              <a:ext uri="{FF2B5EF4-FFF2-40B4-BE49-F238E27FC236}">
                <ns2:creationId id="{CA748BEE-6746-4874-A839-B8A7F8394860}"/>
              </a:ext>
            </a:extLst>
          </p:cNvPr>
          <p:cNvSpPr>
            <a:spLocks noGrp="1"/>
          </p:cNvSpPr>
          <p:nvPr/>
        </p:nvSpPr>
        <p:spPr>
          <a:xfrm>
            <a:off x="1828800" y="2428875"/>
            <a:ext cx="1123950" cy="552450"/>
          </a:xfrm>
          <a:prstGeom prst="roundRect">
            <a:avLst>
              <a:gd name="adj" fmla="val 10345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参数校准</a:t>
            </a:r>
          </a:p>
        </p:txBody>
      </p:sp>
      <p:sp>
        <p:nvSpPr>
          <p:cNvPr id="6" name="圆角矩形 5">
            <a:extLst>
              <a:ext uri="{FF2B5EF4-FFF2-40B4-BE49-F238E27FC236}">
                <ns2:creationId id="{8A1BB281-F791-45E9-B4F8-EC0F3D7455AA}"/>
              </a:ext>
            </a:extLst>
          </p:cNvPr>
          <p:cNvSpPr>
            <a:spLocks noGrp="1"/>
          </p:cNvSpPr>
          <p:nvPr/>
        </p:nvSpPr>
        <p:spPr>
          <a:xfrm>
            <a:off x="3257550" y="2428875"/>
            <a:ext cx="1123950" cy="552450"/>
          </a:xfrm>
          <a:prstGeom prst="roundRect">
            <a:avLst>
              <a:gd name="adj" fmla="val 10345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小时级基准</a:t>
            </a:r>
          </a:p>
        </p:txBody>
      </p:sp>
      <p:sp>
        <p:nvSpPr>
          <p:cNvPr id="7" name="圆角矩形 6">
            <a:extLst>
              <a:ext uri="{FF2B5EF4-FFF2-40B4-BE49-F238E27FC236}">
                <ns2:creationId id="{AFA9363D-C4E0-4CD5-B7FB-ACD029DBB935}"/>
              </a:ext>
            </a:extLst>
          </p:cNvPr>
          <p:cNvSpPr>
            <a:spLocks noGrp="1"/>
          </p:cNvSpPr>
          <p:nvPr/>
        </p:nvSpPr>
        <p:spPr>
          <a:xfrm>
            <a:off x="4686300" y="2428875"/>
            <a:ext cx="1123950" cy="552450"/>
          </a:xfrm>
          <a:prstGeom prst="roundRect">
            <a:avLst>
              <a:gd name="adj" fmla="val 10345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现场数据</a:t>
            </a:r>
          </a:p>
        </p:txBody>
      </p:sp>
      <p:sp>
        <p:nvSpPr>
          <p:cNvPr id="8" name="圆角矩形 7">
            <a:extLst>
              <a:ext uri="{FF2B5EF4-FFF2-40B4-BE49-F238E27FC236}">
                <ns2:creationId id="{7DFDAA9D-2866-4A4D-8A7D-2861F28FB082}"/>
              </a:ext>
            </a:extLst>
          </p:cNvPr>
          <p:cNvSpPr>
            <a:spLocks noGrp="1"/>
          </p:cNvSpPr>
          <p:nvPr/>
        </p:nvSpPr>
        <p:spPr>
          <a:xfrm>
            <a:off x="6115050" y="2428875"/>
            <a:ext cx="1123950" cy="552450"/>
          </a:xfrm>
          <a:prstGeom prst="roundRect">
            <a:avLst>
              <a:gd name="adj" fmla="val 10345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偏差判断</a:t>
            </a:r>
          </a:p>
        </p:txBody>
      </p:sp>
      <p:sp>
        <p:nvSpPr>
          <p:cNvPr id="9" name="圆角矩形 8">
            <a:extLst>
              <a:ext uri="{FF2B5EF4-FFF2-40B4-BE49-F238E27FC236}">
                <ns2:creationId id="{CDAB13B1-6875-4EB0-ABFC-A10EB532D3E6}"/>
              </a:ext>
            </a:extLst>
          </p:cNvPr>
          <p:cNvSpPr>
            <a:spLocks noGrp="1"/>
          </p:cNvSpPr>
          <p:nvPr/>
        </p:nvSpPr>
        <p:spPr>
          <a:xfrm>
            <a:off x="7543800" y="2428875"/>
            <a:ext cx="1123950" cy="552450"/>
          </a:xfrm>
          <a:prstGeom prst="roundRect">
            <a:avLst>
              <a:gd name="adj" fmla="val 10345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短周期 Replan</a:t>
            </a:r>
          </a:p>
        </p:txBody>
      </p:sp>
      <p:sp>
        <p:nvSpPr>
          <p:cNvPr id="10" name="圆角矩形 9">
            <a:extLst>
              <a:ext uri="{FF2B5EF4-FFF2-40B4-BE49-F238E27FC236}">
                <ns2:creationId id="{5B3DD3F2-49C9-4C47-A1D9-2D91BCDEB533}"/>
              </a:ext>
            </a:extLst>
          </p:cNvPr>
          <p:cNvSpPr>
            <a:spLocks noGrp="1"/>
          </p:cNvSpPr>
          <p:nvPr/>
        </p:nvSpPr>
        <p:spPr>
          <a:xfrm>
            <a:off x="8972550" y="2428875"/>
            <a:ext cx="1123950" cy="552450"/>
          </a:xfrm>
          <a:prstGeom prst="roundRect">
            <a:avLst>
              <a:gd name="adj" fmla="val 10345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物料拉动</a:t>
            </a:r>
          </a:p>
        </p:txBody>
      </p:sp>
      <p:sp>
        <p:nvSpPr>
          <p:cNvPr id="11" name="圆角矩形 10">
            <a:extLst>
              <a:ext uri="{FF2B5EF4-FFF2-40B4-BE49-F238E27FC236}">
                <ns2:creationId id="{755AEAD7-993A-4F33-A6D7-655320CAD9BC}"/>
              </a:ext>
            </a:extLst>
          </p:cNvPr>
          <p:cNvSpPr>
            <a:spLocks noGrp="1"/>
          </p:cNvSpPr>
          <p:nvPr/>
        </p:nvSpPr>
        <p:spPr>
          <a:xfrm>
            <a:off x="10401300" y="2428875"/>
            <a:ext cx="1123950" cy="552450"/>
          </a:xfrm>
          <a:prstGeom prst="roundRect">
            <a:avLst>
              <a:gd name="adj" fmla="val 10345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执行反馈</a:t>
            </a:r>
          </a:p>
        </p:txBody>
      </p:sp>
      <p:cxnSp>
        <p:nvCxnSpPr>
          <p:cNvPr id="34" name="直线箭头连接符 33"/>
          <p:cNvCxnSpPr>
            <a:stCxn id="4" idx="3"/>
            <a:endCxn id="5" idx="1"/>
          </p:cNvCxnSpPr>
          <p:nvPr/>
        </p:nvCxnSpPr>
        <p:spPr>
          <a:xfrm>
            <a:off x="1524000" y="2705100"/>
            <a:ext cx="30480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5" name="直线箭头连接符 34"/>
          <p:cNvCxnSpPr>
            <a:stCxn id="5" idx="3"/>
            <a:endCxn id="6" idx="1"/>
          </p:cNvCxnSpPr>
          <p:nvPr/>
        </p:nvCxnSpPr>
        <p:spPr>
          <a:xfrm>
            <a:off x="2952750" y="2705100"/>
            <a:ext cx="30480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6" name="直线箭头连接符 35"/>
          <p:cNvCxnSpPr>
            <a:stCxn id="6" idx="3"/>
            <a:endCxn id="7" idx="1"/>
          </p:cNvCxnSpPr>
          <p:nvPr/>
        </p:nvCxnSpPr>
        <p:spPr>
          <a:xfrm>
            <a:off x="4381500" y="2705100"/>
            <a:ext cx="30480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7" name="直线箭头连接符 36"/>
          <p:cNvCxnSpPr>
            <a:stCxn id="7" idx="3"/>
            <a:endCxn id="8" idx="1"/>
          </p:cNvCxnSpPr>
          <p:nvPr/>
        </p:nvCxnSpPr>
        <p:spPr>
          <a:xfrm>
            <a:off x="5810250" y="2705100"/>
            <a:ext cx="30480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8" name="直线箭头连接符 37"/>
          <p:cNvCxnSpPr>
            <a:stCxn id="8" idx="3"/>
            <a:endCxn id="9" idx="1"/>
          </p:cNvCxnSpPr>
          <p:nvPr/>
        </p:nvCxnSpPr>
        <p:spPr>
          <a:xfrm>
            <a:off x="7239000" y="2705100"/>
            <a:ext cx="30480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9" name="直线箭头连接符 38"/>
          <p:cNvCxnSpPr>
            <a:stCxn id="9" idx="3"/>
            <a:endCxn id="10" idx="1"/>
          </p:cNvCxnSpPr>
          <p:nvPr/>
        </p:nvCxnSpPr>
        <p:spPr>
          <a:xfrm>
            <a:off x="8667750" y="2705100"/>
            <a:ext cx="30480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40" name="直线箭头连接符 39"/>
          <p:cNvCxnSpPr>
            <a:stCxn id="10" idx="3"/>
            <a:endCxn id="11" idx="1"/>
          </p:cNvCxnSpPr>
          <p:nvPr/>
        </p:nvCxnSpPr>
        <p:spPr>
          <a:xfrm>
            <a:off x="10096500" y="2705100"/>
            <a:ext cx="30480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headEnd type="triangle" w="sm" len="sm"/>
          </a:ln>
        </p:spPr>
      </p:cxnSp>
      <p:sp>
        <p:nvSpPr>
          <p:cNvPr id="19" name="矩形 18">
            <a:extLst>
              <a:ext uri="{FF2B5EF4-FFF2-40B4-BE49-F238E27FC236}">
                <ns2:creationId id="{4253D002-C42E-47BB-95E9-4B12E889D6C2}"/>
              </a:ext>
            </a:extLst>
          </p:cNvPr>
          <p:cNvSpPr>
            <a:spLocks noGrp="1"/>
          </p:cNvSpPr>
          <p:nvPr/>
        </p:nvSpPr>
        <p:spPr>
          <a:xfrm>
            <a:off x="1600200" y="4095750"/>
            <a:ext cx="89916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 err="1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合理计划不只是排任务，也定义设备和工序在计划状态下应有的时间开动率表现。</a:t>
            </a:r>
            <a:r>
              <a:rPr sz="1400" b="0" dirty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/>
            </a:r>
            <a:r>
              <a:rPr sz="1400" b="0" dirty="0" err="1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/>
            </a:r>
            <a:r>
              <a:rPr sz="1400" b="0" dirty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/>
            </a:r>
            <a:r>
              <a:rPr sz="1400" b="0" dirty="0" err="1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/>
            </a:r>
            <a:r>
              <a:rPr sz="1400" b="0" dirty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/>
            </a:r>
            <a:r>
              <a:rPr sz="1400" b="0" dirty="0" err="1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/>
            </a:r>
            <a:r>
              <a:rPr sz="1400" b="0" dirty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/>
            </a:r>
            <a:r>
              <a:rPr sz="1400" b="0" dirty="0" err="1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/>
            </a:r>
            <a:r>
              <a:rPr sz="1400" b="0" dirty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/>
            </a:r>
            <a:r>
              <a:rPr sz="1400" b="0" dirty="0" err="1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/>
            </a:r>
            <a:r>
              <a:rPr sz="1400" b="0" dirty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/>
            </a:r>
          </a:p>
        </p:txBody>
      </p:sp>
      <p:sp>
        <p:nvSpPr>
          <p:cNvPr id="20" name="矩形 19">
            <a:extLst>
              <a:ext uri="{FF2B5EF4-FFF2-40B4-BE49-F238E27FC236}">
                <ns2:creationId id="{5BEF779E-A93E-46EE-AE3B-E159D88C5DA4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ns2:creationId id="{420CC1A4-7405-42CB-93F6-0986B7AAB882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ns2:creationId id="{D2466838-9A4A-419C-BE4A-55D2249BB74A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r:id="rId3"/>
              </a:rPr>
              <a:t>现场穿插：Planning 参数校准工具</a:t>
            </a:r>
          </a:p>
        </p:txBody>
      </p:sp>
      <p:sp>
        <p:nvSpPr>
          <p:cNvPr id="12" name="圆角矩形 11">
            <a:extLst>
              <a:ext uri="{FF2B5EF4-FFF2-40B4-BE49-F238E27FC236}">
                <ns2:creationId id="{B42F4F3A-5A19-D670-B478-212197F78AAE}"/>
              </a:ext>
            </a:extLst>
          </p:cNvPr>
          <p:cNvSpPr/>
          <p:nvPr/>
        </p:nvSpPr>
        <p:spPr>
          <a:xfrm>
            <a:off x="234176" y="2174487"/>
            <a:ext cx="4304370" cy="141537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右箭头 12">
            <a:extLst>
              <a:ext uri="{FF2B5EF4-FFF2-40B4-BE49-F238E27FC236}">
                <ns2:creationId id="{38824E91-9E29-1631-BA84-CA1FBFD55606}"/>
              </a:ext>
            </a:extLst>
          </p:cNvPr>
          <p:cNvSpPr/>
          <p:nvPr/>
        </p:nvSpPr>
        <p:spPr>
          <a:xfrm>
            <a:off x="552450" y="3144485"/>
            <a:ext cx="3552119" cy="2261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1" name="运营职责41"/>
          <p:cNvSpPr txBox="1"/>
          <p:nvPr/>
        </p:nvSpPr>
        <p:spPr>
          <a:xfrm>
            <a:off x="876300" y="4762500"/>
            <a:ext cx="2095500" cy="2667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运营的基本职责</a:t>
            </a:r>
          </a:p>
        </p:txBody>
      </p:sp>
      <p:sp>
        <p:nvSpPr>
          <p:cNvPr id="42" name="职责编号1"/>
          <p:cNvSpPr/>
          <p:nvPr/>
        </p:nvSpPr>
        <p:spPr>
          <a:xfrm>
            <a:off x="933450" y="5143500"/>
            <a:ext cx="171450" cy="171450"/>
          </a:xfrm>
          <a:prstGeom prst="ellipse">
            <a:avLst/>
          </a:prstGeom>
          <a:solidFill>
            <a:srgbClr val="76BC2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3" name="运营职责43"/>
          <p:cNvSpPr txBox="1"/>
          <p:nvPr/>
        </p:nvSpPr>
        <p:spPr>
          <a:xfrm>
            <a:off x="1181100" y="5105400"/>
            <a:ext cx="9334500" cy="2857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优化现有设备的运作时间，提升时间开动率。</a:t>
            </a:r>
          </a:p>
        </p:txBody>
      </p:sp>
      <p:sp>
        <p:nvSpPr>
          <p:cNvPr id="44" name="职责编号2"/>
          <p:cNvSpPr/>
          <p:nvPr/>
        </p:nvSpPr>
        <p:spPr>
          <a:xfrm>
            <a:off x="933450" y="5467350"/>
            <a:ext cx="171450" cy="171450"/>
          </a:xfrm>
          <a:prstGeom prst="ellipse">
            <a:avLst/>
          </a:prstGeom>
          <a:solidFill>
            <a:srgbClr val="76BC2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5" name="运营职责45"/>
          <p:cNvSpPr txBox="1"/>
          <p:nvPr/>
        </p:nvSpPr>
        <p:spPr>
          <a:xfrm>
            <a:off x="1181100" y="5429250"/>
            <a:ext cx="9334500" cy="2857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在此基础上，用更小的动态资源投入达到同样产出价值。</a:t>
            </a:r>
          </a:p>
        </p:txBody>
      </p:sp>
      <p:sp>
        <p:nvSpPr>
          <p:cNvPr id="46" name="职责编号3"/>
          <p:cNvSpPr/>
          <p:nvPr/>
        </p:nvSpPr>
        <p:spPr>
          <a:xfrm>
            <a:off x="933450" y="5791200"/>
            <a:ext cx="171450" cy="171450"/>
          </a:xfrm>
          <a:prstGeom prst="ellipse">
            <a:avLst/>
          </a:prstGeom>
          <a:solidFill>
            <a:srgbClr val="76BC2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7" name="运营职责47"/>
          <p:cNvSpPr txBox="1"/>
          <p:nvPr/>
        </p:nvSpPr>
        <p:spPr>
          <a:xfrm>
            <a:off x="1181100" y="5753100"/>
            <a:ext cx="9334500" cy="2857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为更小颗粒度数据收集提供基座，确保即时反应动作安全且有效。</a:t>
            </a:r>
          </a:p>
        </p:txBody>
      </p:sp>
    </p:spTree>
    <p:extLst>
      <p:ext uri="{BB962C8B-B14F-4D97-AF65-F5344CB8AC3E}">
        <ns4:creationId val="39244126"/>
      </p:ext>
    </p:extLst>
  </p:cSld>
  <p:clrMapOvr>
    <a:masterClrMapping/>
  </p:clrMapOvr>
</p:sld>
</file>

<file path=ppt/slides/slide1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ns2:creationId id="{26059D2F-983D-4DC8-9EA8-EDF86ABDD5B7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不同工艺过程的拉动方式</a:t>
            </a:r>
          </a:p>
        </p:txBody>
      </p:sp>
      <p:sp>
        <p:nvSpPr>
          <p:cNvPr id="2" name="直线连接符 1">
            <a:extLst>
              <a:ext uri="{FF2B5EF4-FFF2-40B4-BE49-F238E27FC236}">
                <ns2:creationId id="{D103E625-612A-4980-9641-E70C6345DE06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ns2:creationId id="{554C5295-23D3-4EB7-AD11-BAC96128ECFE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圆角矩形 3">
            <a:extLst>
              <a:ext uri="{FF2B5EF4-FFF2-40B4-BE49-F238E27FC236}">
                <ns2:creationId id="{BC1688EF-6DFC-4862-949B-7702BCD2A848}"/>
              </a:ext>
            </a:extLst>
          </p:cNvPr>
          <p:cNvSpPr>
            <a:spLocks noGrp="1"/>
          </p:cNvSpPr>
          <p:nvPr/>
        </p:nvSpPr>
        <p:spPr>
          <a:xfrm>
            <a:off x="8763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工单驱动适用场景</a:t>
            </a:r>
          </a:p>
        </p:txBody>
      </p:sp>
      <p:sp>
        <p:nvSpPr>
          <p:cNvPr id="5" name="圆角矩形 4">
            <a:extLst>
              <a:ext uri="{FF2B5EF4-FFF2-40B4-BE49-F238E27FC236}">
                <ns2:creationId id="{DE6472E5-C3AE-4C7F-9ABA-829EFA02C254}"/>
              </a:ext>
            </a:extLst>
          </p:cNvPr>
          <p:cNvSpPr>
            <a:spLocks noGrp="1"/>
          </p:cNvSpPr>
          <p:nvPr/>
        </p:nvSpPr>
        <p:spPr>
          <a:xfrm>
            <a:off x="67056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拉动式物流适用场景</a:t>
            </a:r>
          </a:p>
        </p:txBody>
      </p:sp>
      <p:sp>
        <p:nvSpPr>
          <p:cNvPr id="6" name="椭圆 5">
            <a:extLst>
              <a:ext uri="{FF2B5EF4-FFF2-40B4-BE49-F238E27FC236}">
                <ns2:creationId id="{8E4FCD76-44B9-4105-96DC-641F55E8A9C6}"/>
              </a:ext>
            </a:extLst>
          </p:cNvPr>
          <p:cNvSpPr>
            <a:spLocks noGrp="1"/>
          </p:cNvSpPr>
          <p:nvPr/>
        </p:nvSpPr>
        <p:spPr>
          <a:xfrm>
            <a:off x="10477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ns2:creationId id="{EBFEEDDC-FFA4-4EFA-A60F-9B11FF7A97EB}"/>
              </a:ext>
            </a:extLst>
          </p:cNvPr>
          <p:cNvSpPr>
            <a:spLocks noGrp="1"/>
          </p:cNvSpPr>
          <p:nvPr/>
        </p:nvSpPr>
        <p:spPr>
          <a:xfrm>
            <a:off x="12763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工单可以驱动料单和发料动作。</a:t>
            </a:r>
          </a:p>
        </p:txBody>
      </p:sp>
      <p:sp>
        <p:nvSpPr>
          <p:cNvPr id="8" name="椭圆 7">
            <a:extLst>
              <a:ext uri="{FF2B5EF4-FFF2-40B4-BE49-F238E27FC236}">
                <ns2:creationId id="{D86C889D-1B67-49CA-8979-6FAB668C7533}"/>
              </a:ext>
            </a:extLst>
          </p:cNvPr>
          <p:cNvSpPr>
            <a:spLocks noGrp="1"/>
          </p:cNvSpPr>
          <p:nvPr/>
        </p:nvSpPr>
        <p:spPr>
          <a:xfrm>
            <a:off x="1047750" y="28956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ns2:creationId id="{E27E5FFE-D689-4E7A-9C7D-5AB53695FABF}"/>
              </a:ext>
            </a:extLst>
          </p:cNvPr>
          <p:cNvSpPr>
            <a:spLocks noGrp="1"/>
          </p:cNvSpPr>
          <p:nvPr/>
        </p:nvSpPr>
        <p:spPr>
          <a:xfrm>
            <a:off x="1276350" y="28194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铝锭等原材料发至铸造产线，可以由工单牵引。</a:t>
            </a:r>
          </a:p>
        </p:txBody>
      </p:sp>
      <p:sp>
        <p:nvSpPr>
          <p:cNvPr id="10" name="椭圆 9">
            <a:extLst>
              <a:ext uri="{FF2B5EF4-FFF2-40B4-BE49-F238E27FC236}">
                <ns2:creationId id="{C34DB312-19FC-4E22-B099-33C9B44F7E12}"/>
              </a:ext>
            </a:extLst>
          </p:cNvPr>
          <p:cNvSpPr>
            <a:spLocks noGrp="1"/>
          </p:cNvSpPr>
          <p:nvPr/>
        </p:nvSpPr>
        <p:spPr>
          <a:xfrm>
            <a:off x="1047750" y="35433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ns2:creationId id="{D2A6EF3E-7D75-4B71-81D4-5206219EC897}"/>
              </a:ext>
            </a:extLst>
          </p:cNvPr>
          <p:cNvSpPr>
            <a:spLocks noGrp="1"/>
          </p:cNvSpPr>
          <p:nvPr/>
        </p:nvSpPr>
        <p:spPr>
          <a:xfrm>
            <a:off x="1276350" y="34671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计划仍负责材料需求和产能边界。</a:t>
            </a:r>
          </a:p>
        </p:txBody>
      </p:sp>
      <p:sp>
        <p:nvSpPr>
          <p:cNvPr id="12" name="椭圆 11">
            <a:extLst>
              <a:ext uri="{FF2B5EF4-FFF2-40B4-BE49-F238E27FC236}">
                <ns2:creationId id="{6996B6A6-F5FA-4CC4-B883-07E5559F9491}"/>
              </a:ext>
            </a:extLst>
          </p:cNvPr>
          <p:cNvSpPr>
            <a:spLocks noGrp="1"/>
          </p:cNvSpPr>
          <p:nvPr/>
        </p:nvSpPr>
        <p:spPr>
          <a:xfrm>
            <a:off x="68770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ns2:creationId id="{ED100EF8-D624-423A-80A6-8B9F29387410}"/>
              </a:ext>
            </a:extLst>
          </p:cNvPr>
          <p:cNvSpPr>
            <a:spLocks noGrp="1"/>
          </p:cNvSpPr>
          <p:nvPr/>
        </p:nvSpPr>
        <p:spPr>
          <a:xfrm>
            <a:off x="71056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铸造完成品到后续工序。</a:t>
            </a:r>
          </a:p>
        </p:txBody>
      </p:sp>
      <p:sp>
        <p:nvSpPr>
          <p:cNvPr id="14" name="椭圆 13">
            <a:extLst>
              <a:ext uri="{FF2B5EF4-FFF2-40B4-BE49-F238E27FC236}">
                <ns2:creationId id="{EA3F8A66-270B-4131-A1D0-980AFB3AB2A9}"/>
              </a:ext>
            </a:extLst>
          </p:cNvPr>
          <p:cNvSpPr>
            <a:spLocks noGrp="1"/>
          </p:cNvSpPr>
          <p:nvPr/>
        </p:nvSpPr>
        <p:spPr>
          <a:xfrm>
            <a:off x="6877050" y="28956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ns2:creationId id="{6D626B47-CB00-4803-B046-22B049F88B7A}"/>
              </a:ext>
            </a:extLst>
          </p:cNvPr>
          <p:cNvSpPr>
            <a:spLocks noGrp="1"/>
          </p:cNvSpPr>
          <p:nvPr/>
        </p:nvSpPr>
        <p:spPr>
          <a:xfrm>
            <a:off x="7105650" y="28194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机加到装配。</a:t>
            </a:r>
          </a:p>
        </p:txBody>
      </p:sp>
      <p:sp>
        <p:nvSpPr>
          <p:cNvPr id="16" name="椭圆 15">
            <a:extLst>
              <a:ext uri="{FF2B5EF4-FFF2-40B4-BE49-F238E27FC236}">
                <ns2:creationId id="{BB5DCB55-1255-484E-B537-EF83A2B8FAF4}"/>
              </a:ext>
            </a:extLst>
          </p:cNvPr>
          <p:cNvSpPr>
            <a:spLocks noGrp="1"/>
          </p:cNvSpPr>
          <p:nvPr/>
        </p:nvSpPr>
        <p:spPr>
          <a:xfrm>
            <a:off x="6877050" y="35433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ns2:creationId id="{47024FA7-5B2C-4D40-ACD3-D8526F43A9B6}"/>
              </a:ext>
            </a:extLst>
          </p:cNvPr>
          <p:cNvSpPr>
            <a:spLocks noGrp="1"/>
          </p:cNvSpPr>
          <p:nvPr/>
        </p:nvSpPr>
        <p:spPr>
          <a:xfrm>
            <a:off x="7105650" y="34671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排产基于库存水位展开，真实物料移动由后工序消耗节奏触发。</a:t>
            </a:r>
          </a:p>
        </p:txBody>
      </p:sp>
      <p:sp>
        <p:nvSpPr>
          <p:cNvPr id="18" name="矩形 17">
            <a:extLst>
              <a:ext uri="{FF2B5EF4-FFF2-40B4-BE49-F238E27FC236}">
                <ns2:creationId id="{9E279A33-C575-4D81-A13B-5D57BB3E5F05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ns2:creationId id="{FEDE9515-452A-4646-8397-20047E4FFA0E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ns2:creationId id="{33B05D7B-3B4D-473B-99C7-5F97A4E0E433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r:id="rId3"/>
              </a:rPr>
              <a:t>现场穿插：价值流画板</a:t>
            </a:r>
          </a:p>
        </p:txBody>
      </p:sp>
    </p:spTree>
    <p:extLst>
      <p:ext uri="{BB962C8B-B14F-4D97-AF65-F5344CB8AC3E}">
        <ns4:creationId val="1064947800"/>
      </p:ext>
    </p:extLst>
  </p:cSld>
  <p:clrMapOvr>
    <a:masterClrMapping/>
  </p:clrMapOvr>
</p:sld>
</file>

<file path=ppt/slides/slide1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ns2:creationId id="{6ACC2065-1079-4159-9830-4787DE51E237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成本向展开</a:t>
            </a:r>
          </a:p>
        </p:txBody>
      </p:sp>
      <p:sp>
        <p:nvSpPr>
          <p:cNvPr id="2" name="直线连接符 1">
            <a:extLst>
              <a:ext uri="{FF2B5EF4-FFF2-40B4-BE49-F238E27FC236}">
                <ns2:creationId id="{0C7E39AE-BEB3-4C03-B76D-9030CA8260B3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ns2:creationId id="{74B1538B-EDC6-4019-B8A1-FEF1BFF4E72B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圆角矩形 3">
            <a:extLst>
              <a:ext uri="{FF2B5EF4-FFF2-40B4-BE49-F238E27FC236}">
                <ns2:creationId id="{3E35333E-6B0B-40C7-90CA-5BF515AE273D}"/>
              </a:ext>
            </a:extLst>
          </p:cNvPr>
          <p:cNvSpPr>
            <a:spLocks noGrp="1"/>
          </p:cNvSpPr>
          <p:nvPr/>
        </p:nvSpPr>
        <p:spPr>
          <a:xfrm>
            <a:off x="1190625" y="1428750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库存成本</a:t>
            </a:r>
          </a:p>
        </p:txBody>
      </p:sp>
      <p:sp>
        <p:nvSpPr>
          <p:cNvPr id="5" name="圆角矩形 4">
            <a:extLst>
              <a:ext uri="{FF2B5EF4-FFF2-40B4-BE49-F238E27FC236}">
                <ns2:creationId id="{0A48390C-A610-4F2E-B753-6DF20C0BB248}"/>
              </a:ext>
            </a:extLst>
          </p:cNvPr>
          <p:cNvSpPr>
            <a:spLocks noGrp="1"/>
          </p:cNvSpPr>
          <p:nvPr/>
        </p:nvSpPr>
        <p:spPr>
          <a:xfrm>
            <a:off x="3314700" y="1428750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跨工序 WIP 水位不清，会带来过量库存、缺料等待和账实偏差。</a:t>
            </a:r>
          </a:p>
        </p:txBody>
      </p:sp>
      <p:sp>
        <p:nvSpPr>
          <p:cNvPr id="6" name="圆角矩形 5">
            <a:extLst>
              <a:ext uri="{FF2B5EF4-FFF2-40B4-BE49-F238E27FC236}">
                <ns2:creationId id="{237E40B5-AC9F-4ACB-8A41-397A46796844}"/>
              </a:ext>
            </a:extLst>
          </p:cNvPr>
          <p:cNvSpPr>
            <a:spLocks noGrp="1"/>
          </p:cNvSpPr>
          <p:nvPr/>
        </p:nvSpPr>
        <p:spPr>
          <a:xfrm>
            <a:off x="1190625" y="2428875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波动成本</a:t>
            </a:r>
          </a:p>
        </p:txBody>
      </p:sp>
      <p:sp>
        <p:nvSpPr>
          <p:cNvPr id="7" name="圆角矩形 6">
            <a:extLst>
              <a:ext uri="{FF2B5EF4-FFF2-40B4-BE49-F238E27FC236}">
                <ns2:creationId id="{2486CDB6-3D81-43E6-887B-B104C1900443}"/>
              </a:ext>
            </a:extLst>
          </p:cNvPr>
          <p:cNvSpPr>
            <a:spLocks noGrp="1"/>
          </p:cNvSpPr>
          <p:nvPr/>
        </p:nvSpPr>
        <p:spPr>
          <a:xfrm>
            <a:off x="3314700" y="2428875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计划弱和反馈慢，会造成等待、堆积、断流和局部加急。</a:t>
            </a:r>
          </a:p>
        </p:txBody>
      </p:sp>
      <p:sp>
        <p:nvSpPr>
          <p:cNvPr id="8" name="圆角矩形 7">
            <a:extLst>
              <a:ext uri="{FF2B5EF4-FFF2-40B4-BE49-F238E27FC236}">
                <ns2:creationId id="{D82836FB-F5A2-432D-89B9-12DD5260CA2C}"/>
              </a:ext>
            </a:extLst>
          </p:cNvPr>
          <p:cNvSpPr>
            <a:spLocks noGrp="1"/>
          </p:cNvSpPr>
          <p:nvPr/>
        </p:nvSpPr>
        <p:spPr>
          <a:xfrm>
            <a:off x="1190625" y="3429000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质量成本</a:t>
            </a:r>
          </a:p>
        </p:txBody>
      </p:sp>
      <p:sp>
        <p:nvSpPr>
          <p:cNvPr id="9" name="圆角矩形 8">
            <a:extLst>
              <a:ext uri="{FF2B5EF4-FFF2-40B4-BE49-F238E27FC236}">
                <ns2:creationId id="{17033FB0-0B1B-44BB-9255-F0131E9A26C9}"/>
              </a:ext>
            </a:extLst>
          </p:cNvPr>
          <p:cNvSpPr>
            <a:spLocks noGrp="1"/>
          </p:cNvSpPr>
          <p:nvPr/>
        </p:nvSpPr>
        <p:spPr>
          <a:xfrm>
            <a:off x="3314700" y="3429000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异常阻断不及时，导致报废、返工和客户证据不足。</a:t>
            </a:r>
          </a:p>
        </p:txBody>
      </p:sp>
      <p:sp>
        <p:nvSpPr>
          <p:cNvPr id="10" name="圆角矩形 9">
            <a:extLst>
              <a:ext uri="{FF2B5EF4-FFF2-40B4-BE49-F238E27FC236}">
                <ns2:creationId id="{49AB4BC7-CF9F-475C-8A9A-E306B6283FF9}"/>
              </a:ext>
            </a:extLst>
          </p:cNvPr>
          <p:cNvSpPr>
            <a:spLocks noGrp="1"/>
          </p:cNvSpPr>
          <p:nvPr/>
        </p:nvSpPr>
        <p:spPr>
          <a:xfrm>
            <a:off x="1190625" y="4429125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数据成本</a:t>
            </a:r>
          </a:p>
        </p:txBody>
      </p:sp>
      <p:sp>
        <p:nvSpPr>
          <p:cNvPr id="11" name="圆角矩形 10">
            <a:extLst>
              <a:ext uri="{FF2B5EF4-FFF2-40B4-BE49-F238E27FC236}">
                <ns2:creationId id="{5BDB39D5-E532-4644-BD88-3AD20920FD6B}"/>
              </a:ext>
            </a:extLst>
          </p:cNvPr>
          <p:cNvSpPr>
            <a:spLocks noGrp="1"/>
          </p:cNvSpPr>
          <p:nvPr/>
        </p:nvSpPr>
        <p:spPr>
          <a:xfrm>
            <a:off x="3314700" y="4429125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未定义动作的数据采集，会增加点位、存储、解释和维护成本。</a:t>
            </a:r>
          </a:p>
        </p:txBody>
      </p:sp>
      <p:sp>
        <p:nvSpPr>
          <p:cNvPr id="12" name="矩形 11">
            <a:extLst>
              <a:ext uri="{FF2B5EF4-FFF2-40B4-BE49-F238E27FC236}">
                <ns2:creationId id="{C290331A-C479-4EB1-83C7-60CFE720CF98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ns2:creationId id="{17F35DE2-F724-419D-A620-FC162E409ACB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ns3:creationId val="1686543549"/>
      </p:ext>
    </p:extLst>
  </p:cSld>
  <p:clrMapOvr>
    <a:masterClrMapping/>
  </p:clrMapOvr>
</p:sld>
</file>

<file path=ppt/slides/slide1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ns2:creationId id="{DEE4655E-CF1C-4F37-9A32-0456FFDA6BD8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AI 的初步落地方案</a:t>
            </a:r>
          </a:p>
        </p:txBody>
      </p:sp>
      <p:sp>
        <p:nvSpPr>
          <p:cNvPr id="2" name="直线连接符 1">
            <a:extLst>
              <a:ext uri="{FF2B5EF4-FFF2-40B4-BE49-F238E27FC236}">
                <ns2:creationId id="{7E8ECB8E-8948-42B1-8359-9027C955A50F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ns2:creationId id="{B83D7773-8F89-4671-8B6E-FC9A47B40725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圆角矩形 3">
            <a:extLst>
              <a:ext uri="{FF2B5EF4-FFF2-40B4-BE49-F238E27FC236}">
                <ns2:creationId id="{8D59EC2C-13A3-4E04-B3FA-C1F6C0036A53}"/>
              </a:ext>
            </a:extLst>
          </p:cNvPr>
          <p:cNvSpPr>
            <a:spLocks noGrp="1"/>
          </p:cNvSpPr>
          <p:nvPr/>
        </p:nvSpPr>
        <p:spPr>
          <a:xfrm>
            <a:off x="1162050" y="1657350"/>
            <a:ext cx="2476500" cy="476250"/>
          </a:xfrm>
          <a:prstGeom prst="roundRect">
            <a:avLst>
              <a:gd name="adj" fmla="val 120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边缘模型</a:t>
            </a:r>
          </a:p>
        </p:txBody>
      </p:sp>
      <p:sp>
        <p:nvSpPr>
          <p:cNvPr id="5" name="圆角矩形 4">
            <a:extLst>
              <a:ext uri="{FF2B5EF4-FFF2-40B4-BE49-F238E27FC236}">
                <ns2:creationId id="{0894CAAB-39ED-4119-AC25-B738B7B2DE24}"/>
              </a:ext>
            </a:extLst>
          </p:cNvPr>
          <p:cNvSpPr>
            <a:spLocks noGrp="1"/>
          </p:cNvSpPr>
          <p:nvPr/>
        </p:nvSpPr>
        <p:spPr>
          <a:xfrm>
            <a:off x="1162050" y="2381250"/>
            <a:ext cx="2476500" cy="123825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在状态异常和质量指标偏离时，辅助判断停线、降速、参数切换，并过滤非必要参数。</a:t>
            </a:r>
          </a:p>
        </p:txBody>
      </p:sp>
      <p:sp>
        <p:nvSpPr>
          <p:cNvPr id="6" name="圆角矩形 5">
            <a:extLst>
              <a:ext uri="{FF2B5EF4-FFF2-40B4-BE49-F238E27FC236}">
                <ns2:creationId id="{F87EE386-6A3F-4877-9F61-990DD015B3E0}"/>
              </a:ext>
            </a:extLst>
          </p:cNvPr>
          <p:cNvSpPr>
            <a:spLocks noGrp="1"/>
          </p:cNvSpPr>
          <p:nvPr/>
        </p:nvSpPr>
        <p:spPr>
          <a:xfrm>
            <a:off x="4495800" y="1657350"/>
            <a:ext cx="2476500" cy="476250"/>
          </a:xfrm>
          <a:prstGeom prst="roundRect">
            <a:avLst>
              <a:gd name="adj" fmla="val 120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服务器模型</a:t>
            </a:r>
          </a:p>
        </p:txBody>
      </p:sp>
      <p:sp>
        <p:nvSpPr>
          <p:cNvPr id="7" name="圆角矩形 6">
            <a:extLst>
              <a:ext uri="{FF2B5EF4-FFF2-40B4-BE49-F238E27FC236}">
                <ns2:creationId id="{DA4211F4-56DF-46D9-8B2F-F4E458182244}"/>
              </a:ext>
            </a:extLst>
          </p:cNvPr>
          <p:cNvSpPr>
            <a:spLocks noGrp="1"/>
          </p:cNvSpPr>
          <p:nvPr/>
        </p:nvSpPr>
        <p:spPr>
          <a:xfrm>
            <a:off x="4495800" y="2381250"/>
            <a:ext cx="2476500" cy="123825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基于小时级计划基准、跨工序状态和 WIP 水位，生成短周期 replan 建议。</a:t>
            </a:r>
          </a:p>
        </p:txBody>
      </p:sp>
      <p:sp>
        <p:nvSpPr>
          <p:cNvPr id="8" name="圆角矩形 7">
            <a:extLst>
              <a:ext uri="{FF2B5EF4-FFF2-40B4-BE49-F238E27FC236}">
                <ns2:creationId id="{F85DBEBA-85B9-449A-BFF9-68781903AAE2}"/>
              </a:ext>
            </a:extLst>
          </p:cNvPr>
          <p:cNvSpPr>
            <a:spLocks noGrp="1"/>
          </p:cNvSpPr>
          <p:nvPr/>
        </p:nvSpPr>
        <p:spPr>
          <a:xfrm>
            <a:off x="7829550" y="1657350"/>
            <a:ext cx="2476500" cy="476250"/>
          </a:xfrm>
          <a:prstGeom prst="roundRect">
            <a:avLst>
              <a:gd name="adj" fmla="val 120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协同边界</a:t>
            </a:r>
          </a:p>
        </p:txBody>
      </p:sp>
      <p:sp>
        <p:nvSpPr>
          <p:cNvPr id="9" name="圆角矩形 8">
            <a:extLst>
              <a:ext uri="{FF2B5EF4-FFF2-40B4-BE49-F238E27FC236}">
                <ns2:creationId id="{D183AE8C-07D2-4C86-A341-0435751F59AE}"/>
              </a:ext>
            </a:extLst>
          </p:cNvPr>
          <p:cNvSpPr>
            <a:spLocks noGrp="1"/>
          </p:cNvSpPr>
          <p:nvPr/>
        </p:nvSpPr>
        <p:spPr>
          <a:xfrm>
            <a:off x="7829550" y="2381250"/>
            <a:ext cx="2476500" cy="123825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边缘模型快速处理当前覆盖范围，服务器模型处理全局计划重排和跨工序取舍。</a:t>
            </a:r>
          </a:p>
        </p:txBody>
      </p:sp>
      <p:sp>
        <p:nvSpPr>
          <p:cNvPr id="10" name="矩形 9">
            <a:extLst>
              <a:ext uri="{FF2B5EF4-FFF2-40B4-BE49-F238E27FC236}">
                <ns2:creationId id="{CF427F0D-77B6-4C1A-BD81-1A12D1DB664B}"/>
              </a:ext>
            </a:extLst>
          </p:cNvPr>
          <p:cNvSpPr>
            <a:spLocks noGrp="1"/>
          </p:cNvSpPr>
          <p:nvPr/>
        </p:nvSpPr>
        <p:spPr>
          <a:xfrm>
            <a:off x="1619250" y="4876800"/>
            <a:ext cx="895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边缘 AI 解决现场快速响应与参数过滤；计划重排更适合由服务器侧模型结合全局约束来判断。</a:t>
            </a:r>
          </a:p>
        </p:txBody>
      </p:sp>
      <p:sp>
        <p:nvSpPr>
          <p:cNvPr id="11" name="矩形 10">
            <a:extLst>
              <a:ext uri="{FF2B5EF4-FFF2-40B4-BE49-F238E27FC236}">
                <ns2:creationId id="{F86DEC20-F07F-4FC3-808E-3F3AE2785094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ns2:creationId id="{42D76E16-F9BF-4570-B2F1-7A714EEA7678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ns3:creationId val="1943773976"/>
      </p:ext>
    </p:extLst>
  </p:cSld>
  <p:clrMapOvr>
    <a:masterClrMapping/>
  </p:clrMapOvr>
</p:sld>
</file>

<file path=ppt/slides/slide18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ns2:creationId id="{5B71726F-8BE7-42A6-B79A-2163086F5CE4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阶段路线与下一步</a:t>
            </a:r>
          </a:p>
        </p:txBody>
      </p:sp>
      <p:sp>
        <p:nvSpPr>
          <p:cNvPr id="2" name="直线连接符 1">
            <a:extLst>
              <a:ext uri="{FF2B5EF4-FFF2-40B4-BE49-F238E27FC236}">
                <ns2:creationId id="{ADF9C3B4-2ED5-44CA-95D1-4A8291DB3585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ns2:creationId id="{10B9145B-7B8D-4273-B8B5-D5EB2BE0908F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圆角矩形 3">
            <a:extLst>
              <a:ext uri="{FF2B5EF4-FFF2-40B4-BE49-F238E27FC236}">
                <ns2:creationId id="{F89CFC1D-20EB-47A3-BDF2-D2C14F740875}"/>
              </a:ext>
            </a:extLst>
          </p:cNvPr>
          <p:cNvSpPr>
            <a:spLocks noGrp="1"/>
          </p:cNvSpPr>
          <p:nvPr/>
        </p:nvSpPr>
        <p:spPr>
          <a:xfrm>
            <a:off x="1000125" y="1524000"/>
            <a:ext cx="2619375" cy="419100"/>
          </a:xfrm>
          <a:prstGeom prst="roundRect">
            <a:avLst>
              <a:gd name="adj" fmla="val 13636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阶段一</a:t>
            </a:r>
          </a:p>
        </p:txBody>
      </p:sp>
      <p:sp>
        <p:nvSpPr>
          <p:cNvPr id="5" name="圆角矩形 4">
            <a:extLst>
              <a:ext uri="{FF2B5EF4-FFF2-40B4-BE49-F238E27FC236}">
                <ns2:creationId id="{E11C9372-2849-4FA7-B8F4-0E53AA550C10}"/>
              </a:ext>
            </a:extLst>
          </p:cNvPr>
          <p:cNvSpPr>
            <a:spLocks noGrp="1"/>
          </p:cNvSpPr>
          <p:nvPr/>
        </p:nvSpPr>
        <p:spPr>
          <a:xfrm>
            <a:off x="1000125" y="2114550"/>
            <a:ext cx="2619375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重新解读原系统/软件规划路径</a:t>
            </a:r>
          </a:p>
        </p:txBody>
      </p:sp>
      <p:sp>
        <p:nvSpPr>
          <p:cNvPr id="6" name="圆角矩形 5">
            <a:extLst>
              <a:ext uri="{FF2B5EF4-FFF2-40B4-BE49-F238E27FC236}">
                <ns2:creationId id="{8BD26109-5AD0-48CB-BB40-33D27CCC582D}"/>
              </a:ext>
            </a:extLst>
          </p:cNvPr>
          <p:cNvSpPr>
            <a:spLocks noGrp="1"/>
          </p:cNvSpPr>
          <p:nvPr/>
        </p:nvSpPr>
        <p:spPr>
          <a:xfrm>
            <a:off x="1000125" y="2971800"/>
            <a:ext cx="2619375" cy="14859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识别客户要求、业务问题、能力短板和价值流位置</a:t>
            </a:r>
          </a:p>
        </p:txBody>
      </p:sp>
      <p:sp>
        <p:nvSpPr>
          <p:cNvPr id="7" name="圆角矩形 6">
            <a:extLst>
              <a:ext uri="{FF2B5EF4-FFF2-40B4-BE49-F238E27FC236}">
                <ns2:creationId id="{21D99D81-97ED-4B35-9A6B-2DE20259D401}"/>
              </a:ext>
            </a:extLst>
          </p:cNvPr>
          <p:cNvSpPr>
            <a:spLocks noGrp="1"/>
          </p:cNvSpPr>
          <p:nvPr/>
        </p:nvSpPr>
        <p:spPr>
          <a:xfrm>
            <a:off x="4543425" y="1524000"/>
            <a:ext cx="2619375" cy="419100"/>
          </a:xfrm>
          <a:prstGeom prst="roundRect">
            <a:avLst>
              <a:gd name="adj" fmla="val 13636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阶段二</a:t>
            </a:r>
          </a:p>
        </p:txBody>
      </p:sp>
      <p:sp>
        <p:nvSpPr>
          <p:cNvPr id="8" name="圆角矩形 7">
            <a:extLst>
              <a:ext uri="{FF2B5EF4-FFF2-40B4-BE49-F238E27FC236}">
                <ns2:creationId id="{4B878661-2F2D-4E3E-9522-CF80DE3E8C88}"/>
              </a:ext>
            </a:extLst>
          </p:cNvPr>
          <p:cNvSpPr>
            <a:spLocks noGrp="1"/>
          </p:cNvSpPr>
          <p:nvPr/>
        </p:nvSpPr>
        <p:spPr>
          <a:xfrm>
            <a:off x="4543425" y="2114550"/>
            <a:ext cx="2619375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数据采集与计划闭环</a:t>
            </a:r>
          </a:p>
        </p:txBody>
      </p:sp>
      <p:sp>
        <p:nvSpPr>
          <p:cNvPr id="9" name="圆角矩形 8">
            <a:extLst>
              <a:ext uri="{FF2B5EF4-FFF2-40B4-BE49-F238E27FC236}">
                <ns2:creationId id="{D860E56D-6DE9-4E3E-A01F-5DDF081AD7DF}"/>
              </a:ext>
            </a:extLst>
          </p:cNvPr>
          <p:cNvSpPr>
            <a:spLocks noGrp="1"/>
          </p:cNvSpPr>
          <p:nvPr/>
        </p:nvSpPr>
        <p:spPr>
          <a:xfrm>
            <a:off x="4543425" y="2971800"/>
            <a:ext cx="2619375" cy="14859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参数校准、小时级计划基准、拉动物流、replan</a:t>
            </a:r>
          </a:p>
        </p:txBody>
      </p:sp>
      <p:sp>
        <p:nvSpPr>
          <p:cNvPr id="10" name="圆角矩形 9">
            <a:extLst>
              <a:ext uri="{FF2B5EF4-FFF2-40B4-BE49-F238E27FC236}">
                <ns2:creationId id="{CC9D562C-458B-46DC-8178-A10C2697AB37}"/>
              </a:ext>
            </a:extLst>
          </p:cNvPr>
          <p:cNvSpPr>
            <a:spLocks noGrp="1"/>
          </p:cNvSpPr>
          <p:nvPr/>
        </p:nvSpPr>
        <p:spPr>
          <a:xfrm>
            <a:off x="8086725" y="1524000"/>
            <a:ext cx="2619375" cy="419100"/>
          </a:xfrm>
          <a:prstGeom prst="roundRect">
            <a:avLst>
              <a:gd name="adj" fmla="val 13636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阶段三</a:t>
            </a:r>
          </a:p>
        </p:txBody>
      </p:sp>
      <p:sp>
        <p:nvSpPr>
          <p:cNvPr id="11" name="圆角矩形 10">
            <a:extLst>
              <a:ext uri="{FF2B5EF4-FFF2-40B4-BE49-F238E27FC236}">
                <ns2:creationId id="{2718439E-3229-4B2E-9AF3-66D0789AAD63}"/>
              </a:ext>
            </a:extLst>
          </p:cNvPr>
          <p:cNvSpPr>
            <a:spLocks noGrp="1"/>
          </p:cNvSpPr>
          <p:nvPr/>
        </p:nvSpPr>
        <p:spPr>
          <a:xfrm>
            <a:off x="8086725" y="2114550"/>
            <a:ext cx="2619375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AI 与数字孪生调整</a:t>
            </a:r>
          </a:p>
        </p:txBody>
      </p:sp>
      <p:sp>
        <p:nvSpPr>
          <p:cNvPr id="12" name="圆角矩形 11">
            <a:extLst>
              <a:ext uri="{FF2B5EF4-FFF2-40B4-BE49-F238E27FC236}">
                <ns2:creationId id="{A9D3041B-5478-4F35-8A00-2B3387AB0285}"/>
              </a:ext>
            </a:extLst>
          </p:cNvPr>
          <p:cNvSpPr>
            <a:spLocks noGrp="1"/>
          </p:cNvSpPr>
          <p:nvPr/>
        </p:nvSpPr>
        <p:spPr>
          <a:xfrm>
            <a:off x="8086725" y="2971800"/>
            <a:ext cx="2619375" cy="14859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边缘模型、参数过滤、短周期重排、成本优化</a:t>
            </a:r>
          </a:p>
        </p:txBody>
      </p:sp>
      <p:sp>
        <p:nvSpPr>
          <p:cNvPr id="13" name="矩形 12">
            <a:extLst>
              <a:ext uri="{FF2B5EF4-FFF2-40B4-BE49-F238E27FC236}">
                <ns2:creationId id="{4EE2BA97-39B9-4959-BF6A-5F1460513952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ns2:creationId id="{61E02459-5151-4B26-9021-1AA9DEB2B8C4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ns2:creationId id="{BFD67B84-0891-4A3A-9CB1-F05B40551BDA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r:id="rId3"/>
              </a:rPr>
              <a:t>现场穿插：价值流画板</a:t>
            </a:r>
          </a:p>
        </p:txBody>
      </p:sp>
    </p:spTree>
    <p:extLst>
      <p:ext uri="{BB962C8B-B14F-4D97-AF65-F5344CB8AC3E}">
        <ns4:creationId val="387472384"/>
      </p:ext>
    </p:extLst>
  </p:cSld>
  <p:clrMapOvr>
    <a:masterClrMapping/>
  </p:clrMapOvr>
</p:sld>
</file>

<file path=ppt/slides/slide1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ns2:creationId id="{6ACC2065-1079-4159-9830-4787DE51E237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当前系统规划的能力缺口</a:t>
            </a:r>
          </a:p>
        </p:txBody>
      </p:sp>
      <p:sp>
        <p:nvSpPr>
          <p:cNvPr id="2" name="直线连接符 1">
            <a:extLst>
              <a:ext uri="{FF2B5EF4-FFF2-40B4-BE49-F238E27FC236}">
                <ns2:creationId id="{0C7E39AE-BEB3-4C03-B76D-9030CA8260B3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ns2:creationId id="{74B1538B-EDC6-4019-B8A1-FEF1BFF4E72B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圆角矩形 3">
            <a:extLst>
              <a:ext uri="{FF2B5EF4-FFF2-40B4-BE49-F238E27FC236}">
                <ns2:creationId id="{3E35333E-6B0B-40C7-90CA-5BF515AE273D}"/>
              </a:ext>
            </a:extLst>
          </p:cNvPr>
          <p:cNvSpPr>
            <a:spLocks noGrp="1"/>
          </p:cNvSpPr>
          <p:nvPr/>
        </p:nvSpPr>
        <p:spPr>
          <a:xfrm>
            <a:off x="1190625" y="1428750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计划基准缺口</a:t>
            </a:r>
          </a:p>
        </p:txBody>
      </p:sp>
      <p:sp>
        <p:nvSpPr>
          <p:cNvPr id="5" name="圆角矩形 4">
            <a:extLst>
              <a:ext uri="{FF2B5EF4-FFF2-40B4-BE49-F238E27FC236}">
                <ns2:creationId id="{0A48390C-A610-4F2E-B753-6DF20C0BB248}"/>
              </a:ext>
            </a:extLst>
          </p:cNvPr>
          <p:cNvSpPr>
            <a:spLocks noGrp="1"/>
          </p:cNvSpPr>
          <p:nvPr/>
        </p:nvSpPr>
        <p:spPr>
          <a:xfrm>
            <a:off x="3314700" y="1428750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ERP 日计划颗粒度偏粗，现场小时级波动缺少评价基准。</a:t>
            </a:r>
          </a:p>
        </p:txBody>
      </p:sp>
      <p:sp>
        <p:nvSpPr>
          <p:cNvPr id="6" name="圆角矩形 5">
            <a:extLst>
              <a:ext uri="{FF2B5EF4-FFF2-40B4-BE49-F238E27FC236}">
                <ns2:creationId id="{237E40B5-AC9F-4ACB-8A41-397A46796844}"/>
              </a:ext>
            </a:extLst>
          </p:cNvPr>
          <p:cNvSpPr>
            <a:spLocks noGrp="1"/>
          </p:cNvSpPr>
          <p:nvPr/>
        </p:nvSpPr>
        <p:spPr>
          <a:xfrm>
            <a:off x="1190625" y="2428875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参数校准缺口</a:t>
            </a:r>
          </a:p>
        </p:txBody>
      </p:sp>
      <p:sp>
        <p:nvSpPr>
          <p:cNvPr id="7" name="圆角矩形 6">
            <a:extLst>
              <a:ext uri="{FF2B5EF4-FFF2-40B4-BE49-F238E27FC236}">
                <ns2:creationId id="{2486CDB6-3D81-43E6-887B-B104C1900443}"/>
              </a:ext>
            </a:extLst>
          </p:cNvPr>
          <p:cNvSpPr>
            <a:spLocks noGrp="1"/>
          </p:cNvSpPr>
          <p:nvPr/>
        </p:nvSpPr>
        <p:spPr>
          <a:xfrm>
            <a:off x="3314700" y="2428875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CT、SA、setup、planned stop、Performance Rate、Quality Rate 与 R&amp;R 观察尚未形成持续更新的 Planning 参数层。</a:t>
            </a:r>
          </a:p>
        </p:txBody>
      </p:sp>
      <p:sp>
        <p:nvSpPr>
          <p:cNvPr id="8" name="圆角矩形 7">
            <a:extLst>
              <a:ext uri="{FF2B5EF4-FFF2-40B4-BE49-F238E27FC236}">
                <ns2:creationId id="{D82836FB-F5A2-432D-89B9-12DD5260CA2C}"/>
              </a:ext>
            </a:extLst>
          </p:cNvPr>
          <p:cNvSpPr>
            <a:spLocks noGrp="1"/>
          </p:cNvSpPr>
          <p:nvPr/>
        </p:nvSpPr>
        <p:spPr>
          <a:xfrm>
            <a:off x="1190625" y="3429000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过程动作缺口</a:t>
            </a:r>
          </a:p>
        </p:txBody>
      </p:sp>
      <p:sp>
        <p:nvSpPr>
          <p:cNvPr id="9" name="圆角矩形 8">
            <a:extLst>
              <a:ext uri="{FF2B5EF4-FFF2-40B4-BE49-F238E27FC236}">
                <ns2:creationId id="{17033FB0-0B1B-44BB-9255-F0131E9A26C9}"/>
              </a:ext>
            </a:extLst>
          </p:cNvPr>
          <p:cNvSpPr>
            <a:spLocks noGrp="1"/>
          </p:cNvSpPr>
          <p:nvPr/>
        </p:nvSpPr>
        <p:spPr>
          <a:xfrm>
            <a:off x="3314700" y="3429000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QMS、TPM、IoT 若停留在记录、采集和展示，难以触发隔离、复检、停线、调参、补料和 replan。</a:t>
            </a:r>
          </a:p>
        </p:txBody>
      </p:sp>
      <p:sp>
        <p:nvSpPr>
          <p:cNvPr id="10" name="圆角矩形 9">
            <a:extLst>
              <a:ext uri="{FF2B5EF4-FFF2-40B4-BE49-F238E27FC236}">
                <ns2:creationId id="{49AB4BC7-CF9F-475C-8A9A-E306B6283FF9}"/>
              </a:ext>
            </a:extLst>
          </p:cNvPr>
          <p:cNvSpPr>
            <a:spLocks noGrp="1"/>
          </p:cNvSpPr>
          <p:nvPr/>
        </p:nvSpPr>
        <p:spPr>
          <a:xfrm>
            <a:off x="1190625" y="4429125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跨工序反馈缺口</a:t>
            </a:r>
          </a:p>
        </p:txBody>
      </p:sp>
      <p:sp>
        <p:nvSpPr>
          <p:cNvPr id="11" name="圆角矩形 10">
            <a:extLst>
              <a:ext uri="{FF2B5EF4-FFF2-40B4-BE49-F238E27FC236}">
                <ns2:creationId id="{5BDB39D5-E532-4644-BD88-3AD20920FD6B}"/>
              </a:ext>
            </a:extLst>
          </p:cNvPr>
          <p:cNvSpPr>
            <a:spLocks noGrp="1"/>
          </p:cNvSpPr>
          <p:nvPr/>
        </p:nvSpPr>
        <p:spPr>
          <a:xfrm>
            <a:off x="3314700" y="4429125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WIP、水位与后工序拉动信号不足，难以判断局部波动对后续工序和交付的影响。</a:t>
            </a:r>
          </a:p>
        </p:txBody>
      </p:sp>
      <p:sp>
        <p:nvSpPr>
          <p:cNvPr id="12" name="矩形 11">
            <a:extLst>
              <a:ext uri="{FF2B5EF4-FFF2-40B4-BE49-F238E27FC236}">
                <ns2:creationId id="{C290331A-C479-4EB1-83C7-60CFE720CF98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ns2:creationId id="{17F35DE2-F724-419D-A620-FC162E409ACB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15" name="能力缺口结论"/>
          <p:cNvSpPr txBox="1"/>
          <p:nvPr/>
        </p:nvSpPr>
        <p:spPr>
          <a:xfrm>
            <a:off x="1428750" y="5619750"/>
            <a:ext cx="9334500" cy="4191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defRPr sz="140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CATL要求让问题更明确，但补强核心是海威自身的计划、过程和跨工序管理能力。</a:t>
            </a:r>
          </a:p>
        </p:txBody>
      </p:sp>
    </p:spTree>
    <p:extLst>
      <p:ext uri="{BB962C8B-B14F-4D97-AF65-F5344CB8AC3E}">
        <ns3:creationId val="168654354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1614</TotalTime>
  <Words>701</Words>
  <Application>Microsoft Macintosh PowerPoint</Application>
  <DocSecurity>0</DocSecurity>
  <PresentationFormat>宽屏</PresentationFormat>
  <Paragraphs>182</Paragraphs>
  <Slides>19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2" baseType="lpstr">
      <vt:lpstr>Songti SC</vt:lpstr>
      <vt:lpstr>Arial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Li Jiajun</cp:lastModifiedBy>
  <cp:revision>7</cp:revision>
  <dcterms:created xsi:type="dcterms:W3CDTF">2026-09-21T01:42:31Z</dcterms:created>
  <dcterms:modified xsi:type="dcterms:W3CDTF">2026-09-23T08:32:55Z</dcterms:modified>
</cp:coreProperties>
</file>