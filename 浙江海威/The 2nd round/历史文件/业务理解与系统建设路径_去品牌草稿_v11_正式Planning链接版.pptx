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095d532f6449b2" /><Relationship Type="http://schemas.openxmlformats.org/officeDocument/2006/relationships/extended-properties" Target="/docProps/app.xml" Id="R0f1c712237fc43b8" /><Relationship Type="http://schemas.openxmlformats.org/officeDocument/2006/relationships/officeDocument" Target="/ppt/presentation.xml" Id="Ra3b2aa4b8a1e4c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f3c57cc5d44283"/>
  </p:sldMasterIdLst>
  <p:notesMasterIdLst>
    <p:notesMasterId xmlns:r="http://schemas.openxmlformats.org/officeDocument/2006/relationships" r:id="R09ff3383d2dc4b83"/>
  </p:notesMasterIdLst>
  <p:sldIdLst>
    <p:sldId xmlns:r="http://schemas.openxmlformats.org/officeDocument/2006/relationships" id="256" r:id="Rd8475a16cea544a1"/>
    <p:sldId xmlns:r="http://schemas.openxmlformats.org/officeDocument/2006/relationships" id="257" r:id="R812fb8de53b643a0"/>
    <p:sldId xmlns:r="http://schemas.openxmlformats.org/officeDocument/2006/relationships" id="258" r:id="Rba87d973c6b34fd9"/>
    <p:sldId xmlns:r="http://schemas.openxmlformats.org/officeDocument/2006/relationships" id="259" r:id="R4ca235baa833435b"/>
    <p:sldId xmlns:r="http://schemas.openxmlformats.org/officeDocument/2006/relationships" id="260" r:id="R8e1a1686215349a8"/>
    <p:sldId xmlns:r="http://schemas.openxmlformats.org/officeDocument/2006/relationships" id="261" r:id="R0d303be48a4040d0"/>
    <p:sldId xmlns:r="http://schemas.openxmlformats.org/officeDocument/2006/relationships" id="262" r:id="Rc85e5c2c0a6f4022"/>
    <p:sldId xmlns:r="http://schemas.openxmlformats.org/officeDocument/2006/relationships" id="263" r:id="R974d6c7378d14df3"/>
    <p:sldId xmlns:r="http://schemas.openxmlformats.org/officeDocument/2006/relationships" id="264" r:id="R40dff6ec1e5649bf"/>
    <p:sldId xmlns:r="http://schemas.openxmlformats.org/officeDocument/2006/relationships" id="265" r:id="R748cef50766043f4"/>
    <p:sldId xmlns:r="http://schemas.openxmlformats.org/officeDocument/2006/relationships" id="266" r:id="R450fc5f7b611454a"/>
    <p:sldId xmlns:r="http://schemas.openxmlformats.org/officeDocument/2006/relationships" id="267" r:id="Rb1e70793bf974482"/>
    <p:sldId xmlns:r="http://schemas.openxmlformats.org/officeDocument/2006/relationships" id="268" r:id="R8a356303c60c42a3"/>
    <p:sldId xmlns:r="http://schemas.openxmlformats.org/officeDocument/2006/relationships" id="269" r:id="R84706395a7414258"/>
    <p:sldId xmlns:r="http://schemas.openxmlformats.org/officeDocument/2006/relationships" id="270" r:id="Rd5692e2769fa4b13"/>
    <p:sldId xmlns:r="http://schemas.openxmlformats.org/officeDocument/2006/relationships" id="271" r:id="R890f12da50ed43f9"/>
    <p:sldId xmlns:r="http://schemas.openxmlformats.org/officeDocument/2006/relationships" id="272" r:id="R6eeb572c068246cb"/>
    <p:sldId xmlns:r="http://schemas.openxmlformats.org/officeDocument/2006/relationships" id="273" r:id="R5729b238a3b2480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1b33f3a633c4f43" /><Relationship Type="http://schemas.openxmlformats.org/officeDocument/2006/relationships/slideMaster" Target="/ppt/slideMasters/slideMaster1.xml" Id="R8af3c57cc5d44283" /><Relationship Type="http://schemas.openxmlformats.org/officeDocument/2006/relationships/notesMaster" Target="/ppt/notesMasters/notesMaster1.xml" Id="R09ff3383d2dc4b83" /><Relationship Type="http://schemas.openxmlformats.org/officeDocument/2006/relationships/presProps" Target="/ppt/presProps.xml" Id="R8cfceb858df94a51" /><Relationship Type="http://schemas.openxmlformats.org/officeDocument/2006/relationships/tableStyles" Target="/ppt/tableStyles.xml" Id="R34a76a38a7064cc6" /><Relationship Type="http://schemas.openxmlformats.org/officeDocument/2006/relationships/slide" Target="/ppt/slides/slide1.xml" Id="Rd8475a16cea544a1" /><Relationship Type="http://schemas.openxmlformats.org/officeDocument/2006/relationships/slide" Target="/ppt/slides/slide2.xml" Id="R812fb8de53b643a0" /><Relationship Type="http://schemas.openxmlformats.org/officeDocument/2006/relationships/slide" Target="/ppt/slides/slide3.xml" Id="Rba87d973c6b34fd9" /><Relationship Type="http://schemas.openxmlformats.org/officeDocument/2006/relationships/slide" Target="/ppt/slides/slide4.xml" Id="R4ca235baa833435b" /><Relationship Type="http://schemas.openxmlformats.org/officeDocument/2006/relationships/slide" Target="/ppt/slides/slide5.xml" Id="R8e1a1686215349a8" /><Relationship Type="http://schemas.openxmlformats.org/officeDocument/2006/relationships/slide" Target="/ppt/slides/slide6.xml" Id="R0d303be48a4040d0" /><Relationship Type="http://schemas.openxmlformats.org/officeDocument/2006/relationships/slide" Target="/ppt/slides/slide7.xml" Id="Rc85e5c2c0a6f4022" /><Relationship Type="http://schemas.openxmlformats.org/officeDocument/2006/relationships/slide" Target="/ppt/slides/slide8.xml" Id="R974d6c7378d14df3" /><Relationship Type="http://schemas.openxmlformats.org/officeDocument/2006/relationships/slide" Target="/ppt/slides/slide9.xml" Id="R40dff6ec1e5649bf" /><Relationship Type="http://schemas.openxmlformats.org/officeDocument/2006/relationships/slide" Target="/ppt/slides/slide10.xml" Id="R748cef50766043f4" /><Relationship Type="http://schemas.openxmlformats.org/officeDocument/2006/relationships/slide" Target="/ppt/slides/slide11.xml" Id="R450fc5f7b611454a" /><Relationship Type="http://schemas.openxmlformats.org/officeDocument/2006/relationships/slide" Target="/ppt/slides/slide12.xml" Id="Rb1e70793bf974482" /><Relationship Type="http://schemas.openxmlformats.org/officeDocument/2006/relationships/slide" Target="/ppt/slides/slide13.xml" Id="R8a356303c60c42a3" /><Relationship Type="http://schemas.openxmlformats.org/officeDocument/2006/relationships/slide" Target="/ppt/slides/slide14.xml" Id="R84706395a7414258" /><Relationship Type="http://schemas.openxmlformats.org/officeDocument/2006/relationships/slide" Target="/ppt/slides/slide15.xml" Id="Rd5692e2769fa4b13" /><Relationship Type="http://schemas.openxmlformats.org/officeDocument/2006/relationships/slide" Target="/ppt/slides/slide16.xml" Id="R890f12da50ed43f9" /><Relationship Type="http://schemas.openxmlformats.org/officeDocument/2006/relationships/slide" Target="/ppt/slides/slide17.xml" Id="R6eeb572c068246cb" /><Relationship Type="http://schemas.openxmlformats.org/officeDocument/2006/relationships/slide" Target="/ppt/slides/slide18.xml" Id="R5729b238a3b2480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93e51432234c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00996cc1cb84c72" /><Relationship Type="http://schemas.openxmlformats.org/officeDocument/2006/relationships/notesMaster" Target="/ppt/notesMasters/notesMaster1.xml" Id="Rcdcdae3e4b424d5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ad8928ecaf4fba" /><Relationship Type="http://schemas.openxmlformats.org/officeDocument/2006/relationships/notesMaster" Target="/ppt/notesMasters/notesMaster1.xml" Id="Rd9fe8cc1154f4de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ef907d469441df" /><Relationship Type="http://schemas.openxmlformats.org/officeDocument/2006/relationships/notesMaster" Target="/ppt/notesMasters/notesMaster1.xml" Id="Rf4dac075d34a44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71684f4e7c4620" /><Relationship Type="http://schemas.openxmlformats.org/officeDocument/2006/relationships/notesMaster" Target="/ppt/notesMasters/notesMaster1.xml" Id="R8e083ee480a047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35883e0fd0e4f65" /><Relationship Type="http://schemas.openxmlformats.org/officeDocument/2006/relationships/notesMaster" Target="/ppt/notesMasters/notesMaster1.xml" Id="R8bee8b49099d48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559db066459409b" /><Relationship Type="http://schemas.openxmlformats.org/officeDocument/2006/relationships/notesMaster" Target="/ppt/notesMasters/notesMaster1.xml" Id="Rd56da168d4d1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923055abefa4704" /><Relationship Type="http://schemas.openxmlformats.org/officeDocument/2006/relationships/notesMaster" Target="/ppt/notesMasters/notesMaster1.xml" Id="Rc85287008b7443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748beaa2ab1492a" /><Relationship Type="http://schemas.openxmlformats.org/officeDocument/2006/relationships/notesMaster" Target="/ppt/notesMasters/notesMaster1.xml" Id="Rb7372108533744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d57705134344e9" /><Relationship Type="http://schemas.openxmlformats.org/officeDocument/2006/relationships/notesMaster" Target="/ppt/notesMasters/notesMaster1.xml" Id="Ree24b769ce294f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a9382eb49a846c1" /><Relationship Type="http://schemas.openxmlformats.org/officeDocument/2006/relationships/notesMaster" Target="/ppt/notesMasters/notesMaster1.xml" Id="R30c95ebdf58844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958d24137f458b" /><Relationship Type="http://schemas.openxmlformats.org/officeDocument/2006/relationships/notesMaster" Target="/ppt/notesMasters/notesMaster1.xml" Id="Re1a2cd268e2741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6a877e67894b55" /><Relationship Type="http://schemas.openxmlformats.org/officeDocument/2006/relationships/notesMaster" Target="/ppt/notesMasters/notesMaster1.xml" Id="R75ee1faafb2c4d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2135a74d46f4aff" /><Relationship Type="http://schemas.openxmlformats.org/officeDocument/2006/relationships/notesMaster" Target="/ppt/notesMasters/notesMaster1.xml" Id="Rb3e8367e00a444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5a1a24d5e041bc" /><Relationship Type="http://schemas.openxmlformats.org/officeDocument/2006/relationships/notesMaster" Target="/ppt/notesMasters/notesMaster1.xml" Id="Rb9192fb4bb1b4ff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b74694d3d714163" /><Relationship Type="http://schemas.openxmlformats.org/officeDocument/2006/relationships/notesMaster" Target="/ppt/notesMasters/notesMaster1.xml" Id="R7b12ce757dbc43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e8c77fb9ac472d" /><Relationship Type="http://schemas.openxmlformats.org/officeDocument/2006/relationships/notesMaster" Target="/ppt/notesMasters/notesMaster1.xml" Id="R70e31c5002ec4c1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424c9cf5991474a" /><Relationship Type="http://schemas.openxmlformats.org/officeDocument/2006/relationships/notesMaster" Target="/ppt/notesMasters/notesMaster1.xml" Id="R4d5ad102384f45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93625064c0f42d5" /><Relationship Type="http://schemas.openxmlformats.org/officeDocument/2006/relationships/notesMaster" Target="/ppt/notesMasters/notesMaster1.xml" Id="R38aa2308c65d4ef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封面已去除公司 logo 和名称，仅保留原模板的蓝绿底栏风格。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用户手动加入的原系统/软件规划路径来源页，作为后续解读来源。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这里解释 CATL强化要求（浙江海威）的由来：主要客户关心供应商过程是否稳定、可控、可追溯。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这不是模块替换，而是把客户要求重新归入业务能力。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进入价值流后才能看清功能发生在哪、解决什么问题、输出什么证据。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回答：CATL强化要求（浙江海威）是否能从二阶段系统规划中展开，以及当前条件是否足够。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结合成本展开：不同拉动方式会影响库存占用、等待时间、换线和异常调整成本。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6035ae87647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706e4700fa4bc4" /><Relationship Type="http://schemas.openxmlformats.org/officeDocument/2006/relationships/slideLayout" Target="/ppt/slideLayouts/slideLayout1.xml" Id="R031509beb16f45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31509beb16f45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4075a746f402e" /><Relationship Type="http://schemas.openxmlformats.org/officeDocument/2006/relationships/notesSlide" Target="/ppt/notesSlides/notesSlide1.xml" Id="R9d9cd539f85740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176727249466a" /><Relationship Type="http://schemas.openxmlformats.org/officeDocument/2006/relationships/notesSlide" Target="/ppt/notesSlides/notesSlide2.xml" Id="R55bfa767c1a845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36fa958eaa4aa1" /><Relationship Type="http://schemas.openxmlformats.org/officeDocument/2006/relationships/image" Target="/ppt/media/image.png" Id="Rbdfda0f9ed4d49d3" /><Relationship Type="http://schemas.openxmlformats.org/officeDocument/2006/relationships/notesSlide" Target="/ppt/notesSlides/notesSlide3.xml" Id="R99f60b8eed354f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e0f4c76a04a9b" /><Relationship Type="http://schemas.openxmlformats.org/officeDocument/2006/relationships/notesSlide" Target="/ppt/notesSlides/notesSlide4.xml" Id="R320036d0116f4c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863c323cc548b6" /><Relationship Type="http://schemas.openxmlformats.org/officeDocument/2006/relationships/notesSlide" Target="/ppt/notesSlides/notesSlide5.xml" Id="R9036955637d3434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681fbb79d4024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81ba4ae832524edc" /><Relationship Type="http://schemas.openxmlformats.org/officeDocument/2006/relationships/notesSlide" Target="/ppt/notesSlides/notesSlide6.xml" Id="R7f6e0f4958a94f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b6bf3f3404062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2d951b29d06744e3" /><Relationship Type="http://schemas.openxmlformats.org/officeDocument/2006/relationships/notesSlide" Target="/ppt/notesSlides/notesSlide7.xml" Id="R2983e75ceb3048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a3aaa1a994c24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bc1fecb8c1c84ce3" /><Relationship Type="http://schemas.openxmlformats.org/officeDocument/2006/relationships/notesSlide" Target="/ppt/notesSlides/notesSlide8.xml" Id="R59cc61b747b849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31459163d4289" /><Relationship Type="http://schemas.openxmlformats.org/officeDocument/2006/relationships/hyperlink" Target="file:///Users/lijiajun/Documents/GitHub/python-document/%E6%B5%99%E6%B1%9F%E6%B5%B7%E5%A8%81/%E6%B5%B7%E5%A8%81%E4%BF%A1%E6%81%AF%E7%B3%BB%E7%BB%9F_%E4%B8%9A%E5%8A%A1%E8%BF%87%E7%A8%8B%E9%87%8D%E7%BB%84%E5%B7%A5%E4%BD%9C%E5%8F%B0.html" TargetMode="External" Id="R8788896d42074529" /><Relationship Type="http://schemas.openxmlformats.org/officeDocument/2006/relationships/notesSlide" Target="/ppt/notesSlides/notesSlide9.xml" Id="R0b3b3c172fe6483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005a8170af47c0" /><Relationship Type="http://schemas.openxmlformats.org/officeDocument/2006/relationships/notesSlide" Target="/ppt/notesSlides/notesSlide10.xml" Id="R6193e6c7d45f4e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635b228fc46ed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6003515c9fca46cc" /><Relationship Type="http://schemas.openxmlformats.org/officeDocument/2006/relationships/notesSlide" Target="/ppt/notesSlides/notesSlide11.xml" Id="R1f52e5ea6f964d8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48ae1de6e740f6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b93c90d66d3943b6" /><Relationship Type="http://schemas.openxmlformats.org/officeDocument/2006/relationships/notesSlide" Target="/ppt/notesSlides/notesSlide12.xml" Id="R7163183cd46a4e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8ac7cb87048a8" /><Relationship Type="http://schemas.openxmlformats.org/officeDocument/2006/relationships/notesSlide" Target="/ppt/notesSlides/notesSlide13.xml" Id="Ra89c1bf1ce214f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b0cf57c4b4ffe" /><Relationship Type="http://schemas.openxmlformats.org/officeDocument/2006/relationships/hyperlink" Target="file:///Users/lijiajun/Documents/GitHub/python-document/capa.%20calculation/%E6%8E%92%E4%BA%A7%E6%A8%A1%E5%9E%8B/formal.html" TargetMode="External" Id="R27dacb2ffb5a4d3c" /><Relationship Type="http://schemas.openxmlformats.org/officeDocument/2006/relationships/notesSlide" Target="/ppt/notesSlides/notesSlide14.xml" Id="Rc2b8f00ccde4467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1a1166b5a49e2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648553f5e7424a91" /><Relationship Type="http://schemas.openxmlformats.org/officeDocument/2006/relationships/notesSlide" Target="/ppt/notesSlides/notesSlide15.xml" Id="Rbde77a5417b0416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a932eaea934c8f" /><Relationship Type="http://schemas.openxmlformats.org/officeDocument/2006/relationships/notesSlide" Target="/ppt/notesSlides/notesSlide16.xml" Id="R91fdade9cfef48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afd3e6f944a8" /><Relationship Type="http://schemas.openxmlformats.org/officeDocument/2006/relationships/notesSlide" Target="/ppt/notesSlides/notesSlide17.xml" Id="R269eccdef280422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098e5ec6fc43c6" /><Relationship Type="http://schemas.openxmlformats.org/officeDocument/2006/relationships/hyperlink" Target="file:///Users/lijiajun/Documents/GitHub/python-document/%E6%B5%99%E6%B1%9F%E6%B5%B7%E5%A8%81/%E6%B5%B7%E5%A8%81%E4%BB%B7%E5%80%BC%E6%B5%81_%E5%8A%9F%E8%83%BD%E6%A0%87%E6%B3%A8%E7%94%BB%E6%9D%BF.html" TargetMode="External" Id="R596d0127d0fc4d37" /><Relationship Type="http://schemas.openxmlformats.org/officeDocument/2006/relationships/notesSlide" Target="/ppt/notesSlides/notesSlide18.xml" Id="R7a54ea29525a40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FFC6D-AC0A-4B0A-BA69-14A4683D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62200"/>
            <a:ext cx="914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信息系统建设理解与下一阶段路径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39F37-D48E-4EBA-98FD-1D77DE43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432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客户要求、运营能力与系统建设路径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0AA71C-584D-489F-BD7D-7D15409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10300"/>
            <a:ext cx="742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E24700-3B03-4F42-A9FE-228017C3C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210300"/>
            <a:ext cx="1143000" cy="285750"/>
          </a:xfrm>
          <a:prstGeom xmlns:a="http://schemas.openxmlformats.org/drawingml/2006/main" prst="parallelogram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E9815-4351-425E-B4FD-A6C7F7F2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6210300"/>
            <a:ext cx="4019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</a:ln>
        </p:spPr>
      </p:sp>
    </p:spTree>
    <p:extLst>
      <p:ext uri="{BB962C8B-B14F-4D97-AF65-F5344CB8AC3E}">
        <p14:creationId xmlns:p14="http://schemas.microsoft.com/office/powerpoint/2010/main" val="7558786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02E742-2E79-4BFD-8476-26250728F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汇报切入点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F8D12-EBC5-4FF3-8C9E-CB46534E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AC2950-A13F-42B1-B972-70F4811F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475B48-850C-4079-86E1-30E02DD03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原系统/软件规划路径解读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2042D1-7A53-4BA0-A0E6-A0FB86C8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宁波海威与浙江海威已有两阶段系统规划，浙江海威因 CATL强化要求进一步补强。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1325B1-F7EE-4785-B9FB-C2AB1346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运营能力剖析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449C1-E2BE-406F-9CFC-3C5862AC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客户关注的不是系统名称，而是稳定交付、过程可控和质量可证明。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411ECE-98AE-4B92-8427-12198ED1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系统建设路径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DECD4-C51E-4E6D-9070-12CEA56B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系统工具要回应当前运作问题，并强化计划、物料、质量和设备数据能力。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C48C67-BD81-47B6-827F-2481818D5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客户要求是入口，运营能力是主题，系统功能是手段。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82FA74-AEDB-4AF7-8377-E55B1069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3F1A0-7869-4D94-B523-1061E16D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269399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164FB-0B26-43F7-8E70-2C62BC97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原系统/软件规划路径来源页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F4879F-4A71-410D-B72F-FC6E5B6C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9D274-FDEA-4ED4-AF13-204E3DC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da0f9ed4d49d3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8C1BC7-07F9-4014-A044-92F0648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319EE-7FAC-4FA8-BD4D-1C17D548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F7794-02AB-421B-9B5A-3913433C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现场穿插：保留原系统/软件规划路径来源页，不删除</a:t>
            </a:r>
          </a:p>
        </p:txBody>
      </p:sp>
    </p:spTree>
    <p:extLst>
      <p:ext uri="{BB962C8B-B14F-4D97-AF65-F5344CB8AC3E}">
        <p14:creationId xmlns:p14="http://schemas.microsoft.com/office/powerpoint/2010/main" val="10521535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059C93-95B2-4D91-AC28-0DA37459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原系统/软件规划路径的重新理解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AA502-2919-44DD-A11A-487E4A97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36A667-5129-4253-844F-06974063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1EBB7-ACE1-4B5B-AF01-D090150F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原有系统建设思路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56E3E4-4415-444E-AAE5-A2EB55D17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CATL强化要求（浙江海威）带来的变化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FECB5D-165B-4CC0-9479-B485F1C0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1DF83B-6254-40EE-BCB3-D1DC6257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一阶段系统规划（宁波海威+浙江海威）偏 WMS/MES，解决库存、出入库、生产执行和基础追溯。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8F9D72-62B9-4121-990A-C7EB6C684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6AA1BD-1804-412D-8EF8-8B9AF59F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二阶段系统规划（宁波海威+浙江海威）本来就计划补强 QMS、TPM、IoT 等能力。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05DAB9-370A-421D-820A-AE4FEE02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B81BC1-2B80-4DE5-B85F-E9F52810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原系统/软件规划路径不是从无到有，而是宁波海威与浙江海威共同的一阶段/二阶段系统规划；CATL强化要求（浙江海威）是在浙江海威（嵊州）面向主要客户 CATL 的运营能力补强。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5DF9F-4AA4-48BB-818A-8F20A7DF5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A143C6-E36A-4EDC-8AAF-86727CA3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CATL强化要求（浙江海威）把功能清单推向过程控制要求。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C0137-4931-4805-82A4-DAE3ED9D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616B8-9C0C-4F42-9874-2CA1C4D2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强化项更关注批次、参数、权限、点检、SPC 和全工序数据。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F43BB7-35E2-4B29-9885-499A013F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EFDE2D-07F3-4FE4-A9E0-80D8BED4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系统建设从功能补充，转向浙江海威（嵊州）的运营能力证明。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60B162-9D9F-4206-895E-F54F600EF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DE0CF-FC98-449A-ADC6-6625233F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25395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E1CAB-8E4D-4D66-A2FF-C12DCB74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客户关注的是运营能力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DF41A-2A7A-4B43-9814-C09208276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2EC001-7DB4-43A3-94B8-36854DAB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BAC92-3E5D-4BCC-BA15-A72D7CD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2291B0-C1D4-4EDB-B146-02F168C2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计划能否牵引物料、工序和设备，交期偏差能否及时反馈。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54AA84-0643-4C8B-8AAB-C850799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过程可控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DCB42-3770-46B6-BF9D-5260719A2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9550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人员、参数、程序、工装夹具和检测动作是否被过程约束。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E67359-972A-4410-A3DC-8F175CC44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质量可证明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6D6D0-75B6-4238-B7BB-46672E5B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质量不是只有检验记录，还要有标准、曲线、SPC 和异常闭环证据。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36E1CD-C4AB-45D2-B6EA-3CD7797E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05200"/>
            <a:ext cx="447675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异常可闭环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E0BF19-159D-45FF-A40C-68A5F0F9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95750"/>
            <a:ext cx="4476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异常出现后，系统能否触发停线、确认、replan 或客户要求的处理动作。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934F7-BF7F-44E6-A1A9-2C90CD06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BCF06-5A00-426A-8D10-66338A0D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25994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9BB6F0-229A-434A-8459-6B529F34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功能从系统模块转向业务能力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61E63A-163C-49FD-9228-BD765A37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5C9D4-8637-480C-A614-FD9A28F6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156E5-3362-41F2-B9DF-1F98D84F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371600"/>
            <a:ext cx="2857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原系统语言来源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641FD-3D5F-4231-BE03-243E19A52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71600"/>
            <a:ext cx="3143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重组后的业务能力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AC011E-4FBC-4CC4-9B87-324443CA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9812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9120B-375A-4D74-B51E-FC943F8D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实物／物料流管理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2D7CFB-E746-4156-9C85-CCEB22E4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6794A6-D462-4441-82F1-2A82CD04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670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FEAEB7-A4BB-4D2C-9BCD-86FA2E49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670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生产计划管理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77479-ED00-43DF-B8C7-F2F74CC0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670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DD8274-7A7F-4354-8F19-D094336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528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WMS / MES / TPM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D1669-B56A-4B97-8F41-DCC3284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528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生产过程与工艺管理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53D5A-DB3E-4171-A3A8-CF791249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528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6EDE7D-C87D-4408-BE84-74DEB049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386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14E90-3C5C-45B0-88C5-80721AB7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386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 相关界面输出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4FAE0E-CC9A-4788-B931-21143779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43A02-22B7-473B-8DDA-D1F31A9D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24400"/>
            <a:ext cx="209550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3A8D8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B789E4-F8DC-485A-AF54-CC17BCB0F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724400"/>
            <a:ext cx="31432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设备数据采集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9EDF49-14A2-466A-868B-FB6FA6B1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92442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8DA5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28AB8-2971-4A8C-96AC-F5E512FB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578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这一步把系统清单转成经营和现场能讨论的业务语言。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350059-7274-46F4-B864-0BF1148B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1FF05-10A8-4008-9850-EE93F933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0F653-1ACB-4A23-921A-010730776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81ba4ae832524edc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9888566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0ACE16-6284-4559-B27D-E509E055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功能落到价值流后才有意义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B681D0-0246-48EF-8937-A0849092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5A03B2-3881-47D3-AAA4-D9528882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1F96C-6226-4312-A53F-84E26D96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供应商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1FDCBE-1BB8-40DB-BBD4-F38D2457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5984F-44DA-4664-8C34-34B2DA7A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收货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91159-D78F-4C31-80F0-8F1A963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1C57E7-4008-4099-83E3-62105DC6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入库检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51119-451D-4F7C-AE37-A22ACEFA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53F86-FC86-4123-862F-745BA598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仓库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1A9716-CF43-485E-86CB-764578FA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97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5CA96-1E98-46E4-BBCB-D92E48BC7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7526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材料出库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F4611-FC98-4D1A-846C-9B5C2062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生产工序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A1244D-0D33-415B-81D8-D421D1A0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WIP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83E54B-6C8E-4D4B-A5D8-B992F3D7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D5C6A-23C8-47E6-AF78-11F5263D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成品检验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D20A7-0A44-4A33-89C4-47C6E03E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F29FF-E2FD-45B8-9869-02ACB60C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成品出库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6F89EB-3991-472C-80DC-5C11978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B8777-6C0D-491E-A935-3EF18F98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429000"/>
            <a:ext cx="9906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客户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6C4038-236B-46DB-B670-1B479FE4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86175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643C7E-FE9E-4F0F-A0E8-C4ABA32D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09775"/>
            <a:ext cx="0" cy="1676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8B8B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80C143A-0E07-43BF-952A-B1525E7B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095875"/>
            <a:ext cx="899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每个功能项都要落到过程节点，才能判断它服务的动作和管理意义。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9BC9A2-F59B-4ACD-B6E6-B269CD43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3D5EF1-4819-4A79-86CB-9D1DEE40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A46A3B-92F6-4ACC-9718-A53BCB6D7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2d951b29d06744e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546887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8E36-2235-4DC9-98FB-306594E7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价值流中的三类状态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96B26-C4C7-41CA-A707-E2814C502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4A512C-88BE-45EB-BF8A-6909481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95272-3502-4286-B461-BD34310A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11D47D-8F9D-4977-A214-CAB9F01E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库存、出入库、FIFO、派工、报工、追溯和检验入口，更多解决记录和基础管控。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6A216B-B19D-4753-9B93-1ABBD0C49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B0435-FBE1-404C-8191-99F7B131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QMS、TPM、IoT 等方向，边界在于是否能进入过程动作并形成反馈。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55F301-F622-4C70-B17E-5C46E6118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CATL强化要求（浙江海威）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B991DA-42CE-4F99-AB79-F9F6A3C4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权限、点检、参数、防错、SPC、设备数据和全工序控制继续加深。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D0C7F1-0FF8-4440-86FA-3FA8B35E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同一个价值流节点上，可能同时存在已有能力、二阶段系统规划和 CATL强化要求（浙江海威）。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8299E-E82A-461D-B2EC-05749955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2177F5-10EA-4233-B405-1E8B7CE11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959876-BFB5-4035-BF9A-F2E59570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bc1fecb8c1c84ce3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20684279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3A1E7-BB5C-4092-90BD-8F085F8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当前基础与二期边界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4C01E-B0F1-4101-8568-1D9E9F6A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96364-B6A1-4163-ACE8-81B2A876D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6C0C9-DBF3-4868-9A21-FD2693D4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已有基础如何现场加强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3B00D-1A05-41CE-933D-E1374EC0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二阶段系统规划的边界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508C3F-5DA6-4F6C-98ED-9BA935CE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23256C-0808-4D30-A615-35A7864C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把记录型功能转成现场动作入口。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E214A-496D-4CFB-9CC4-D429CE08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4FBE7-0398-4691-83AD-318EFF37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让库存、发料、报工、检验与计划偏差建立关联。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6BC57-1DA5-4275-9ED6-27D05E7F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064AF4-E19F-4BAC-9AF1-DAE0C951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补齐跨工序 WIP 水位和后工序拉动前工序的判断。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35D770-C966-4F96-8282-B8C846A1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3212A0-1B2B-4518-A9A0-594EB565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QMS 如果只做记录，很难承担过程控制。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FCFEEB-518F-43F7-AC36-2B20FA019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4ADA34-C9F0-4100-9A4D-FB00D251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TPM/IoT 如果只采集设备状态，很难解释产出波动。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13D900-E7B3-4B84-BB36-D4860E5F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B004F5-5BAE-4C69-9490-A3947F05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二阶段系统规划能否承接 CATL强化要求（浙江海威），取决于 Planning、过程动作和数据反馈是否打通。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EF3122-7BD5-4239-8717-ACECECF1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84CC9C-3A97-4A8B-B46E-67115210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31ED73-F3F6-45C9-B6FC-4DD50FD3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8788896d42074529"/>
              </a:rPr>
              <a:t>现场穿插：业务过程与功能重组工作台</a:t>
            </a:r>
          </a:p>
        </p:txBody>
      </p:sp>
    </p:spTree>
    <p:extLst>
      <p:ext uri="{BB962C8B-B14F-4D97-AF65-F5344CB8AC3E}">
        <p14:creationId xmlns:p14="http://schemas.microsoft.com/office/powerpoint/2010/main" val="11023090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642962-EBC2-4209-928F-EAE833CF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后续加强能否实现目的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B0E65-8B50-4109-BC00-DE62219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71F68-F6DE-443C-8227-BAAF4F5F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后续加强方向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实现条件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质量与异常闭环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需要标准、阈值、责任、停线和恢复规则，不只是 QMS 表单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设备与参数控制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需要产品状态、工艺参数和设备参数之间形成可解释关系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全工序数据采集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需要先定义采集后的动作，再定义点位、频率和采集手段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短周期计划调整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需要小时级计划基准、CT、Performance Rate 和真实执行反馈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87814-676E-4E82-8004-403F22FA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3492C-E9E9-49DB-B3E1-E96294AF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97480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4EE8F-7CD4-4FAD-870A-2B815597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全工序数据的分类角度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22CC3-D920-4A87-B4BC-0C267FA4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FC064-5C7F-4AF2-BCE1-569AEEAC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11D6C-AD79-412A-8D2A-85A8CFD6F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28900"/>
            <a:ext cx="2000250" cy="8382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76BC21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全工序数据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306D3C-C2DA-4ABB-B146-E9AE70B6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</a:t>
            </a:r>
          </a:p>
        </p:txBody>
      </p:sp>
      <p:cxnSp>
        <p:nvCxnSpPr>
          <p:cNvPr id="28" name=""/>
          <p:cNvCxnSpPr>
            <a:stCxn xmlns:a="http://schemas.openxmlformats.org/drawingml/2006/main" id="4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 flipV="1">
            <a:off x="2781300" y="1752600"/>
            <a:ext cx="231457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B1B5BB-AA00-4210-8301-5657376AF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质量指标</a:t>
            </a:r>
          </a:p>
        </p:txBody>
      </p:sp>
      <p:cxnSp>
        <p:nvCxnSpPr>
          <p:cNvPr id="30" name=""/>
          <p:cNvCxnSpPr>
            <a:stCxn xmlns:a="http://schemas.openxmlformats.org/drawingml/2006/main" id="4" idx="0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 flipV="1">
            <a:off x="5524500" y="1581150"/>
            <a:ext cx="57150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660D5-A5DE-4DCC-8FCC-EACCB8EB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525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技术参数</a:t>
            </a:r>
          </a:p>
        </p:txBody>
      </p:sp>
      <p:cxnSp>
        <p:nvCxnSpPr>
          <p:cNvPr id="32" name=""/>
          <p:cNvCxnSpPr>
            <a:stCxn xmlns:a="http://schemas.openxmlformats.org/drawingml/2006/main" id="4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7096125" y="1581150"/>
            <a:ext cx="476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10D0D-3978-4D7B-AC89-0095F551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240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产品状态</a:t>
            </a:r>
          </a:p>
        </p:txBody>
      </p:sp>
      <p:cxnSp>
        <p:nvCxnSpPr>
          <p:cNvPr id="34" name=""/>
          <p:cNvCxnSpPr>
            <a:stCxn xmlns:a="http://schemas.openxmlformats.org/drawingml/2006/main" id="4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7096125" y="1752600"/>
            <a:ext cx="2524125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4C05B-9DDF-42AB-970E-60B74D24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生产进度</a:t>
            </a:r>
          </a:p>
        </p:txBody>
      </p:sp>
      <p:cxnSp>
        <p:nvCxnSpPr>
          <p:cNvPr id="36" name=""/>
          <p:cNvCxnSpPr>
            <a:stCxn xmlns:a="http://schemas.openxmlformats.org/drawingml/2006/main" id="4" idx="1"/>
            <a:endCxn xmlns:a="http://schemas.openxmlformats.org/drawingml/2006/main" id="13" idx="3"/>
          </p:cNvCxnSpPr>
          <p:nvPr/>
        </p:nvCxnSpPr>
        <p:spPr>
          <a:xfrm xmlns:a="http://schemas.openxmlformats.org/drawingml/2006/main" flipH="1">
            <a:off x="3257550" y="3048000"/>
            <a:ext cx="1838325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6E0903-2D2A-4766-96AE-E8609E38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76250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节拍 CT</a:t>
            </a:r>
          </a:p>
        </p:txBody>
      </p:sp>
      <p:cxnSp>
        <p:nvCxnSpPr>
          <p:cNvPr id="38" name=""/>
          <p:cNvCxnSpPr>
            <a:stCxn xmlns:a="http://schemas.openxmlformats.org/drawingml/2006/main" id="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6019800" y="3467100"/>
            <a:ext cx="76200" cy="129540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D91D99-64A5-43F9-B43D-78E2B56D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86250"/>
            <a:ext cx="1524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Performance Rate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096125" y="3048000"/>
            <a:ext cx="1524000" cy="146685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4A9B0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C8598-73CA-4C8F-968B-133C23D25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721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原系统/软件规划路径多次提到全工序数据。分类的目的，是区分哪些数据触发即时动作，哪些数据用于长期沉淀。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7111E-FDC9-4F1A-9EBC-69320A65C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331BF9-88E5-4FD8-899A-C10388E0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42D13A-27C7-46BF-8F66-388AE4CF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6003515c9fca46cc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614983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5E83FC-C203-4338-9267-E258072B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数据采集意义的展开面向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E1D3F-4283-441D-A379-6F0551A4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38DF98-C684-40B5-8D2C-5C62E900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C33E29-BF5E-45FB-A91C-5BA1E286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风险阻断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7E15FA-3A7E-48A5-8734-4C1A9248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设备状态或质量指标异常时，触发停线、确认、曲线跟踪和异常闭环。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B0B88-525A-4B03-98E9-B4C4D1BE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经验沉淀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79D92-FFC8-4169-B91D-F4EA181B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对照产品状态变化，沉淀有效技术参数，服务产品开发和工艺设定。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C0305-86AF-4E38-9884-0E537E7ED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714500"/>
            <a:ext cx="3048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进度调整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4383AA-683B-47B4-9E4F-F65A5EBD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00300"/>
            <a:ext cx="30480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跟踪工序衔接和 WIP 水位，触发短周期 replan，减少等待和堆积。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461139-7BBF-4B68-B1D7-1FA98D7D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数据采集不是越多越好，而是要从后续动作反推范围和手段。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A55830-522D-4B23-8FB7-28A1F5E1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377C8-2AC4-41AF-B78C-7D4F8C2B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7CE7F2-BBF2-419D-8883-5D12891C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b93c90d66d3943b6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146679270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6312A7-67A2-4F4C-966E-2FAA51FE2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数据的价值收益方向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7F488-DB22-440B-853B-E794EFD3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1A768A-C4D0-4352-8269-8F60E898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33500" y="1428750"/>
          <a:ext xmlns:a="http://schemas.openxmlformats.org/drawingml/2006/main" cx="9525000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86364"/>
                <a:gridCol w="6638636"/>
              </a:tblGrid>
              <a:tr h="70485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价值方向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收益逻辑</a:t>
                      </a:r>
                    </a:p>
                  </a:txBody>
                  <a:tcPr marL="91440" marR="91440" marT="45720" marB="45720">
                    <a:solidFill>
                      <a:srgbClr val="F0F8E8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减少质量损失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通过异常阻断和质量曲线，减少报废和问题流入后序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积累工艺经验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用技术参数和产品状态对照，形成可复用的经验值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减少波动浪费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通过进度跟踪和 replan，减少等待、堆积和断流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04850"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支撑客户证明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1F2A33"/>
                          </a:solidFill>
                          <a:latin typeface="Songti SC"/>
                          <a:ea typeface="Songti SC"/>
                          <a:cs typeface="Songti SC"/>
                        </a:rPr>
                        <a:t>用过程证据回应 CATL强化要求（浙江海威）对稳定性、追溯和闭环的要求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5BC6C4-58DC-4C74-8776-85015174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3BA3-6CF5-4E39-9FF5-5A5DC83B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576675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999D2C-3CC4-4510-BFC5-7078F5C9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Planning 是后续重点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4A7DAB-55D7-42D4-89C2-D455A9F7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5B9C0-4687-454D-BA84-FC6A8317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2226BF-A4C4-4B79-8292-7C030527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ERP 日计划（1D）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ED289A-349B-414D-866E-9F550D8D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小时级计划基准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EF34EB-CD55-4410-9171-18ED9A99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现场数据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ECE19-BC5A-4286-AA60-BBC852DB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偏差判断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86899-FF14-4E31-A50D-D9FCD843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短周期 Replan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181EE7-435A-44F0-9AD9-40BD09D33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物料拉动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8F97A2-9AB6-4F83-8E21-9E162BFA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125730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执行反馈</a:t>
            </a:r>
          </a:p>
        </p:txBody>
      </p:sp>
      <p:cxnSp>
        <p:nvCxnSpPr>
          <p:cNvPr id="31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1733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352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3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9720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913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5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21055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cxnSp>
        <p:nvCxnSpPr>
          <p:cNvPr id="36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29800" y="2705100"/>
            <a:ext cx="36195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8DA5AE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9B4B7-BB4A-42C6-A31A-4C20B2631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095750"/>
            <a:ext cx="899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没有小时级计划基准，现场数据只能说明“发生了什么”；有小时级计划基准，数据才能判断“偏离了什么”，并触发 replan。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54583A-7BAC-45D0-BD26-4571086E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B0E85A-680D-4087-A7FE-FEA0DB5F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9E000F-3A4B-413B-88F5-3CBE6B1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27dacb2ffb5a4d3c"/>
              </a:rPr>
              <a:t>现场穿插：排产模型 / Planning 工具</a:t>
            </a:r>
          </a:p>
        </p:txBody>
      </p:sp>
    </p:spTree>
    <p:extLst>
      <p:ext uri="{BB962C8B-B14F-4D97-AF65-F5344CB8AC3E}">
        <p14:creationId xmlns:p14="http://schemas.microsoft.com/office/powerpoint/2010/main" val="12466793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8CB9C4-628F-45C0-9AE4-F53E9DAE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不同工艺过程的拉动方式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0F6276-8142-4FA6-BF80-7847BEE0D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295231-08EE-4918-9088-B9927A1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EA9050-BF92-424A-97ED-494A0786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工单驱动适用场景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6B7FB-CE09-4F4A-BA3A-C9A6F9D4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390650"/>
            <a:ext cx="4619625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拉动式物流适用场景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8DDD1D-88FB-4119-AB0C-DD22E26DA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7BA22C-152D-45F0-BA85-9FEFC7744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工单可以驱动料单和发料动作。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E952C-FE57-4EDD-AD30-D23C777B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5530E-21CE-4005-B67C-003BA01F8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铝锭等原材料发至铸造产线，可以由工单牵引。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2DCFA6-31FC-42A9-BF5B-3ED56766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6BCC6-0AF8-4D41-88B7-55D00EE4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计划仍负责材料需求和产能边界。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5EC2AF-C1C9-401F-B609-8BF3C970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47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525C9-5F53-4EEF-9C25-7239D856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717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铸造完成品到后续工序。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839A42-BDD2-4B79-A0B7-9011176F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C4AFF4-2795-4A43-8CCF-CCC24D14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194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机加到装配。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3D3F2-7E7D-4BA2-BBF7-1ABA6489A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43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57E86F-A990-4083-A743-0481204F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467100"/>
            <a:ext cx="3867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排产基于库存水位展开，真实物料移动由后工序消耗节奏触发。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89CB81-75AE-42CA-97B8-E6844A4E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9142A-E6D6-4F8C-90FD-9520929A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25F0F8-1E50-45E9-ADE2-7E926D90C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648553f5e7424a91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7178479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1D4F8E-4940-4FBE-B614-03A3924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成本向展开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2460D4-8E67-4B85-8C8E-BFA88D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D1C33-9D1D-4BA5-93F0-8488F011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A0F999-8124-4807-9D2F-BE0F6795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42875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库存成本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5A49F-1CF6-4BAA-8BC9-334CB0ED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42875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跨工序 WIP 水位不清，会带来过量库存、缺料等待和账实偏差。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84F15B-DE34-4446-9583-BED1008A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2887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波动成本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1059D4-42A7-4003-BD44-B91F51A3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2887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计划弱和反馈慢，会造成等待、堆积、断流和局部加急。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F06746-69A2-4BA7-8024-318D37F9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429000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质量成本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7AE723-AE2B-4AFC-85EA-DF95459C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429000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异常阻断不及时，导致报废、返工和客户证据不足。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5ACD8-C401-4F30-8CB9-43B426AF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1809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数据成本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39EC3B-9F8E-4348-B674-FF53C58A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74295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未定义动作的数据采集，会增加点位、存储、解释和维护成本。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44DFA8-FB04-4717-BD9C-A29E9DE4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FD6B9E-61C8-452A-8D5A-F31C097A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884360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9AD0F-8A7E-4436-90DA-8037136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的初步落地方案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23D5-C664-4E0B-9E17-EF90CF500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BE2D5A-0C26-4A54-86F2-5DBEDDB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25B9A-4E49-4B77-8734-EC22479D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1E732C-B7AE-4CBC-A753-C6E8BA25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在状态异常和质量指标偏离时，辅助判断停线、降速、参数切换，并过滤非必要参数。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FD7104-02A8-4DCD-95DA-3D95EF57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服务器模型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4405E-B5C6-42C4-88D7-144216E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基于小时级计划基准、跨工序状态和 WIP 水位，生成短周期 replan 建议。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85EFCB-467D-42F8-AF08-CD69357DC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657350"/>
            <a:ext cx="24765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协同边界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95E71-8341-4EB4-884C-F6504EB16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81250"/>
            <a:ext cx="2476500" cy="12382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边缘模型快速处理当前覆盖范围，服务器模型处理全局计划重排和跨工序取舍。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FF35C-2C14-4A57-ACAA-AA6335507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rPr>
              <a:t>边缘 AI 解决现场快速响应与参数过滤；计划重排更适合由服务器侧模型结合全局约束来判断。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56F17-59B1-44B3-B548-AAAB9CB27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FBE21-2F31-407D-902B-4FF173A3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76854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B0BD9-D533-4E39-A5F7-739E495D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20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阶段路线与下一步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B9398F-C989-4A5F-B768-E146EAA0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D3DEE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9DA6B-A295-48FF-BADE-57272C18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4000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400" b="1">
                <a:solidFill>
                  <a:srgbClr val="76BC21"/>
                </a:solidFill>
                <a:latin typeface="Arial"/>
                <a:ea typeface="Arial"/>
                <a:cs typeface="Arial"/>
              </a:defRPr>
            </a:pPr>
            <a:r>
              <a:rPr sz="1400" b="1">
                <a:solidFill>
                  <a:srgbClr val="76BC21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09391-3341-4014-8C7F-49E1631E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CFA7D7-ED06-40DE-B2D1-C367E580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重新解读原系统/软件规划路径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2451B-1A42-417A-97F2-03104F03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识别客户要求、业务问题、能力短板和价值流位置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6B760-3EED-45F8-8667-99ECABE0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0F8E8"/>
          </a:solidFill>
          <a:ln xmlns:a="http://schemas.openxmlformats.org/drawingml/2006/main" w="14288">
            <a:solidFill>
              <a:srgbClr val="76BC2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9A6BC3-5BA7-4BC2-98C2-157FB923B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数据采集与计划闭环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0524D3-56C4-497B-AA51-B5326AE8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全工序数据、小时级计划基准、拉动物流、replan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1E5F37-9BD9-4B4F-8002-C174412EA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24000"/>
            <a:ext cx="2619375" cy="4191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9F6FB"/>
          </a:solidFill>
          <a:ln xmlns:a="http://schemas.openxmlformats.org/drawingml/2006/main" w="14288">
            <a:solidFill>
              <a:srgbClr val="23A8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阶段三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5B13-530D-41A2-AEA8-CC2A9182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114550"/>
            <a:ext cx="2619375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600" b="1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AI 与数字孪生调整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87E60A-1DC7-4168-8BD8-72E8B1E6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971800"/>
            <a:ext cx="2619375" cy="14859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9C9C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defRPr>
            </a:pPr>
            <a:r>
              <a:rPr sz="1400" b="0">
                <a:solidFill>
                  <a:srgbClr val="1F2A33"/>
                </a:solidFill>
                <a:latin typeface="Songti SC"/>
                <a:ea typeface="Songti SC"/>
                <a:cs typeface="Songti SC"/>
              </a:rPr>
              <a:t>边缘模型、参数过滤、短周期重排、成本优化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D0D6E-36B7-479E-9484-617FD449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53200"/>
            <a:ext cx="876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A8D8"/>
          </a:solidFill>
          <a:ln xmlns:a="http://schemas.openxmlformats.org/drawingml/2006/main" w="0">
            <a:solidFill>
              <a:srgbClr val="23A8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E713EF-CC69-40A9-9E67-DCB5F46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553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6BC21"/>
          </a:solidFill>
          <a:ln xmlns:a="http://schemas.openxmlformats.org/drawingml/2006/main" w="0">
            <a:solidFill>
              <a:srgbClr val="76BC2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DEAFC-421F-4154-8F7A-B0220D78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53626B"/>
                </a:solidFill>
                <a:latin typeface="Songti SC"/>
                <a:ea typeface="Songti SC"/>
                <a:cs typeface="Songti SC"/>
              </a:defRPr>
            </a:pPr>
            <a:r>
              <a:rPr sz="1400" b="0" u="sng">
                <a:solidFill>
                  <a:srgbClr val="53626B"/>
                </a:solidFill>
                <a:latin typeface="Songti SC"/>
                <a:ea typeface="Songti SC"/>
                <a:cs typeface="Songti SC"/>
                <a:hlinkClick xmlns:r="http://schemas.openxmlformats.org/officeDocument/2006/relationships" r:id="R596d0127d0fc4d37"/>
              </a:rPr>
              <a:t>现场穿插：价值流画板</a:t>
            </a:r>
          </a:p>
        </p:txBody>
      </p:sp>
    </p:spTree>
    <p:extLst>
      <p:ext uri="{BB962C8B-B14F-4D97-AF65-F5344CB8AC3E}">
        <p14:creationId xmlns:p14="http://schemas.microsoft.com/office/powerpoint/2010/main" val="4078490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2026-09-20T14:21:08.9120000Z</dcterms:created>
  <dcterms:modified xsi:type="dcterms:W3CDTF">2026-09-20T14:21:08.9120000Z</dcterms:modified>
</coreProperties>
</file>