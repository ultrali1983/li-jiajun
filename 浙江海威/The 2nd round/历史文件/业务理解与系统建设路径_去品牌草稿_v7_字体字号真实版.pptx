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7300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&#27993;&#27743;&#28023;&#23041;/&#28023;&#23041;&#20449;&#24687;&#31995;&#32479;_&#19994;&#21153;&#36807;&#31243;&#37325;&#32452;&#24037;&#20316;&#21488;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&#27993;&#27743;&#28023;&#23041;/&#28023;&#23041;&#20215;&#20540;&#27969;_&#21151;&#33021;&#26631;&#27880;&#30011;&#26495;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&#27993;&#27743;&#28023;&#23041;/&#28023;&#23041;&#20215;&#20540;&#27969;_&#21151;&#33021;&#26631;&#27880;&#30011;&#26495;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&#27993;&#27743;&#28023;&#23041;/&#28023;&#23041;&#20215;&#20540;&#27969;_&#21151;&#33021;&#26631;&#27880;&#30011;&#26495;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&#27993;&#27743;&#28023;&#23041;/&#28023;&#23041;&#20215;&#20540;&#27969;_&#21151;&#33021;&#26631;&#27880;&#30011;&#26495;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&#27993;&#27743;&#28023;&#23041;/&#28023;&#23041;&#20215;&#20540;&#27969;_&#21151;&#33021;&#26631;&#27880;&#30011;&#26495;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&#27993;&#27743;&#28023;&#23041;/&#28023;&#23041;&#20215;&#20540;&#27969;_&#21151;&#33021;&#26631;&#27880;&#30011;&#26495;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80F4510-8E71-437B-97A0-F03A60CD6C58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0470E2-A4A8-4C51-B088-C4FBD3781457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18FC9A-ACE3-45CD-AA7A-7DABA9F150F4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81920EE-346C-441E-A8CE-A8E570791E78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2833FC-D1AB-4251-85D5-C3B6A8E9E938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57339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7BE753F-C3B1-49F6-9A0A-512C7D449FD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展开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切入点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5AD3B14-51D5-4F78-8861-8E46DB0AEEE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B22EDA-606A-4E07-B239-05F6FA23D443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666DBB5-91A8-4605-8D57-59797757B86D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</a:t>
            </a: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/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软件规划路径解读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4697895-81FE-47DB-A775-72B5C17D164C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178EBC2-DAE8-4F53-9850-C74ADBA598E2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DD7F434-ADD5-4E9E-BBD2-F0900FCCF6B1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A101DD6-6EE4-433D-8C20-1645231DADD2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9298DDA-A3DD-41F3-90AA-2FDB9A154853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27C128-491C-474A-AED1-45901429E1FE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1542A9-87BA-43AD-867E-A224D1DE51E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D4D4DD-7C47-41B2-9829-5C1E7CF3F45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618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C56823A-6D9F-49DF-A11A-64AA8A9F60E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7D975F8-B97E-412D-9B30-C6E04194372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B7DE1F-2164-4148-9814-593ED76A22AA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47F2B9-970F-4ADE-A862-E19E0D58D8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1FB7E9-5D4B-45C1-8D10-70F1AAE55F6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48FC29-6580-40B0-B5C6-7AFFCDD919CC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155345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397CD8D-80EB-46ED-8710-B3E4D29B2D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4D1F32EB-FAEE-47FE-8A02-04C3B36F51BD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455257-C628-469A-979F-C10AC2E0A7FA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666B28F-9EAC-4B14-86CF-BF4C9F776863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4154DD5-5731-4E4F-BA8C-E77A9E36456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带来的变化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FAC5C71-1A7E-4045-A0CB-FAFAB1E6BF1D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0E5576-76F0-4373-B206-0F0EA406DC0C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4E96A0E-4DE1-4CEF-BF22-E084D76BA9C7}"/>
              </a:ext>
            </a:extLst>
          </p:cNvPr>
          <p:cNvSpPr>
            <a:spLocks noGrp="1"/>
          </p:cNvSpPr>
          <p:nvPr/>
        </p:nvSpPr>
        <p:spPr>
          <a:xfrm>
            <a:off x="1047750" y="296418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3E9C22-A486-442B-81D0-1D93DFF76C4E}"/>
              </a:ext>
            </a:extLst>
          </p:cNvPr>
          <p:cNvSpPr>
            <a:spLocks noGrp="1"/>
          </p:cNvSpPr>
          <p:nvPr/>
        </p:nvSpPr>
        <p:spPr>
          <a:xfrm>
            <a:off x="1276350" y="288798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等能力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70A1399-FDE8-449C-96E3-C5F64A1F9AE5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F89631-6AFB-4984-8BE2-1A72F6885492}"/>
              </a:ext>
            </a:extLst>
          </p:cNvPr>
          <p:cNvSpPr>
            <a:spLocks noGrp="1"/>
          </p:cNvSpPr>
          <p:nvPr/>
        </p:nvSpPr>
        <p:spPr>
          <a:xfrm>
            <a:off x="1276349" y="3467100"/>
            <a:ext cx="4038601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/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软件规划路径不是从无到有，而是宁波海威与浙江海威共同的一阶段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/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；</a:t>
            </a:r>
            <a:endParaRPr lang="en-US" sz="14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浙江海威（嵊州）面向主要客户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CATL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的运营能力补强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95F4815-0601-45BC-8E8F-BB2DAECDE354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5B5541-A3D1-45FC-93ED-9DF12FD880C6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8845694-F2FE-4AF7-AC2E-7E9B98E188DC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C72E49-5BBB-47BA-880A-76680AAEA9F9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批次、参数、权限、点检、SPC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和全工序数据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3816087-9526-4644-A433-7707B320777B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EA91E4-DFB5-4000-8589-CDD839EDEF71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3B4BE2-7F5F-4E39-A65A-67629593DC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B935D9-9E23-4FBF-9895-88624CEB5CF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978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7F7F0DA-1C3B-4C0A-95BA-8143612D9C3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0F96F7E-8D86-4DE3-A6B6-3DB1FDE57F59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9781D6-C4FF-48FE-AC99-99FDF8B7767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122C245-74AC-4EDD-A9D7-8A193AE369A5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B124AFC-9A22-4B75-BCE0-4D2BC873BF56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F213A05-A2B2-43A5-9E8B-6E33C7E6153A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5B8FB76-260C-4903-A1DE-E6195BEC5B3B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CC4A19A-46D1-4B92-B22E-34F0D6B4AABE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14B08E3-F3E7-4BC7-8E27-7430EB93C645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736D908-10AC-47AA-A5B2-7A66D6E7AC61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D9643F0-C815-492A-AE92-69131E55985F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675402-5145-4A8B-B4A3-2CE8705B845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DE35DE-A3C6-4859-9772-05243C6A76D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831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DB0D6D77-6EFF-445A-A901-D040BE8BA2D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84A38D20-C67B-47FC-A2FF-2F792051375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A4B3DD-61CD-4F9F-8147-0213AAFA3564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F333502-9599-4CCC-B627-262745BC68F8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07EBC57-94FD-4563-91D3-8A0602EBF675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ECA8BEC-2932-4EB8-B0ED-DF8FA70837D4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B4620D-EBB1-4F92-B8DB-6BEF668980DC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DB2AECDD-B8F5-4DCE-9AF1-87473443E5C4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16E728E-62D2-4AA6-988C-CA877C911423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0FF4052-A194-4285-97C7-9A50D10F099F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7B0B4FA2-D9AA-405C-93D7-92D26730C879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C41DF1A-CF94-4CD9-8D75-92E4DB3079A9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9597023-F3BF-40A5-83C0-168F3314EADE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5C7F426A-20D4-440F-8BE4-FECB18FBCF0E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F132434-98C9-4E34-B278-1A17ECE7AF6B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05926E9-ECC6-4F6A-B611-5B6344747376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6F98B51E-2048-4DC6-B7D4-DDF48A630A1D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290406C-B166-4A34-85AC-AD73E8AE2D2C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1C36169-276F-4CE5-A7BF-BE93181C61DF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与后续动作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F74C5584-0051-41BE-B61F-695E682CCEE3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077789-6F85-431F-B3BD-4A8AB294072B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5CA37C-9B51-4B05-9FA1-7153D3A70F6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62D667-14CA-4BDB-9C80-B10E013DFF6F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hlinkClick r:id="rId3" action="ppaction://hlinkfile"/>
            <a:extLst>
              <a:ext uri="{FF2B5EF4-FFF2-40B4-BE49-F238E27FC236}">
                <a16:creationId xmlns:a16="http://schemas.microsoft.com/office/drawing/2014/main" id="{E5D1ACF2-EB8A-423E-89A8-92BFC988CF50}"/>
              </a:ext>
            </a:extLst>
          </p:cNvPr>
          <p:cNvSpPr>
            <a:spLocks noGrp="1"/>
          </p:cNvSpPr>
          <p:nvPr/>
        </p:nvSpPr>
        <p:spPr>
          <a:xfrm>
            <a:off x="1066800" y="52768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业务过程与功能重组工作台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</p:spTree>
    <p:extLst>
      <p:ext uri="{BB962C8B-B14F-4D97-AF65-F5344CB8AC3E}">
        <p14:creationId xmlns:p14="http://schemas.microsoft.com/office/powerpoint/2010/main" val="201100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F171296-4F55-4AD9-98F0-6CEF4551713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7855672-89AB-4EB5-9B9D-77232E3EA13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DA8C2B-B8AB-47AB-94F6-6AD915BFA476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498C50-B030-456C-8740-39E97D4EA02D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EE8A5D-3115-4C14-8012-3988D1FD77D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4AD17E-2CD7-468E-8FEE-25472178F3D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hlinkClick r:id="rId3" action="ppaction://hlinkfile"/>
            <a:extLst>
              <a:ext uri="{FF2B5EF4-FFF2-40B4-BE49-F238E27FC236}">
                <a16:creationId xmlns:a16="http://schemas.microsoft.com/office/drawing/2014/main" id="{E9DF0B2B-71D0-445F-A49C-A0F533FE57A6}"/>
              </a:ext>
            </a:extLst>
          </p:cNvPr>
          <p:cNvSpPr>
            <a:spLocks noGrp="1"/>
          </p:cNvSpPr>
          <p:nvPr/>
        </p:nvSpPr>
        <p:spPr>
          <a:xfrm>
            <a:off x="610177" y="4329390"/>
            <a:ext cx="11285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价值流画板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6024FD3D-BFCA-E16E-494C-759DB4037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83" t="33297" r="2035" b="27688"/>
          <a:stretch>
            <a:fillRect/>
          </a:stretch>
        </p:blipFill>
        <p:spPr>
          <a:xfrm>
            <a:off x="552450" y="1009649"/>
            <a:ext cx="11252954" cy="323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9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3B02CB3-4F8B-4864-BC30-3248B445C61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ECF348A2-7A18-4724-886C-5849606376C9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13BB9A-57FA-4C02-B449-0E010ACA77B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C7BC99A-0F99-44CA-A736-DE25018A72D0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/>
              <a:t>一阶段系统规划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780D1E1-B8E4-400E-B43B-AE6DD0FA57F1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9D7C020-9F8E-4997-9A60-B4544387A849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E075A09-48D3-4ED0-B2E9-7365B18FAFB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3025722-9E98-4059-9C9E-6CE8DC2F7E9E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38DEF9E-CAAE-4D9F-8D7D-CA8BA88166B3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FA5D55-764F-4A3C-954D-828651707BFD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5EF491-FD79-4FBD-A038-31374DECB92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378926-E489-4536-91A7-E3C9F2770C5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hlinkClick r:id="rId3"/>
            <a:extLst>
              <a:ext uri="{FF2B5EF4-FFF2-40B4-BE49-F238E27FC236}">
                <a16:creationId xmlns:a16="http://schemas.microsoft.com/office/drawing/2014/main" id="{D51371F8-9635-7718-73D4-A5ABEBAF0BE7}"/>
              </a:ext>
            </a:extLst>
          </p:cNvPr>
          <p:cNvSpPr>
            <a:spLocks noGrp="1"/>
          </p:cNvSpPr>
          <p:nvPr/>
        </p:nvSpPr>
        <p:spPr>
          <a:xfrm>
            <a:off x="610177" y="4329390"/>
            <a:ext cx="11285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价值流画板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</p:spTree>
    <p:extLst>
      <p:ext uri="{BB962C8B-B14F-4D97-AF65-F5344CB8AC3E}">
        <p14:creationId xmlns:p14="http://schemas.microsoft.com/office/powerpoint/2010/main" val="1553866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415014F-9F68-4DBD-90D0-D7A95400295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EB3230A6-B08B-4001-819A-183D817B73A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01ED44-B5AA-4CF0-9ADB-A2D48C81EBD4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EC6CA50-AED7-44A1-9D10-13915DCE698B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CF57DF3-6B28-47A6-8CC5-C744DA58029A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38AFD4F-A3A9-44E8-81D5-07311E7D10BF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78D74C-D81A-4B99-BB71-CD1DC7BD37BF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A2294CF-8D69-48F5-9051-C0912309383A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CD752F-2828-4D08-8174-1ABE2015953E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BA29C72-C5ED-4534-BC91-830F44E401E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DBB085-4B55-4AC2-8374-53157D7C8671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76BB137-DF21-4978-9046-484A63F90382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9AEECF-8E97-41E9-ACC4-7B78C991C5B8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1FB086D-6483-49F0-895F-CF808587434B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C59541-53FF-4CCB-A613-58454B5A2B97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0826923-D620-4F27-887A-ED35045DDC12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46DA47-4779-45F1-B89A-9D6110F61FF3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0A3343-6BC8-43C1-9461-9DDA652D76F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6943F2-116F-4117-BD88-06CB6E69607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3" name="矩形 22">
            <a:hlinkClick r:id="rId3"/>
            <a:extLst>
              <a:ext uri="{FF2B5EF4-FFF2-40B4-BE49-F238E27FC236}">
                <a16:creationId xmlns:a16="http://schemas.microsoft.com/office/drawing/2014/main" id="{E6DFCB0F-8F0C-FED6-A9D5-4D50877FAA41}"/>
              </a:ext>
            </a:extLst>
          </p:cNvPr>
          <p:cNvSpPr>
            <a:spLocks noGrp="1"/>
          </p:cNvSpPr>
          <p:nvPr/>
        </p:nvSpPr>
        <p:spPr>
          <a:xfrm>
            <a:off x="610177" y="4329390"/>
            <a:ext cx="11285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价值流画板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</p:spTree>
    <p:extLst>
      <p:ext uri="{BB962C8B-B14F-4D97-AF65-F5344CB8AC3E}">
        <p14:creationId xmlns:p14="http://schemas.microsoft.com/office/powerpoint/2010/main" val="248287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65E3342-A02B-4824-BA29-87B968FA628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功能的实现条件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BC39A91-7A45-411E-9059-14C87B32A84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CCEBF2-6AA5-4398-A3CA-630A8E9B7503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1540947514"/>
              </p:ext>
            </p:extLst>
          </p:nvPr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后续方向</a:t>
                      </a:r>
                      <a:endParaRPr sz="1600" b="1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  <a:endParaRPr sz="1600" b="1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</a:t>
                      </a:r>
                      <a:r>
                        <a:rPr sz="1400" dirty="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 QMS </a:t>
                      </a:r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表单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</a:t>
                      </a:r>
                      <a:r>
                        <a:rPr sz="1400" dirty="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 24H </a:t>
                      </a:r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计划基准、CT、Performance</a:t>
                      </a:r>
                      <a:r>
                        <a:rPr sz="1400" dirty="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 Rate </a:t>
                      </a:r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和真实执行反馈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4342DD7-49AC-4D6F-A8FF-B9946DD1937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54B636-F28E-42E3-8005-5EBEA3D6C88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860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5C68F562-E9DA-40B1-88B2-C2E647A14C9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21947AE-7689-4E89-BD3B-E0CEBF92B45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6476A0-8440-4292-AE8D-77C3761BA68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DBF17A7-AC1B-4EE1-B689-9B31C425A08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B37D7E5-AE51-42B0-9749-0947E95F2BB7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52B76F5B-600E-4305-A9C6-564D3FC6D39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54DE52E5-18D3-4501-98A6-D822F14D6A6F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7C53F02-49CC-4790-AF42-017EAAE9F8D7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3451650-A990-4A7D-9539-851D56CEA812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591C930-42E8-4AB4-ADF2-82A4458E7B1A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74EDACC-E51B-4C33-855D-F58640128B34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8D37589-BC7B-4ADA-8FA3-E7B775E8464D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/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软件规划路径多次提到</a:t>
            </a:r>
            <a:r>
              <a:rPr lang="zh-CN" altLang="en-US"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全工序数据</a:t>
            </a:r>
            <a:r>
              <a:rPr lang="zh-CN" altLang="en-US"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分类的目的，是区分哪些数据触发即时动作，哪些数据用于长期沉淀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242BF6-5AC4-4D12-B489-B8FF556DCFC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989A5A-1EEA-4BF2-90F3-F900A2BEBF4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6" name="矩形 5">
            <a:hlinkClick r:id="rId3"/>
            <a:extLst>
              <a:ext uri="{FF2B5EF4-FFF2-40B4-BE49-F238E27FC236}">
                <a16:creationId xmlns:a16="http://schemas.microsoft.com/office/drawing/2014/main" id="{C22BB30C-E677-C043-CDC4-20EFFFBCB63F}"/>
              </a:ext>
            </a:extLst>
          </p:cNvPr>
          <p:cNvSpPr>
            <a:spLocks noGrp="1"/>
          </p:cNvSpPr>
          <p:nvPr/>
        </p:nvSpPr>
        <p:spPr>
          <a:xfrm>
            <a:off x="947882" y="4924647"/>
            <a:ext cx="11285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价值流画板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</p:spTree>
    <p:extLst>
      <p:ext uri="{BB962C8B-B14F-4D97-AF65-F5344CB8AC3E}">
        <p14:creationId xmlns:p14="http://schemas.microsoft.com/office/powerpoint/2010/main" val="775687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17FDB40-1576-4778-8724-B2DF9F3F6BA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E9E063FA-7EBC-4477-86D3-BAB809229F2D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0EC2D-3CFD-441C-9429-91AA3231C496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836410B-EC42-488F-83DB-2A0A35323D7B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（即时</a:t>
            </a:r>
            <a:r>
              <a:rPr lang="en-US" altLang="zh-CN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/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实时）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A1D1258-3D73-4448-83A1-223E119EDB07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42C30F9-C8F4-4C50-B2A3-23E866DF82AD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（长期）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7EAEAC3-16CE-437A-B826-2D600C9AC23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C737F2A-662F-44C9-A1ED-CDDD262DBE52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（延时）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0D3E517-BBD0-4618-B41A-2BEB5E523D1A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8B9334-8EC6-4198-85E6-C400115ECCFD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0E8A4B-A7E5-4040-B403-6F8A31AD56C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DDE772-D791-4534-9032-ACECFAC020F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6" name="矩形 15">
            <a:hlinkClick r:id="rId3"/>
            <a:extLst>
              <a:ext uri="{FF2B5EF4-FFF2-40B4-BE49-F238E27FC236}">
                <a16:creationId xmlns:a16="http://schemas.microsoft.com/office/drawing/2014/main" id="{85D78306-4BFF-411D-CAED-228978CDBD72}"/>
              </a:ext>
            </a:extLst>
          </p:cNvPr>
          <p:cNvSpPr>
            <a:spLocks noGrp="1"/>
          </p:cNvSpPr>
          <p:nvPr/>
        </p:nvSpPr>
        <p:spPr>
          <a:xfrm>
            <a:off x="610177" y="4329390"/>
            <a:ext cx="11285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价值流画板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</p:spTree>
    <p:extLst>
      <p:ext uri="{BB962C8B-B14F-4D97-AF65-F5344CB8AC3E}">
        <p14:creationId xmlns:p14="http://schemas.microsoft.com/office/powerpoint/2010/main" val="209935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B2E2726-8B8B-4010-BF0E-57FB81DF774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B266825-A19E-4921-94CF-04A6E6FDF8E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BE2D11-A80C-4176-BB69-2F969FC7C9B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</a:t>
                      </a:r>
                      <a:r>
                        <a:rPr sz="1400" dirty="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 </a:t>
                      </a:r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replan，减少等待、堆积和断流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</a:t>
                      </a:r>
                      <a:r>
                        <a:rPr sz="1400" dirty="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 </a:t>
                      </a:r>
                      <a:r>
                        <a:rPr sz="1400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CATL强化要求（浙江海威）对稳定性、追溯和闭环的要求</a:t>
                      </a:r>
                      <a:endParaRPr sz="1400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3CBB0B2-6DAD-4F18-AE23-7113A5F8002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5083AC-F8D8-4AFB-9AE6-44ED0BB83BB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267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E5FAC94-3158-462F-BD27-7540B0A81206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78F0303-3D4B-4DA3-978E-99D441C6D0C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B22A24-F85C-417A-93A4-8465727CE1B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58B3393-0EF8-41E0-BD45-389EA38DB64A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5FADEDE-871C-4B55-AAC9-75B29688FF52}"/>
              </a:ext>
            </a:extLst>
          </p:cNvPr>
          <p:cNvSpPr>
            <a:spLocks noGrp="1"/>
          </p:cNvSpPr>
          <p:nvPr/>
        </p:nvSpPr>
        <p:spPr>
          <a:xfrm>
            <a:off x="2571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CEC0F07-ED65-44BB-A4C1-1DF65DABB135}"/>
              </a:ext>
            </a:extLst>
          </p:cNvPr>
          <p:cNvSpPr>
            <a:spLocks noGrp="1"/>
          </p:cNvSpPr>
          <p:nvPr/>
        </p:nvSpPr>
        <p:spPr>
          <a:xfrm>
            <a:off x="43815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81893E8-F4D8-44E8-B462-BE58F0579BF0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1023FA6-E7E9-4D7A-9A67-07EA9EE76B39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F912BBC-0CE7-410C-A59B-C0A906EE78C4}"/>
              </a:ext>
            </a:extLst>
          </p:cNvPr>
          <p:cNvSpPr>
            <a:spLocks noGrp="1"/>
          </p:cNvSpPr>
          <p:nvPr/>
        </p:nvSpPr>
        <p:spPr>
          <a:xfrm>
            <a:off x="9810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28" name="直线箭头连接符 27"/>
          <p:cNvCxnSpPr>
            <a:stCxn id="4" idx="3"/>
            <a:endCxn id="5" idx="1"/>
          </p:cNvCxnSpPr>
          <p:nvPr/>
        </p:nvCxnSpPr>
        <p:spPr>
          <a:xfrm>
            <a:off x="2095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直线箭头连接符 28"/>
          <p:cNvCxnSpPr>
            <a:stCxn id="5" idx="3"/>
            <a:endCxn id="6" idx="1"/>
          </p:cNvCxnSpPr>
          <p:nvPr/>
        </p:nvCxnSpPr>
        <p:spPr>
          <a:xfrm>
            <a:off x="39052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直线箭头连接符 29"/>
          <p:cNvCxnSpPr>
            <a:stCxn id="6" idx="3"/>
            <a:endCxn id="7" idx="1"/>
          </p:cNvCxnSpPr>
          <p:nvPr/>
        </p:nvCxnSpPr>
        <p:spPr>
          <a:xfrm>
            <a:off x="57150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直线箭头连接符 30"/>
          <p:cNvCxnSpPr>
            <a:stCxn id="7" idx="3"/>
            <a:endCxn id="8" idx="1"/>
          </p:cNvCxnSpPr>
          <p:nvPr/>
        </p:nvCxnSpPr>
        <p:spPr>
          <a:xfrm>
            <a:off x="75247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直线箭头连接符 31"/>
          <p:cNvCxnSpPr>
            <a:stCxn id="8" idx="3"/>
            <a:endCxn id="9" idx="1"/>
          </p:cNvCxnSpPr>
          <p:nvPr/>
        </p:nvCxnSpPr>
        <p:spPr>
          <a:xfrm>
            <a:off x="9334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CE681DF-E809-42B1-B0A1-1ED6AEF0BADB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没有计划基准，动态数据只能记录现场。有计划基准，数据才能判断偏差，并触发调整。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A361D6-E5A4-4676-92F2-59F0DFAA954E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D14A72-9684-4FA4-B259-9CC11B5DE48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01EFDF-81E7-837E-4542-4884CBF61A97}"/>
              </a:ext>
            </a:extLst>
          </p:cNvPr>
          <p:cNvSpPr>
            <a:spLocks noGrp="1"/>
          </p:cNvSpPr>
          <p:nvPr/>
        </p:nvSpPr>
        <p:spPr>
          <a:xfrm>
            <a:off x="605349" y="4641588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DEMO2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场地规划软件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</p:spTree>
    <p:extLst>
      <p:ext uri="{BB962C8B-B14F-4D97-AF65-F5344CB8AC3E}">
        <p14:creationId xmlns:p14="http://schemas.microsoft.com/office/powerpoint/2010/main" val="96016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8B87EA7-A178-4B2A-BC09-77781491483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13B783E-3F27-46FF-AC47-8CCF6D4E3C4D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EDB9DB-4BBA-4A3B-924B-A13C506D31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481E521-991B-4F17-BDD2-1900C115F239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D7DF0B6-3FC8-41D2-BC00-0ADFF5A4C318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39BF0D7-479C-4A98-85DD-4148C6DE101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0C7A21-69A3-4E77-86F7-F01E2C0B82B7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BBA4A7-F2D5-4558-84AD-5E414A838EAF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FA98F8-6385-4FD7-9828-BDFEEA6DE2A4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892E952-BFA5-439E-84C8-8BE521395BD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FCB53F-531E-416C-B57B-E95EB396C480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90544DC-D690-48FB-BD42-99CD8302AB0E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05DB89-2EB9-4EA4-8A1F-75E501E99C4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1CEC05C-12D7-4DF5-93E4-89DB5523317A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C7F344-B98A-49A9-8024-D61DC445D3DB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9AA48B0-CF41-4152-961B-B15E3CEF2D2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6C5E42-1201-49FC-B1F6-870550A70C11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5551FA-02A7-40B5-8712-DA255AEDD14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17EADA-BED9-4C4F-A08B-311DAFA89F8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hlinkClick r:id="rId3"/>
            <a:extLst>
              <a:ext uri="{FF2B5EF4-FFF2-40B4-BE49-F238E27FC236}">
                <a16:creationId xmlns:a16="http://schemas.microsoft.com/office/drawing/2014/main" id="{8D9D06A1-89BC-D05D-C459-A4CB3855748B}"/>
              </a:ext>
            </a:extLst>
          </p:cNvPr>
          <p:cNvSpPr>
            <a:spLocks noGrp="1"/>
          </p:cNvSpPr>
          <p:nvPr/>
        </p:nvSpPr>
        <p:spPr>
          <a:xfrm>
            <a:off x="610177" y="4329390"/>
            <a:ext cx="11285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价值流画板</a:t>
            </a:r>
            <a:endParaRPr sz="1400" b="0" dirty="0">
              <a:solidFill>
                <a:srgbClr val="53626B"/>
              </a:solidFill>
              <a:latin typeface="Songti SC"/>
              <a:ea typeface="Songti SC"/>
              <a:cs typeface="Songti SC"/>
            </a:endParaRPr>
          </a:p>
        </p:txBody>
      </p:sp>
    </p:spTree>
    <p:extLst>
      <p:ext uri="{BB962C8B-B14F-4D97-AF65-F5344CB8AC3E}">
        <p14:creationId xmlns:p14="http://schemas.microsoft.com/office/powerpoint/2010/main" val="1916948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6BF7CE-1EF6-4C64-8A73-332EFFEAC98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2F913C2-EA1D-4645-BC44-55F0CCA3617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B14AC5-6977-46B0-86BE-0B3CD2072DE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C939FB5-C3A0-42A0-A28A-14236D356648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1253A81-1244-4A2C-9B94-3D396C30F390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WIP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水位不清，会带来过量库存、缺料等待和账实偏差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82A57EF-267C-491D-BE8D-0F49D5C60837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540A9D4-87F6-4DE3-88EB-4FE799421B8D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E6E3FE5-7B02-448C-AB26-7091062D7788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E0CEBC5-12C7-494B-9531-8B0AE6F8BB77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3D42F5F-97F6-4A5E-BA8A-EB008028FE20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B1AE61-042D-490C-BEA0-A1E60E051F8C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808752-3B83-47D2-A461-DD4B0A234937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85F5F4-D630-4180-BEA1-8BBD00CB351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68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D4981CE-535D-4EFB-9C53-D02182A03DA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A052BF7-B886-45E9-AE30-28188ACC027E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46D376-910A-4609-84D1-699248180A9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1AF48B1-1596-4D38-B10C-A037D45E7256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1181FC9-BA69-47AE-B119-92099FE8B9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在状态异常和质量指标偏离时，辅助判断停线、降速或参数切换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55B6568-0A6A-45A0-BAA8-DD8AF7CB2273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AF4F8ED-9141-47EF-A2C0-59BEBAE4315D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用更小颗粒度监控工序进度，并生成短周期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replan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建议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（方案成熟后</a:t>
            </a:r>
            <a:r>
              <a:rPr lang="en-US" altLang="zh-CN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</a:t>
            </a:r>
            <a:r>
              <a:rPr lang="zh-CN" altLang="en-US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可进行自动调整）</a:t>
            </a:r>
            <a:endParaRPr sz="1400" b="0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35DF928-8FFD-4CED-B4E6-B3DC04690BD5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CA008C0-8242-469D-A7F9-729FF405665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7F18C3-6F19-43D9-AD49-62550A714297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不应先于业务闭环出现。它应建立在计划基准、现场数据和调整手段之上。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D03867-B9AE-485C-9BF8-D82A9708B9A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1792A8-5384-43DC-8AEB-37D08869B6C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39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1500C90-5716-4BE6-A388-E56B39FC3E8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69B650A-A446-4B0E-9039-E67E5B812E18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07E50A-C88B-477F-81CD-99BCDCAF37A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403A1F0-CF80-4732-990A-5F128FC1E7DB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8EF0714-9546-4F2F-816D-F3EEB8EBC0A2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C07AD03-A696-49FF-A369-B5738F810050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974CAB7-6F9C-4D86-9680-A6DDFF7BA45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6A45342-87FD-42DD-9968-CE425D3322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DF5A1EA-D54D-49F0-97DD-83685108F785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C6B5722-F492-47E6-844D-7E28335FC02A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0E389BC-51D3-48E2-9DAE-914BADE336E7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A57EC65-6231-4D45-9AEB-D43AB57E938A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8D85C5-732D-4B44-892E-E8E57A272F8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C039B1-2C25-4CA8-907E-D8DF85C2C3F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82184C-C12B-4441-B3E8-6F4FF7A3177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40438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666</Words>
  <Application>Microsoft Macintosh PowerPoint</Application>
  <DocSecurity>0</DocSecurity>
  <PresentationFormat>宽屏</PresentationFormat>
  <Paragraphs>182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10</cp:revision>
  <dcterms:created xsi:type="dcterms:W3CDTF">2026-09-20T05:45:57Z</dcterms:created>
  <dcterms:modified xsi:type="dcterms:W3CDTF">2026-09-20T14:14:08Z</dcterms:modified>
</cp:coreProperties>
</file>