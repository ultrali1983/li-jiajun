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00"/>
  </p:normalViewPr>
  <p:slideViewPr>
    <p:cSldViewPr snapToGrid="0">
      <p:cViewPr varScale="1">
        <p:scale>
          <a:sx n="167" d="100"/>
          <a:sy n="167" d="100"/>
        </p:scale>
        <p:origin x="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58AB094-8ACA-4B0A-80FF-D656A770C8C0}"/>
              </a:ext>
            </a:extLst>
          </p:cNvPr>
          <p:cNvSpPr>
            <a:spLocks noGrp="1"/>
          </p:cNvSpPr>
          <p:nvPr/>
        </p:nvSpPr>
        <p:spPr>
          <a:xfrm>
            <a:off x="1524000" y="2362200"/>
            <a:ext cx="914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27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7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  <a:endParaRPr sz="27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022BCF-2687-4250-8164-9F3E119FFED7}"/>
              </a:ext>
            </a:extLst>
          </p:cNvPr>
          <p:cNvSpPr>
            <a:spLocks noGrp="1"/>
          </p:cNvSpPr>
          <p:nvPr/>
        </p:nvSpPr>
        <p:spPr>
          <a:xfrm>
            <a:off x="2286000" y="31432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2E0828-3EE8-4BC4-A6A3-E85EEA671766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7429500" cy="2857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898F23DA-D16F-4B97-8857-4ABEA2E71302}"/>
              </a:ext>
            </a:extLst>
          </p:cNvPr>
          <p:cNvSpPr>
            <a:spLocks noGrp="1"/>
          </p:cNvSpPr>
          <p:nvPr/>
        </p:nvSpPr>
        <p:spPr>
          <a:xfrm>
            <a:off x="7239000" y="6210300"/>
            <a:ext cx="1143000" cy="285750"/>
          </a:xfrm>
          <a:prstGeom prst="parallelogram">
            <a:avLst/>
          </a:prstGeom>
          <a:solidFill>
            <a:srgbClr val="23A8D8"/>
          </a:solidFill>
          <a:ln w="0">
            <a:solidFill>
              <a:srgbClr val="23A8D8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286199-F974-4C77-A280-0F35C0D31E70}"/>
              </a:ext>
            </a:extLst>
          </p:cNvPr>
          <p:cNvSpPr>
            <a:spLocks noGrp="1"/>
          </p:cNvSpPr>
          <p:nvPr/>
        </p:nvSpPr>
        <p:spPr>
          <a:xfrm>
            <a:off x="8172450" y="6210300"/>
            <a:ext cx="4019550" cy="2857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156512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4D834F72-FFA6-461D-9439-0D0186333A6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  <a:endParaRPr sz="21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F41DF5C6-39A9-482D-B6BA-37594A045A9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C317CA-91F7-4797-995B-3C6333563B8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6B20F45-A33A-4E89-8936-7DEE1E8449E7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</a:t>
            </a:r>
            <a:r>
              <a:rPr sz="1575" b="1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/</a:t>
            </a:r>
            <a:r>
              <a:rPr sz="1575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软件规划路径解读</a:t>
            </a:r>
            <a:endParaRPr sz="1575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6AA47C5-CFFE-4C87-B208-CC3C93ADE324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</a:t>
            </a:r>
            <a:r>
              <a:rPr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CATL强化要求进一步补强</a:t>
            </a:r>
            <a:r>
              <a:rPr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33E1B14-EF33-4B08-BE88-09F393B2E800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713D443-A69F-4641-B4A7-09FF1CC55935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F9E12C4-4F51-4AFF-916B-954142D93F7C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0FE2312-853F-4C73-9843-D470120BCCC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681A7C-AEC1-4141-BF97-2E1C552B8AFE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1F9580-5003-4696-9FC0-AEF1269B436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F51881-856F-4835-9CF7-5163A8AF372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38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C711BF2-F72B-4EAD-90B1-096454A297A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869D2E0-C341-4D43-B711-0E349C83F232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DC6C2F-1AC7-4F34-AB8B-7E778B4155A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39DCFAB-AB02-4096-8A1F-375556534DD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17F853-67E0-4A86-A425-54C4028754C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29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2CF84C05-F0A4-499E-89CD-062FA4E4D77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3856040C-8DFD-411E-88C8-C6CBB5003B0E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33B248-5AAD-4E24-A5F7-A602D05ADE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1B74565-BD51-487E-908F-E772276BA9A4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  <a:endParaRPr sz="1575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4A25335-FDAE-42F1-8ECF-B6202A1AE8D5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  <a:endParaRPr sz="1575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07556E2-E40D-402D-A273-D432FE0DA1B1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CD78DD-A42E-478B-AE59-7C23FBDD043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WMS/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MES，解决库存、出入库、生产执行和基础追溯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C9955F6-F071-414F-9360-F431203D9362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1302F4-792E-4CF3-A861-886FF8EF9AC6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二阶段系统规划（宁波海威+浙江海威）本来就计划补强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 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QMS、TPM、IoT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 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等能力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60CB595-B43B-4311-B8EE-7C07B8B2609F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F68A84-2FC3-4A39-BAD8-14CB49A99FEF}"/>
              </a:ext>
            </a:extLst>
          </p:cNvPr>
          <p:cNvSpPr>
            <a:spLocks noGrp="1"/>
          </p:cNvSpPr>
          <p:nvPr/>
        </p:nvSpPr>
        <p:spPr>
          <a:xfrm>
            <a:off x="1276349" y="3467100"/>
            <a:ext cx="4038601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原系统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/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软件规划路径不是从无到有，而是宁波海威与浙江海威共同的一阶段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/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二阶段系统规划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；</a:t>
            </a:r>
            <a:endParaRPr lang="en-US" sz="1400" dirty="0">
              <a:solidFill>
                <a:srgbClr val="1F2A33"/>
              </a:solidFill>
              <a:latin typeface="Songti SC"/>
              <a:ea typeface="Songti SC"/>
            </a:endParaRPr>
          </a:p>
          <a:p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CATL强化要求是在浙江海威（嵊州）面向主要客户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 CATL </a:t>
            </a:r>
            <a:r>
              <a:rPr sz="1400" dirty="0" err="1">
                <a:solidFill>
                  <a:srgbClr val="1F2A33"/>
                </a:solidFill>
                <a:latin typeface="Songti SC"/>
                <a:ea typeface="Songti SC"/>
              </a:rPr>
              <a:t>的运营能力补强</a:t>
            </a:r>
            <a:r>
              <a:rPr sz="1400" dirty="0">
                <a:solidFill>
                  <a:srgbClr val="1F2A33"/>
                </a:solidFill>
                <a:latin typeface="Songti SC"/>
                <a:ea typeface="Songti SC"/>
              </a:rPr>
              <a:t>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D4C5160-A138-48D2-88D1-174C2692667C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0CDD21-91A2-48AB-B143-786370CF396E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5FB982A-5422-4653-9E98-84181DEAA333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68B8B9-ADBE-485D-8496-8677A7CD1E6A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“</a:t>
            </a: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</a:t>
            </a:r>
            <a:r>
              <a:rPr lang="zh-CN" altLang="en-US"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”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BF6B37E-04CC-4157-9083-DF19A5AB9829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2AA0F6-75BC-4187-A7B8-59B4C63C5138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</a:t>
            </a:r>
            <a:r>
              <a:rPr sz="14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854FF4-FEDF-4E20-A24E-103865838256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819198-F718-4A25-97C9-DB49424801F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821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76A07DB-A94E-40BD-B87E-C458622DDBCA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1FEF7445-69E7-4FB4-BFAF-117069E8CD65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9E3EE-1110-4F06-A8C1-2AE07F4B77AD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C763E89-CF66-4BBF-9C59-3C92240DEAF5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5ACFE35-6887-4EB6-A168-388FF6A66FB5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7BB0D22-79B4-488C-A442-7D18CC562BBA}"/>
              </a:ext>
            </a:extLst>
          </p:cNvPr>
          <p:cNvSpPr>
            <a:spLocks noGrp="1"/>
          </p:cNvSpPr>
          <p:nvPr/>
        </p:nvSpPr>
        <p:spPr>
          <a:xfrm>
            <a:off x="6324600" y="150495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C5E73A5-9B83-49CF-99AA-FD79622A400D}"/>
              </a:ext>
            </a:extLst>
          </p:cNvPr>
          <p:cNvSpPr>
            <a:spLocks noGrp="1"/>
          </p:cNvSpPr>
          <p:nvPr/>
        </p:nvSpPr>
        <p:spPr>
          <a:xfrm>
            <a:off x="6324600" y="209550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C05828A-EBDC-428C-AC2B-B8B0AF1DE481}"/>
              </a:ext>
            </a:extLst>
          </p:cNvPr>
          <p:cNvSpPr>
            <a:spLocks noGrp="1"/>
          </p:cNvSpPr>
          <p:nvPr/>
        </p:nvSpPr>
        <p:spPr>
          <a:xfrm>
            <a:off x="8001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7A07419-EC13-4613-B4DA-AE33D732EC32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</a:t>
            </a:r>
            <a:r>
              <a:rPr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 </a:t>
            </a:r>
            <a:r>
              <a:rPr sz="1500" b="0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和异常闭环证据</a:t>
            </a:r>
            <a:r>
              <a:rPr sz="1500" b="0" dirty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8FC70F8-1048-4C2E-978B-A16A15F04606}"/>
              </a:ext>
            </a:extLst>
          </p:cNvPr>
          <p:cNvSpPr>
            <a:spLocks noGrp="1"/>
          </p:cNvSpPr>
          <p:nvPr/>
        </p:nvSpPr>
        <p:spPr>
          <a:xfrm>
            <a:off x="6324600" y="3505200"/>
            <a:ext cx="4476750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A153D67-5A6D-45BF-97E3-234672CFD08C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447675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D667A6-289D-490A-83BA-C4223D3F68CE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A44ED9-C61C-4069-927B-ED024D511D05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592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DBA9D11-2FDA-453F-AB11-E67754E7F69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477E9CF1-B797-4117-862D-881623C5DCD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F0D1C5-B012-4F03-8211-A127A9EBBD6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3DDD79F5-C5A9-4B42-A5AC-CAD2D35B4DDA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2857500" cy="323850"/>
          </a:xfrm>
          <a:prstGeom prst="roundRect">
            <a:avLst>
              <a:gd name="adj" fmla="val 17647"/>
            </a:avLst>
          </a:prstGeom>
          <a:solidFill>
            <a:srgbClr val="E9F6FB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6B0A09AB-9B3B-4ABF-A3EE-0A3F688BB0BF}"/>
              </a:ext>
            </a:extLst>
          </p:cNvPr>
          <p:cNvSpPr>
            <a:spLocks noGrp="1"/>
          </p:cNvSpPr>
          <p:nvPr/>
        </p:nvSpPr>
        <p:spPr>
          <a:xfrm>
            <a:off x="7524750" y="1371600"/>
            <a:ext cx="3143250" cy="323850"/>
          </a:xfrm>
          <a:prstGeom prst="roundRect">
            <a:avLst>
              <a:gd name="adj" fmla="val 17647"/>
            </a:avLst>
          </a:prstGeom>
          <a:solidFill>
            <a:srgbClr val="F0F8E8"/>
          </a:solidFill>
          <a:ln w="14288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B7BE618-C000-443B-A34D-232AB1A8F5D7}"/>
              </a:ext>
            </a:extLst>
          </p:cNvPr>
          <p:cNvSpPr>
            <a:spLocks noGrp="1"/>
          </p:cNvSpPr>
          <p:nvPr/>
        </p:nvSpPr>
        <p:spPr>
          <a:xfrm>
            <a:off x="1428750" y="19812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6125C45-B9C8-4BF9-BCB8-0F82A20EF2BF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FB7D5A70-26A0-4A03-A5CB-606286097546}"/>
              </a:ext>
            </a:extLst>
          </p:cNvPr>
          <p:cNvSpPr>
            <a:spLocks noGrp="1"/>
          </p:cNvSpPr>
          <p:nvPr/>
        </p:nvSpPr>
        <p:spPr>
          <a:xfrm>
            <a:off x="3714750" y="21812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12F4197-2EF3-4C71-9A76-AD3539654BEB}"/>
              </a:ext>
            </a:extLst>
          </p:cNvPr>
          <p:cNvSpPr>
            <a:spLocks noGrp="1"/>
          </p:cNvSpPr>
          <p:nvPr/>
        </p:nvSpPr>
        <p:spPr>
          <a:xfrm>
            <a:off x="1428750" y="26670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106FC7C-03BE-484E-AFC1-6C91D025E3E8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  <a:endParaRPr sz="1500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36576A6E-0B6B-4E95-B8C0-2730AE45C2CA}"/>
              </a:ext>
            </a:extLst>
          </p:cNvPr>
          <p:cNvSpPr>
            <a:spLocks noGrp="1"/>
          </p:cNvSpPr>
          <p:nvPr/>
        </p:nvSpPr>
        <p:spPr>
          <a:xfrm>
            <a:off x="3714750" y="28670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36E6C0A-A1B2-4957-B4DA-FB1FEC2B2832}"/>
              </a:ext>
            </a:extLst>
          </p:cNvPr>
          <p:cNvSpPr>
            <a:spLocks noGrp="1"/>
          </p:cNvSpPr>
          <p:nvPr/>
        </p:nvSpPr>
        <p:spPr>
          <a:xfrm>
            <a:off x="1428750" y="33528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C5F0B47-0CDB-4A22-8F16-BC7D55D1D6AD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FDF70AC1-4D40-43D3-8F06-2733B15CF5B9}"/>
              </a:ext>
            </a:extLst>
          </p:cNvPr>
          <p:cNvSpPr>
            <a:spLocks noGrp="1"/>
          </p:cNvSpPr>
          <p:nvPr/>
        </p:nvSpPr>
        <p:spPr>
          <a:xfrm>
            <a:off x="3714750" y="35528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56F5C60-19CF-493C-8449-5DE057080A6A}"/>
              </a:ext>
            </a:extLst>
          </p:cNvPr>
          <p:cNvSpPr>
            <a:spLocks noGrp="1"/>
          </p:cNvSpPr>
          <p:nvPr/>
        </p:nvSpPr>
        <p:spPr>
          <a:xfrm>
            <a:off x="1428750" y="40386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AC1430E5-A602-4C26-A4D7-A050E2BE2755}"/>
              </a:ext>
            </a:extLst>
          </p:cNvPr>
          <p:cNvSpPr>
            <a:spLocks noGrp="1"/>
          </p:cNvSpPr>
          <p:nvPr/>
        </p:nvSpPr>
        <p:spPr>
          <a:xfrm>
            <a:off x="7524750" y="40386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A09AA5F3-286E-4AFC-9456-95196191B989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E52E63A0-460B-44B7-946D-9921F8FF490E}"/>
              </a:ext>
            </a:extLst>
          </p:cNvPr>
          <p:cNvSpPr>
            <a:spLocks noGrp="1"/>
          </p:cNvSpPr>
          <p:nvPr/>
        </p:nvSpPr>
        <p:spPr>
          <a:xfrm>
            <a:off x="1428750" y="4724400"/>
            <a:ext cx="2095500" cy="400050"/>
          </a:xfrm>
          <a:prstGeom prst="roundRect">
            <a:avLst>
              <a:gd name="adj" fmla="val 14286"/>
            </a:avLst>
          </a:prstGeom>
          <a:solidFill>
            <a:srgbClr val="23A8D8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85FE12A-235F-4F49-B1BB-32383D4E20B7}"/>
              </a:ext>
            </a:extLst>
          </p:cNvPr>
          <p:cNvSpPr>
            <a:spLocks noGrp="1"/>
          </p:cNvSpPr>
          <p:nvPr/>
        </p:nvSpPr>
        <p:spPr>
          <a:xfrm>
            <a:off x="7524750" y="4724400"/>
            <a:ext cx="31432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CD902892-E5FE-44C0-97D2-76D4B656CA59}"/>
              </a:ext>
            </a:extLst>
          </p:cNvPr>
          <p:cNvSpPr>
            <a:spLocks noGrp="1"/>
          </p:cNvSpPr>
          <p:nvPr/>
        </p:nvSpPr>
        <p:spPr>
          <a:xfrm>
            <a:off x="3714750" y="4924425"/>
            <a:ext cx="3619500" cy="0"/>
          </a:xfrm>
          <a:prstGeom prst="line">
            <a:avLst/>
          </a:prstGeom>
          <a:noFill/>
          <a:ln w="13335">
            <a:solidFill>
              <a:srgbClr val="8DA5A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4C529D-1D61-4C4C-A6F4-03DFB5B2427C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 algn="ctr">
              <a:def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75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7FAA8B-2E74-488B-BB69-C4EBBCDFD85B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B4A6C68-9811-4BDA-A38D-8F16AB2E0DA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930375-2F30-4B16-90E1-E8D92D7CA3AF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63735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D0B875D-87C1-4154-9289-2775E30257F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B2DB8B7A-AA2E-49A8-B8E1-94189BE7734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B5214D-8CEF-4453-9DB6-5A8F0C169B95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721438B3-C640-42F3-BBF9-332E6151F7A3}"/>
              </a:ext>
            </a:extLst>
          </p:cNvPr>
          <p:cNvSpPr>
            <a:spLocks noGrp="1"/>
          </p:cNvSpPr>
          <p:nvPr/>
        </p:nvSpPr>
        <p:spPr>
          <a:xfrm>
            <a:off x="4762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F432ABAE-0E5C-4F70-8FFB-EFD1AC4F54BA}"/>
              </a:ext>
            </a:extLst>
          </p:cNvPr>
          <p:cNvSpPr>
            <a:spLocks noGrp="1"/>
          </p:cNvSpPr>
          <p:nvPr/>
        </p:nvSpPr>
        <p:spPr>
          <a:xfrm>
            <a:off x="146685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11EF167-4A76-461E-B291-5542C14BC45F}"/>
              </a:ext>
            </a:extLst>
          </p:cNvPr>
          <p:cNvSpPr>
            <a:spLocks noGrp="1"/>
          </p:cNvSpPr>
          <p:nvPr/>
        </p:nvSpPr>
        <p:spPr>
          <a:xfrm>
            <a:off x="160020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3DCAD113-A2C6-4841-9C5A-B2F5C1AC2037}"/>
              </a:ext>
            </a:extLst>
          </p:cNvPr>
          <p:cNvSpPr>
            <a:spLocks noGrp="1"/>
          </p:cNvSpPr>
          <p:nvPr/>
        </p:nvSpPr>
        <p:spPr>
          <a:xfrm>
            <a:off x="259080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303D85C-4623-4C57-A796-FE32FC8E3F86}"/>
              </a:ext>
            </a:extLst>
          </p:cNvPr>
          <p:cNvSpPr>
            <a:spLocks noGrp="1"/>
          </p:cNvSpPr>
          <p:nvPr/>
        </p:nvSpPr>
        <p:spPr>
          <a:xfrm>
            <a:off x="27241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26113166-2B1B-45FE-8F22-DAE813FADEED}"/>
              </a:ext>
            </a:extLst>
          </p:cNvPr>
          <p:cNvSpPr>
            <a:spLocks noGrp="1"/>
          </p:cNvSpPr>
          <p:nvPr/>
        </p:nvSpPr>
        <p:spPr>
          <a:xfrm>
            <a:off x="371475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DDED767-E57F-485F-88D7-57F4C553A864}"/>
              </a:ext>
            </a:extLst>
          </p:cNvPr>
          <p:cNvSpPr>
            <a:spLocks noGrp="1"/>
          </p:cNvSpPr>
          <p:nvPr/>
        </p:nvSpPr>
        <p:spPr>
          <a:xfrm>
            <a:off x="384810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CCD09087-6109-4A8E-841E-1F2DCBF84F46}"/>
              </a:ext>
            </a:extLst>
          </p:cNvPr>
          <p:cNvSpPr>
            <a:spLocks noGrp="1"/>
          </p:cNvSpPr>
          <p:nvPr/>
        </p:nvSpPr>
        <p:spPr>
          <a:xfrm>
            <a:off x="4838700" y="20097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A4428A0-1876-4B61-B254-8D9174E48877}"/>
              </a:ext>
            </a:extLst>
          </p:cNvPr>
          <p:cNvSpPr>
            <a:spLocks noGrp="1"/>
          </p:cNvSpPr>
          <p:nvPr/>
        </p:nvSpPr>
        <p:spPr>
          <a:xfrm>
            <a:off x="4972050" y="17526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DA6A8C4-734D-4F98-BC9B-AACDFA929DC1}"/>
              </a:ext>
            </a:extLst>
          </p:cNvPr>
          <p:cNvSpPr>
            <a:spLocks noGrp="1"/>
          </p:cNvSpPr>
          <p:nvPr/>
        </p:nvSpPr>
        <p:spPr>
          <a:xfrm>
            <a:off x="4762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6AC1774-3D6A-492A-B8AC-AB7F9E153891}"/>
              </a:ext>
            </a:extLst>
          </p:cNvPr>
          <p:cNvSpPr>
            <a:spLocks noGrp="1"/>
          </p:cNvSpPr>
          <p:nvPr/>
        </p:nvSpPr>
        <p:spPr>
          <a:xfrm>
            <a:off x="160020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67D9AD3A-B3BB-4CAF-B12E-AFFB9BE5617F}"/>
              </a:ext>
            </a:extLst>
          </p:cNvPr>
          <p:cNvSpPr>
            <a:spLocks noGrp="1"/>
          </p:cNvSpPr>
          <p:nvPr/>
        </p:nvSpPr>
        <p:spPr>
          <a:xfrm>
            <a:off x="146685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930181C-3D0D-4F05-B465-4F115BCBABDE}"/>
              </a:ext>
            </a:extLst>
          </p:cNvPr>
          <p:cNvSpPr>
            <a:spLocks noGrp="1"/>
          </p:cNvSpPr>
          <p:nvPr/>
        </p:nvSpPr>
        <p:spPr>
          <a:xfrm>
            <a:off x="27241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 dirty="0" err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  <a:endParaRPr sz="1275" b="1" dirty="0">
              <a:solidFill>
                <a:srgbClr val="1F2A33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1698B03C-AE57-4CCB-A7B3-693C586F2717}"/>
              </a:ext>
            </a:extLst>
          </p:cNvPr>
          <p:cNvSpPr>
            <a:spLocks noGrp="1"/>
          </p:cNvSpPr>
          <p:nvPr/>
        </p:nvSpPr>
        <p:spPr>
          <a:xfrm>
            <a:off x="259080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6D5C83ED-CEE5-49BD-AC64-129DEF23C623}"/>
              </a:ext>
            </a:extLst>
          </p:cNvPr>
          <p:cNvSpPr>
            <a:spLocks noGrp="1"/>
          </p:cNvSpPr>
          <p:nvPr/>
        </p:nvSpPr>
        <p:spPr>
          <a:xfrm>
            <a:off x="384810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89967D73-9F54-4970-9828-D45D3A380AB8}"/>
              </a:ext>
            </a:extLst>
          </p:cNvPr>
          <p:cNvSpPr>
            <a:spLocks noGrp="1"/>
          </p:cNvSpPr>
          <p:nvPr/>
        </p:nvSpPr>
        <p:spPr>
          <a:xfrm>
            <a:off x="371475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5DA6C783-586D-4205-ACAE-568F90A48035}"/>
              </a:ext>
            </a:extLst>
          </p:cNvPr>
          <p:cNvSpPr>
            <a:spLocks noGrp="1"/>
          </p:cNvSpPr>
          <p:nvPr/>
        </p:nvSpPr>
        <p:spPr>
          <a:xfrm>
            <a:off x="4972050" y="3429000"/>
            <a:ext cx="9906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948679A2-231D-4243-9EDF-944B27CC0CF7}"/>
              </a:ext>
            </a:extLst>
          </p:cNvPr>
          <p:cNvSpPr>
            <a:spLocks noGrp="1"/>
          </p:cNvSpPr>
          <p:nvPr/>
        </p:nvSpPr>
        <p:spPr>
          <a:xfrm>
            <a:off x="4838700" y="3686175"/>
            <a:ext cx="133350" cy="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D96BCB2D-78F1-4C6D-AB90-30A4F35AF195}"/>
              </a:ext>
            </a:extLst>
          </p:cNvPr>
          <p:cNvSpPr>
            <a:spLocks noGrp="1"/>
          </p:cNvSpPr>
          <p:nvPr/>
        </p:nvSpPr>
        <p:spPr>
          <a:xfrm>
            <a:off x="5962650" y="2009775"/>
            <a:ext cx="0" cy="1676400"/>
          </a:xfrm>
          <a:prstGeom prst="line">
            <a:avLst/>
          </a:prstGeom>
          <a:noFill/>
          <a:ln w="14288">
            <a:solidFill>
              <a:srgbClr val="A8B8B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62CCC9-4137-4733-AE1C-E4911A5C65A6}"/>
              </a:ext>
            </a:extLst>
          </p:cNvPr>
          <p:cNvSpPr>
            <a:spLocks noGrp="1"/>
          </p:cNvSpPr>
          <p:nvPr/>
        </p:nvSpPr>
        <p:spPr>
          <a:xfrm>
            <a:off x="1600200" y="5095875"/>
            <a:ext cx="8991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 dirty="0" err="1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</a:t>
            </a:r>
            <a:r>
              <a:rPr sz="1650" b="0" dirty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3FE327-380A-4B1C-9072-AD07B1A7797A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3EA5E30-5558-4F3C-99E1-5765F481050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4097F1-72B8-47B2-8485-E3D7B46ABDB1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926245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D4FC7E6D-4577-42CD-A806-2D8A06549D6D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873DF637-21B2-4389-BEC0-7E3610553F7C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6DCB50-2599-439F-8823-FDB218F4B807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FF98C793-C2E8-4A95-AECF-F333B1CE5589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3F0580F-0B2B-4EC5-8D73-C0F45EBB025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89D932E-3182-4784-886B-B5E2995F42EF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988B41C-5D80-425E-83EA-ACFE25CCF411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56FF851-FF54-4FE7-971B-8D7A34C63620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10AB529-F0EA-4283-92D2-61415DEF7839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125535-7763-4C7B-B777-B435B77F2552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580"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6EDB6F-19B1-490B-B3E2-063B2F69A57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26B96F-644B-4C2F-A42A-C38D801866F1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AB676E-524C-48E9-9030-CAAE326C9197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3365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6F49E18-F56F-4BC4-A3A3-1978881CDED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9899B060-0433-4AD3-A5B3-F78B118FDFE1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9A00BA-A381-4A33-AB20-3031B9E518D2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BFEE289-B47C-4F17-A4DC-FDCD751A4DF1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76C5748-2AC0-4093-AE4D-75760C6BB09A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798F724-2A68-4909-800C-6AE008C42EAB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A9F29C-C3E5-459F-88BD-C8965FD1CA31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5846949-D453-4B29-B86C-9793681167DA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86C2E0-4421-46D0-A444-9BEA89E001A3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8D3D82F-5FD2-4A4F-B9C3-C7F90C4542B0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FDB71D-F462-42BE-8B17-1C3AB977492A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BCFFF50-E2B1-46F5-B3B3-87FF61832D87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B6AD42-A1EB-4A1D-90E4-C37DD29AAD76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19472DB-132A-4C78-9E6C-FBEB9C7C4159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969A0B-594F-4922-9807-518E5CCEC2C0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35EA72E-4CC5-4F24-A7F9-5100B22FA37A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8B1BBC-73C5-4C70-BE3B-939960804998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52"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DFB590-0D9B-4051-9233-C280BB15533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C59818-0754-4006-9BE0-01B492927B8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4E5C34-EA03-4204-9624-EADD2D6485A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38532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75CA095-D3E3-4DB7-831D-97A3D7C21C8F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D3009429-3069-4A05-B78F-7947CA8DF856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8EEC81-1559-4B2A-A281-F910D81EECFE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  <a:endParaRPr sz="1275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</a:t>
                      </a:r>
                      <a:r>
                        <a:rPr sz="1275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24H </a:t>
                      </a:r>
                      <a:r>
                        <a:rPr sz="1275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计划基准、CT、Performance</a:t>
                      </a:r>
                      <a:r>
                        <a:rPr sz="1275" dirty="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 Rate </a:t>
                      </a:r>
                      <a:r>
                        <a:rPr sz="1275" dirty="0" err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和真实执行反馈</a:t>
                      </a:r>
                      <a:endParaRPr sz="1275" dirty="0">
                        <a:solidFill>
                          <a:srgbClr val="1F2A33"/>
                        </a:solidFill>
                        <a:latin typeface="Songti SC"/>
                        <a:ea typeface="Songti SC"/>
                        <a:cs typeface="Songti S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176BE49-19CC-4034-8549-2B0876C3F3B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782796-A2DF-4DF9-8820-DC1218921328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7138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FED5E865-CBF4-4F4F-964E-575FF19643B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619E0437-2C5C-4B26-84FC-EEB2E1386B77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320A36-373E-4D28-97B8-F87A21254214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5D77E69-1C8E-459A-8916-CBD036C5CC59}"/>
              </a:ext>
            </a:extLst>
          </p:cNvPr>
          <p:cNvSpPr>
            <a:spLocks noGrp="1"/>
          </p:cNvSpPr>
          <p:nvPr/>
        </p:nvSpPr>
        <p:spPr>
          <a:xfrm>
            <a:off x="5095875" y="2628900"/>
            <a:ext cx="2000250" cy="838200"/>
          </a:xfrm>
          <a:prstGeom prst="roundRect">
            <a:avLst>
              <a:gd name="adj" fmla="val 6818"/>
            </a:avLst>
          </a:prstGeom>
          <a:solidFill>
            <a:srgbClr val="76BC21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D84E642-4CA8-4305-9E73-CDE22EBA30FE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直线箭头连接符 27"/>
          <p:cNvCxnSpPr>
            <a:stCxn id="4" idx="1"/>
            <a:endCxn id="5" idx="3"/>
          </p:cNvCxnSpPr>
          <p:nvPr/>
        </p:nvCxnSpPr>
        <p:spPr>
          <a:xfrm flipH="1" flipV="1">
            <a:off x="2781300" y="1752600"/>
            <a:ext cx="231457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7" name="圆角矩形 6">
            <a:extLst>
              <a:ext uri="{FF2B5EF4-FFF2-40B4-BE49-F238E27FC236}">
                <a16:creationId xmlns:a16="http://schemas.microsoft.com/office/drawing/2014/main" id="{AA332C7E-5980-4FE1-BC04-F1189146E28D}"/>
              </a:ext>
            </a:extLst>
          </p:cNvPr>
          <p:cNvSpPr>
            <a:spLocks noGrp="1"/>
          </p:cNvSpPr>
          <p:nvPr/>
        </p:nvSpPr>
        <p:spPr>
          <a:xfrm>
            <a:off x="400050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直线箭头连接符 29"/>
          <p:cNvCxnSpPr>
            <a:stCxn id="4" idx="0"/>
            <a:endCxn id="7" idx="3"/>
          </p:cNvCxnSpPr>
          <p:nvPr/>
        </p:nvCxnSpPr>
        <p:spPr>
          <a:xfrm flipH="1" flipV="1">
            <a:off x="5524500" y="1581150"/>
            <a:ext cx="571500" cy="10477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5445F1B8-A04E-443B-B0F9-8D0196E816E3}"/>
              </a:ext>
            </a:extLst>
          </p:cNvPr>
          <p:cNvSpPr>
            <a:spLocks noGrp="1"/>
          </p:cNvSpPr>
          <p:nvPr/>
        </p:nvSpPr>
        <p:spPr>
          <a:xfrm>
            <a:off x="7143750" y="13525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直线箭头连接符 31"/>
          <p:cNvCxnSpPr>
            <a:stCxn id="4" idx="3"/>
            <a:endCxn id="9" idx="1"/>
          </p:cNvCxnSpPr>
          <p:nvPr/>
        </p:nvCxnSpPr>
        <p:spPr>
          <a:xfrm flipV="1">
            <a:off x="7096125" y="1581150"/>
            <a:ext cx="476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84E939A7-69C5-4FCC-80E2-744D66E351A8}"/>
              </a:ext>
            </a:extLst>
          </p:cNvPr>
          <p:cNvSpPr>
            <a:spLocks noGrp="1"/>
          </p:cNvSpPr>
          <p:nvPr/>
        </p:nvSpPr>
        <p:spPr>
          <a:xfrm>
            <a:off x="9620250" y="15240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直线箭头连接符 33"/>
          <p:cNvCxnSpPr>
            <a:stCxn id="4" idx="3"/>
            <a:endCxn id="11" idx="1"/>
          </p:cNvCxnSpPr>
          <p:nvPr/>
        </p:nvCxnSpPr>
        <p:spPr>
          <a:xfrm flipV="1">
            <a:off x="7096125" y="1752600"/>
            <a:ext cx="2524125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CA5965E-5E41-4CF9-B7B1-4E430DDFC47A}"/>
              </a:ext>
            </a:extLst>
          </p:cNvPr>
          <p:cNvSpPr>
            <a:spLocks noGrp="1"/>
          </p:cNvSpPr>
          <p:nvPr/>
        </p:nvSpPr>
        <p:spPr>
          <a:xfrm>
            <a:off x="1733550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直线箭头连接符 35"/>
          <p:cNvCxnSpPr>
            <a:stCxn id="4" idx="1"/>
            <a:endCxn id="13" idx="3"/>
          </p:cNvCxnSpPr>
          <p:nvPr/>
        </p:nvCxnSpPr>
        <p:spPr>
          <a:xfrm flipH="1">
            <a:off x="3257550" y="3048000"/>
            <a:ext cx="1838325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A3F4226-4680-4CFE-9753-CC7220F29709}"/>
              </a:ext>
            </a:extLst>
          </p:cNvPr>
          <p:cNvSpPr>
            <a:spLocks noGrp="1"/>
          </p:cNvSpPr>
          <p:nvPr/>
        </p:nvSpPr>
        <p:spPr>
          <a:xfrm>
            <a:off x="5257800" y="476250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直线箭头连接符 37"/>
          <p:cNvCxnSpPr>
            <a:stCxn id="4" idx="2"/>
            <a:endCxn id="15" idx="0"/>
          </p:cNvCxnSpPr>
          <p:nvPr/>
        </p:nvCxnSpPr>
        <p:spPr>
          <a:xfrm flipH="1">
            <a:off x="6019800" y="3467100"/>
            <a:ext cx="76200" cy="129540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C8E0009-2D75-4819-AFAA-6498EFDD1E95}"/>
              </a:ext>
            </a:extLst>
          </p:cNvPr>
          <p:cNvSpPr>
            <a:spLocks noGrp="1"/>
          </p:cNvSpPr>
          <p:nvPr/>
        </p:nvSpPr>
        <p:spPr>
          <a:xfrm>
            <a:off x="8620125" y="4286250"/>
            <a:ext cx="152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直线箭头连接符 39"/>
          <p:cNvCxnSpPr>
            <a:stCxn id="4" idx="3"/>
            <a:endCxn id="17" idx="1"/>
          </p:cNvCxnSpPr>
          <p:nvPr/>
        </p:nvCxnSpPr>
        <p:spPr>
          <a:xfrm>
            <a:off x="7096125" y="3048000"/>
            <a:ext cx="1524000" cy="1466850"/>
          </a:xfrm>
          <a:prstGeom prst="straightConnector1">
            <a:avLst/>
          </a:prstGeom>
          <a:ln w="10478">
            <a:solidFill>
              <a:srgbClr val="94A9B0"/>
            </a:solidFill>
            <a:prstDash val="soli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6EA9DC6E-B77E-491E-AE2F-4BEFD4A992D6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437"/>
          </a:bodyPr>
          <a:lstStyle/>
          <a:p>
            <a:pPr algn="ctr">
              <a:def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22DCF2-2028-47F9-B56C-16424355F0A1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1BD5D1F-833E-4A2C-B61C-235C8F4CACB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9299D2-943C-4BF4-8CDC-25902256E4FD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940743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F8AF46C-FFCD-4138-A3D6-F169C3C5B9D6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586EA1CB-4109-4C7B-BF58-67FC6448580A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1ADC9F-97B0-4A9A-82C5-5AE74686A0AF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5233F97-B91B-4140-8E00-BFB7F0F42F2C}"/>
              </a:ext>
            </a:extLst>
          </p:cNvPr>
          <p:cNvSpPr>
            <a:spLocks noGrp="1"/>
          </p:cNvSpPr>
          <p:nvPr/>
        </p:nvSpPr>
        <p:spPr>
          <a:xfrm>
            <a:off x="8191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3958D9D1-6227-4D00-B810-B8324A775F69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C00B22E-BDA9-4BC7-873A-9113CB689345}"/>
              </a:ext>
            </a:extLst>
          </p:cNvPr>
          <p:cNvSpPr>
            <a:spLocks noGrp="1"/>
          </p:cNvSpPr>
          <p:nvPr/>
        </p:nvSpPr>
        <p:spPr>
          <a:xfrm>
            <a:off x="453390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E3EE4D0-55CF-4227-8815-AFE62142F034}"/>
              </a:ext>
            </a:extLst>
          </p:cNvPr>
          <p:cNvSpPr>
            <a:spLocks noGrp="1"/>
          </p:cNvSpPr>
          <p:nvPr/>
        </p:nvSpPr>
        <p:spPr>
          <a:xfrm>
            <a:off x="453390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BFB31DD-15F5-4AA0-945B-A0BEFC454F80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3048000" cy="514350"/>
          </a:xfrm>
          <a:prstGeom prst="roundRect">
            <a:avLst>
              <a:gd name="adj" fmla="val 11111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D248364-5294-4939-B57D-4E280A25BF42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3048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29F942-BAD0-4603-9307-2F3BCB2AF1BD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34F6A1-7022-4935-9AA6-2D7157014297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4EDB19-2ED0-40DB-B139-13EAA3AB7422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152BDA-C236-469D-A00C-15684E56EDAE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436916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65CDF91-1C97-4148-8DDC-651D7E4DE09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E85C20C4-55FA-40C9-BCD4-A62B6E00706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D31893-9C90-424B-BABD-6A583C7AE8B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1333500" y="1428750"/>
          <a:ext cx="9525000" cy="3524250"/>
        </p:xfrm>
        <a:graphic>
          <a:graphicData uri="http://schemas.openxmlformats.org/drawingml/2006/table">
            <a:tbl>
              <a:tblPr/>
              <a:tblGrid>
                <a:gridCol w="2886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>
                    <a:solidFill>
                      <a:srgbClr val="F0F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29FDE67-224C-4B19-BA4D-15B44CEA07D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CC7A25-23DA-4A5B-B886-977E8FCFA4C9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983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298331CB-8057-4700-995F-F989BBA77A00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6BC85A4-F40F-4B88-B91C-4A985C20D4CD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04F0C1-65C9-4596-AC80-CBA88D3EDC4D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AE3A07E1-3A3F-4194-995D-B0B4E72150E4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24H 计划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D047D94-947C-4551-A24C-AE7A541E6146}"/>
              </a:ext>
            </a:extLst>
          </p:cNvPr>
          <p:cNvSpPr>
            <a:spLocks noGrp="1"/>
          </p:cNvSpPr>
          <p:nvPr/>
        </p:nvSpPr>
        <p:spPr>
          <a:xfrm>
            <a:off x="2571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3EB8F90-37AB-4A99-A12E-A195C6C40379}"/>
              </a:ext>
            </a:extLst>
          </p:cNvPr>
          <p:cNvSpPr>
            <a:spLocks noGrp="1"/>
          </p:cNvSpPr>
          <p:nvPr/>
        </p:nvSpPr>
        <p:spPr>
          <a:xfrm>
            <a:off x="43815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B85A8982-CFBF-461B-9F83-1F32B24B1B22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9B7A1F3-DA52-4E77-A5CB-5B98A3EA64F5}"/>
              </a:ext>
            </a:extLst>
          </p:cNvPr>
          <p:cNvSpPr>
            <a:spLocks noGrp="1"/>
          </p:cNvSpPr>
          <p:nvPr/>
        </p:nvSpPr>
        <p:spPr>
          <a:xfrm>
            <a:off x="800100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7DCB708-C4C1-459A-8AF0-91E34DD16E50}"/>
              </a:ext>
            </a:extLst>
          </p:cNvPr>
          <p:cNvSpPr>
            <a:spLocks noGrp="1"/>
          </p:cNvSpPr>
          <p:nvPr/>
        </p:nvSpPr>
        <p:spPr>
          <a:xfrm>
            <a:off x="9810750" y="2428875"/>
            <a:ext cx="1333500" cy="552450"/>
          </a:xfrm>
          <a:prstGeom prst="roundRect">
            <a:avLst>
              <a:gd name="adj" fmla="val 10345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28" name="直线箭头连接符 27"/>
          <p:cNvCxnSpPr>
            <a:stCxn id="4" idx="3"/>
            <a:endCxn id="5" idx="1"/>
          </p:cNvCxnSpPr>
          <p:nvPr/>
        </p:nvCxnSpPr>
        <p:spPr>
          <a:xfrm>
            <a:off x="2095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29" name="直线箭头连接符 28"/>
          <p:cNvCxnSpPr>
            <a:stCxn id="5" idx="3"/>
            <a:endCxn id="6" idx="1"/>
          </p:cNvCxnSpPr>
          <p:nvPr/>
        </p:nvCxnSpPr>
        <p:spPr>
          <a:xfrm>
            <a:off x="39052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0" name="直线箭头连接符 29"/>
          <p:cNvCxnSpPr>
            <a:stCxn id="6" idx="3"/>
            <a:endCxn id="7" idx="1"/>
          </p:cNvCxnSpPr>
          <p:nvPr/>
        </p:nvCxnSpPr>
        <p:spPr>
          <a:xfrm>
            <a:off x="57150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1" name="直线箭头连接符 30"/>
          <p:cNvCxnSpPr>
            <a:stCxn id="7" idx="3"/>
            <a:endCxn id="8" idx="1"/>
          </p:cNvCxnSpPr>
          <p:nvPr/>
        </p:nvCxnSpPr>
        <p:spPr>
          <a:xfrm>
            <a:off x="752475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直线箭头连接符 31"/>
          <p:cNvCxnSpPr>
            <a:stCxn id="8" idx="3"/>
            <a:endCxn id="9" idx="1"/>
          </p:cNvCxnSpPr>
          <p:nvPr/>
        </p:nvCxnSpPr>
        <p:spPr>
          <a:xfrm>
            <a:off x="9334500" y="2705100"/>
            <a:ext cx="476250" cy="0"/>
          </a:xfrm>
          <a:prstGeom prst="straightConnector1">
            <a:avLst/>
          </a:prstGeom>
          <a:ln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4470D275-BCF2-4AA2-8654-50178A64D683}"/>
              </a:ext>
            </a:extLst>
          </p:cNvPr>
          <p:cNvSpPr>
            <a:spLocks noGrp="1"/>
          </p:cNvSpPr>
          <p:nvPr/>
        </p:nvSpPr>
        <p:spPr>
          <a:xfrm>
            <a:off x="1600200" y="4095750"/>
            <a:ext cx="8991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没有计划基准，动态数据只能记录现场。有计划基准，数据才能判断偏差，并触发调整。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F5B6C9-1AC7-4A9E-9C86-68C12564FD39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346E7B-FD24-4C4B-94C9-4258DBFADD76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2CEC42-FC97-472D-8B26-E8C9010C912B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现场穿插：DEMO2 场地规划软件</a:t>
            </a:r>
          </a:p>
        </p:txBody>
      </p:sp>
    </p:spTree>
    <p:extLst>
      <p:ext uri="{BB962C8B-B14F-4D97-AF65-F5344CB8AC3E}">
        <p14:creationId xmlns:p14="http://schemas.microsoft.com/office/powerpoint/2010/main" val="1605447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690242F-B32C-4906-A364-B5BF8946915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AB7A958-6B78-4677-8455-D07B6B7FF2D8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7FBB19-80C5-4790-AD75-5A95ECC80958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4D55A36-AD4F-444B-96E2-D7415E5EEB7C}"/>
              </a:ext>
            </a:extLst>
          </p:cNvPr>
          <p:cNvSpPr>
            <a:spLocks noGrp="1"/>
          </p:cNvSpPr>
          <p:nvPr/>
        </p:nvSpPr>
        <p:spPr>
          <a:xfrm>
            <a:off x="8763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9A7652B7-5C07-4994-9770-95A4BD837577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4619625" cy="457200"/>
          </a:xfrm>
          <a:prstGeom prst="roundRect">
            <a:avLst>
              <a:gd name="adj" fmla="val 125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22B4A7E-56F3-4E62-9AEA-555DC56E6FAE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EF21C0-C4BC-46DF-B7E6-FE47622F8C3B}"/>
              </a:ext>
            </a:extLst>
          </p:cNvPr>
          <p:cNvSpPr>
            <a:spLocks noGrp="1"/>
          </p:cNvSpPr>
          <p:nvPr/>
        </p:nvSpPr>
        <p:spPr>
          <a:xfrm>
            <a:off x="12763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10F5B16-7E01-4666-84B5-FBB1E3008DD9}"/>
              </a:ext>
            </a:extLst>
          </p:cNvPr>
          <p:cNvSpPr>
            <a:spLocks noGrp="1"/>
          </p:cNvSpPr>
          <p:nvPr/>
        </p:nvSpPr>
        <p:spPr>
          <a:xfrm>
            <a:off x="10477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D6B792-F6A9-454E-95BE-B14FAB05B948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BADCE46-3C59-4690-BC0C-C8D26966D367}"/>
              </a:ext>
            </a:extLst>
          </p:cNvPr>
          <p:cNvSpPr>
            <a:spLocks noGrp="1"/>
          </p:cNvSpPr>
          <p:nvPr/>
        </p:nvSpPr>
        <p:spPr>
          <a:xfrm>
            <a:off x="10477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8DAA93-20C8-45A6-A546-623DCA39B61C}"/>
              </a:ext>
            </a:extLst>
          </p:cNvPr>
          <p:cNvSpPr>
            <a:spLocks noGrp="1"/>
          </p:cNvSpPr>
          <p:nvPr/>
        </p:nvSpPr>
        <p:spPr>
          <a:xfrm>
            <a:off x="12763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1DB637-7EC9-4447-A887-6B7F92AAE1CA}"/>
              </a:ext>
            </a:extLst>
          </p:cNvPr>
          <p:cNvSpPr>
            <a:spLocks noGrp="1"/>
          </p:cNvSpPr>
          <p:nvPr/>
        </p:nvSpPr>
        <p:spPr>
          <a:xfrm>
            <a:off x="6877050" y="22479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83B660-CDE4-4585-A8E1-D17C39F812FF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FFFF19D-669E-409F-99FC-C8C17D218A81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95250" cy="95250"/>
          </a:xfrm>
          <a:prstGeom prst="ellipse">
            <a:avLst/>
          </a:prstGeom>
          <a:solidFill>
            <a:srgbClr val="76BC21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0D14F2-74D1-4613-B7F4-AD7C82D012EB}"/>
              </a:ext>
            </a:extLst>
          </p:cNvPr>
          <p:cNvSpPr>
            <a:spLocks noGrp="1"/>
          </p:cNvSpPr>
          <p:nvPr/>
        </p:nvSpPr>
        <p:spPr>
          <a:xfrm>
            <a:off x="7105650" y="28194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2EEA291-93A1-4A85-B064-B1BBC9E776F5}"/>
              </a:ext>
            </a:extLst>
          </p:cNvPr>
          <p:cNvSpPr>
            <a:spLocks noGrp="1"/>
          </p:cNvSpPr>
          <p:nvPr/>
        </p:nvSpPr>
        <p:spPr>
          <a:xfrm>
            <a:off x="6877050" y="3543300"/>
            <a:ext cx="95250" cy="95250"/>
          </a:xfrm>
          <a:prstGeom prst="ellipse">
            <a:avLst/>
          </a:prstGeom>
          <a:solidFill>
            <a:srgbClr val="23A8D8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88B945E-D36A-4ACE-BAAB-49574D4DD650}"/>
              </a:ext>
            </a:extLst>
          </p:cNvPr>
          <p:cNvSpPr>
            <a:spLocks noGrp="1"/>
          </p:cNvSpPr>
          <p:nvPr/>
        </p:nvSpPr>
        <p:spPr>
          <a:xfrm>
            <a:off x="7105650" y="3467100"/>
            <a:ext cx="3867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DD7652-44DB-47B1-96D9-03F6FFD76ED4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37A5C2-CF65-47E2-94F0-453CC044AF7D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ED9466-E1AF-42C7-BA9C-49FEC3ED4858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781271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1A40266-F6EE-4736-A0B3-711F653E6BD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7C56AD39-3C34-4B9B-9575-57720D979A2D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01F0F6-29B0-48D5-8063-BDBA98DD3DA0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C9A07911-C8AF-4DA4-91C4-C1151296B74B}"/>
              </a:ext>
            </a:extLst>
          </p:cNvPr>
          <p:cNvSpPr>
            <a:spLocks noGrp="1"/>
          </p:cNvSpPr>
          <p:nvPr/>
        </p:nvSpPr>
        <p:spPr>
          <a:xfrm>
            <a:off x="1190625" y="142875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DAF4830-4B4E-426C-B1B7-4C5B6029D2C5}"/>
              </a:ext>
            </a:extLst>
          </p:cNvPr>
          <p:cNvSpPr>
            <a:spLocks noGrp="1"/>
          </p:cNvSpPr>
          <p:nvPr/>
        </p:nvSpPr>
        <p:spPr>
          <a:xfrm>
            <a:off x="3314700" y="142875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DE1D2B4-A5A7-4506-B985-6F91556B2239}"/>
              </a:ext>
            </a:extLst>
          </p:cNvPr>
          <p:cNvSpPr>
            <a:spLocks noGrp="1"/>
          </p:cNvSpPr>
          <p:nvPr/>
        </p:nvSpPr>
        <p:spPr>
          <a:xfrm>
            <a:off x="1190625" y="242887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DFF659D-F02B-4170-9082-B08827BEA458}"/>
              </a:ext>
            </a:extLst>
          </p:cNvPr>
          <p:cNvSpPr>
            <a:spLocks noGrp="1"/>
          </p:cNvSpPr>
          <p:nvPr/>
        </p:nvSpPr>
        <p:spPr>
          <a:xfrm>
            <a:off x="3314700" y="242887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C8614EB-33DE-4642-8D8B-1A5DBF04A094}"/>
              </a:ext>
            </a:extLst>
          </p:cNvPr>
          <p:cNvSpPr>
            <a:spLocks noGrp="1"/>
          </p:cNvSpPr>
          <p:nvPr/>
        </p:nvSpPr>
        <p:spPr>
          <a:xfrm>
            <a:off x="1190625" y="3429000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B730812-9530-448E-B0BA-AB5830EEAA9B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90869F0-019F-41DD-9B45-2E8A1693CC85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809750" cy="495300"/>
          </a:xfrm>
          <a:prstGeom prst="roundRect">
            <a:avLst>
              <a:gd name="adj" fmla="val 11538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D112543-11DC-4350-958F-712C7C6F3518}"/>
              </a:ext>
            </a:extLst>
          </p:cNvPr>
          <p:cNvSpPr>
            <a:spLocks noGrp="1"/>
          </p:cNvSpPr>
          <p:nvPr/>
        </p:nvSpPr>
        <p:spPr>
          <a:xfrm>
            <a:off x="3314700" y="4429125"/>
            <a:ext cx="7429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63257-2C36-4D89-A6AA-97DA183FE163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9DC20A-0215-4F70-A0C9-92AB974BA32E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28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6B62378-49F1-42FD-AC0B-634A544936E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4C0D6B74-2E87-4794-A28C-BC61E2AFFA89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663F7-80A5-4553-A768-A534E8EC56F3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57FABDA6-AD87-41ED-9B69-C537B2A4034A}"/>
              </a:ext>
            </a:extLst>
          </p:cNvPr>
          <p:cNvSpPr>
            <a:spLocks noGrp="1"/>
          </p:cNvSpPr>
          <p:nvPr/>
        </p:nvSpPr>
        <p:spPr>
          <a:xfrm>
            <a:off x="11620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设备边缘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C121DD8-4888-4909-92FA-93F33979BE51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在状态异常和质量指标偏离时，辅助判断停线、降速或参数切换。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99A476A-3FE3-4370-88F5-6E5973B51ABC}"/>
              </a:ext>
            </a:extLst>
          </p:cNvPr>
          <p:cNvSpPr>
            <a:spLocks noGrp="1"/>
          </p:cNvSpPr>
          <p:nvPr/>
        </p:nvSpPr>
        <p:spPr>
          <a:xfrm>
            <a:off x="449580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计划重排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215FD56-BA26-478B-A9C6-3CDFFCB6C8DA}"/>
              </a:ext>
            </a:extLst>
          </p:cNvPr>
          <p:cNvSpPr>
            <a:spLocks noGrp="1"/>
          </p:cNvSpPr>
          <p:nvPr/>
        </p:nvSpPr>
        <p:spPr>
          <a:xfrm>
            <a:off x="449580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用更小颗粒度监控工序进度，并生成短周期 replan 建议。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8FCC5763-D520-4557-858E-86AD74CC37A7}"/>
              </a:ext>
            </a:extLst>
          </p:cNvPr>
          <p:cNvSpPr>
            <a:spLocks noGrp="1"/>
          </p:cNvSpPr>
          <p:nvPr/>
        </p:nvSpPr>
        <p:spPr>
          <a:xfrm>
            <a:off x="7829550" y="1657350"/>
            <a:ext cx="2476500" cy="476250"/>
          </a:xfrm>
          <a:prstGeom prst="roundRect">
            <a:avLst>
              <a:gd name="adj" fmla="val 12000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参数过滤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7A53958-1567-4579-8D81-22E461EF6E59}"/>
              </a:ext>
            </a:extLst>
          </p:cNvPr>
          <p:cNvSpPr>
            <a:spLocks noGrp="1"/>
          </p:cNvSpPr>
          <p:nvPr/>
        </p:nvSpPr>
        <p:spPr>
          <a:xfrm>
            <a:off x="7829550" y="2381250"/>
            <a:ext cx="2476500" cy="123825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25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过滤非必要数据，保留对产品状态和工艺设定有效的参数。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7BBE49-2431-404B-AC20-CAA1C519B727}"/>
              </a:ext>
            </a:extLst>
          </p:cNvPr>
          <p:cNvSpPr>
            <a:spLocks noGrp="1"/>
          </p:cNvSpPr>
          <p:nvPr/>
        </p:nvSpPr>
        <p:spPr>
          <a:xfrm>
            <a:off x="1619250" y="4876800"/>
            <a:ext cx="895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6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AI 不应先于业务闭环出现。它应建立在计划基准、现场数据和调整手段之上。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07D4CE-BDEA-424B-AC40-241A33FE742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BD9733-CB3E-4055-85E9-E45BB00ABE64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1024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2943207-ABC1-431F-8E26-E4B3245A1684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8382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1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直线连接符 1">
            <a:extLst>
              <a:ext uri="{FF2B5EF4-FFF2-40B4-BE49-F238E27FC236}">
                <a16:creationId xmlns:a16="http://schemas.microsoft.com/office/drawing/2014/main" id="{26731BB3-AAC8-49BD-A452-A840283F301B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10572750" cy="0"/>
          </a:xfrm>
          <a:prstGeom prst="line">
            <a:avLst/>
          </a:prstGeom>
          <a:noFill/>
          <a:ln w="10478">
            <a:solidFill>
              <a:srgbClr val="D3DEE2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73AACA-A80A-43F2-AE5C-90E519910361}"/>
              </a:ext>
            </a:extLst>
          </p:cNvPr>
          <p:cNvSpPr>
            <a:spLocks noGrp="1"/>
          </p:cNvSpPr>
          <p:nvPr/>
        </p:nvSpPr>
        <p:spPr>
          <a:xfrm>
            <a:off x="11220450" y="4000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E4B4447A-99D7-4AA5-ABB9-F6E8D79BCD1B}"/>
              </a:ext>
            </a:extLst>
          </p:cNvPr>
          <p:cNvSpPr>
            <a:spLocks noGrp="1"/>
          </p:cNvSpPr>
          <p:nvPr/>
        </p:nvSpPr>
        <p:spPr>
          <a:xfrm>
            <a:off x="10001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5517943-F750-4A1F-8E5C-640B8316FE84}"/>
              </a:ext>
            </a:extLst>
          </p:cNvPr>
          <p:cNvSpPr>
            <a:spLocks noGrp="1"/>
          </p:cNvSpPr>
          <p:nvPr/>
        </p:nvSpPr>
        <p:spPr>
          <a:xfrm>
            <a:off x="10001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CF183AB-CC6C-492A-A8A8-D9016BA99160}"/>
              </a:ext>
            </a:extLst>
          </p:cNvPr>
          <p:cNvSpPr>
            <a:spLocks noGrp="1"/>
          </p:cNvSpPr>
          <p:nvPr/>
        </p:nvSpPr>
        <p:spPr>
          <a:xfrm>
            <a:off x="10001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FFE904D-73AA-4FDB-AA98-0EF350FADAF6}"/>
              </a:ext>
            </a:extLst>
          </p:cNvPr>
          <p:cNvSpPr>
            <a:spLocks noGrp="1"/>
          </p:cNvSpPr>
          <p:nvPr/>
        </p:nvSpPr>
        <p:spPr>
          <a:xfrm>
            <a:off x="45434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F0F8E8"/>
          </a:solidFill>
          <a:ln w="14288">
            <a:solidFill>
              <a:srgbClr val="76BC21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1487BE1-C299-4E26-8293-9B4AF1774083}"/>
              </a:ext>
            </a:extLst>
          </p:cNvPr>
          <p:cNvSpPr>
            <a:spLocks noGrp="1"/>
          </p:cNvSpPr>
          <p:nvPr/>
        </p:nvSpPr>
        <p:spPr>
          <a:xfrm>
            <a:off x="45434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664D80F-E5B4-4BD4-A3D9-E9254B7F693C}"/>
              </a:ext>
            </a:extLst>
          </p:cNvPr>
          <p:cNvSpPr>
            <a:spLocks noGrp="1"/>
          </p:cNvSpPr>
          <p:nvPr/>
        </p:nvSpPr>
        <p:spPr>
          <a:xfrm>
            <a:off x="45434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全工序数据、24H 计划、拉动物流、replan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B9B71AD-C39B-43E8-935D-96B63FAC3574}"/>
              </a:ext>
            </a:extLst>
          </p:cNvPr>
          <p:cNvSpPr>
            <a:spLocks noGrp="1"/>
          </p:cNvSpPr>
          <p:nvPr/>
        </p:nvSpPr>
        <p:spPr>
          <a:xfrm>
            <a:off x="8086725" y="1524000"/>
            <a:ext cx="2619375" cy="419100"/>
          </a:xfrm>
          <a:prstGeom prst="roundRect">
            <a:avLst>
              <a:gd name="adj" fmla="val 13636"/>
            </a:avLst>
          </a:prstGeom>
          <a:solidFill>
            <a:srgbClr val="E9F6FB"/>
          </a:solidFill>
          <a:ln w="14288">
            <a:solidFill>
              <a:srgbClr val="23A8D8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CB39186-3C11-4C80-80E0-6EC1F510F312}"/>
              </a:ext>
            </a:extLst>
          </p:cNvPr>
          <p:cNvSpPr>
            <a:spLocks noGrp="1"/>
          </p:cNvSpPr>
          <p:nvPr/>
        </p:nvSpPr>
        <p:spPr>
          <a:xfrm>
            <a:off x="8086725" y="2114550"/>
            <a:ext cx="2619375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 algn="ctr">
              <a:def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DA2824C5-E2AD-4B56-9716-D97CB7A4CD81}"/>
              </a:ext>
            </a:extLst>
          </p:cNvPr>
          <p:cNvSpPr>
            <a:spLocks noGrp="1"/>
          </p:cNvSpPr>
          <p:nvPr/>
        </p:nvSpPr>
        <p:spPr>
          <a:xfrm>
            <a:off x="8086725" y="2971800"/>
            <a:ext cx="2619375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4288">
            <a:solidFill>
              <a:srgbClr val="B9C9CF"/>
            </a:solidFill>
            <a:prstDash val="solid"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6819D9-38CB-4D88-9DF1-2CDBDA8804C0}"/>
              </a:ext>
            </a:extLst>
          </p:cNvPr>
          <p:cNvSpPr>
            <a:spLocks noGrp="1"/>
          </p:cNvSpPr>
          <p:nvPr/>
        </p:nvSpPr>
        <p:spPr>
          <a:xfrm>
            <a:off x="0" y="6553200"/>
            <a:ext cx="8763000" cy="171450"/>
          </a:xfrm>
          <a:prstGeom prst="rect">
            <a:avLst/>
          </a:prstGeom>
          <a:solidFill>
            <a:srgbClr val="23A8D8"/>
          </a:solidFill>
          <a:ln w="0">
            <a:solidFill>
              <a:srgbClr val="23A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E39963-654C-4001-9F04-FFED07B3F57B}"/>
              </a:ext>
            </a:extLst>
          </p:cNvPr>
          <p:cNvSpPr>
            <a:spLocks noGrp="1"/>
          </p:cNvSpPr>
          <p:nvPr/>
        </p:nvSpPr>
        <p:spPr>
          <a:xfrm>
            <a:off x="8763000" y="6553200"/>
            <a:ext cx="3429000" cy="171450"/>
          </a:xfrm>
          <a:prstGeom prst="rect">
            <a:avLst/>
          </a:prstGeom>
          <a:solidFill>
            <a:srgbClr val="76BC21"/>
          </a:solidFill>
          <a:ln w="0">
            <a:solidFill>
              <a:srgbClr val="76BC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73A9FC-2744-4CB5-892E-B7E6D519A743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714"/>
          </a:bodyPr>
          <a:lstStyle/>
          <a:p>
            <a:pPr>
              <a:def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05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081108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648</Words>
  <Application>Microsoft Macintosh PowerPoint</Application>
  <DocSecurity>0</DocSecurity>
  <PresentationFormat>宽屏</PresentationFormat>
  <Paragraphs>190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Songti SC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 Jiajun</cp:lastModifiedBy>
  <cp:revision>2</cp:revision>
  <dcterms:created xsi:type="dcterms:W3CDTF">2026-09-20T05:32:35Z</dcterms:created>
  <dcterms:modified xsi:type="dcterms:W3CDTF">2026-09-20T05:42:12Z</dcterms:modified>
</cp:coreProperties>
</file>