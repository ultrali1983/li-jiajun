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8db65ecff94a18" /><Relationship Type="http://schemas.openxmlformats.org/officeDocument/2006/relationships/extended-properties" Target="/docProps/app.xml" Id="Rd1fb466669b44cb8" /><Relationship Type="http://schemas.openxmlformats.org/officeDocument/2006/relationships/officeDocument" Target="/ppt/presentation.xml" Id="R33db67107dbd4c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b23fb7d3324796"/>
  </p:sldMasterIdLst>
  <p:notesMasterIdLst>
    <p:notesMasterId xmlns:r="http://schemas.openxmlformats.org/officeDocument/2006/relationships" r:id="R160bbba3a82445a3"/>
  </p:notesMasterIdLst>
  <p:sldIdLst>
    <p:sldId xmlns:r="http://schemas.openxmlformats.org/officeDocument/2006/relationships" id="256" r:id="Ra79785a990ad4cec"/>
    <p:sldId xmlns:r="http://schemas.openxmlformats.org/officeDocument/2006/relationships" id="257" r:id="R27af1219ec234085"/>
    <p:sldId xmlns:r="http://schemas.openxmlformats.org/officeDocument/2006/relationships" id="258" r:id="R1910907abfa34d5b"/>
    <p:sldId xmlns:r="http://schemas.openxmlformats.org/officeDocument/2006/relationships" id="259" r:id="Rb7826406f4b34e7f"/>
    <p:sldId xmlns:r="http://schemas.openxmlformats.org/officeDocument/2006/relationships" id="260" r:id="Rd36fbaba01c34c71"/>
    <p:sldId xmlns:r="http://schemas.openxmlformats.org/officeDocument/2006/relationships" id="261" r:id="Rb84918c17de94cb2"/>
    <p:sldId xmlns:r="http://schemas.openxmlformats.org/officeDocument/2006/relationships" id="262" r:id="R5904d66a852e426a"/>
    <p:sldId xmlns:r="http://schemas.openxmlformats.org/officeDocument/2006/relationships" id="263" r:id="Rd7ae22bcb62f4e6e"/>
    <p:sldId xmlns:r="http://schemas.openxmlformats.org/officeDocument/2006/relationships" id="264" r:id="Re7c66e058826406a"/>
    <p:sldId xmlns:r="http://schemas.openxmlformats.org/officeDocument/2006/relationships" id="265" r:id="R3e9e1bcc983f457d"/>
    <p:sldId xmlns:r="http://schemas.openxmlformats.org/officeDocument/2006/relationships" id="266" r:id="R40d1fdccf8ad46e8"/>
    <p:sldId xmlns:r="http://schemas.openxmlformats.org/officeDocument/2006/relationships" id="267" r:id="R927b92740d6348b4"/>
    <p:sldId xmlns:r="http://schemas.openxmlformats.org/officeDocument/2006/relationships" id="268" r:id="R32c977a718f14ccc"/>
    <p:sldId xmlns:r="http://schemas.openxmlformats.org/officeDocument/2006/relationships" id="269" r:id="Re115302e527345e8"/>
    <p:sldId xmlns:r="http://schemas.openxmlformats.org/officeDocument/2006/relationships" id="270" r:id="Rb0e66acdcf764452"/>
    <p:sldId xmlns:r="http://schemas.openxmlformats.org/officeDocument/2006/relationships" id="271" r:id="R882417fe6f104c18"/>
    <p:sldId xmlns:r="http://schemas.openxmlformats.org/officeDocument/2006/relationships" id="272" r:id="R1384a03227a340e8"/>
    <p:sldId xmlns:r="http://schemas.openxmlformats.org/officeDocument/2006/relationships" id="273" r:id="R87bd1990f4ef4bb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ef8204b7014471" /><Relationship Type="http://schemas.openxmlformats.org/officeDocument/2006/relationships/slideMaster" Target="/ppt/slideMasters/slideMaster1.xml" Id="R66b23fb7d3324796" /><Relationship Type="http://schemas.openxmlformats.org/officeDocument/2006/relationships/notesMaster" Target="/ppt/notesMasters/notesMaster1.xml" Id="R160bbba3a82445a3" /><Relationship Type="http://schemas.openxmlformats.org/officeDocument/2006/relationships/presProps" Target="/ppt/presProps.xml" Id="Ra035f1eb57e744c0" /><Relationship Type="http://schemas.openxmlformats.org/officeDocument/2006/relationships/tableStyles" Target="/ppt/tableStyles.xml" Id="R60c6b763ddf249d5" /><Relationship Type="http://schemas.openxmlformats.org/officeDocument/2006/relationships/slide" Target="/ppt/slides/slide1.xml" Id="Ra79785a990ad4cec" /><Relationship Type="http://schemas.openxmlformats.org/officeDocument/2006/relationships/slide" Target="/ppt/slides/slide2.xml" Id="R27af1219ec234085" /><Relationship Type="http://schemas.openxmlformats.org/officeDocument/2006/relationships/slide" Target="/ppt/slides/slide3.xml" Id="R1910907abfa34d5b" /><Relationship Type="http://schemas.openxmlformats.org/officeDocument/2006/relationships/slide" Target="/ppt/slides/slide4.xml" Id="Rb7826406f4b34e7f" /><Relationship Type="http://schemas.openxmlformats.org/officeDocument/2006/relationships/slide" Target="/ppt/slides/slide5.xml" Id="Rd36fbaba01c34c71" /><Relationship Type="http://schemas.openxmlformats.org/officeDocument/2006/relationships/slide" Target="/ppt/slides/slide6.xml" Id="Rb84918c17de94cb2" /><Relationship Type="http://schemas.openxmlformats.org/officeDocument/2006/relationships/slide" Target="/ppt/slides/slide7.xml" Id="R5904d66a852e426a" /><Relationship Type="http://schemas.openxmlformats.org/officeDocument/2006/relationships/slide" Target="/ppt/slides/slide8.xml" Id="Rd7ae22bcb62f4e6e" /><Relationship Type="http://schemas.openxmlformats.org/officeDocument/2006/relationships/slide" Target="/ppt/slides/slide9.xml" Id="Re7c66e058826406a" /><Relationship Type="http://schemas.openxmlformats.org/officeDocument/2006/relationships/slide" Target="/ppt/slides/slide10.xml" Id="R3e9e1bcc983f457d" /><Relationship Type="http://schemas.openxmlformats.org/officeDocument/2006/relationships/slide" Target="/ppt/slides/slide11.xml" Id="R40d1fdccf8ad46e8" /><Relationship Type="http://schemas.openxmlformats.org/officeDocument/2006/relationships/slide" Target="/ppt/slides/slide12.xml" Id="R927b92740d6348b4" /><Relationship Type="http://schemas.openxmlformats.org/officeDocument/2006/relationships/slide" Target="/ppt/slides/slide13.xml" Id="R32c977a718f14ccc" /><Relationship Type="http://schemas.openxmlformats.org/officeDocument/2006/relationships/slide" Target="/ppt/slides/slide14.xml" Id="Re115302e527345e8" /><Relationship Type="http://schemas.openxmlformats.org/officeDocument/2006/relationships/slide" Target="/ppt/slides/slide15.xml" Id="Rb0e66acdcf764452" /><Relationship Type="http://schemas.openxmlformats.org/officeDocument/2006/relationships/slide" Target="/ppt/slides/slide16.xml" Id="R882417fe6f104c18" /><Relationship Type="http://schemas.openxmlformats.org/officeDocument/2006/relationships/slide" Target="/ppt/slides/slide17.xml" Id="R1384a03227a340e8" /><Relationship Type="http://schemas.openxmlformats.org/officeDocument/2006/relationships/slide" Target="/ppt/slides/slide18.xml" Id="R87bd1990f4ef4b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81f969b7064c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ee677008b349bc" /><Relationship Type="http://schemas.openxmlformats.org/officeDocument/2006/relationships/notesMaster" Target="/ppt/notesMasters/notesMaster1.xml" Id="R9a2923968d5343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11c89095eeb43cb" /><Relationship Type="http://schemas.openxmlformats.org/officeDocument/2006/relationships/notesMaster" Target="/ppt/notesMasters/notesMaster1.xml" Id="R8527a6e780d640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7b21537cb1412c" /><Relationship Type="http://schemas.openxmlformats.org/officeDocument/2006/relationships/notesMaster" Target="/ppt/notesMasters/notesMaster1.xml" Id="R2eb6f6363f5340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fe818e3460c4033" /><Relationship Type="http://schemas.openxmlformats.org/officeDocument/2006/relationships/notesMaster" Target="/ppt/notesMasters/notesMaster1.xml" Id="Ra4bac6c05c1745d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d300a834284eb9" /><Relationship Type="http://schemas.openxmlformats.org/officeDocument/2006/relationships/notesMaster" Target="/ppt/notesMasters/notesMaster1.xml" Id="Rfd23424ba4bb464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430a15eeab45c7" /><Relationship Type="http://schemas.openxmlformats.org/officeDocument/2006/relationships/notesMaster" Target="/ppt/notesMasters/notesMaster1.xml" Id="Rbe9a76196b63431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304be2245654550" /><Relationship Type="http://schemas.openxmlformats.org/officeDocument/2006/relationships/notesMaster" Target="/ppt/notesMasters/notesMaster1.xml" Id="R07f57dd1cf4d459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e18d64c52864658" /><Relationship Type="http://schemas.openxmlformats.org/officeDocument/2006/relationships/notesMaster" Target="/ppt/notesMasters/notesMaster1.xml" Id="R09cabcfff107418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fef1defef79408b" /><Relationship Type="http://schemas.openxmlformats.org/officeDocument/2006/relationships/notesMaster" Target="/ppt/notesMasters/notesMaster1.xml" Id="R8d935489c9e54c4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cea926c39674e13" /><Relationship Type="http://schemas.openxmlformats.org/officeDocument/2006/relationships/notesMaster" Target="/ppt/notesMasters/notesMaster1.xml" Id="Rbcd4acb3a5fe401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4eb448403954036" /><Relationship Type="http://schemas.openxmlformats.org/officeDocument/2006/relationships/notesMaster" Target="/ppt/notesMasters/notesMaster1.xml" Id="R935e34e301ac4a9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882818d63644312" /><Relationship Type="http://schemas.openxmlformats.org/officeDocument/2006/relationships/notesMaster" Target="/ppt/notesMasters/notesMaster1.xml" Id="R8a23dcc08ceb434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6a6722d5a674e71" /><Relationship Type="http://schemas.openxmlformats.org/officeDocument/2006/relationships/notesMaster" Target="/ppt/notesMasters/notesMaster1.xml" Id="Rab931530827445f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dd3fe73fe5b41bf" /><Relationship Type="http://schemas.openxmlformats.org/officeDocument/2006/relationships/notesMaster" Target="/ppt/notesMasters/notesMaster1.xml" Id="R61ce29b77629488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46db9cfd771449c" /><Relationship Type="http://schemas.openxmlformats.org/officeDocument/2006/relationships/notesMaster" Target="/ppt/notesMasters/notesMaster1.xml" Id="R9caa5685a016422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8d803592db84662" /><Relationship Type="http://schemas.openxmlformats.org/officeDocument/2006/relationships/notesMaster" Target="/ppt/notesMasters/notesMaster1.xml" Id="R28495117e589426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a549abba5dd4d4c" /><Relationship Type="http://schemas.openxmlformats.org/officeDocument/2006/relationships/notesMaster" Target="/ppt/notesMasters/notesMaster1.xml" Id="Rf65866aea8e54a6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d0c758f4f964ab0" /><Relationship Type="http://schemas.openxmlformats.org/officeDocument/2006/relationships/notesMaster" Target="/ppt/notesMasters/notesMaster1.xml" Id="Ra8fe9c6c9fdf4b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封面已去除公司 logo 和名称，仅保留原模板的蓝绿底栏风格。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用户手动加入的原系统/软件规划路径来源页，作为后续解读来源。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这里解释 CATL强化要求（浙江海威）的由来：主要客户关心供应商过程是否稳定、可控、可追溯。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这不是模块替换，而是把客户要求重新归入业务能力。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进入价值流后才能看清功能发生在哪、解决什么问题、输出什么证据。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回答：CATL强化要求（浙江海威）是否能从二阶段系统规划中展开，以及当前条件是否足够。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结合成本展开：不同拉动方式会影响库存占用、等待时间、换线和异常调整成本。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9564a1ab5f4f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bbe4a2a9804673" /><Relationship Type="http://schemas.openxmlformats.org/officeDocument/2006/relationships/slideLayout" Target="/ppt/slideLayouts/slideLayout1.xml" Id="R2a8cf695b84146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8cf695b84146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f6152a2b5647f4" /><Relationship Type="http://schemas.openxmlformats.org/officeDocument/2006/relationships/notesSlide" Target="/ppt/notesSlides/notesSlide1.xml" Id="R80b43242e35e47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5c52e8ed2e43e5" /><Relationship Type="http://schemas.openxmlformats.org/officeDocument/2006/relationships/notesSlide" Target="/ppt/notesSlides/notesSlide2.xml" Id="R84d77629479b44e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bd1593a2e246ef" /><Relationship Type="http://schemas.openxmlformats.org/officeDocument/2006/relationships/image" Target="/ppt/media/image.png" Id="Rd46275fd26da4518" /><Relationship Type="http://schemas.openxmlformats.org/officeDocument/2006/relationships/notesSlide" Target="/ppt/notesSlides/notesSlide3.xml" Id="Raba08a71f6f247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534335b2ab45c7" /><Relationship Type="http://schemas.openxmlformats.org/officeDocument/2006/relationships/notesSlide" Target="/ppt/notesSlides/notesSlide4.xml" Id="Rbf08102769e8439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b1373c7b2740bb" /><Relationship Type="http://schemas.openxmlformats.org/officeDocument/2006/relationships/notesSlide" Target="/ppt/notesSlides/notesSlide5.xml" Id="R158d9a71154d4e1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09c5cf94d44dd1" /><Relationship Type="http://schemas.openxmlformats.org/officeDocument/2006/relationships/notesSlide" Target="/ppt/notesSlides/notesSlide6.xml" Id="R1726efb8554346f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a96013b785424b" /><Relationship Type="http://schemas.openxmlformats.org/officeDocument/2006/relationships/notesSlide" Target="/ppt/notesSlides/notesSlide7.xml" Id="R2d00178540a2426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9ccbab11e6412a" /><Relationship Type="http://schemas.openxmlformats.org/officeDocument/2006/relationships/notesSlide" Target="/ppt/notesSlides/notesSlide8.xml" Id="Rc5be8a831151436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54f8b9c6be4e9d" /><Relationship Type="http://schemas.openxmlformats.org/officeDocument/2006/relationships/notesSlide" Target="/ppt/notesSlides/notesSlide9.xml" Id="R00840865d1e345d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4f55952e744eed" /><Relationship Type="http://schemas.openxmlformats.org/officeDocument/2006/relationships/notesSlide" Target="/ppt/notesSlides/notesSlide10.xml" Id="Rfe785a1d73b3411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99ac2c13ba42d8" /><Relationship Type="http://schemas.openxmlformats.org/officeDocument/2006/relationships/notesSlide" Target="/ppt/notesSlides/notesSlide11.xml" Id="R8ded2b2e3450442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bac6d4c97d42a7" /><Relationship Type="http://schemas.openxmlformats.org/officeDocument/2006/relationships/notesSlide" Target="/ppt/notesSlides/notesSlide12.xml" Id="Rf98154a01b594ae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19d7afd4f34c9c" /><Relationship Type="http://schemas.openxmlformats.org/officeDocument/2006/relationships/notesSlide" Target="/ppt/notesSlides/notesSlide13.xml" Id="R0b0fea59b32b435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d45304b3fc419d" /><Relationship Type="http://schemas.openxmlformats.org/officeDocument/2006/relationships/notesSlide" Target="/ppt/notesSlides/notesSlide14.xml" Id="Rc9a1073bb20e454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c95c0029b3435f" /><Relationship Type="http://schemas.openxmlformats.org/officeDocument/2006/relationships/notesSlide" Target="/ppt/notesSlides/notesSlide15.xml" Id="R98880c5fecd645b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3a42e3ab0f4610" /><Relationship Type="http://schemas.openxmlformats.org/officeDocument/2006/relationships/notesSlide" Target="/ppt/notesSlides/notesSlide16.xml" Id="Ra6f5968451184eb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80dc2029d44eb2" /><Relationship Type="http://schemas.openxmlformats.org/officeDocument/2006/relationships/notesSlide" Target="/ppt/notesSlides/notesSlide17.xml" Id="Rf91d0352275247c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450f56bc224970" /><Relationship Type="http://schemas.openxmlformats.org/officeDocument/2006/relationships/notesSlide" Target="/ppt/notesSlides/notesSlide18.xml" Id="R727cf5b9722a4a1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D47E31-58C6-4964-98EA-01491BFB2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62200"/>
            <a:ext cx="914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信息系统建设理解与下一阶段路径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453EAF-6AA9-4D19-BBBA-D9D344AC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43250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客户要求、运营能力与系统建设路径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9B86F0-DE88-4470-91D9-F4EE2352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10300"/>
            <a:ext cx="742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3EEDF3-29F1-46CE-8AC4-3FE71D9D0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210300"/>
            <a:ext cx="1143000" cy="2857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9B7940-EAA5-4770-B23E-50DD520D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6210300"/>
            <a:ext cx="4019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</a:ln>
        </p:spPr>
      </p:sp>
    </p:spTree>
    <p:extLst>
      <p:ext uri="{BB962C8B-B14F-4D97-AF65-F5344CB8AC3E}">
        <p14:creationId xmlns:p14="http://schemas.microsoft.com/office/powerpoint/2010/main" val="319394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D34186-D45B-4CAF-979E-63E5338C4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汇报切入点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4AF40A-A386-41E6-ADCC-FF0173F2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F90DED-A7D3-4B0A-A077-E80C8022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1E90BB-BB84-455E-BCDD-AED839E3E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304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原系统/软件规划路径解读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D54B0D-1516-4067-BD68-869E1FCF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3048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宁波海威与浙江海威已有两阶段系统规划，浙江海威因 CATL强化要求进一步补强。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BC980A-1876-4D44-8F9B-D5DA2EF3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14500"/>
            <a:ext cx="304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运营能力剖析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86EDBF-A047-4F9A-B801-81B7CCC4F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00300"/>
            <a:ext cx="3048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客户关注的不是系统名称，而是稳定交付、过程可控和质量可证明。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E779DB-51E4-476E-871D-9FEBA004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14500"/>
            <a:ext cx="304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系统建设路径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FA7DE7-8906-43F4-98CE-8FFD4B1B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00300"/>
            <a:ext cx="3048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系统工具要回应当前运作问题，并强化计划、物料、质量和设备数据能力。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7D2BB2-5CE1-40FA-AD03-3CB87B3ED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720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客户要求是入口，运营能力是主题，系统功能是手段。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34DE95-8BCF-4795-B68E-D72D227F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93B634-93A0-4F6B-9955-0448C89E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061680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85DE27-FBEA-44AA-9140-411B2158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原系统/软件规划路径来源页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D35F6D-8968-45BC-8A16-17333D1CD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80B04B-3F7D-458B-B285-F54372E1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6275fd26da4518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3A9748-8739-4E3A-9DE7-782A510A1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BFBECE-E613-4EBE-8295-8C6BEEC9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5003A5-4845-4453-8000-8B5443B8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现场穿插：保留原系统/软件规划路径来源页，不删除</a:t>
            </a:r>
          </a:p>
        </p:txBody>
      </p:sp>
    </p:spTree>
    <p:extLst>
      <p:ext uri="{BB962C8B-B14F-4D97-AF65-F5344CB8AC3E}">
        <p14:creationId xmlns:p14="http://schemas.microsoft.com/office/powerpoint/2010/main" val="19750127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622221-34BF-4008-9ABD-8C424EFC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原系统/软件规划路径的重新理解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0FCE54-8826-4849-B513-E5CF95DF6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987447-A5C5-4F64-BB78-023DAC3B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BA5136-7DD9-4C1F-A1EF-5C544CD0C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90650"/>
            <a:ext cx="4619625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原有系统建设思路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1F06C2-45F1-4E28-A9A8-CB630FD6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390650"/>
            <a:ext cx="4619625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CATL强化要求（浙江海威）带来的变化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61C2E0-C6B3-4612-B383-F45B2819D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7E2C2D-E319-4E4E-BFC7-3FF2B33A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717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一阶段系统规划（宁波海威+浙江海威）偏 WMS/MES，解决库存、出入库、生产执行和基础追溯。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4F4E32-1233-447B-B7E5-A8786E1B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D7B90E-AB2E-44B5-93FD-6D30C369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194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二阶段系统规划（宁波海威+浙江海威）本来就计划补强 QMS、TPM、IoT 等能力。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B9B817-82B3-4B9D-81C6-C554A609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4C934A-0626-4ACB-987C-431C3D68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671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原系统/软件规划路径不是从无到有，而是宁波海威与浙江海威共同的一阶段/二阶段系统规划；CATL强化要求（浙江海威）是在浙江海威（嵊州）面向主要客户 CATL 的运营能力补强。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EB403A-2CE2-4133-A295-34C80178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71A604-4287-4A2D-89F1-4FE955233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717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CATL强化要求（浙江海威）把功能清单推向过程控制要求。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B87A13-1447-4C6F-A014-4A2F04F95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95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B8F320-EB5A-4D29-AA8A-13BF539C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194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强化项更关注批次、参数、权限、点检、SPC 和全工序数据。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447026-9CE2-4518-AC06-98798029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B23B32-70BC-4EC0-99CB-CFBBE3319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4671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系统建设从功能补充，转向浙江海威（嵊州）的运营能力证明。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6889C8-5B4F-4F0B-A400-F3459CF5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918ED3-8F66-427D-8671-6FE19345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210770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989F05-6FCC-4B1D-997B-22BDD225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客户关注的是运营能力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860503-5C8D-4925-86FA-7806E268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B0FE6A-5013-4888-A9D1-9CE6762C6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4B98A7-ACF5-4430-99DE-7FFAA35D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04950"/>
            <a:ext cx="4476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稳定交付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BA143B-56E3-4F30-AC65-BC7E25E8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44767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计划能否牵引物料、工序和设备，交期偏差能否及时反馈。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4303C8-DB1C-4AF6-9BC3-6D043B30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04950"/>
            <a:ext cx="4476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过程可控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82B5BA-9405-4DB5-89B3-595C06CD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95500"/>
            <a:ext cx="44767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人员、参数、程序、工装夹具和检测动作是否被过程约束。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99D30F-7E7E-4D62-9581-0AE49ED3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05200"/>
            <a:ext cx="4476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质量可证明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F9F0AC-57E8-452A-898F-7F3750C0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44767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质量不是只有检验记录，还要有标准、曲线、SPC 和异常闭环证据。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89F32C-A6ED-4014-A857-18FCB8395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05200"/>
            <a:ext cx="4476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异常可闭环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1A499E-EDFC-43FD-AD68-2E0A723B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95750"/>
            <a:ext cx="44767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异常出现后，系统能否触发停线、确认、replan 或客户要求的处理动作。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07182C-01EA-4256-8E22-0F12A38FA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D18802-87B9-4422-8119-F5A78081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826832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2C8100-60C0-41C8-BF76-FCD2C40C6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功能从系统模块转向业务能力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A199DF-E13B-4CAB-A301-320E9D1A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87487C-D8D8-436D-AE13-5921F82D0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548208-F411-440A-B107-61E30986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371600"/>
            <a:ext cx="28575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原系统语言来源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B1FE04-D107-48F8-8210-56C478F3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71600"/>
            <a:ext cx="31432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重组后的业务能力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A0EE20-5D8A-471D-B17A-C513C562A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81200"/>
            <a:ext cx="2095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3A8D8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WMS / MES / TPM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9229D3-2DC4-4618-B874-E3DB4464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81200"/>
            <a:ext cx="3143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实物／物料流管理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92CC43-B5B1-46FC-8DA7-8FFDF6BCA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81225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8DA5A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03799D-7C0E-4DA9-AAAE-CDABC0B1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2095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3A8D8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WMS / MES / TPM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A7F793-4A04-4FAF-8952-30E88456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67000"/>
            <a:ext cx="3143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生产计划管理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AB38CE-2D90-4421-9C17-99C61C5D8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67025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8DA5A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86E819-C961-4ED8-9AA2-982DFBCF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52800"/>
            <a:ext cx="2095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3A8D8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WMS / MES / TPM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D4CCBB-E980-4541-B527-2FA4C076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52800"/>
            <a:ext cx="3143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生产过程与工艺管理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913DD0-6B7F-4C0B-B741-7F128B47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52825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8DA5A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74A439-DE75-4EAC-8FC4-CF656967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38600"/>
            <a:ext cx="2095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3A8D8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4B7035-FFE7-433E-93DE-3264715B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38600"/>
            <a:ext cx="3143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QM 相关界面输出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C35A77-0679-4E04-90A3-FC4FE275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38625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8DA5A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CEC2D1-1539-4AAF-97BC-EB2FC4F7C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24400"/>
            <a:ext cx="2095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3A8D8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IoT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A0A09A-88BC-4A02-9C35-12B81D08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24400"/>
            <a:ext cx="3143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设备数据采集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B0628F-7FA7-43A3-BA3B-E8E685FC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24425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8DA5A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39926D-2491-4ADB-93C7-3F18F5E2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6578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这一步把系统清单转成经营和现场能讨论的业务语言。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6945B8-B096-4FF2-BC2E-8011623E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EDFD57-483B-4D8D-B32D-47C44E9B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A46EF5-0B85-4D00-9F80-DA279C54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现场穿插：业务过程与功能重组工作台</a:t>
            </a:r>
          </a:p>
        </p:txBody>
      </p:sp>
    </p:spTree>
    <p:extLst>
      <p:ext uri="{BB962C8B-B14F-4D97-AF65-F5344CB8AC3E}">
        <p14:creationId xmlns:p14="http://schemas.microsoft.com/office/powerpoint/2010/main" val="3463383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C9D0B2-9BA0-4BD6-A4ED-3814BA19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功能落到价值流后才有意义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0FB0FE-0E02-44DC-A4D2-0EAF2DEA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0F990F-A9B1-44B8-8493-080890BC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885179-3A5C-4D4E-B005-3A67B65A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526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供应商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CEA840-2484-4F10-B56D-036A9394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097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19CC0F-8DF6-452F-A274-FF09B2E4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526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收货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95323C-FA24-418A-9C6C-0E750742C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0097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A27D2E-B3F4-48F9-963E-60BAA2E70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7526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入库检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E58FAF-425D-4A59-9F00-4A0C0A3CC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97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727069-8EEB-4883-BBF8-7A0B5214A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7526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仓库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FD582A-5D65-47F7-A744-4C109007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0097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D66181-DA75-491A-BA78-1510E759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526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材料出库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717520-940A-428C-9760-BC2D6F34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生产工序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CDC254-9F94-464C-987A-FEBC9325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4290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WIP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5513D5-05BC-4AA8-95DF-DBB410FB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861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D663B8-1D16-4A94-B6E1-A74F1C53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4290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成品检验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3F52F2-E083-4BE3-BC63-FA0B380C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6861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75FD49-1000-47D5-826C-F12AA255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4290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成品出库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2E2B1C-9B54-4760-B364-F57F7E31B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861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6F4249-104C-49EF-BAC5-CE69B4BE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290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客户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2329EE-32AC-4837-8ECC-263E96B6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861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5C9690-9A73-4FA9-85B9-FB51DB11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09775"/>
            <a:ext cx="0" cy="1676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147360-3168-462E-8E7A-24F35277F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095875"/>
            <a:ext cx="899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每个功能项都要落到过程节点，才能判断它服务的动作和管理意义。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6841C2-7326-4CA1-843D-BC001BB4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09CB32-C053-41CF-9945-D0107171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4A09DC-43DB-4930-8AF5-8C50E053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10347805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A90317-948B-4BA4-AFA8-DCF35E7C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价值流中的三类状态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8570CB-8B4F-4DF6-98C3-B887B0B0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365318-5BF1-4F6B-84BB-A70ADC9DE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65A6E3-14D1-4990-BC6C-1046CEB9F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304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已有基础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29D434-9116-41A6-A4FD-C303471C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3048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库存、出入库、FIFO、派工、报工、追溯和检验入口，更多解决记录和基础管控。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DC7AFE-BD4E-4F1D-8FEF-0C697694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14500"/>
            <a:ext cx="304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二阶段系统规划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3A3FAC-A56C-4FDB-9562-8A3102A46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00300"/>
            <a:ext cx="3048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QMS、TPM、IoT 等方向，边界在于是否能进入过程动作并形成反馈。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C9577A-DF6C-4E7D-8B0A-1B4D2149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14500"/>
            <a:ext cx="304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CATL强化要求（浙江海威）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925D66-5260-4E7E-8555-5D46EAF3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00300"/>
            <a:ext cx="3048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权限、点检、参数、防错、SPC、设备数据和全工序控制继续加深。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C26603-9016-4AC4-8D94-287B5DB8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720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同一个价值流节点上，可能同时存在已有能力、二阶段系统规划和 CATL强化要求（浙江海威）。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78BC89-BC4F-4D33-86B2-7F71D9DD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2B92DD-5C21-4E3C-A7A1-314379D8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F80820-6F8A-4E4E-9681-6C956482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1462021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880D83-1804-46A1-A436-4803564B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当前基础与二期边界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71DA8B-4D72-41C0-82B3-B681CE40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B6FED2-B0CE-4A07-8B2A-4D32B0E6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E2BF72-3090-47E6-8983-2CD03A1F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90650"/>
            <a:ext cx="4619625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已有基础如何现场加强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03FC9D-6DFF-4810-AFAC-18A7B3DC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390650"/>
            <a:ext cx="4619625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二阶段系统规划的边界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FE1C55-BC80-4F95-8323-0EA359ED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690E0C-56E4-4FBD-BF10-735919328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717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把记录型功能转成现场动作入口。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6EAF4C-9DE7-4D7D-9ED6-11F018216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0132E3-D227-4AD4-AB2F-DFD5AB239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194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让库存、发料、报工、检验与计划偏差建立关联。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55BE14-E83D-4CC2-982D-56305753D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1519BA-F3A2-4C39-8BF6-1AF5A687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671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补齐跨工序 WIP 水位和后工序拉动前工序的判断。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89554B-0906-44CC-8B0F-2EFE610A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F3AA12-7673-4000-B3C8-6ACFC227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717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QMS 如果只做记录，很难承担过程控制。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B97B95-79D8-4F61-A910-7405F7C2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95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D421CC-2D24-4EF6-987D-2A3FBEF8D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194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TPM/IoT 如果只采集设备状态，很难解释产出波动。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1E4818-97AE-4267-9545-6E5F5711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F058AA-6C0D-40D3-BF52-5D623261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4671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二阶段系统规划能否承接 CATL强化要求（浙江海威），取决于 Planning、过程动作和数据反馈是否打通。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387A76-C97E-4180-9218-5AC1F50E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A2351F-15F8-4471-B6CF-813DF23F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E3F473-47F1-48C1-9659-53376DA5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现场穿插：业务过程与功能重组工作台</a:t>
            </a:r>
          </a:p>
        </p:txBody>
      </p:sp>
    </p:spTree>
    <p:extLst>
      <p:ext uri="{BB962C8B-B14F-4D97-AF65-F5344CB8AC3E}">
        <p14:creationId xmlns:p14="http://schemas.microsoft.com/office/powerpoint/2010/main" val="89757696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B3B383-9216-4028-8164-40DBDC946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后续加强能否实现目的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01E727-6570-4E76-93C4-473F30F1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5DC320-B844-4C10-9920-1A1408B4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1333500" y="1428750"/>
          <a:ext xmlns:a="http://schemas.openxmlformats.org/drawingml/2006/main" cx="95250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86364"/>
                <a:gridCol w="6638636"/>
              </a:tblGrid>
              <a:tr h="7048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后续加强方向</a:t>
                      </a:r>
                    </a:p>
                  </a:txBody>
                  <a:tcPr marL="91440" marR="91440" marT="45720" marB="45720">
                    <a:solidFill>
                      <a:srgbClr val="F0F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实现条件</a:t>
                      </a:r>
                    </a:p>
                  </a:txBody>
                  <a:tcPr marL="91440" marR="91440" marT="45720" marB="45720">
                    <a:solidFill>
                      <a:srgbClr val="F0F8E8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质量与异常闭环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需要标准、阈值、责任、停线和恢复规则，不只是 QMS 表单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设备与参数控制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需要产品状态、工艺参数和设备参数之间形成可解释关系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全工序数据采集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需要先定义采集后的动作，再定义点位、频率和采集手段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短周期计划调整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需要 24H 计划基准、CT、Performance Rate 和真实执行反馈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5BA8F1-6E7C-438D-8508-1106646A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513124-132C-448B-807F-3F422E3C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647692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B73924-CE9C-449C-8CD0-94EA129E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全工序数据的分类角度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B4A3FB-9131-45EA-8441-929BC550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E32AC4-1DD8-44EF-BF57-36DB4516E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6D4C5A-1A78-4022-B0E2-65E72A005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628900"/>
            <a:ext cx="200025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76BC21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全工序数据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39428D-2B46-4CA6-9A3D-7F50A045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524000"/>
            <a:ext cx="1524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设备状态</a:t>
            </a:r>
          </a:p>
        </p:txBody>
      </p:sp>
      <p:cxnSp>
        <p:nvCxnSpPr>
          <p:cNvPr id="28" name=""/>
          <p:cNvCxnSpPr>
            <a:stCxn xmlns:a="http://schemas.openxmlformats.org/drawingml/2006/main" id="4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 flipV="1">
            <a:off x="2781300" y="1752600"/>
            <a:ext cx="2314575" cy="129540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4A9B0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05D013-8AE7-4C43-B1C0-83C0C27D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52550"/>
            <a:ext cx="1524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质量指标</a:t>
            </a:r>
          </a:p>
        </p:txBody>
      </p:sp>
      <p:cxnSp>
        <p:nvCxnSpPr>
          <p:cNvPr id="30" name=""/>
          <p:cNvCxnSpPr>
            <a:stCxn xmlns:a="http://schemas.openxmlformats.org/drawingml/2006/main" id="4" idx="0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 flipV="1">
            <a:off x="5524500" y="1581150"/>
            <a:ext cx="57150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4A9B0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9EBC30-EE21-4549-B604-7B9A3CF8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352550"/>
            <a:ext cx="1524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技术参数</a:t>
            </a:r>
          </a:p>
        </p:txBody>
      </p:sp>
      <p:cxnSp>
        <p:nvCxnSpPr>
          <p:cNvPr id="32" name=""/>
          <p:cNvCxnSpPr>
            <a:stCxn xmlns:a="http://schemas.openxmlformats.org/drawingml/2006/main" id="4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7096125" y="1581150"/>
            <a:ext cx="47625" cy="14668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4A9B0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D986FD-7BC4-436F-9142-2E5C985D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24000"/>
            <a:ext cx="1524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产品状态</a:t>
            </a:r>
          </a:p>
        </p:txBody>
      </p:sp>
      <p:cxnSp>
        <p:nvCxnSpPr>
          <p:cNvPr id="34" name=""/>
          <p:cNvCxnSpPr>
            <a:stCxn xmlns:a="http://schemas.openxmlformats.org/drawingml/2006/main" id="4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7096125" y="1752600"/>
            <a:ext cx="2524125" cy="129540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4A9B0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4A4259-E209-424E-A6B6-34B5FB27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286250"/>
            <a:ext cx="1524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生产进度</a:t>
            </a:r>
          </a:p>
        </p:txBody>
      </p:sp>
      <p:cxnSp>
        <p:nvCxnSpPr>
          <p:cNvPr id="36" name=""/>
          <p:cNvCxnSpPr>
            <a:stCxn xmlns:a="http://schemas.openxmlformats.org/drawingml/2006/main" id="4" idx="1"/>
            <a:endCxn xmlns:a="http://schemas.openxmlformats.org/drawingml/2006/main" id="13" idx="3"/>
          </p:cNvCxnSpPr>
          <p:nvPr/>
        </p:nvCxnSpPr>
        <p:spPr>
          <a:xfrm xmlns:a="http://schemas.openxmlformats.org/drawingml/2006/main" flipH="1">
            <a:off x="3257550" y="3048000"/>
            <a:ext cx="1838325" cy="14668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4A9B0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8984E1-491B-4835-8A73-47DC0A20A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762500"/>
            <a:ext cx="1524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节拍 CT</a:t>
            </a:r>
          </a:p>
        </p:txBody>
      </p:sp>
      <p:cxnSp>
        <p:nvCxnSpPr>
          <p:cNvPr id="38" name=""/>
          <p:cNvCxnSpPr>
            <a:stCxn xmlns:a="http://schemas.openxmlformats.org/drawingml/2006/main" id="4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 flipH="1">
            <a:off x="6019800" y="3467100"/>
            <a:ext cx="76200" cy="129540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4A9B0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0A8012-1F3F-4B43-9E8F-7F99034E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286250"/>
            <a:ext cx="1524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Performance Rate</a:t>
            </a:r>
          </a:p>
        </p:txBody>
      </p:sp>
      <p:cxnSp>
        <p:nvCxnSpPr>
          <p:cNvPr id="40" name=""/>
          <p:cNvCxnSpPr>
            <a:stCxn xmlns:a="http://schemas.openxmlformats.org/drawingml/2006/main" id="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096125" y="3048000"/>
            <a:ext cx="1524000" cy="14668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4A9B0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C4305B-A2A7-48AD-BB8D-AE413976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721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原系统/软件规划路径多次提到全工序数据。分类的目的，是区分哪些数据触发即时动作，哪些数据用于长期沉淀。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1A2DC1-123A-4568-ABF7-449DB2E6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1E1668-FCD4-413A-B596-DA869170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C3662A-7937-4209-A01A-CCF596B1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88222848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6EF079-65BE-40CC-BFB7-720E5A9C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数据采集意义的展开面向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C2B1FC-445D-4C1A-82F9-2C2D37AF5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544BC8-81C1-4C7A-A72B-6160F2AF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DB023D-3679-4BA8-B5E3-03DBBA87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304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风险阻断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FBB8F8-E672-47BE-B021-98187534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3048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设备状态或质量指标异常时，触发停线、确认、曲线跟踪和异常闭环。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F20A0A-F254-423D-9B44-06A3B5F6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14500"/>
            <a:ext cx="304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经验沉淀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952F02-85B5-4598-BCC3-699EE138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00300"/>
            <a:ext cx="3048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对照产品状态变化，沉淀有效技术参数，服务产品开发和工艺设定。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73DF63-FD8C-419D-8E71-A95CCC03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14500"/>
            <a:ext cx="304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进度调整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B9F3D8-E676-403D-828A-AC45EAE4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00300"/>
            <a:ext cx="3048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跟踪工序衔接和 WIP 水位，触发短周期 replan，减少等待和堆积。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8F7487-790B-4100-AE9E-AE9C2BD1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720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数据采集不是越多越好，而是要从后续动作反推范围和手段。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7C65D1-C99A-412D-A248-9AAF3714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BD1D4D-FA0A-41A6-BCF2-B797D67F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A3EDB8-868D-4577-9657-7167306B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142274938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BAE5EB-ECC8-47BE-B3E1-4F38DC22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数据的价值收益方向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5602CE-D4E6-42ED-85D4-A3A66D377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02ACB5-61E0-4798-BD3E-D788F730F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1333500" y="1428750"/>
          <a:ext xmlns:a="http://schemas.openxmlformats.org/drawingml/2006/main" cx="95250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86364"/>
                <a:gridCol w="6638636"/>
              </a:tblGrid>
              <a:tr h="7048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价值方向</a:t>
                      </a:r>
                    </a:p>
                  </a:txBody>
                  <a:tcPr marL="91440" marR="91440" marT="45720" marB="45720">
                    <a:solidFill>
                      <a:srgbClr val="F0F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收益逻辑</a:t>
                      </a:r>
                    </a:p>
                  </a:txBody>
                  <a:tcPr marL="91440" marR="91440" marT="45720" marB="45720">
                    <a:solidFill>
                      <a:srgbClr val="F0F8E8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减少质量损失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通过异常阻断和质量曲线，减少报废和问题流入后序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积累工艺经验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用技术参数和产品状态对照，形成可复用的经验值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减少波动浪费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通过进度跟踪和 replan，减少等待、堆积和断流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支撑客户证明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用过程证据回应 CATL强化要求（浙江海威）对稳定性、追溯和闭环的要求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A452AE-40A3-4998-B09B-6A0A1806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4AC283-2641-4F26-8ED9-00579858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2633922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AA45E7-193D-4578-95B8-1B3568A6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Planning 是后续重点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A2F0D1-8275-4DCF-A480-9CBC7CE2F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551C7F-8CBA-4DEC-8F2D-6AC37A01E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43C558-E52A-42D2-AF8C-807F2835C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1333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24H 计划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DED39B-2820-4E45-BA56-D2BA5A5D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28875"/>
            <a:ext cx="1333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现场数据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927A99-09E4-4D4A-B22F-C92043DB1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28875"/>
            <a:ext cx="1333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偏差判断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22D040-ADCD-4D1A-8C9C-E672FB567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28875"/>
            <a:ext cx="1333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短周期 Replan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F5E7E6-9AA8-4837-8972-CF1D66E4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28875"/>
            <a:ext cx="1333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物料拉动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1291B7-6A15-49EA-A274-55DF7A96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28875"/>
            <a:ext cx="1333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执行反馈</a:t>
            </a:r>
          </a:p>
        </p:txBody>
      </p:sp>
      <p:cxnSp>
        <p:nvCxnSpPr>
          <p:cNvPr id="28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095500" y="27051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905250" y="27051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715000" y="27051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524750" y="27051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2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334500" y="27051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DA5AE"/>
            </a:solidFill>
            <a:prstDash val="solid"/>
            <a:head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0BD674-4719-41D6-B006-0AED90FE7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95750"/>
            <a:ext cx="899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没有计划基准，动态数据只能记录现场。有计划基准，数据才能判断偏差，并触发调整。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13872D-5659-4A7C-804D-1FFF166E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7D4F10-E2E2-4298-84A2-893BA7DD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50160B-CFC0-4DFA-8917-1843DD42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现场穿插：DEMO2 场地规划软件</a:t>
            </a:r>
          </a:p>
        </p:txBody>
      </p:sp>
    </p:spTree>
    <p:extLst>
      <p:ext uri="{BB962C8B-B14F-4D97-AF65-F5344CB8AC3E}">
        <p14:creationId xmlns:p14="http://schemas.microsoft.com/office/powerpoint/2010/main" val="210931379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C09BA6-3285-4EC7-AEC3-92D85D56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不同工艺过程的拉动方式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259504-8A21-4252-A34D-D94F3B22C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5443C3-13D8-4C65-9BEA-BCD81EC1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1712D4-4676-4C8A-AD63-424A9E63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90650"/>
            <a:ext cx="4619625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工单驱动适用场景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4A72D8-788B-4F11-AFDF-35815AED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390650"/>
            <a:ext cx="4619625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拉动式物流适用场景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0DB110-0F79-44B0-BAF8-CB12E1C4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83BBEB-F5A0-480B-965D-CAD961FFD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717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工单可以驱动料单和发料动作。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48C5C2-F91E-4D56-B03F-C5FEEADA8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48E718-D839-489D-BAC5-5F9385CA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194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铝锭等原材料发至铸造产线，可以由工单牵引。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340222-9523-44FE-ABAB-71B545B6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6542B2-DD50-49DC-955D-B71AE8C8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671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计划仍负责材料需求和产能边界。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D03875-348F-459A-9692-0E316488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E01F05-CE21-4A87-8ECD-B4D39DB1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717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铸造完成品到后续工序。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EE28BB-1C35-4995-96E1-E1608D870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95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BECB1C-816F-4E49-8A30-74350D99E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194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机加到装配。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1E9F68-073D-46E9-ABF1-54280DC5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2F7460-B6B2-45FE-95C4-A14E10E6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4671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排产基于库存水位展开，真实物料移动由后工序消耗节奏触发。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23C910-B278-47CC-BBB6-74978B5A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223353-FB91-4135-AD52-24A3C388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9C9B2E-4D0B-4EE5-A9E9-EFC20FB0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175159513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AA9529-C4C3-464C-9EEC-C2F3917F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成本向展开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E02F89-7EE2-43FC-91A3-41454277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E90D17-FB14-4323-BBCF-7A357440E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06C60B-7D55-4923-A6FA-EFCE6C072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428750"/>
            <a:ext cx="1809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库存成本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7EF944-73CD-47DB-A071-41BA253D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428750"/>
            <a:ext cx="74295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跨工序 WIP 水位不清，会带来过量库存、缺料等待和账实偏差。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278E60-D5FD-4458-892E-9FE33A4E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28875"/>
            <a:ext cx="1809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波动成本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3AB5CC-1EA4-449D-8439-EC337AD8F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28875"/>
            <a:ext cx="74295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计划弱和反馈慢，会造成等待、堆积、断流和局部加急。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DE7B0E-97E3-40BC-B157-537EFC3F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429000"/>
            <a:ext cx="1809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质量成本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4F124F-E4A9-40B6-AA4D-2845287E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29000"/>
            <a:ext cx="74295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异常阻断不及时，导致报废、返工和客户证据不足。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506DC1-9FA1-4253-A241-E1644E2E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29125"/>
            <a:ext cx="1809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数据成本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18DA32-3C34-4438-BF2A-35A5A6E6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429125"/>
            <a:ext cx="74295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未定义动作的数据采集，会增加点位、存储、解释和维护成本。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185227-18D5-408A-8706-E439524F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A03F0C-92DD-4C1B-8BC8-5D6409CF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8424476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923BC5-3FE6-4D4A-A808-394FD72C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AI 的初步落地方案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A6EFB0-3F2F-4595-81DF-9C587E70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B6F46A-0939-4838-8664-5DD268386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B24BE5-2AAF-4EE0-B3C8-7DC632C7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57350"/>
            <a:ext cx="24765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设备边缘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A6E4C8-B68F-4096-BE60-309D7D6A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81250"/>
            <a:ext cx="2476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在状态异常和质量指标偏离时，辅助判断停线、降速或参数切换。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B517E0-B34D-453A-9449-56F5F4C6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57350"/>
            <a:ext cx="24765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计划重排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A0B70F-B818-489E-8813-A3E87A8E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81250"/>
            <a:ext cx="2476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用更小颗粒度监控工序进度，并生成短周期 replan 建议。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6AB7CA-CFEB-46A0-A44A-211466C5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57350"/>
            <a:ext cx="24765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参数过滤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4EFCF8-0919-4771-A957-D2ADEB99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81250"/>
            <a:ext cx="2476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过滤非必要数据，保留对产品状态和工艺设定有效的参数。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3F912D-07C6-4A76-8774-69D377F4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AI 不应先于业务闭环出现。它应建立在计划基准、现场数据和调整手段之上。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6FDDCB-E7D5-434C-88DC-6F6129A8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67879A-283C-409E-AE60-4A947EBF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5142895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77A711-A7BE-481A-827F-5EA4ADB9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阶段路线与下一步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E05886-FB5D-4672-9288-6F1D080C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8B83A1-A0B4-4E47-B38B-EF83BD60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6D51C6-5B9E-4B69-B60F-955ED90E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619375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816FEE-DA65-41B8-9548-DFB7A906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14550"/>
            <a:ext cx="2619375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重新解读原系统/软件规划路径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67FC96-771C-4735-B470-41C6FF83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71800"/>
            <a:ext cx="2619375" cy="14859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识别客户要求、业务问题、能力短板和价值流位置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B74016-7007-4B3E-AA77-B5BBA520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524000"/>
            <a:ext cx="2619375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0645BD-AE27-4D30-926B-90CF2AB3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114550"/>
            <a:ext cx="2619375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数据采集与计划闭环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D90AA7-D11E-4AAC-B9C6-4A790CB3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971800"/>
            <a:ext cx="2619375" cy="14859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全工序数据、24H 计划、拉动物流、replan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461D73-9A4A-440B-A897-586B47757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524000"/>
            <a:ext cx="2619375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AC6DE7-9D58-422A-A23B-A08C9EB0C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114550"/>
            <a:ext cx="2619375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AI 与数字孪生调整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1B9448-72C5-424C-A96F-6570E11E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971800"/>
            <a:ext cx="2619375" cy="14859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边缘模型、参数过滤、短周期重排、成本优化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ECA929-B8AE-4EED-8DF4-B5AE9583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7FA40A-5625-44F0-9A31-F8CB4BB0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78D0F0-4B35-4EBB-9795-9981B2DC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5917054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2026-09-20T05:44:38.2600000Z</dcterms:created>
  <dcterms:modified xsi:type="dcterms:W3CDTF">2026-09-20T05:44:38.2600000Z</dcterms:modified>
</coreProperties>
</file>