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5412a7b3964337" /><Relationship Type="http://schemas.openxmlformats.org/officeDocument/2006/relationships/extended-properties" Target="/docProps/app.xml" Id="R1b1a5aaa6da74c4f" /><Relationship Type="http://schemas.openxmlformats.org/officeDocument/2006/relationships/officeDocument" Target="/ppt/presentation.xml" Id="R47f19200056648a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c247a537c34919"/>
  </p:sldMasterIdLst>
  <p:notesMasterIdLst>
    <p:notesMasterId xmlns:r="http://schemas.openxmlformats.org/officeDocument/2006/relationships" r:id="R83e4d5408c1f4ff9"/>
  </p:notesMasterIdLst>
  <p:sldIdLst>
    <p:sldId xmlns:r="http://schemas.openxmlformats.org/officeDocument/2006/relationships" id="256" r:id="R300c99161d5d4de5"/>
    <p:sldId xmlns:r="http://schemas.openxmlformats.org/officeDocument/2006/relationships" id="257" r:id="Rb3c66dd7746548ca"/>
    <p:sldId xmlns:r="http://schemas.openxmlformats.org/officeDocument/2006/relationships" id="258" r:id="Rcbe4769f67e64fda"/>
    <p:sldId xmlns:r="http://schemas.openxmlformats.org/officeDocument/2006/relationships" id="259" r:id="Rcd626cf2b4eb4f30"/>
    <p:sldId xmlns:r="http://schemas.openxmlformats.org/officeDocument/2006/relationships" id="260" r:id="R90c74427358143f6"/>
    <p:sldId xmlns:r="http://schemas.openxmlformats.org/officeDocument/2006/relationships" id="261" r:id="R8c5af7c198b44162"/>
    <p:sldId xmlns:r="http://schemas.openxmlformats.org/officeDocument/2006/relationships" id="262" r:id="Rd5dc0a6f92ac4644"/>
    <p:sldId xmlns:r="http://schemas.openxmlformats.org/officeDocument/2006/relationships" id="263" r:id="R35c3be2baa7e4289"/>
    <p:sldId xmlns:r="http://schemas.openxmlformats.org/officeDocument/2006/relationships" id="264" r:id="R5422b75cc4124bc8"/>
    <p:sldId xmlns:r="http://schemas.openxmlformats.org/officeDocument/2006/relationships" id="265" r:id="R390a9f797ca34747"/>
    <p:sldId xmlns:r="http://schemas.openxmlformats.org/officeDocument/2006/relationships" id="266" r:id="R04fa2bcaad7443f0"/>
    <p:sldId xmlns:r="http://schemas.openxmlformats.org/officeDocument/2006/relationships" id="267" r:id="Rbc78a1db8ccb4ee2"/>
    <p:sldId xmlns:r="http://schemas.openxmlformats.org/officeDocument/2006/relationships" id="268" r:id="Rfa3113004d854572"/>
    <p:sldId xmlns:r="http://schemas.openxmlformats.org/officeDocument/2006/relationships" id="269" r:id="Rba92420ddadd406a"/>
    <p:sldId xmlns:r="http://schemas.openxmlformats.org/officeDocument/2006/relationships" id="270" r:id="R145a28fd605f40a9"/>
    <p:sldId xmlns:r="http://schemas.openxmlformats.org/officeDocument/2006/relationships" id="271" r:id="Rb9a1a70f3f1e4d6a"/>
    <p:sldId xmlns:r="http://schemas.openxmlformats.org/officeDocument/2006/relationships" id="272" r:id="R8ea4ad44c6e74e56"/>
    <p:sldId xmlns:r="http://schemas.openxmlformats.org/officeDocument/2006/relationships" id="273" r:id="R88065bc8420149c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396fc4ca074906" /><Relationship Type="http://schemas.openxmlformats.org/officeDocument/2006/relationships/slideMaster" Target="/ppt/slideMasters/slideMaster1.xml" Id="R83c247a537c34919" /><Relationship Type="http://schemas.openxmlformats.org/officeDocument/2006/relationships/notesMaster" Target="/ppt/notesMasters/notesMaster1.xml" Id="R83e4d5408c1f4ff9" /><Relationship Type="http://schemas.openxmlformats.org/officeDocument/2006/relationships/presProps" Target="/ppt/presProps.xml" Id="R265dd3fac3ef49e9" /><Relationship Type="http://schemas.openxmlformats.org/officeDocument/2006/relationships/tableStyles" Target="/ppt/tableStyles.xml" Id="Re135cf5702a441c7" /><Relationship Type="http://schemas.openxmlformats.org/officeDocument/2006/relationships/slide" Target="/ppt/slides/slide1.xml" Id="R300c99161d5d4de5" /><Relationship Type="http://schemas.openxmlformats.org/officeDocument/2006/relationships/slide" Target="/ppt/slides/slide2.xml" Id="Rb3c66dd7746548ca" /><Relationship Type="http://schemas.openxmlformats.org/officeDocument/2006/relationships/slide" Target="/ppt/slides/slide3.xml" Id="Rcbe4769f67e64fda" /><Relationship Type="http://schemas.openxmlformats.org/officeDocument/2006/relationships/slide" Target="/ppt/slides/slide4.xml" Id="Rcd626cf2b4eb4f30" /><Relationship Type="http://schemas.openxmlformats.org/officeDocument/2006/relationships/slide" Target="/ppt/slides/slide5.xml" Id="R90c74427358143f6" /><Relationship Type="http://schemas.openxmlformats.org/officeDocument/2006/relationships/slide" Target="/ppt/slides/slide6.xml" Id="R8c5af7c198b44162" /><Relationship Type="http://schemas.openxmlformats.org/officeDocument/2006/relationships/slide" Target="/ppt/slides/slide7.xml" Id="Rd5dc0a6f92ac4644" /><Relationship Type="http://schemas.openxmlformats.org/officeDocument/2006/relationships/slide" Target="/ppt/slides/slide8.xml" Id="R35c3be2baa7e4289" /><Relationship Type="http://schemas.openxmlformats.org/officeDocument/2006/relationships/slide" Target="/ppt/slides/slide9.xml" Id="R5422b75cc4124bc8" /><Relationship Type="http://schemas.openxmlformats.org/officeDocument/2006/relationships/slide" Target="/ppt/slides/slide10.xml" Id="R390a9f797ca34747" /><Relationship Type="http://schemas.openxmlformats.org/officeDocument/2006/relationships/slide" Target="/ppt/slides/slide11.xml" Id="R04fa2bcaad7443f0" /><Relationship Type="http://schemas.openxmlformats.org/officeDocument/2006/relationships/slide" Target="/ppt/slides/slide12.xml" Id="Rbc78a1db8ccb4ee2" /><Relationship Type="http://schemas.openxmlformats.org/officeDocument/2006/relationships/slide" Target="/ppt/slides/slide13.xml" Id="Rfa3113004d854572" /><Relationship Type="http://schemas.openxmlformats.org/officeDocument/2006/relationships/slide" Target="/ppt/slides/slide14.xml" Id="Rba92420ddadd406a" /><Relationship Type="http://schemas.openxmlformats.org/officeDocument/2006/relationships/slide" Target="/ppt/slides/slide15.xml" Id="R145a28fd605f40a9" /><Relationship Type="http://schemas.openxmlformats.org/officeDocument/2006/relationships/slide" Target="/ppt/slides/slide16.xml" Id="Rb9a1a70f3f1e4d6a" /><Relationship Type="http://schemas.openxmlformats.org/officeDocument/2006/relationships/slide" Target="/ppt/slides/slide17.xml" Id="R8ea4ad44c6e74e56" /><Relationship Type="http://schemas.openxmlformats.org/officeDocument/2006/relationships/slide" Target="/ppt/slides/slide18.xml" Id="R88065bc8420149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8583aea2ff49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3e25f335e3444a" /><Relationship Type="http://schemas.openxmlformats.org/officeDocument/2006/relationships/notesMaster" Target="/ppt/notesMasters/notesMaster1.xml" Id="Rbfdbb668933543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dd39d8adbd4cba" /><Relationship Type="http://schemas.openxmlformats.org/officeDocument/2006/relationships/notesMaster" Target="/ppt/notesMasters/notesMaster1.xml" Id="Re76005f367034c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eb557c4e9a64868" /><Relationship Type="http://schemas.openxmlformats.org/officeDocument/2006/relationships/notesMaster" Target="/ppt/notesMasters/notesMaster1.xml" Id="R0b8b2bcb2cd445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726bb5b79124a15" /><Relationship Type="http://schemas.openxmlformats.org/officeDocument/2006/relationships/notesMaster" Target="/ppt/notesMasters/notesMaster1.xml" Id="R4e4b4d33e9354f1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205927bd13c461a" /><Relationship Type="http://schemas.openxmlformats.org/officeDocument/2006/relationships/notesMaster" Target="/ppt/notesMasters/notesMaster1.xml" Id="R19a3f5f307fa452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c10eea1e6ce43bd" /><Relationship Type="http://schemas.openxmlformats.org/officeDocument/2006/relationships/notesMaster" Target="/ppt/notesMasters/notesMaster1.xml" Id="R2fc05614a8b1432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aa62edcf2c14adf" /><Relationship Type="http://schemas.openxmlformats.org/officeDocument/2006/relationships/notesMaster" Target="/ppt/notesMasters/notesMaster1.xml" Id="R8968c5797d5d447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474fde0793b418f" /><Relationship Type="http://schemas.openxmlformats.org/officeDocument/2006/relationships/notesMaster" Target="/ppt/notesMasters/notesMaster1.xml" Id="R952c5a3df22348b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3d4d7a6698e4858" /><Relationship Type="http://schemas.openxmlformats.org/officeDocument/2006/relationships/notesMaster" Target="/ppt/notesMasters/notesMaster1.xml" Id="R71eeffa370644c6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0a4834219364799" /><Relationship Type="http://schemas.openxmlformats.org/officeDocument/2006/relationships/notesMaster" Target="/ppt/notesMasters/notesMaster1.xml" Id="Ra792bceecca3419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926ce5e33304e5d" /><Relationship Type="http://schemas.openxmlformats.org/officeDocument/2006/relationships/notesMaster" Target="/ppt/notesMasters/notesMaster1.xml" Id="R9acf9908284d486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5c875b14acc42c2" /><Relationship Type="http://schemas.openxmlformats.org/officeDocument/2006/relationships/notesMaster" Target="/ppt/notesMasters/notesMaster1.xml" Id="R578a9952b7b849f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3d3fb60ee4944c5" /><Relationship Type="http://schemas.openxmlformats.org/officeDocument/2006/relationships/notesMaster" Target="/ppt/notesMasters/notesMaster1.xml" Id="R21c3bf012c994e7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80664fe6103434c" /><Relationship Type="http://schemas.openxmlformats.org/officeDocument/2006/relationships/notesMaster" Target="/ppt/notesMasters/notesMaster1.xml" Id="R62dc3ecdcb164ac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0053ed24bdf456c" /><Relationship Type="http://schemas.openxmlformats.org/officeDocument/2006/relationships/notesMaster" Target="/ppt/notesMasters/notesMaster1.xml" Id="Rc39a8def33f2478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00f3910450c45d6" /><Relationship Type="http://schemas.openxmlformats.org/officeDocument/2006/relationships/notesMaster" Target="/ppt/notesMasters/notesMaster1.xml" Id="Rdfd85834ef8147a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7eac273b1f14d37" /><Relationship Type="http://schemas.openxmlformats.org/officeDocument/2006/relationships/notesMaster" Target="/ppt/notesMasters/notesMaster1.xml" Id="Ra23ef21decdd468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a8285236fd64a24" /><Relationship Type="http://schemas.openxmlformats.org/officeDocument/2006/relationships/notesMaster" Target="/ppt/notesMasters/notesMaster1.xml" Id="R95666405386a43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封面已去除公司 logo 和名称，仅保留原模板的蓝绿底栏风格。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用户手动加入的原系统/软件规划路径来源页，作为后续解读来源。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这里解释 CATL强化要求（浙江海威）的由来：主要客户关心供应商过程是否稳定、可控、可追溯。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这不是模块替换，而是把客户要求重新归入业务能力。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进入价值流后才能看清功能发生在哪、解决什么问题、输出什么证据。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回答：CATL强化要求（浙江海威）是否能从二阶段系统规划中展开，以及当前条件是否足够。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结合成本展开：不同拉动方式会影响库存占用、等待时间、换线和异常调整成本。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b01bb032e945f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8fbf7f00a24266" /><Relationship Type="http://schemas.openxmlformats.org/officeDocument/2006/relationships/slideLayout" Target="/ppt/slideLayouts/slideLayout1.xml" Id="R922588161ee049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2588161ee049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f579388c2443c7" /><Relationship Type="http://schemas.openxmlformats.org/officeDocument/2006/relationships/notesSlide" Target="/ppt/notesSlides/notesSlide1.xml" Id="Rc5ccf217cd254d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682fa80b1f4567" /><Relationship Type="http://schemas.openxmlformats.org/officeDocument/2006/relationships/notesSlide" Target="/ppt/notesSlides/notesSlide2.xml" Id="Re8cb11a5212b4d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6fd05977544630" /><Relationship Type="http://schemas.openxmlformats.org/officeDocument/2006/relationships/image" Target="/ppt/media/image.png" Id="R9fccd06d905044da" /><Relationship Type="http://schemas.openxmlformats.org/officeDocument/2006/relationships/notesSlide" Target="/ppt/notesSlides/notesSlide3.xml" Id="R5c28f83fca50417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aa8d86b7b64814" /><Relationship Type="http://schemas.openxmlformats.org/officeDocument/2006/relationships/notesSlide" Target="/ppt/notesSlides/notesSlide4.xml" Id="R5b5f8ec9deb64c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7fef2ef3d84123" /><Relationship Type="http://schemas.openxmlformats.org/officeDocument/2006/relationships/notesSlide" Target="/ppt/notesSlides/notesSlide5.xml" Id="R2cec4b8c6fcc422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4371876ec94894" /><Relationship Type="http://schemas.openxmlformats.org/officeDocument/2006/relationships/hyperlink" Target="file:///Users/lijiajun/Documents/GitHub/python-document/%E6%B5%99%E6%B1%9F%E6%B5%B7%E5%A8%81/%E6%B5%B7%E5%A8%81%E4%BF%A1%E6%81%AF%E7%B3%BB%E7%BB%9F_%E4%B8%9A%E5%8A%A1%E8%BF%87%E7%A8%8B%E9%87%8D%E7%BB%84%E5%B7%A5%E4%BD%9C%E5%8F%B0.html" TargetMode="External" Id="R2c58103aa24842ed" /><Relationship Type="http://schemas.openxmlformats.org/officeDocument/2006/relationships/notesSlide" Target="/ppt/notesSlides/notesSlide6.xml" Id="Rf1643b2b421a45c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dddbfed8074103" /><Relationship Type="http://schemas.openxmlformats.org/officeDocument/2006/relationships/hyperlink" Target="file:///Users/lijiajun/Documents/GitHub/python-document/%E6%B5%99%E6%B1%9F%E6%B5%B7%E5%A8%81/%E6%B5%B7%E5%A8%81%E4%BB%B7%E5%80%BC%E6%B5%81_%E5%8A%9F%E8%83%BD%E6%A0%87%E6%B3%A8%E7%94%BB%E6%9D%BF.html" TargetMode="External" Id="Re9a94e533551493e" /><Relationship Type="http://schemas.openxmlformats.org/officeDocument/2006/relationships/notesSlide" Target="/ppt/notesSlides/notesSlide7.xml" Id="R33a3c365b1454d5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8ae246a1b142d4" /><Relationship Type="http://schemas.openxmlformats.org/officeDocument/2006/relationships/hyperlink" Target="file:///Users/lijiajun/Documents/GitHub/python-document/%E6%B5%99%E6%B1%9F%E6%B5%B7%E5%A8%81/%E6%B5%B7%E5%A8%81%E4%BB%B7%E5%80%BC%E6%B5%81_%E5%8A%9F%E8%83%BD%E6%A0%87%E6%B3%A8%E7%94%BB%E6%9D%BF.html" TargetMode="External" Id="Rfa9ad30146e449ee" /><Relationship Type="http://schemas.openxmlformats.org/officeDocument/2006/relationships/notesSlide" Target="/ppt/notesSlides/notesSlide8.xml" Id="R2e4ebb57fc7c40b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286c4916954516" /><Relationship Type="http://schemas.openxmlformats.org/officeDocument/2006/relationships/hyperlink" Target="file:///Users/lijiajun/Documents/GitHub/python-document/%E6%B5%99%E6%B1%9F%E6%B5%B7%E5%A8%81/%E6%B5%B7%E5%A8%81%E4%BF%A1%E6%81%AF%E7%B3%BB%E7%BB%9F_%E4%B8%9A%E5%8A%A1%E8%BF%87%E7%A8%8B%E9%87%8D%E7%BB%84%E5%B7%A5%E4%BD%9C%E5%8F%B0.html" TargetMode="External" Id="R4523aef8b6584dbe" /><Relationship Type="http://schemas.openxmlformats.org/officeDocument/2006/relationships/notesSlide" Target="/ppt/notesSlides/notesSlide9.xml" Id="Rb8fd24f29bd54a0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5e7000b9e84f87" /><Relationship Type="http://schemas.openxmlformats.org/officeDocument/2006/relationships/notesSlide" Target="/ppt/notesSlides/notesSlide10.xml" Id="R2a1cfe679ea345a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661e9d10e24778" /><Relationship Type="http://schemas.openxmlformats.org/officeDocument/2006/relationships/hyperlink" Target="file:///Users/lijiajun/Documents/GitHub/python-document/%E6%B5%99%E6%B1%9F%E6%B5%B7%E5%A8%81/%E6%B5%B7%E5%A8%81%E4%BB%B7%E5%80%BC%E6%B5%81_%E5%8A%9F%E8%83%BD%E6%A0%87%E6%B3%A8%E7%94%BB%E6%9D%BF.html" TargetMode="External" Id="R2e46b65d0b4f4be1" /><Relationship Type="http://schemas.openxmlformats.org/officeDocument/2006/relationships/notesSlide" Target="/ppt/notesSlides/notesSlide11.xml" Id="Rec33cf2b8bf64df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c53b50b2664c42" /><Relationship Type="http://schemas.openxmlformats.org/officeDocument/2006/relationships/hyperlink" Target="file:///Users/lijiajun/Documents/GitHub/python-document/%E6%B5%99%E6%B1%9F%E6%B5%B7%E5%A8%81/%E6%B5%B7%E5%A8%81%E4%BB%B7%E5%80%BC%E6%B5%81_%E5%8A%9F%E8%83%BD%E6%A0%87%E6%B3%A8%E7%94%BB%E6%9D%BF.html" TargetMode="External" Id="Re3d9c8cf6ac64daa" /><Relationship Type="http://schemas.openxmlformats.org/officeDocument/2006/relationships/notesSlide" Target="/ppt/notesSlides/notesSlide12.xml" Id="R7c7a0a09e8ed49f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03b7fe85484bae" /><Relationship Type="http://schemas.openxmlformats.org/officeDocument/2006/relationships/notesSlide" Target="/ppt/notesSlides/notesSlide13.xml" Id="Re0ac7eddd7b544b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c7751647ac44f9" /><Relationship Type="http://schemas.openxmlformats.org/officeDocument/2006/relationships/hyperlink" Target="file:///Users/lijiajun/Documents/GitHub/python-document/capa.%20calculation/%E6%8E%92%E4%BA%A7%E6%A8%A1%E5%9E%8B/index.html" TargetMode="External" Id="Rc1df2c50a471488f" /><Relationship Type="http://schemas.openxmlformats.org/officeDocument/2006/relationships/notesSlide" Target="/ppt/notesSlides/notesSlide14.xml" Id="Re93c8ae613fd463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88231b14ef45ca" /><Relationship Type="http://schemas.openxmlformats.org/officeDocument/2006/relationships/hyperlink" Target="file:///Users/lijiajun/Documents/GitHub/python-document/%E6%B5%99%E6%B1%9F%E6%B5%B7%E5%A8%81/%E6%B5%B7%E5%A8%81%E4%BB%B7%E5%80%BC%E6%B5%81_%E5%8A%9F%E8%83%BD%E6%A0%87%E6%B3%A8%E7%94%BB%E6%9D%BF.html" TargetMode="External" Id="Redf14d0fdbf84405" /><Relationship Type="http://schemas.openxmlformats.org/officeDocument/2006/relationships/notesSlide" Target="/ppt/notesSlides/notesSlide15.xml" Id="Rac6b6a40219349c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c42244fec74f6e" /><Relationship Type="http://schemas.openxmlformats.org/officeDocument/2006/relationships/notesSlide" Target="/ppt/notesSlides/notesSlide16.xml" Id="Rf0a88ab62f2744a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51cd7d693e4cb4" /><Relationship Type="http://schemas.openxmlformats.org/officeDocument/2006/relationships/notesSlide" Target="/ppt/notesSlides/notesSlide17.xml" Id="Recdb506585754be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017284fd514cbd" /><Relationship Type="http://schemas.openxmlformats.org/officeDocument/2006/relationships/hyperlink" Target="file:///Users/lijiajun/Documents/GitHub/python-document/%E6%B5%99%E6%B1%9F%E6%B5%B7%E5%A8%81/%E6%B5%B7%E5%A8%81%E4%BB%B7%E5%80%BC%E6%B5%81_%E5%8A%9F%E8%83%BD%E6%A0%87%E6%B3%A8%E7%94%BB%E6%9D%BF.html" TargetMode="External" Id="R7f44bce1f6cc484e" /><Relationship Type="http://schemas.openxmlformats.org/officeDocument/2006/relationships/notesSlide" Target="/ppt/notesSlides/notesSlide18.xml" Id="Rcac9e6585c71401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E4C4BF-69B9-4199-90AF-ED01ACCE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62200"/>
            <a:ext cx="914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信息系统建设理解与下一阶段路径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185644-00E0-468D-8621-3D875B18B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43250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客户要求、运营能力与系统建设路径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20A91B-3C3F-4A54-A52A-D42DBD67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10300"/>
            <a:ext cx="742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598B66-A520-4D34-A44F-CFE20BE6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210300"/>
            <a:ext cx="1143000" cy="28575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1657A6-4AE4-4138-9504-E8CE00AC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6210300"/>
            <a:ext cx="4019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</a:ln>
        </p:spPr>
      </p:sp>
    </p:spTree>
    <p:extLst>
      <p:ext uri="{BB962C8B-B14F-4D97-AF65-F5344CB8AC3E}">
        <p14:creationId xmlns:p14="http://schemas.microsoft.com/office/powerpoint/2010/main" val="13201101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8F8255-801D-4C19-BD26-8A71EB13A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汇报切入点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26100A-4927-4E17-BECA-847E3668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1E7E05-E151-4426-A9D7-AD6E9B0E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05EE9C-5131-4041-BB46-6B595EA0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3048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原系统/软件规划路径解读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CADC7F-D2DC-4BE2-831D-9BBA3817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3048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宁波海威与浙江海威已有两阶段系统规划，浙江海威因 CATL强化要求进一步补强。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EBA666-D0C9-403C-9C9B-BC5D7C8D4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14500"/>
            <a:ext cx="3048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运营能力剖析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BA48EB-E76D-47D9-868B-8F97AE96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00300"/>
            <a:ext cx="3048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客户关注的不是系统名称，而是稳定交付、过程可控和质量可证明。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607238-DB73-412E-9A7E-2E60B8F22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14500"/>
            <a:ext cx="3048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系统建设路径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780D45-78C1-44CC-90A3-ECC589F0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00300"/>
            <a:ext cx="3048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系统工具要回应当前运作问题，并强化计划、物料、质量和设备数据能力。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91C781-5123-47EB-BA2A-A4E08DB9D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720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客户要求是入口，运营能力是主题，系统功能是手段。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8E7D38-2030-4A91-92F6-B1F8CAEA9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4C9720-9627-4652-A490-F4E92CF1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538975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76CD7A-2B2D-4AA7-B8C9-B42228FC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原系统/软件规划路径来源页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A8F1C8-0D57-47E8-8F3C-45A80049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69FF4E-06E7-43CC-AB03-54946D61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ccd06d905044d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E372AB-7CD2-4FAA-8505-1F5491B2C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A2F356-2485-4ADD-AE16-472F9683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0A710D-EF6E-4A6A-B70C-7F633D97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现场穿插：保留原系统/软件规划路径来源页，不删除</a:t>
            </a:r>
          </a:p>
        </p:txBody>
      </p:sp>
    </p:spTree>
    <p:extLst>
      <p:ext uri="{BB962C8B-B14F-4D97-AF65-F5344CB8AC3E}">
        <p14:creationId xmlns:p14="http://schemas.microsoft.com/office/powerpoint/2010/main" val="12564662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D895CC-37CF-4B58-9980-075B3CF7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原系统/软件规划路径的重新理解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71D5D3-CBED-41AD-B0E0-74DD54462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BC95FB-093E-4F88-90DE-037B8902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235FCB-7A48-4BE5-B634-B8FA87A9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90650"/>
            <a:ext cx="4619625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原有系统建设思路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A5A107-119F-43A3-853A-A0968407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390650"/>
            <a:ext cx="4619625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CATL强化要求（浙江海威）带来的变化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4C6E51-F8B1-4552-9BFB-1ABBB229C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652B47-96F6-4BB6-8D68-4EB158F3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717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一阶段系统规划（宁波海威+浙江海威）偏 WMS/MES，解决库存、出入库、生产执行和基础追溯。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25004C-DCDD-4F4F-9A88-CA4D4C86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95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B6BD6C-34BD-4207-88A7-CC40D6FE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194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二阶段系统规划（宁波海威+浙江海威）本来就计划补强 QMS、TPM、IoT 等能力。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9B68E3-D651-419F-97A7-BDBE2EE3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43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191163-0DD5-46F6-A742-69D7078D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671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原系统/软件规划路径不是从无到有，而是宁波海威与浙江海威共同的一阶段/二阶段系统规划；CATL强化要求（浙江海威）是在浙江海威（嵊州）面向主要客户 CATL 的运营能力补强。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EC7E7C-B4E8-461E-A2A0-71F12A0C0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56EB12-3B29-4F88-85F6-B25760EA8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717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CATL强化要求（浙江海威）把功能清单推向过程控制要求。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D0B030-E415-4174-B04A-E4437CF4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95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483932-934B-4E13-AA74-CDA9D4650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194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强化项更关注批次、参数、权限、点检、SPC 和全工序数据。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0C69FA-3096-4CF4-8497-A3E3CBA14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43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A39229-A4C2-4EC9-B478-078DA3CA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4671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系统建设从功能补充，转向浙江海威（嵊州）的运营能力证明。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1B28A8-EAB3-4939-85CF-13A5D87A8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8EB18F-DA2A-4468-8A95-A9B79CE4D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721215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B46DB5-7AF4-4255-A87C-A5A1B56C1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客户关注的是运营能力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30351D-A23B-422F-9772-5F2D777E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8ABE30-6734-49C5-BF69-630C892E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A19D0F-5C5A-4B1A-B59D-B98EE9D1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04950"/>
            <a:ext cx="4476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稳定交付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461762-C074-4A56-A968-A4A21D30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44767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计划能否牵引物料、工序和设备，交期偏差能否及时反馈。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611D55-115A-4E92-B6B3-1FF01BD3E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04950"/>
            <a:ext cx="4476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过程可控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34C355-FCA4-489D-A2F4-143D02E0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95500"/>
            <a:ext cx="44767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人员、参数、程序、工装夹具和检测动作是否被过程约束。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817DA3-8A0C-456C-A888-5D6C5EA9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05200"/>
            <a:ext cx="4476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质量可证明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03AA97-2BF7-42D6-A81B-D753F8FB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44767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质量不是只有检验记录，还要有标准、曲线、SPC 和异常闭环证据。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7B34E1-4F2F-4533-B5AD-55ABCB9FC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05200"/>
            <a:ext cx="4476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异常可闭环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993E59-D945-4A40-9743-EEC48D61E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95750"/>
            <a:ext cx="44767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异常出现后，系统能否触发停线、确认、replan 或客户要求的处理动作。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0A80A9-7E40-4B6C-9BDF-70B5A425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6B28CA-764C-4021-8662-C73B9312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930784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3CD3AB-A732-4063-88C6-A72A7648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功能从系统模块转向业务能力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BE8FF4-A9B9-49BD-8E5A-84043EC0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2BA663-3629-4855-9577-987F7205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2E7FFE-AA35-46F1-92A0-B87A5137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371600"/>
            <a:ext cx="28575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原系统语言来源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34F7E1-97F8-4500-BD5A-BCB6D0E7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71600"/>
            <a:ext cx="31432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重组后的业务能力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7FEE81-EAF1-4726-9C60-7531B8D72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81200"/>
            <a:ext cx="2095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3A8D8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WMS / MES / TPM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C980CA-A00B-4A94-830E-90BCDEAE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81200"/>
            <a:ext cx="3143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实物／物料流管理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C562E9-9413-49B5-A109-CC705EAD1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81225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8DA5A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E7B7DD-9492-4225-946F-AAB9AC88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2095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3A8D8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WMS / MES / TPM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D61D59-3F76-4217-A10F-E9FDB091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67000"/>
            <a:ext cx="3143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生产计划管理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83F721-E166-49D8-A4FB-7AEF4612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67025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8DA5A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ED1C5A-F0A6-4E12-8F61-A3247FC0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52800"/>
            <a:ext cx="2095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3A8D8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WMS / MES / TPM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A207FA-0FE2-41A1-869C-384372CA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52800"/>
            <a:ext cx="3143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生产过程与工艺管理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568B90-19E6-4B40-BE0D-A53250B7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52825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8DA5A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7ABFD8-4D75-4AA6-82EE-4BE84407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38600"/>
            <a:ext cx="2095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3A8D8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C06F57-88B3-4F21-A450-4FA02157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38600"/>
            <a:ext cx="3143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QM 相关界面输出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DE343A-DDDD-44D6-9300-8D5E4263C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38625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8DA5A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E7A356-3E83-4711-9E38-C4A6FC012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24400"/>
            <a:ext cx="2095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3A8D8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IoT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CDB998-03CF-4755-8B14-796ADD836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24400"/>
            <a:ext cx="3143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设备数据采集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8F5D7A-FDAA-458D-9FED-76B703E60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24425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8DA5A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8FB5E2-2E10-4C33-9959-8E16150BA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6578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这一步把系统清单转成经营和现场能讨论的业务语言。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26A233-5C6E-4A21-A0C7-F340C3425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59F921-0B94-4B85-8834-86EC36FA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1A49F5-A97B-4ED7-9A13-3F17D9AB1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xmlns:r="http://schemas.openxmlformats.org/officeDocument/2006/relationships" r:id="R2c58103aa24842ed"/>
              </a:rPr>
              <a:t>现场穿插：业务过程与功能重组工作台</a:t>
            </a:r>
          </a:p>
        </p:txBody>
      </p:sp>
    </p:spTree>
    <p:extLst>
      <p:ext uri="{BB962C8B-B14F-4D97-AF65-F5344CB8AC3E}">
        <p14:creationId xmlns:p14="http://schemas.microsoft.com/office/powerpoint/2010/main" val="2173939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D48643-E036-4780-985D-E8D4D257C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功能落到价值流后才有意义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42E880-5B72-406F-88AF-DA5942D2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43E1AE-F555-48F8-9EEB-29AB583A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824A0F-274D-423D-B8C6-ABBB0DAA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526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供应商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973E99-8775-4BEF-B6CA-C02585B6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097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178D78-5310-4C9B-A6EC-CEC09D0A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526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收货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3DAB08-1B20-43FD-A0F0-B4526FBA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0097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1ACA2A-0AB0-4FAD-A56C-32398468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7526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入库检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25258A-60D4-4E26-8E60-93D0DF41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97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8C1273-2365-4BD1-8BED-C985C4EC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7526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仓库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A967A7-8039-44D1-AD27-2590C7BC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0097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18B5FD-72E9-4739-99FC-F06A26871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526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材料出库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948E9C-9DEF-4EDA-A88C-733793288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生产工序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0047B5-1766-4C85-8213-1F82B190B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4290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WIP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9C6FF8-0A31-415C-98D9-71FF1FA4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861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24E1C2-C564-42BD-BA22-633150DF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4290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成品检验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AAE3FE-EA45-49CD-A9A7-F0DAD7F9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6861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79F0CC-921C-4655-BB2A-00F9B6A7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4290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成品出库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BF97E0-2D80-49E6-B69A-9A018B9B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861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E40CEE-3F0C-47DF-9394-16D67C9E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290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客户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00A14B-F789-492E-8069-21C56D20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6861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4F64BC-E473-4FD8-9A90-FBB815CC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09775"/>
            <a:ext cx="0" cy="1676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060797-CB60-4413-A121-4B1DD9F35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095875"/>
            <a:ext cx="899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每个功能项都要落到过程节点，才能判断它服务的动作和管理意义。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B0B30E-9D58-4DA8-8221-47D06DF4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3ABD04-3C9D-4872-8936-4579DF7E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BAF12B-DF41-4E11-8D28-7C1CC478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xmlns:r="http://schemas.openxmlformats.org/officeDocument/2006/relationships" r:id="Re9a94e533551493e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12114043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9048BE-B3CE-4538-B894-5C07D25E6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价值流中的三类状态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AD8F5-2510-4AE1-A808-83FA0FB8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9D7F32-6401-4E84-8A03-0B83A2C4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9765FC-B5F6-4141-9610-2ECAC3E1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3048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已有基础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5FAAEF-BF8F-4EF0-9F53-14286128C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3048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库存、出入库、FIFO、派工、报工、追溯和检验入口，更多解决记录和基础管控。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5B5D0F-FFF9-4D5D-8900-72C102B0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14500"/>
            <a:ext cx="3048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二阶段系统规划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81BCAE-B1D0-4B44-B5F7-283B1CBC2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00300"/>
            <a:ext cx="3048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QMS、TPM、IoT 等方向，边界在于是否能进入过程动作并形成反馈。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38EE30-1217-44F3-8909-1DB4F1AD2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14500"/>
            <a:ext cx="3048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CATL强化要求（浙江海威）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91D797-6C81-4A02-B789-27E1A92B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00300"/>
            <a:ext cx="3048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权限、点检、参数、防错、SPC、设备数据和全工序控制继续加深。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676A86-70D5-48DB-97FB-31829F36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720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同一个价值流节点上，可能同时存在已有能力、二阶段系统规划和 CATL强化要求（浙江海威）。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9819AE-8767-4640-A9B2-A8B85F97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DAF529-7EA6-40A1-B78D-F4EADD68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A3ADE9-E271-4716-B25C-FC88D6819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xmlns:r="http://schemas.openxmlformats.org/officeDocument/2006/relationships" r:id="Rfa9ad30146e449ee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5212200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74E1A3-3524-4746-A58C-7F3B128ED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当前基础与二期边界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B3AB1D-31E6-40F0-A5F1-6E1EAD9C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E474F7-4BD8-4650-AC4E-970DAA36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D24C79-C3AE-4515-BE3E-AF013BCE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90650"/>
            <a:ext cx="4619625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已有基础如何现场加强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DFBDD0-4063-4D67-A220-F09EDD15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390650"/>
            <a:ext cx="4619625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二阶段系统规划的边界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D3B379-0FDC-4818-A0E8-2323CF82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F9EE25-9FCB-40F8-8833-DBE32365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717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把记录型功能转成现场动作入口。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E22DDD-A802-4A09-90A0-AE319EDE4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95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35F2BA-446E-4368-8932-638BCC77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194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让库存、发料、报工、检验与计划偏差建立关联。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A98B3E-FC51-4919-B3F3-1DF0107D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43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6E11B7-79BF-443C-83E3-9EDAA152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671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补齐跨工序 WIP 水位和后工序拉动前工序的判断。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CA2B02-8372-4362-8FD5-4C84052D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787482-823B-468B-9B41-233E10AB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717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QMS 如果只做记录，很难承担过程控制。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8BE43E-4858-4DAD-8A8E-1F4785F4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95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5B0E77-4611-4DB5-9304-E1EC7DCD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194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TPM/IoT 如果只采集设备状态，很难解释产出波动。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F97EA3-2E76-46AC-BC09-53EFCEDF6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43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D57A95-E781-425B-8CF6-E9305394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4671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二阶段系统规划能否承接 CATL强化要求（浙江海威），取决于 Planning、过程动作和数据反馈是否打通。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73A748-DB71-4D62-B8A9-9C1BDDD4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34FE90-9D39-4639-9EAE-5A29C6BDB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D22A2D-F8E1-4B48-94B9-64BEFFDA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xmlns:r="http://schemas.openxmlformats.org/officeDocument/2006/relationships" r:id="R4523aef8b6584dbe"/>
              </a:rPr>
              <a:t>现场穿插：业务过程与功能重组工作台</a:t>
            </a:r>
          </a:p>
        </p:txBody>
      </p:sp>
    </p:spTree>
    <p:extLst>
      <p:ext uri="{BB962C8B-B14F-4D97-AF65-F5344CB8AC3E}">
        <p14:creationId xmlns:p14="http://schemas.microsoft.com/office/powerpoint/2010/main" val="14938363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9D4DEE-4B0D-4C3B-9B3C-2C1F03639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后续加强能否实现目的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647E90-342F-48BB-A2A5-B87BC12C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2A0150-714F-4B94-B46B-3DDC384B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1333500" y="1428750"/>
          <a:ext xmlns:a="http://schemas.openxmlformats.org/drawingml/2006/main" cx="95250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86364"/>
                <a:gridCol w="6638636"/>
              </a:tblGrid>
              <a:tr h="70485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后续加强方向</a:t>
                      </a:r>
                    </a:p>
                  </a:txBody>
                  <a:tcPr marL="91440" marR="91440" marT="45720" marB="45720">
                    <a:solidFill>
                      <a:srgbClr val="F0F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实现条件</a:t>
                      </a:r>
                    </a:p>
                  </a:txBody>
                  <a:tcPr marL="91440" marR="91440" marT="45720" marB="45720">
                    <a:solidFill>
                      <a:srgbClr val="F0F8E8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质量与异常闭环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需要标准、阈值、责任、停线和恢复规则，不只是 QMS 表单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设备与参数控制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需要产品状态、工艺参数和设备参数之间形成可解释关系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全工序数据采集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需要先定义采集后的动作，再定义点位、频率和采集手段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短周期计划调整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需要小时级计划基准、CT、Performance Rate 和真实执行反馈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9034D9-F614-49FC-83E3-0DB6DBEC6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BE1640-5F0A-47E0-A2D0-EF8A7600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24439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FA7933-67F9-449E-A816-0D39CBDD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全工序数据的分类角度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5A1B2B-D729-4212-96F0-A50B9FC0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E56578-E906-4402-989E-8B8BF497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168C5B-F9AD-47FE-AB94-442AD50EA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628900"/>
            <a:ext cx="200025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76BC21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全工序数据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7FF5D1-FAF1-4ED1-854A-8139DE3F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524000"/>
            <a:ext cx="1524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设备状态</a:t>
            </a:r>
          </a:p>
        </p:txBody>
      </p:sp>
      <p:cxnSp>
        <p:nvCxnSpPr>
          <p:cNvPr id="28" name=""/>
          <p:cNvCxnSpPr>
            <a:stCxn xmlns:a="http://schemas.openxmlformats.org/drawingml/2006/main" id="4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 flipV="1">
            <a:off x="2781300" y="1752600"/>
            <a:ext cx="2314575" cy="129540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4A9B0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E49771-F484-4814-A75F-3B8A9D9DB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52550"/>
            <a:ext cx="1524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质量指标</a:t>
            </a:r>
          </a:p>
        </p:txBody>
      </p:sp>
      <p:cxnSp>
        <p:nvCxnSpPr>
          <p:cNvPr id="30" name=""/>
          <p:cNvCxnSpPr>
            <a:stCxn xmlns:a="http://schemas.openxmlformats.org/drawingml/2006/main" id="4" idx="0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 flipV="1">
            <a:off x="5524500" y="1581150"/>
            <a:ext cx="57150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4A9B0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50E1DC-89B7-49EE-A8F2-4733A501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352550"/>
            <a:ext cx="1524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技术参数</a:t>
            </a:r>
          </a:p>
        </p:txBody>
      </p:sp>
      <p:cxnSp>
        <p:nvCxnSpPr>
          <p:cNvPr id="32" name=""/>
          <p:cNvCxnSpPr>
            <a:stCxn xmlns:a="http://schemas.openxmlformats.org/drawingml/2006/main" id="4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7096125" y="1581150"/>
            <a:ext cx="47625" cy="14668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4A9B0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53B471-D5E9-4426-B639-7F60983D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24000"/>
            <a:ext cx="1524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产品状态</a:t>
            </a:r>
          </a:p>
        </p:txBody>
      </p:sp>
      <p:cxnSp>
        <p:nvCxnSpPr>
          <p:cNvPr id="34" name=""/>
          <p:cNvCxnSpPr>
            <a:stCxn xmlns:a="http://schemas.openxmlformats.org/drawingml/2006/main" id="4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7096125" y="1752600"/>
            <a:ext cx="2524125" cy="129540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4A9B0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3B8561-78CB-4D28-9DC2-5A214C9A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286250"/>
            <a:ext cx="1524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生产进度</a:t>
            </a:r>
          </a:p>
        </p:txBody>
      </p:sp>
      <p:cxnSp>
        <p:nvCxnSpPr>
          <p:cNvPr id="36" name=""/>
          <p:cNvCxnSpPr>
            <a:stCxn xmlns:a="http://schemas.openxmlformats.org/drawingml/2006/main" id="4" idx="1"/>
            <a:endCxn xmlns:a="http://schemas.openxmlformats.org/drawingml/2006/main" id="13" idx="3"/>
          </p:cNvCxnSpPr>
          <p:nvPr/>
        </p:nvCxnSpPr>
        <p:spPr>
          <a:xfrm xmlns:a="http://schemas.openxmlformats.org/drawingml/2006/main" flipH="1">
            <a:off x="3257550" y="3048000"/>
            <a:ext cx="1838325" cy="14668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4A9B0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CF992D-B777-4A22-A9B7-F6368339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762500"/>
            <a:ext cx="1524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节拍 CT</a:t>
            </a:r>
          </a:p>
        </p:txBody>
      </p:sp>
      <p:cxnSp>
        <p:nvCxnSpPr>
          <p:cNvPr id="38" name=""/>
          <p:cNvCxnSpPr>
            <a:stCxn xmlns:a="http://schemas.openxmlformats.org/drawingml/2006/main" id="4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 flipH="1">
            <a:off x="6019800" y="3467100"/>
            <a:ext cx="76200" cy="129540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4A9B0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DDD966-2CC4-45AD-96CC-F85F9025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286250"/>
            <a:ext cx="1524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Performance Rate</a:t>
            </a:r>
          </a:p>
        </p:txBody>
      </p:sp>
      <p:cxnSp>
        <p:nvCxnSpPr>
          <p:cNvPr id="40" name=""/>
          <p:cNvCxnSpPr>
            <a:stCxn xmlns:a="http://schemas.openxmlformats.org/drawingml/2006/main" id="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096125" y="3048000"/>
            <a:ext cx="1524000" cy="14668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4A9B0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FBD92E-8ADE-40C3-9807-2619FA06C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721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原系统/软件规划路径多次提到全工序数据。分类的目的，是区分哪些数据触发即时动作，哪些数据用于长期沉淀。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FBDFC3-6C91-4372-865A-076C980B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A0FEE5-A8E9-483A-A99A-3E267A61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3D0A40-03F8-4C24-A16A-37C7686F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xmlns:r="http://schemas.openxmlformats.org/officeDocument/2006/relationships" r:id="R2e46b65d0b4f4be1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161961522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7D4B10-4C2C-4DD4-AB69-B95649B93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数据采集意义的展开面向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B56CDD-E0D0-431E-BDEB-A9443153A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8F0B1C-7D2E-43FC-9027-C438AD44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4C4128-AF17-47A0-BE7F-315F784A7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3048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风险阻断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CCF352-1F91-4D12-B032-94C49253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3048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设备状态或质量指标异常时，触发停线、确认、曲线跟踪和异常闭环。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39F7DB-A3F9-48E2-900B-54BFE09D9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14500"/>
            <a:ext cx="3048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经验沉淀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715871-7D09-4942-879B-F0A46972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00300"/>
            <a:ext cx="3048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对照产品状态变化，沉淀有效技术参数，服务产品开发和工艺设定。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A15EE9-7788-4A2B-A0FF-6A2CCFF3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14500"/>
            <a:ext cx="3048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进度调整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D2D71A-B2B4-4306-AD7D-6AF993A35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00300"/>
            <a:ext cx="3048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跟踪工序衔接和 WIP 水位，触发短周期 replan，减少等待和堆积。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DD8D64-ECF5-4B92-94AA-A1F0BB94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720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数据采集不是越多越好，而是要从后续动作反推范围和手段。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A06F9E-DC61-4984-9625-5E2DAFCD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5DB904-19DC-49F3-8648-9AC1E954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D4BC97-D741-4291-8FBD-2C689BC6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xmlns:r="http://schemas.openxmlformats.org/officeDocument/2006/relationships" r:id="Re3d9c8cf6ac64daa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86527262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F94BBC-F1A9-4A3C-A044-952710E4E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数据的价值收益方向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2E1968-CE5E-46F0-BB1F-59A286DA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FDB1C8-0A2C-4B2D-A500-6673FB60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1333500" y="1428750"/>
          <a:ext xmlns:a="http://schemas.openxmlformats.org/drawingml/2006/main" cx="95250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86364"/>
                <a:gridCol w="6638636"/>
              </a:tblGrid>
              <a:tr h="70485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价值方向</a:t>
                      </a:r>
                    </a:p>
                  </a:txBody>
                  <a:tcPr marL="91440" marR="91440" marT="45720" marB="45720">
                    <a:solidFill>
                      <a:srgbClr val="F0F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收益逻辑</a:t>
                      </a:r>
                    </a:p>
                  </a:txBody>
                  <a:tcPr marL="91440" marR="91440" marT="45720" marB="45720">
                    <a:solidFill>
                      <a:srgbClr val="F0F8E8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减少质量损失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通过异常阻断和质量曲线，减少报废和问题流入后序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积累工艺经验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用技术参数和产品状态对照，形成可复用的经验值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减少波动浪费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通过进度跟踪和 replan，减少等待、堆积和断流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支撑客户证明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用过程证据回应 CATL强化要求（浙江海威）对稳定性、追溯和闭环的要求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399EB6-57E8-49B6-BD3D-E39BD3EDD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EFDB83-6DD7-44B8-B747-459514027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3619864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4F1347-5F49-4DAF-83E9-059415513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Planning 是后续重点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77945D-36CD-4554-9116-BF01C221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4C5C9-C92C-4BFE-B431-AB9596BB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F3A9EE-2FE9-46AF-945B-F6C49437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28875"/>
            <a:ext cx="12573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ERP 日计划（1D）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416C4A-2712-47B3-9D6E-C02ECEC7F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428875"/>
            <a:ext cx="12573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小时级计划基准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5602FD-E4D0-4DBB-9EC7-9C74A082B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28875"/>
            <a:ext cx="12573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现场数据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5303FF-F840-4E37-922C-A2B1C610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28875"/>
            <a:ext cx="12573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偏差判断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A77F7E-EB25-42C5-B994-63AEFBFF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28875"/>
            <a:ext cx="12573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短周期 Replan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FF37B6-A664-400B-A60A-A7AFB7EE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28875"/>
            <a:ext cx="12573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物料拉动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22E32C-A3C7-4F65-A308-CB69D1B5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428875"/>
            <a:ext cx="12573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执行反馈</a:t>
            </a:r>
          </a:p>
        </p:txBody>
      </p:sp>
      <p:cxnSp>
        <p:nvCxnSpPr>
          <p:cNvPr id="31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1733550" y="27051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32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352800" y="27051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972050" y="27051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591300" y="27051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210550" y="27051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829800" y="27051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DA5AE"/>
            </a:solidFill>
            <a:prstDash val="solid"/>
            <a:head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CBFA96-CFF0-45F7-BDFB-7170F529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095750"/>
            <a:ext cx="899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没有小时级计划基准，现场数据只能说明“发生了什么”；有小时级计划基准，数据才能判断“偏离了什么”，并触发 replan。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074004-F021-4FBC-989F-877D3DD34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D62AA9-79F8-4DCE-9B59-32221168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FB678C-5180-4FC7-A9DC-6499C8A7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xmlns:r="http://schemas.openxmlformats.org/officeDocument/2006/relationships" r:id="Rc1df2c50a471488f"/>
              </a:rPr>
              <a:t>现场穿插：排产模型 / Planning 工具</a:t>
            </a:r>
          </a:p>
        </p:txBody>
      </p:sp>
    </p:spTree>
    <p:extLst>
      <p:ext uri="{BB962C8B-B14F-4D97-AF65-F5344CB8AC3E}">
        <p14:creationId xmlns:p14="http://schemas.microsoft.com/office/powerpoint/2010/main" val="9156357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E25ACB-4EC9-48B4-B5EC-170A73A7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不同工艺过程的拉动方式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AC9370-1759-40FB-A3BB-D639DBF9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1D865B-CAF4-411A-AA92-04C9EA4DF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9FE117-2DB6-4CBC-8D62-7187F61A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90650"/>
            <a:ext cx="4619625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工单驱动适用场景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34F68D-B898-4CD5-A413-247F4484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390650"/>
            <a:ext cx="4619625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拉动式物流适用场景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DCA0DE-4FC1-4C33-BEEE-2D36F063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E1E174-18DB-4C6B-B0E6-993DE791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717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工单可以驱动料单和发料动作。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B85729-F9F9-4826-9682-A577382D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95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D7DF77-02E3-42FF-91C2-F384DDAC8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194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铝锭等原材料发至铸造产线，可以由工单牵引。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7EAB6D-49A1-4F22-9D47-0DDB94CB9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43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F3BC45-C802-4435-BA81-AFA841F6F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671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计划仍负责材料需求和产能边界。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BEEE41-B1B4-475A-A2BF-EBFEAE06B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0512EB-1731-4CCC-A8D3-6C5F6EB0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717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铸造完成品到后续工序。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13C598-B87C-4351-BB17-08B8A4A4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95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E847DE-445C-44E1-A4E0-F80C20540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194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机加到装配。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DBF2E3-B0D1-4766-BACF-E7641B119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43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23C2A1-8C0A-4677-BB02-1C5903D5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4671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排产基于库存水位展开，真实物料移动由后工序消耗节奏触发。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A183BA-4B6A-412F-A249-9B3CB3721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669C5D-8DF9-48AD-8BCE-A34EAD0BD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7107A4-1810-446B-A26B-E343D1EC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xmlns:r="http://schemas.openxmlformats.org/officeDocument/2006/relationships" r:id="Redf14d0fdbf84405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60556597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307E6D-FF17-41AF-A58B-35BE0F69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成本向展开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690CEB-4274-42DC-A420-99AC7ED4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5B654C-E393-4616-ABB6-D8ED0C1D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0F6E93-54A7-415E-BC31-EB5D1744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428750"/>
            <a:ext cx="1809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库存成本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5422AE-9FED-4259-A644-091C1DF9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428750"/>
            <a:ext cx="74295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跨工序 WIP 水位不清，会带来过量库存、缺料等待和账实偏差。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9FEB0E-7FAF-4B59-BA64-46A74435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28875"/>
            <a:ext cx="1809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波动成本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D78DC9-4E5A-49D8-88C3-050D6FBA4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28875"/>
            <a:ext cx="74295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计划弱和反馈慢，会造成等待、堆积、断流和局部加急。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02590E-5FB4-4FEE-9873-9AFCC93A9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429000"/>
            <a:ext cx="1809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质量成本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8B2B43-6A7F-4D3B-8414-91464A06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29000"/>
            <a:ext cx="74295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异常阻断不及时，导致报废、返工和客户证据不足。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B357CF-0AF6-439E-B15C-D8FDDFA6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29125"/>
            <a:ext cx="1809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数据成本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26B288-E622-4329-AC0D-D48569BE0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429125"/>
            <a:ext cx="74295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未定义动作的数据采集，会增加点位、存储、解释和维护成本。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693DF5-79E0-4DDD-8933-2CB9197FB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E51F0F-AE2A-4BD3-BB52-104DD1B82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1048913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311A20-C80D-41DB-BC4D-6783D764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AI 的初步落地方案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987544-CF9B-4DFC-B2A3-2AD265084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E7DE09-770C-43AE-AB0E-01D17695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9931B9-2001-4BDC-8B1E-D62369923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57350"/>
            <a:ext cx="24765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边缘模型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016028-8175-4A0A-9A06-FB334F2D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81250"/>
            <a:ext cx="2476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在状态异常和质量指标偏离时，辅助判断停线、降速、参数切换，并过滤非必要参数。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5245B3-97B2-4597-8F28-5CC2C377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657350"/>
            <a:ext cx="24765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服务器模型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129A5A-6E81-4F77-88AD-2D897D87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81250"/>
            <a:ext cx="2476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基于小时级计划基准、跨工序状态和 WIP 水位，生成短周期 replan 建议。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F2847E-D302-4603-A7CB-3241566F9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57350"/>
            <a:ext cx="24765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协同边界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985DB5-55EF-4C25-8608-41124FA8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381250"/>
            <a:ext cx="2476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边缘模型快速处理当前覆盖范围，服务器模型处理全局计划重排和跨工序取舍。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765350-4A4C-46C8-AD44-CB211183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边缘 AI 解决现场快速响应与参数过滤；计划重排更适合由服务器侧模型结合全局约束来判断。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C4238E-1816-411D-97EB-5DB091EC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E2415A-96A9-484C-B1A2-173E275D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8204832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6D0A50-567B-48B4-A60B-A504D11F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阶段路线与下一步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DA66D6-E44A-46A6-BA2D-57FC2A915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D864AB-2B1E-44FE-AF34-D6E05BCD8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17BC43-3783-43D8-B4B1-238295997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619375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7E10CD-BBA6-41F3-9D94-2AF223AF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14550"/>
            <a:ext cx="2619375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重新解读原系统/软件规划路径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8AE7BE-1CD3-4FA5-A37E-1F92005E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71800"/>
            <a:ext cx="2619375" cy="14859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识别客户要求、业务问题、能力短板和价值流位置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E4E85F-E3AC-4570-AC6C-1741EE9DE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524000"/>
            <a:ext cx="2619375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FE6CCD-B514-4C7D-9D67-A2C776FF1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114550"/>
            <a:ext cx="2619375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数据采集与计划闭环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6B4E4F-460E-4CF5-B941-DAC2B6635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971800"/>
            <a:ext cx="2619375" cy="14859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全工序数据、小时级计划基准、拉动物流、replan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69D78E-8267-470F-9105-C65D3563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524000"/>
            <a:ext cx="2619375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AFC222-630F-4EE2-8530-2494D223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114550"/>
            <a:ext cx="2619375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AI 与数字孪生调整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58585B-6DAF-4B40-AB00-67DD85892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971800"/>
            <a:ext cx="2619375" cy="14859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边缘模型、参数过滤、短周期重排、成本优化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B6106D-8854-42BD-8AD5-7350B1B76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491C93-AF8B-4502-924F-9296E53B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19FF92-E66E-4B2E-A058-8B3276511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xmlns:r="http://schemas.openxmlformats.org/officeDocument/2006/relationships" r:id="R7f44bce1f6cc484e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9648996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2026-09-20T14:19:55.9170000Z</dcterms:created>
  <dcterms:modified xsi:type="dcterms:W3CDTF">2026-09-20T14:19:55.9170000Z</dcterms:modified>
</coreProperties>
</file>