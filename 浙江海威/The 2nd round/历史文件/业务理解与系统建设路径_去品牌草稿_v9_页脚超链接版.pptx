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272e18aa0b4ad8" /><Relationship Type="http://schemas.openxmlformats.org/officeDocument/2006/relationships/extended-properties" Target="/docProps/app.xml" Id="R1a59b332053640a6" /><Relationship Type="http://schemas.openxmlformats.org/officeDocument/2006/relationships/officeDocument" Target="/ppt/presentation.xml" Id="Rc2d79a5dfeaa48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5dabe5fe034f6d"/>
  </p:sldMasterIdLst>
  <p:notesMasterIdLst>
    <p:notesMasterId xmlns:r="http://schemas.openxmlformats.org/officeDocument/2006/relationships" r:id="R4b03b1469cfb4c2c"/>
  </p:notesMasterIdLst>
  <p:sldIdLst>
    <p:sldId xmlns:r="http://schemas.openxmlformats.org/officeDocument/2006/relationships" id="256" r:id="R9d9222ba33fe4a25"/>
    <p:sldId xmlns:r="http://schemas.openxmlformats.org/officeDocument/2006/relationships" id="257" r:id="R72fd58e788d4442e"/>
    <p:sldId xmlns:r="http://schemas.openxmlformats.org/officeDocument/2006/relationships" id="258" r:id="R4fa7726ead6d4838"/>
    <p:sldId xmlns:r="http://schemas.openxmlformats.org/officeDocument/2006/relationships" id="259" r:id="Rd6eecdef02154e29"/>
    <p:sldId xmlns:r="http://schemas.openxmlformats.org/officeDocument/2006/relationships" id="260" r:id="Rb75735aa95a949dd"/>
    <p:sldId xmlns:r="http://schemas.openxmlformats.org/officeDocument/2006/relationships" id="261" r:id="Rfa830d52368b40e2"/>
    <p:sldId xmlns:r="http://schemas.openxmlformats.org/officeDocument/2006/relationships" id="262" r:id="R1328dc22ec27494e"/>
    <p:sldId xmlns:r="http://schemas.openxmlformats.org/officeDocument/2006/relationships" id="263" r:id="R2bb4923ad7ec4cbd"/>
    <p:sldId xmlns:r="http://schemas.openxmlformats.org/officeDocument/2006/relationships" id="264" r:id="Ra188c6522e2843e5"/>
    <p:sldId xmlns:r="http://schemas.openxmlformats.org/officeDocument/2006/relationships" id="265" r:id="Rc511c19e9fcc4538"/>
    <p:sldId xmlns:r="http://schemas.openxmlformats.org/officeDocument/2006/relationships" id="266" r:id="Rdec0271d811c4255"/>
    <p:sldId xmlns:r="http://schemas.openxmlformats.org/officeDocument/2006/relationships" id="267" r:id="Rf6dc1ca1ddcd442a"/>
    <p:sldId xmlns:r="http://schemas.openxmlformats.org/officeDocument/2006/relationships" id="268" r:id="R8dc5286995294b10"/>
    <p:sldId xmlns:r="http://schemas.openxmlformats.org/officeDocument/2006/relationships" id="269" r:id="R49a4dfe6ca8841bd"/>
    <p:sldId xmlns:r="http://schemas.openxmlformats.org/officeDocument/2006/relationships" id="270" r:id="Rb1eec4d74b644c62"/>
    <p:sldId xmlns:r="http://schemas.openxmlformats.org/officeDocument/2006/relationships" id="271" r:id="R925b4d435f3949ee"/>
    <p:sldId xmlns:r="http://schemas.openxmlformats.org/officeDocument/2006/relationships" id="272" r:id="Rf44b8e1b0b264538"/>
    <p:sldId xmlns:r="http://schemas.openxmlformats.org/officeDocument/2006/relationships" id="273" r:id="R949be4aa5f3a40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bdedfa7cae4dde" /><Relationship Type="http://schemas.openxmlformats.org/officeDocument/2006/relationships/slideMaster" Target="/ppt/slideMasters/slideMaster1.xml" Id="R1b5dabe5fe034f6d" /><Relationship Type="http://schemas.openxmlformats.org/officeDocument/2006/relationships/notesMaster" Target="/ppt/notesMasters/notesMaster1.xml" Id="R4b03b1469cfb4c2c" /><Relationship Type="http://schemas.openxmlformats.org/officeDocument/2006/relationships/presProps" Target="/ppt/presProps.xml" Id="Rb24206671a994e4c" /><Relationship Type="http://schemas.openxmlformats.org/officeDocument/2006/relationships/tableStyles" Target="/ppt/tableStyles.xml" Id="R355c191cffc440a2" /><Relationship Type="http://schemas.openxmlformats.org/officeDocument/2006/relationships/slide" Target="/ppt/slides/slide1.xml" Id="R9d9222ba33fe4a25" /><Relationship Type="http://schemas.openxmlformats.org/officeDocument/2006/relationships/slide" Target="/ppt/slides/slide2.xml" Id="R72fd58e788d4442e" /><Relationship Type="http://schemas.openxmlformats.org/officeDocument/2006/relationships/slide" Target="/ppt/slides/slide3.xml" Id="R4fa7726ead6d4838" /><Relationship Type="http://schemas.openxmlformats.org/officeDocument/2006/relationships/slide" Target="/ppt/slides/slide4.xml" Id="Rd6eecdef02154e29" /><Relationship Type="http://schemas.openxmlformats.org/officeDocument/2006/relationships/slide" Target="/ppt/slides/slide5.xml" Id="Rb75735aa95a949dd" /><Relationship Type="http://schemas.openxmlformats.org/officeDocument/2006/relationships/slide" Target="/ppt/slides/slide6.xml" Id="Rfa830d52368b40e2" /><Relationship Type="http://schemas.openxmlformats.org/officeDocument/2006/relationships/slide" Target="/ppt/slides/slide7.xml" Id="R1328dc22ec27494e" /><Relationship Type="http://schemas.openxmlformats.org/officeDocument/2006/relationships/slide" Target="/ppt/slides/slide8.xml" Id="R2bb4923ad7ec4cbd" /><Relationship Type="http://schemas.openxmlformats.org/officeDocument/2006/relationships/slide" Target="/ppt/slides/slide9.xml" Id="Ra188c6522e2843e5" /><Relationship Type="http://schemas.openxmlformats.org/officeDocument/2006/relationships/slide" Target="/ppt/slides/slide10.xml" Id="Rc511c19e9fcc4538" /><Relationship Type="http://schemas.openxmlformats.org/officeDocument/2006/relationships/slide" Target="/ppt/slides/slide11.xml" Id="Rdec0271d811c4255" /><Relationship Type="http://schemas.openxmlformats.org/officeDocument/2006/relationships/slide" Target="/ppt/slides/slide12.xml" Id="Rf6dc1ca1ddcd442a" /><Relationship Type="http://schemas.openxmlformats.org/officeDocument/2006/relationships/slide" Target="/ppt/slides/slide13.xml" Id="R8dc5286995294b10" /><Relationship Type="http://schemas.openxmlformats.org/officeDocument/2006/relationships/slide" Target="/ppt/slides/slide14.xml" Id="R49a4dfe6ca8841bd" /><Relationship Type="http://schemas.openxmlformats.org/officeDocument/2006/relationships/slide" Target="/ppt/slides/slide15.xml" Id="Rb1eec4d74b644c62" /><Relationship Type="http://schemas.openxmlformats.org/officeDocument/2006/relationships/slide" Target="/ppt/slides/slide16.xml" Id="R925b4d435f3949ee" /><Relationship Type="http://schemas.openxmlformats.org/officeDocument/2006/relationships/slide" Target="/ppt/slides/slide17.xml" Id="Rf44b8e1b0b264538" /><Relationship Type="http://schemas.openxmlformats.org/officeDocument/2006/relationships/slide" Target="/ppt/slides/slide18.xml" Id="R949be4aa5f3a40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51b048254140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7625c2e20a4914" /><Relationship Type="http://schemas.openxmlformats.org/officeDocument/2006/relationships/notesMaster" Target="/ppt/notesMasters/notesMaster1.xml" Id="R274520b3d88548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405bb23140463b" /><Relationship Type="http://schemas.openxmlformats.org/officeDocument/2006/relationships/notesMaster" Target="/ppt/notesMasters/notesMaster1.xml" Id="Rc4f360a4cf2d41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4684f4730240ab" /><Relationship Type="http://schemas.openxmlformats.org/officeDocument/2006/relationships/notesMaster" Target="/ppt/notesMasters/notesMaster1.xml" Id="Rdc6f9252b38d49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5600601afb4181" /><Relationship Type="http://schemas.openxmlformats.org/officeDocument/2006/relationships/notesMaster" Target="/ppt/notesMasters/notesMaster1.xml" Id="R52a7f04e6ad04c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469a98018a494c" /><Relationship Type="http://schemas.openxmlformats.org/officeDocument/2006/relationships/notesMaster" Target="/ppt/notesMasters/notesMaster1.xml" Id="Rfa35935813be4c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87545ce3274b85" /><Relationship Type="http://schemas.openxmlformats.org/officeDocument/2006/relationships/notesMaster" Target="/ppt/notesMasters/notesMaster1.xml" Id="R971da68cf7cd4e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b43abf9c2e492a" /><Relationship Type="http://schemas.openxmlformats.org/officeDocument/2006/relationships/notesMaster" Target="/ppt/notesMasters/notesMaster1.xml" Id="Rd405c3f9dc3547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51191f4b444046" /><Relationship Type="http://schemas.openxmlformats.org/officeDocument/2006/relationships/notesMaster" Target="/ppt/notesMasters/notesMaster1.xml" Id="R1311aa7a8fdc49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390ee8347548a4" /><Relationship Type="http://schemas.openxmlformats.org/officeDocument/2006/relationships/notesMaster" Target="/ppt/notesMasters/notesMaster1.xml" Id="R5df37eb8bc8847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5790f12c4e4735" /><Relationship Type="http://schemas.openxmlformats.org/officeDocument/2006/relationships/notesMaster" Target="/ppt/notesMasters/notesMaster1.xml" Id="R4184f5717af648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cfc55f8a7a42cb" /><Relationship Type="http://schemas.openxmlformats.org/officeDocument/2006/relationships/notesMaster" Target="/ppt/notesMasters/notesMaster1.xml" Id="R09251c5a013745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dcbe20f14548ae" /><Relationship Type="http://schemas.openxmlformats.org/officeDocument/2006/relationships/notesMaster" Target="/ppt/notesMasters/notesMaster1.xml" Id="Rffc46d07e00348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44e8ce592f4853" /><Relationship Type="http://schemas.openxmlformats.org/officeDocument/2006/relationships/notesMaster" Target="/ppt/notesMasters/notesMaster1.xml" Id="Ra8126cde40fa47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cc79f00cb742a7" /><Relationship Type="http://schemas.openxmlformats.org/officeDocument/2006/relationships/notesMaster" Target="/ppt/notesMasters/notesMaster1.xml" Id="R54ae458e3f7a44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2caf0ef47314a32" /><Relationship Type="http://schemas.openxmlformats.org/officeDocument/2006/relationships/notesMaster" Target="/ppt/notesMasters/notesMaster1.xml" Id="R1f1da37ed12546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8d5c417f6a34214" /><Relationship Type="http://schemas.openxmlformats.org/officeDocument/2006/relationships/notesMaster" Target="/ppt/notesMasters/notesMaster1.xml" Id="Red4cd94314ee498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16ab6d5b8bb4e02" /><Relationship Type="http://schemas.openxmlformats.org/officeDocument/2006/relationships/notesMaster" Target="/ppt/notesMasters/notesMaster1.xml" Id="R1e0bf8e88968497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1f8c92d4cb41a3" /><Relationship Type="http://schemas.openxmlformats.org/officeDocument/2006/relationships/notesMaster" Target="/ppt/notesMasters/notesMaster1.xml" Id="R9a9d006163a348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封面已去除公司 logo 和名称，仅保留原模板的蓝绿底栏风格。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用户手动加入的原系统/软件规划路径来源页，作为后续解读来源。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这里解释 CATL强化要求（浙江海威）的由来：主要客户关心供应商过程是否稳定、可控、可追溯。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这不是模块替换，而是把客户要求重新归入业务能力。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进入价值流后才能看清功能发生在哪、解决什么问题、输出什么证据。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回答：CATL强化要求（浙江海威）是否能从二阶段系统规划中展开，以及当前条件是否足够。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结合成本展开：不同拉动方式会影响库存占用、等待时间、换线和异常调整成本。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ba9607ee3142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2865d0fb0747fc" /><Relationship Type="http://schemas.openxmlformats.org/officeDocument/2006/relationships/slideLayout" Target="/ppt/slideLayouts/slideLayout1.xml" Id="Rce085f57691144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085f57691144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5eff1c3814f77" /><Relationship Type="http://schemas.openxmlformats.org/officeDocument/2006/relationships/notesSlide" Target="/ppt/notesSlides/notesSlide1.xml" Id="Re34a7c9dc0f047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b912c53a44512" /><Relationship Type="http://schemas.openxmlformats.org/officeDocument/2006/relationships/notesSlide" Target="/ppt/notesSlides/notesSlide2.xml" Id="Rcec9ffd9d39d4f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3a2b998714718" /><Relationship Type="http://schemas.openxmlformats.org/officeDocument/2006/relationships/image" Target="/ppt/media/image.png" Id="Raa7b21819d73451c" /><Relationship Type="http://schemas.openxmlformats.org/officeDocument/2006/relationships/notesSlide" Target="/ppt/notesSlides/notesSlide3.xml" Id="Rd8a48a6fe0e046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df6ec6da345b8" /><Relationship Type="http://schemas.openxmlformats.org/officeDocument/2006/relationships/notesSlide" Target="/ppt/notesSlides/notesSlide4.xml" Id="Rfee0446222894b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34abedca24eb8" /><Relationship Type="http://schemas.openxmlformats.org/officeDocument/2006/relationships/notesSlide" Target="/ppt/notesSlides/notesSlide5.xml" Id="R707dba19040048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ecda0cd06420f" /><Relationship Type="http://schemas.openxmlformats.org/officeDocument/2006/relationships/hyperlink" Target="file:///Users/lijiajun/Documents/GitHub/python-document/%E6%B5%99%E6%B1%9F%E6%B5%B7%E5%A8%81/%E6%B5%B7%E5%A8%81%E4%BF%A1%E6%81%AF%E7%B3%BB%E7%BB%9F_%E4%B8%9A%E5%8A%A1%E8%BF%87%E7%A8%8B%E9%87%8D%E7%BB%84%E5%B7%A5%E4%BD%9C%E5%8F%B0.html" TargetMode="External" Id="Rf013d209460a4407" /><Relationship Type="http://schemas.openxmlformats.org/officeDocument/2006/relationships/notesSlide" Target="/ppt/notesSlides/notesSlide6.xml" Id="R514a8c479e234f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67150a3e54c63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31988e54d81b4489" /><Relationship Type="http://schemas.openxmlformats.org/officeDocument/2006/relationships/notesSlide" Target="/ppt/notesSlides/notesSlide7.xml" Id="R8fd7b767b2c041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256725af5401e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42252e47942d40af" /><Relationship Type="http://schemas.openxmlformats.org/officeDocument/2006/relationships/notesSlide" Target="/ppt/notesSlides/notesSlide8.xml" Id="R553a084595c24b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8f596fe37419e" /><Relationship Type="http://schemas.openxmlformats.org/officeDocument/2006/relationships/hyperlink" Target="file:///Users/lijiajun/Documents/GitHub/python-document/%E6%B5%99%E6%B1%9F%E6%B5%B7%E5%A8%81/%E6%B5%B7%E5%A8%81%E4%BF%A1%E6%81%AF%E7%B3%BB%E7%BB%9F_%E4%B8%9A%E5%8A%A1%E8%BF%87%E7%A8%8B%E9%87%8D%E7%BB%84%E5%B7%A5%E4%BD%9C%E5%8F%B0.html" TargetMode="External" Id="R357c0230478647bf" /><Relationship Type="http://schemas.openxmlformats.org/officeDocument/2006/relationships/notesSlide" Target="/ppt/notesSlides/notesSlide9.xml" Id="R3ee63b065e5a4c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3549568124e21" /><Relationship Type="http://schemas.openxmlformats.org/officeDocument/2006/relationships/notesSlide" Target="/ppt/notesSlides/notesSlide10.xml" Id="R6959a3c564af47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7fc981ebc42c1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55dcb28264654560" /><Relationship Type="http://schemas.openxmlformats.org/officeDocument/2006/relationships/notesSlide" Target="/ppt/notesSlides/notesSlide11.xml" Id="R919f7ce2f89240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cc87e457741b7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a357f375a0804862" /><Relationship Type="http://schemas.openxmlformats.org/officeDocument/2006/relationships/notesSlide" Target="/ppt/notesSlides/notesSlide12.xml" Id="R2bff4a13c0af4c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02c4f0654488d" /><Relationship Type="http://schemas.openxmlformats.org/officeDocument/2006/relationships/notesSlide" Target="/ppt/notesSlides/notesSlide13.xml" Id="R5dbf4633f66747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526cddbb445e9" /><Relationship Type="http://schemas.openxmlformats.org/officeDocument/2006/relationships/hyperlink" Target="file:///Users/lijiajun/Documents/GitHub/python-document/capa.%20calculation/%E6%8E%92%E4%BA%A7%E6%A8%A1%E5%9E%8B/index.html" TargetMode="External" Id="R6664910a2ce44946" /><Relationship Type="http://schemas.openxmlformats.org/officeDocument/2006/relationships/notesSlide" Target="/ppt/notesSlides/notesSlide14.xml" Id="Rbfaa127dc3f343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dac7dc4a542d5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b671a8766d944d84" /><Relationship Type="http://schemas.openxmlformats.org/officeDocument/2006/relationships/notesSlide" Target="/ppt/notesSlides/notesSlide15.xml" Id="Rbd90b95a5bb6436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bbd8b7fe6446f" /><Relationship Type="http://schemas.openxmlformats.org/officeDocument/2006/relationships/notesSlide" Target="/ppt/notesSlides/notesSlide16.xml" Id="R8546425d914c4c2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3ac49fcef4836" /><Relationship Type="http://schemas.openxmlformats.org/officeDocument/2006/relationships/notesSlide" Target="/ppt/notesSlides/notesSlide17.xml" Id="Rcc1956607335445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4f9ef7d154839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f9ba73631d30480f" /><Relationship Type="http://schemas.openxmlformats.org/officeDocument/2006/relationships/notesSlide" Target="/ppt/notesSlides/notesSlide18.xml" Id="Rc1e80a303e8c42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252AC-673E-4D8B-A312-E75AF84B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信息系统建设理解与下一阶段路径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11620-27D8-4E30-841B-A741301E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432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客户要求、运营能力与系统建设路径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E0F5F-419A-466F-BB46-C1FE8125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03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D17A5-BE4F-4D7B-A0D8-179F218A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210300"/>
            <a:ext cx="1143000" cy="2857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AA13A-22E8-421B-B1D9-65F18FFA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210300"/>
            <a:ext cx="401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</a:ln>
        </p:spPr>
      </p:sp>
    </p:spTree>
    <p:extLst>
      <p:ext uri="{BB962C8B-B14F-4D97-AF65-F5344CB8AC3E}">
        <p14:creationId xmlns:p14="http://schemas.microsoft.com/office/powerpoint/2010/main" val="18007125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5EF449-803E-4F73-BC85-FAFC30F1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汇报切入点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09C1D-4B04-4E35-92AA-6565A826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D5321-0D3E-4FAB-843D-DBDDD867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B0585-13FC-4F28-BAF4-46C85BD1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原系统/软件规划路径解读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277C5-0748-4381-AE89-54938E4D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宁波海威与浙江海威已有两阶段系统规划，浙江海威因 CATL强化要求进一步补强。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E697E-EED7-4A36-8C6D-14AC7995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运营能力剖析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EB66B-F997-40C9-A022-25817B36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客户关注的不是系统名称，而是稳定交付、过程可控和质量可证明。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F18F2-CD56-4BD4-8D8E-CD8582E9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407BA-7142-4425-B1CB-FADF11D4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系统工具要回应当前运作问题，并强化计划、物料、质量和设备数据能力。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9AA4D-198C-4CE5-8FC3-4130D5C4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客户要求是入口，运营能力是主题，系统功能是手段。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E69A5-994D-4B44-AC30-9DDE8227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2D906-4E04-4B3A-8494-CC77BB87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59602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ABAAD-0189-4CE5-A105-9EE58825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原系统/软件规划路径来源页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38426-8C6F-4BF0-AC8F-8D5D95BC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BB82F-6D0E-409D-9722-0CB1321F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b21819d73451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C51CA-1DE9-4683-B84E-81B5F5B4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2A8CD-461B-42A8-AE0C-CAB017BF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3FA5C-6A03-4E54-9FEE-E7E6FC3D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现场穿插：保留原系统/软件规划路径来源页，不删除</a:t>
            </a:r>
          </a:p>
        </p:txBody>
      </p:sp>
    </p:spTree>
    <p:extLst>
      <p:ext uri="{BB962C8B-B14F-4D97-AF65-F5344CB8AC3E}">
        <p14:creationId xmlns:p14="http://schemas.microsoft.com/office/powerpoint/2010/main" val="1368385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1EEE3E-EF34-4886-B5C8-FE00532C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原系统/软件规划路径的重新理解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F33C0-28C8-46E6-BC7C-DF000A9F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DBEB1-707A-436C-A064-A1FE2D01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9C4B5-7F18-4D85-A742-635EE6CC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原有系统建设思路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AFA35-5E40-418D-85F7-DB05830D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CATL强化要求（浙江海威）带来的变化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4F28A-0DB9-44B8-88E2-AF235CE1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9D5EB-4F1E-40A5-93A5-48449C8E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一阶段系统规划（宁波海威+浙江海威）偏 WMS/MES，解决库存、出入库、生产执行和基础追溯。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D10BE-64BB-4769-87F8-B3F81E37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F378F-C395-4B99-81A1-7350694B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二阶段系统规划（宁波海威+浙江海威）本来就计划补强 QMS、TPM、IoT 等能力。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48F91-2124-4F91-AF37-2E3FE342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049EE-3B4F-4926-9C71-86B50C21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原系统/软件规划路径不是从无到有，而是宁波海威与浙江海威共同的一阶段/二阶段系统规划；CATL强化要求（浙江海威）是在浙江海威（嵊州）面向主要客户 CATL 的运营能力补强。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1CC2DA-4C81-4E55-9185-8037CDB0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E7168-6EC1-4ED0-96CA-D865E979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CATL强化要求（浙江海威）把功能清单推向过程控制要求。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BB3F3-1A31-4AA0-BFBE-9B5D7C4B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9B325-2C10-4A9B-A0D5-A162C28F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强化项更关注批次、参数、权限、点检、SPC 和全工序数据。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A1C4D-D78D-49AD-AF81-ED51EF79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35529-7895-4C86-8BC6-876E2FA1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系统建设从功能补充，转向浙江海威（嵊州）的运营能力证明。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157C9E-926E-41BF-AE2D-84765B51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879961-5D25-4DD8-A8F3-F4DDDC9D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37089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39C6C-4DC0-4CD0-8B83-B9129C95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客户关注的是运营能力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BC611-75C3-4548-99AF-13D25897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8FC60-A929-4648-B33D-08F91208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DD83B-FEEB-4198-85B0-C137E607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稳定交付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4654D-C58B-4204-B351-DD74FC9E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计划能否牵引物料、工序和设备，交期偏差能否及时反馈。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57CE7-2ABF-4663-9E75-4AA7FC0A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过程可控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CCB07-8D37-4567-A9A9-069DA38B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人员、参数、程序、工装夹具和检测动作是否被过程约束。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8A8EE-5293-47E0-B05E-5242AB55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质量可证明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45F10-BC69-4E8B-AD01-3BE2E4C6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质量不是只有检验记录，还要有标准、曲线、SPC 和异常闭环证据。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B08E0-E35D-475B-A0F4-A0673DF2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异常可闭环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7E1A7-3727-4EED-A1B2-75F856A3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异常出现后，系统能否触发停线、确认、replan 或客户要求的处理动作。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BC18B-61FE-4803-BC8A-1C7CEE84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7D848-793F-4829-AFDC-0EEE1FFB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328679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B5FEC1-DE34-420D-92BA-A07D17E9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功能从系统模块转向业务能力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B4E19-0D02-4F05-B486-1CA8FFBE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16E6E-F932-4ADE-8CDD-DA91BAE0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51107-B71D-4F8F-81EB-0CF86E1E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71600"/>
            <a:ext cx="2857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原系统语言来源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FAECD-D9BC-4326-9276-3ADB3BCC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71600"/>
            <a:ext cx="3143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重组后的业务能力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ACC0D-1BBD-4266-813D-66D376E9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086A5-BD00-4908-B8E6-D07A30E7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实物／物料流管理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03608-C214-4950-9074-52AA30AA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812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06B92-098B-427C-B085-1E582117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531CE-92CE-4622-823C-3884F21A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C59C7-85EC-404B-B1D4-E97D5182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670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D4DA9-F7D7-4A8E-AB45-FEAD7D65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BE350-039E-4BDF-A031-DC64C491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生产过程与工艺管理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8CBF8-33B9-4755-A078-412A750A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528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A1959-BA40-4C5D-BA4E-C18E0963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39889-6A58-47AE-9C62-9EC7E607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 相关界面输出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FBD3D-E4C3-41D0-AEBC-890F872A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D5088-AEA3-409B-9A65-BB747F4D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E82035-04CE-4F90-B406-0409D79D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244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设备数据采集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EB6019-DC37-49C8-ABD4-FF5B01C5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244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8E1D9C-2986-4092-957D-F3D859DF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57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这一步把系统清单转成经营和现场能讨论的业务语言。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170998-4F52-402F-9A12-1DD9E547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C8C610-ED25-48A2-9790-1735358E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5A707A-5120-454B-AADA-D87E6F85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f013d209460a4407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8488208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64C4CB-4740-456D-9078-2B1408FC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功能落到价值流后才有意义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94A1C-00B6-4478-8BE1-4A515353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48118-5170-433A-A3E5-1ACB739D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20B3B-548E-4B0D-B53F-653E0BCD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供应商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EF43C-531D-4D05-95BB-F0C1A9FF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0A7EF-1359-48AE-B395-6BA48442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收货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B8502-F97B-40DF-86FE-3143DC7C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21AC7-7B14-4999-B9E8-B68FF980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入库检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34A00-0583-435B-BDEF-0B42B3E3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E4669-3909-4A8C-948E-FE941E6A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仓库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11248-D97C-4267-981E-7E3E5B3F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E68CF-F7D3-451E-AB31-AE6EE891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材料出库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3D032-597B-4523-84CE-CD1A3BED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生产工序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15615-21E0-47F0-BAC7-B9128F9C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1C19B-6FDD-4D7C-AA76-351CF5DA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5FEED-BC61-4F90-BD8A-F7823F8E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成品检验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84F5A-FBCF-414B-A8E7-BE061DDA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44782-A9F5-4389-A17C-5C3D20A3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成品出库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02A534-EAF7-446A-A7F6-26A2AE1A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510A5-3C09-46C2-A4D1-A6F2BF09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9EABF-9CF9-4763-A7B5-AA0713CF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347ED2-9247-489E-9504-7E346DB9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97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866C95-0045-480A-A4A4-DF0CF748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95875"/>
            <a:ext cx="899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EE38B1-660F-46E4-863A-A23BFB4E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7BF787-AFE6-4A1C-89D0-22947B90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806C54-A4C3-42EB-ACD5-7E1AA2EB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31988e54d81b4489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2979993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B8444-FB1E-440A-9317-C1B499AF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价值流中的三类状态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728A4-4630-4EE8-9B6C-69DB3D57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00ACA-2DF9-4453-AB58-3013BE5F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7C0B3-91D9-4097-8B8E-0CC039CD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已有基础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CBCB2-D06C-4B63-B028-A81C319E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库存、出入库、FIFO、派工、报工、追溯和检验入口，更多解决记录和基础管控。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C0739-F444-48FD-93B8-04D9BCBD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288AF-6362-4A72-B727-D5EAFE4E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 等方向，边界在于是否能进入过程动作并形成反馈。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FC292-979F-441E-A8C2-99575D0C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CATL强化要求（浙江海威）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B940C-4482-4D3A-800C-1BB05EA6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权限、点检、参数、防错、SPC、设备数据和全工序控制继续加深。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233E2-EC06-43F8-932A-C29FD38F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同一个价值流节点上，可能同时存在已有能力、二阶段系统规划和 CATL强化要求（浙江海威）。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9B3FA-9F9E-4387-BCE3-A2509828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32B01-FB99-4A2F-8EA7-2CBE214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CD098-2C43-4679-BA33-2BAC2DE8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42252e47942d40af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4127079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13140D-F90E-4B4A-9569-B62721C8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当前基础与二期边界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EED03-CED0-4428-BA76-D2831131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D72DF-3BAE-4DA7-889C-09E91055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D4032-2794-4E79-9465-E909D981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已有基础如何现场加强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07C0D-1839-4E66-87AB-B05B3A02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二阶段系统规划的边界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FC13A-9FEF-4CFD-97DF-FC25003E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D7787-1A57-4DE6-A80F-7F5C1B25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把记录型功能转成现场动作入口。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F709C-88C2-43EB-8B54-5027C4FB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8F304-C09C-4B8C-8F29-60415476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让库存、发料、报工、检验与计划偏差建立关联。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DB88F-56F8-4EB6-8D66-B86B1C07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CF87A-05B1-47F2-B268-4D8313B1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补齐跨工序 WIP 水位和后工序拉动前工序的判断。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CFB44-C965-4097-A524-AFDE3ED4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88EF3-A118-4675-A406-B5BCCC57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 如果只做记录，很难承担过程控制。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65693-9C3C-4A2F-87A6-C8CB9EA6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60FAF3-A36F-4FA0-954F-A6843026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TPM/IoT 如果只采集设备状态，很难解释产出波动。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C76F6-65E1-40D7-B053-C7FA1A1B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D962D-CAD7-4FCB-AEE3-7E25D0D1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二阶段系统规划能否承接 CATL强化要求（浙江海威），取决于 Planning、过程动作和数据反馈是否打通。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5FAA4-2493-48C4-9852-FE32E429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524D32-F6F1-4181-8F62-ADFFC4C3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DC3D1-91B5-4F01-8B3F-6410C922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357c0230478647bf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20803312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802AF-17E8-4729-BD28-D768AE78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后续加强能否实现目的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409FE-A828-4BE0-91D8-0A444521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89D53-B62F-42BF-A8EB-03BD5A7E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33500" y="1428750"/>
          <a:ext xmlns:a="http://schemas.openxmlformats.org/drawingml/2006/main" cx="9525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86364"/>
                <a:gridCol w="6638636"/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后续加强方向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实现条件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质量与异常闭环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需要标准、阈值、责任、停线和恢复规则，不只是 QMS 表单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设备与参数控制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需要产品状态、工艺参数和设备参数之间形成可解释关系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全工序数据采集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需要先定义采集后的动作，再定义点位、频率和采集手段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短周期计划调整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 24H 计划基准、CT、Performance Rate 和真实执行反馈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EE0B3-ADCA-464A-AB4E-CC2A0A08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705B2-8A98-4BD0-B36A-0C4436BE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73238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3E3637-A1A7-4458-979B-DE32FA5C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全工序数据的分类角度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5F710-FB68-4D98-9EAD-9FA2FF26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F6063-AD18-4266-AFD5-CF51D812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7C20C-7152-4862-A759-3933CCF1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28900"/>
            <a:ext cx="20002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76BC21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全工序数据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77C50-59B7-4A60-BB00-5E8FD6AB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240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cxnSp>
        <p:nvCxnSpPr>
          <p:cNvPr id="28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2781300" y="1752600"/>
            <a:ext cx="2314575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07AA2-92D6-4449-94E3-220D4050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525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</a:t>
            </a:r>
          </a:p>
        </p:txBody>
      </p:sp>
      <p:cxnSp>
        <p:nvCxnSpPr>
          <p:cNvPr id="30" name=""/>
          <p:cNvCxnSpPr>
            <a:stCxn xmlns:a="http://schemas.openxmlformats.org/drawingml/2006/main" id="4" idx="0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5524500" y="1581150"/>
            <a:ext cx="57150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355F5-C91F-437D-BC88-4D88597D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525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</a:t>
            </a:r>
          </a:p>
        </p:txBody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096125" y="1581150"/>
            <a:ext cx="47625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2DBFA-8688-4747-8F49-3B675E0A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产品状态</a:t>
            </a:r>
          </a:p>
        </p:txBody>
      </p: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096125" y="1752600"/>
            <a:ext cx="2524125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01F78-7EAA-4AE5-BB5B-C9CF6268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862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生产进度</a:t>
            </a:r>
          </a:p>
        </p:txBody>
      </p:sp>
      <p:cxnSp>
        <p:nvCxnSpPr>
          <p:cNvPr id="36" name=""/>
          <p:cNvCxnSpPr>
            <a:stCxn xmlns:a="http://schemas.openxmlformats.org/drawingml/2006/main" id="4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3257550" y="3048000"/>
            <a:ext cx="1838325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E2AED-8AD3-4371-892F-73C0EC2C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625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</a:t>
            </a:r>
          </a:p>
        </p:txBody>
      </p:sp>
      <p:cxnSp>
        <p:nvCxnSpPr>
          <p:cNvPr id="38" name=""/>
          <p:cNvCxnSpPr>
            <a:stCxn xmlns:a="http://schemas.openxmlformats.org/drawingml/2006/main" id="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6019800" y="3467100"/>
            <a:ext cx="7620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197B8-D645-4761-BB1D-9F585E7D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862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Performance Rate</a:t>
            </a:r>
          </a:p>
        </p:txBody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96125" y="3048000"/>
            <a:ext cx="152400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815EB-8F75-4679-B43F-026EF0FC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原系统/软件规划路径多次提到全工序数据。分类的目的，是区分哪些数据触发即时动作，哪些数据用于长期沉淀。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C123C6-F34B-49D0-BFD4-086E64A8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46BCDB-8524-4AAD-A3C0-4CFEC0F1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0927B8-A90C-4B4D-81C6-5D05610E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55dcb28264654560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3971516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A9E6B-6AEE-478E-A7CA-5BD0DB7F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数据采集意义的展开面向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8E019-3539-46AF-9D93-6A4DB603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825AF-C6DA-412B-9489-685C9512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4BF65-838C-448D-9812-3774DE00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风险阻断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C4EA8-F632-493A-9C4A-EDAE7F27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设备状态或质量指标异常时，触发停线、确认、曲线跟踪和异常闭环。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C3ABC-C945-4D5C-9355-6449C1B0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经验沉淀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BD7AD-9EF5-4400-B494-B69FFE40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对照产品状态变化，沉淀有效技术参数，服务产品开发和工艺设定。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18716-9E39-4EEB-8FAE-D6C51A8E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进度调整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6CFA2-B965-4793-BC95-291626CC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跟踪工序衔接和 WIP 水位，触发短周期 replan，减少等待和堆积。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D02F1-1826-4A63-AE73-23BCFE09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数据采集不是越多越好，而是要从后续动作反推范围和手段。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29416-5792-4D98-88D2-BFC223A7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97473-F0D3-44E9-ABB4-7709BFEB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F297F-1731-48E6-8BBD-F62ED23E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a357f375a0804862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8786504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FFDFF-3954-4481-8F51-6E2B661C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数据的价值收益方向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AB8B9-FC6F-45C3-8FA8-85FA1535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03490-9B61-4334-8A24-21D80514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33500" y="1428750"/>
          <a:ext xmlns:a="http://schemas.openxmlformats.org/drawingml/2006/main" cx="9525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86364"/>
                <a:gridCol w="6638636"/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价值方向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收益逻辑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减少质量损失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通过异常阻断和质量曲线，减少报废和问题流入后序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积累工艺经验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用技术参数和产品状态对照，形成可复用的经验值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减少波动浪费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通过进度跟踪和 replan，减少等待、堆积和断流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支撑客户证明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用过程证据回应 CATL强化要求（浙江海威）对稳定性、追溯和闭环的要求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FBCD5-9670-435C-AB43-30645E63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CEA94-5999-44AC-B2B5-47001F4A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705193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78E821-46E1-48C6-AAD6-01C0A806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Planning 是后续重点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765F1-4BEB-48C2-A19B-A2DB762C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06862-BC1E-4322-B157-7DD3302F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56F9A-3C2B-48A5-BC32-98A02245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ERP 日计划（1D）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59238-1F53-469F-9B1B-4C93811C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小时级计划基准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B8E23-E88C-4772-B0A5-7F3FEBDD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F0F53-AF36-4DD0-8F25-291410F8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偏差判断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5CD9D-DB55-42C2-9392-43C389AC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短周期 Replan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D857C-4833-4829-970B-BD90BEE1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物料拉动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16878-6EA1-4E31-91C0-7428F6B8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执行反馈</a:t>
            </a:r>
          </a:p>
        </p:txBody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73355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5280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97205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59130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21055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82980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452873-3AA6-4F16-8520-70573F5B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5750"/>
            <a:ext cx="899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没有小时级计划基准，现场数据只能说明“发生了什么”；有小时级计划基准，数据才能判断“偏离了什么”，并触发 replan。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2C7EEA-7788-48A1-A357-543176AD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54703F-4F78-40C4-989C-0FEDF526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EF6584-9E36-4652-9F40-E155F32C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6664910a2ce44946"/>
              </a:rPr>
              <a:t>现场穿插：排产模型 / Planning 工具</a:t>
            </a:r>
          </a:p>
        </p:txBody>
      </p:sp>
    </p:spTree>
    <p:extLst>
      <p:ext uri="{BB962C8B-B14F-4D97-AF65-F5344CB8AC3E}">
        <p14:creationId xmlns:p14="http://schemas.microsoft.com/office/powerpoint/2010/main" val="1661890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0CE6CD-A492-4F5F-BD3D-054CDEBB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不同工艺过程的拉动方式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1CFC2-3976-4882-8E99-C1D5667F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EDC1F-763D-4004-889F-2AB326C1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D5DD1-EA58-46C1-BB1A-B7F8AEA6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工单驱动适用场景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2946F-9154-4143-AB52-7D44253A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拉动式物流适用场景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21413-FDBD-43A6-96B2-311AA23A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43406-3976-47CD-8DD7-EE922C5F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工单可以驱动料单和发料动作。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7E791-CB6E-4626-9514-CD283A2C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BE5C2-65D5-41D0-B8F3-EBBE3CD1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铝锭等原材料发至铸造产线，可以由工单牵引。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7FF80-9AE2-45C6-A527-176FA7CB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5F34B-FA6A-4823-A328-FEE710D5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计划仍负责材料需求和产能边界。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0BD0B-CB2C-412F-9EF9-86997D03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99240-89D0-4E36-AD5F-9C7461E6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铸造完成品到后续工序。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ABE9E-58FA-4B1D-8B79-4B2AC701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9A7A3-257C-423A-B315-47924181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机加到装配。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75390-6C1D-49F9-BFAE-1AB966B0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93E35-B296-4608-B76B-4CBE7FA9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排产基于库存水位展开，真实物料移动由后工序消耗节奏触发。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6C379-2CBB-4767-99C7-9928127B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9F07B0-2A2F-4395-80DC-4FE5A3E1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7A13C6-C966-405D-BCDA-B7B67B55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b671a8766d944d84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8957841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CEF238-245C-42EB-BD69-4A091A8C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成本向展开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1D3ED-8D77-46A7-9D75-E09C8551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23577-AF4F-4763-8EF4-FF56E41C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E3CC4-FF6C-4D96-8CED-0D37DE20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28750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库存成本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9A182-E1C0-4D52-9288-75367362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28750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 WIP 水位不清，会带来过量库存、缺料等待和账实偏差。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93ACD-0C4A-42A1-90ED-B231C984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波动成本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434D1-751F-42CA-B273-F60BDAE5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28875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计划弱和反馈慢，会造成等待、堆积、断流和局部加急。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4AE36-0050-4B4F-AA0B-37A2706F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29000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质量成本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2ECDF-35B2-49A3-91AE-1C77E336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29000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异常阻断不及时，导致报废、返工和客户证据不足。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DDAEF-1243-4935-BFBF-E6A1877F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29125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8B3F5-9DA4-42F5-ABDA-BC2A5906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未定义动作的数据采集，会增加点位、存储、解释和维护成本。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AD9E5-E446-48FF-9F53-708ADBDD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B59F8-B076-4DEB-8C46-18B52B28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47166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1AC13-7262-44E0-8245-498EC53C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的初步落地方案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F2B66-E5B1-43B9-AF92-040AC7F1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1D3E7-0A94-4357-A962-C9A9C66C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D9351-4579-49D6-AB0B-035850E3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5741E-4028-4A38-8755-F9DBDE74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在状态异常和质量指标偏离时，辅助判断停线、降速、参数切换，并过滤非必要参数。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4C080-FEB6-4F34-974D-304F07F8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服务器模型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0617E-42DA-40D7-8EA9-AD3A3B01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基于小时级计划基准、跨工序状态和 WIP 水位，生成短周期 replan 建议。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6889E-4274-42CB-AE04-DF9498C3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协同边界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F9C5E-AFDE-43FC-AF0E-E55DB20A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边缘模型快速处理当前覆盖范围，服务器模型处理全局计划重排和跨工序取舍。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E8D89-B7A6-4EA4-A246-1699442A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边缘 AI 解决现场快速响应与参数过滤；计划重排更适合由服务器侧模型结合全局约束来判断。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59378-1B8D-43B5-94A6-26E5A0D9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84DF1-6B55-49A2-AFF4-B9F88C85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687114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72914-BE7D-405F-B3A5-7FF005F9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阶段路线与下一步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6185B-BB35-4F0B-B7BF-5BF1CB29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68D71-F36B-4DA8-8BD8-26BE847E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02553-70AC-4C52-AA9B-8B74EF3D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A8806-A3C3-405F-849C-4A179F67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重新解读原系统/软件规划路径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21025-06D2-41F6-8AF4-4EB6CB85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识别客户要求、业务问题、能力短板和价值流位置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D556F-EF74-4FBD-BE0A-32D23A86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9669F-5DDD-48CE-A759-921BB3FD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数据采集与计划闭环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8D92E-375B-41A9-8B5D-CDBC73FD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全工序数据、小时级计划基准、拉动物流、replan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B74CC-99FE-4709-BEB6-7E0C3EE7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262A9-3342-4454-A28F-F60B4A71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与数字孪生调整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3B6F2-D847-4152-B8A8-BAD089EB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边缘模型、参数过滤、短周期重排、成本优化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6E796-42FC-4ED9-8F25-D8B6EAD6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2248A-C023-4D7C-A87C-FE1613F4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8D7EB-0179-4870-AB23-35409F99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f9ba73631d30480f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9745239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2026-09-20T14:19:21.6760000Z</dcterms:created>
  <dcterms:modified xsi:type="dcterms:W3CDTF">2026-09-20T14:19:21.6760000Z</dcterms:modified>
</coreProperties>
</file>