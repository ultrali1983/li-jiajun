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3b6690c6e4ebe" /><Relationship Type="http://schemas.openxmlformats.org/officeDocument/2006/relationships/extended-properties" Target="/docProps/app.xml" Id="Re783d9e632824dc5" /><Relationship Type="http://schemas.openxmlformats.org/officeDocument/2006/relationships/officeDocument" Target="/ppt/presentation.xml" Id="Rdf49e2cd2d2e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8e6995f6f418a"/>
  </p:sldMasterIdLst>
  <p:notesMasterIdLst>
    <p:notesMasterId xmlns:r="http://schemas.openxmlformats.org/officeDocument/2006/relationships" r:id="Rb33635f28aea498d"/>
  </p:notesMasterIdLst>
  <p:sldIdLst>
    <p:sldId xmlns:r="http://schemas.openxmlformats.org/officeDocument/2006/relationships" id="256" r:id="R8ff947506bfc431d"/>
    <p:sldId xmlns:r="http://schemas.openxmlformats.org/officeDocument/2006/relationships" id="257" r:id="Rf181c7dd0fca4ce4"/>
    <p:sldId xmlns:r="http://schemas.openxmlformats.org/officeDocument/2006/relationships" id="258" r:id="R49f160feef3545c6"/>
    <p:sldId xmlns:r="http://schemas.openxmlformats.org/officeDocument/2006/relationships" id="259" r:id="R8534decebdb94ed1"/>
    <p:sldId xmlns:r="http://schemas.openxmlformats.org/officeDocument/2006/relationships" id="260" r:id="R0417fae7de9b4e8f"/>
    <p:sldId xmlns:r="http://schemas.openxmlformats.org/officeDocument/2006/relationships" id="261" r:id="Rf7805bcd0c3e4274"/>
    <p:sldId xmlns:r="http://schemas.openxmlformats.org/officeDocument/2006/relationships" id="262" r:id="Rdab6b96b519b47fe"/>
    <p:sldId xmlns:r="http://schemas.openxmlformats.org/officeDocument/2006/relationships" id="263" r:id="Rafbdf6163e8f4999"/>
    <p:sldId xmlns:r="http://schemas.openxmlformats.org/officeDocument/2006/relationships" id="264" r:id="R4bbbd6f0211e47ff"/>
    <p:sldId xmlns:r="http://schemas.openxmlformats.org/officeDocument/2006/relationships" id="265" r:id="R711d4554b79649a9"/>
    <p:sldId xmlns:r="http://schemas.openxmlformats.org/officeDocument/2006/relationships" id="266" r:id="Rba48bf2936c74b49"/>
    <p:sldId xmlns:r="http://schemas.openxmlformats.org/officeDocument/2006/relationships" id="267" r:id="Rcf5dec329d494677"/>
    <p:sldId xmlns:r="http://schemas.openxmlformats.org/officeDocument/2006/relationships" id="268" r:id="R6cde30652a0c4646"/>
    <p:sldId xmlns:r="http://schemas.openxmlformats.org/officeDocument/2006/relationships" id="269" r:id="Rf85d98edee854bf5"/>
    <p:sldId xmlns:r="http://schemas.openxmlformats.org/officeDocument/2006/relationships" id="270" r:id="Rbb01783b57de49c1"/>
    <p:sldId xmlns:r="http://schemas.openxmlformats.org/officeDocument/2006/relationships" id="271" r:id="R36489d85f0704e49"/>
    <p:sldId xmlns:r="http://schemas.openxmlformats.org/officeDocument/2006/relationships" id="272" r:id="R1d3c6863fb45498e"/>
    <p:sldId xmlns:r="http://schemas.openxmlformats.org/officeDocument/2006/relationships" id="273" r:id="Rf1484678a7dd4ee8"/>
    <p:sldId xmlns:r="http://schemas.openxmlformats.org/officeDocument/2006/relationships" id="274" r:id="R5bc995e1df2f4aac"/>
    <p:sldId xmlns:r="http://schemas.openxmlformats.org/officeDocument/2006/relationships" id="275" r:id="R959cc7d4f78448ec"/>
    <p:sldId xmlns:r="http://schemas.openxmlformats.org/officeDocument/2006/relationships" id="276" r:id="R9e0670a8921d4187"/>
    <p:sldId xmlns:r="http://schemas.openxmlformats.org/officeDocument/2006/relationships" id="277" r:id="Ra975b82e53434a66"/>
    <p:sldId xmlns:r="http://schemas.openxmlformats.org/officeDocument/2006/relationships" id="278" r:id="R0e77752ca134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4bedbd3a804c6b" /><Relationship Type="http://schemas.openxmlformats.org/officeDocument/2006/relationships/slideMaster" Target="/ppt/slideMasters/slideMaster1.xml" Id="R41e8e6995f6f418a" /><Relationship Type="http://schemas.openxmlformats.org/officeDocument/2006/relationships/notesMaster" Target="/ppt/notesMasters/notesMaster1.xml" Id="Rb33635f28aea498d" /><Relationship Type="http://schemas.openxmlformats.org/officeDocument/2006/relationships/presProps" Target="/ppt/presProps.xml" Id="Rcd5cd6d3c0d94470" /><Relationship Type="http://schemas.openxmlformats.org/officeDocument/2006/relationships/tableStyles" Target="/ppt/tableStyles.xml" Id="Rf7715e69d6fd4725" /><Relationship Type="http://schemas.openxmlformats.org/officeDocument/2006/relationships/slide" Target="/ppt/slides/slide1.xml" Id="R8ff947506bfc431d" /><Relationship Type="http://schemas.openxmlformats.org/officeDocument/2006/relationships/slide" Target="/ppt/slides/slide2.xml" Id="Rf181c7dd0fca4ce4" /><Relationship Type="http://schemas.openxmlformats.org/officeDocument/2006/relationships/slide" Target="/ppt/slides/slide3.xml" Id="R49f160feef3545c6" /><Relationship Type="http://schemas.openxmlformats.org/officeDocument/2006/relationships/slide" Target="/ppt/slides/slide4.xml" Id="R8534decebdb94ed1" /><Relationship Type="http://schemas.openxmlformats.org/officeDocument/2006/relationships/slide" Target="/ppt/slides/slide5.xml" Id="R0417fae7de9b4e8f" /><Relationship Type="http://schemas.openxmlformats.org/officeDocument/2006/relationships/slide" Target="/ppt/slides/slide6.xml" Id="Rf7805bcd0c3e4274" /><Relationship Type="http://schemas.openxmlformats.org/officeDocument/2006/relationships/slide" Target="/ppt/slides/slide7.xml" Id="Rdab6b96b519b47fe" /><Relationship Type="http://schemas.openxmlformats.org/officeDocument/2006/relationships/slide" Target="/ppt/slides/slide8.xml" Id="Rafbdf6163e8f4999" /><Relationship Type="http://schemas.openxmlformats.org/officeDocument/2006/relationships/slide" Target="/ppt/slides/slide9.xml" Id="R4bbbd6f0211e47ff" /><Relationship Type="http://schemas.openxmlformats.org/officeDocument/2006/relationships/slide" Target="/ppt/slides/slide10.xml" Id="R711d4554b79649a9" /><Relationship Type="http://schemas.openxmlformats.org/officeDocument/2006/relationships/slide" Target="/ppt/slides/slide11.xml" Id="Rba48bf2936c74b49" /><Relationship Type="http://schemas.openxmlformats.org/officeDocument/2006/relationships/slide" Target="/ppt/slides/slide12.xml" Id="Rcf5dec329d494677" /><Relationship Type="http://schemas.openxmlformats.org/officeDocument/2006/relationships/slide" Target="/ppt/slides/slide13.xml" Id="R6cde30652a0c4646" /><Relationship Type="http://schemas.openxmlformats.org/officeDocument/2006/relationships/slide" Target="/ppt/slides/slide14.xml" Id="Rf85d98edee854bf5" /><Relationship Type="http://schemas.openxmlformats.org/officeDocument/2006/relationships/slide" Target="/ppt/slides/slide15.xml" Id="Rbb01783b57de49c1" /><Relationship Type="http://schemas.openxmlformats.org/officeDocument/2006/relationships/slide" Target="/ppt/slides/slide16.xml" Id="R36489d85f0704e49" /><Relationship Type="http://schemas.openxmlformats.org/officeDocument/2006/relationships/slide" Target="/ppt/slides/slide17.xml" Id="R1d3c6863fb45498e" /><Relationship Type="http://schemas.openxmlformats.org/officeDocument/2006/relationships/slide" Target="/ppt/slides/slide18.xml" Id="Rf1484678a7dd4ee8" /><Relationship Type="http://schemas.openxmlformats.org/officeDocument/2006/relationships/slide" Target="/ppt/slides/slide19.xml" Id="R5bc995e1df2f4aac" /><Relationship Type="http://schemas.openxmlformats.org/officeDocument/2006/relationships/slide" Target="/ppt/slides/slide20.xml" Id="R959cc7d4f78448ec" /><Relationship Type="http://schemas.openxmlformats.org/officeDocument/2006/relationships/slide" Target="/ppt/slides/slide21.xml" Id="R9e0670a8921d4187" /><Relationship Type="http://schemas.openxmlformats.org/officeDocument/2006/relationships/slide" Target="/ppt/slides/slide22.xml" Id="Ra975b82e53434a66" /><Relationship Type="http://schemas.openxmlformats.org/officeDocument/2006/relationships/slide" Target="/ppt/slides/slide23.xml" Id="R0e77752ca134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190abfc01c44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0f34ab3ee4750" /><Relationship Type="http://schemas.openxmlformats.org/officeDocument/2006/relationships/notesMaster" Target="/ppt/notesMasters/notesMaster1.xml" Id="Rece95b0d4da84e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52ca4b3fe475c" /><Relationship Type="http://schemas.openxmlformats.org/officeDocument/2006/relationships/notesMaster" Target="/ppt/notesMasters/notesMaster1.xml" Id="Rf2b31e760d64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f7b161566498d" /><Relationship Type="http://schemas.openxmlformats.org/officeDocument/2006/relationships/notesMaster" Target="/ppt/notesMasters/notesMaster1.xml" Id="R6e95d769a02749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4db7cd3b2f45fe" /><Relationship Type="http://schemas.openxmlformats.org/officeDocument/2006/relationships/notesMaster" Target="/ppt/notesMasters/notesMaster1.xml" Id="Rc14c1e8893d0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54472f95c342bf" /><Relationship Type="http://schemas.openxmlformats.org/officeDocument/2006/relationships/notesMaster" Target="/ppt/notesMasters/notesMaster1.xml" Id="Rd83cf0a278384a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a28aea6304e27" /><Relationship Type="http://schemas.openxmlformats.org/officeDocument/2006/relationships/notesMaster" Target="/ppt/notesMasters/notesMaster1.xml" Id="R458c299af6da41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849c6923db472a" /><Relationship Type="http://schemas.openxmlformats.org/officeDocument/2006/relationships/notesMaster" Target="/ppt/notesMasters/notesMaster1.xml" Id="R8f2875ad7116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7d8c544d6439b" /><Relationship Type="http://schemas.openxmlformats.org/officeDocument/2006/relationships/notesMaster" Target="/ppt/notesMasters/notesMaster1.xml" Id="Rb49fc6f2ad4642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ef3d6bd97f472b" /><Relationship Type="http://schemas.openxmlformats.org/officeDocument/2006/relationships/notesMaster" Target="/ppt/notesMasters/notesMaster1.xml" Id="R6847ab4ed63b4a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47b80eb3d14976" /><Relationship Type="http://schemas.openxmlformats.org/officeDocument/2006/relationships/notesMaster" Target="/ppt/notesMasters/notesMaster1.xml" Id="R5d447df6c22645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3c6eaaa72a41cb" /><Relationship Type="http://schemas.openxmlformats.org/officeDocument/2006/relationships/notesMaster" Target="/ppt/notesMasters/notesMaster1.xml" Id="R6ce0ea5ce91947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d5eb082f4e4926" /><Relationship Type="http://schemas.openxmlformats.org/officeDocument/2006/relationships/notesMaster" Target="/ppt/notesMasters/notesMaster1.xml" Id="R18c94b8d1d0c4e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db4fda4a5d4766" /><Relationship Type="http://schemas.openxmlformats.org/officeDocument/2006/relationships/notesMaster" Target="/ppt/notesMasters/notesMaster1.xml" Id="Rcd228e15b07240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2e4509c03c4a34" /><Relationship Type="http://schemas.openxmlformats.org/officeDocument/2006/relationships/notesMaster" Target="/ppt/notesMasters/notesMaster1.xml" Id="R2849d11d622549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2a485695ed4320" /><Relationship Type="http://schemas.openxmlformats.org/officeDocument/2006/relationships/notesMaster" Target="/ppt/notesMasters/notesMaster1.xml" Id="Rd8f4ba85d7de41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ad68af5f5e41ee" /><Relationship Type="http://schemas.openxmlformats.org/officeDocument/2006/relationships/notesMaster" Target="/ppt/notesMasters/notesMaster1.xml" Id="R67a21e5921534c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81247e775549da" /><Relationship Type="http://schemas.openxmlformats.org/officeDocument/2006/relationships/notesMaster" Target="/ppt/notesMasters/notesMaster1.xml" Id="Rb34141fd53b142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28b4d8d8154ba1" /><Relationship Type="http://schemas.openxmlformats.org/officeDocument/2006/relationships/notesMaster" Target="/ppt/notesMasters/notesMaster1.xml" Id="Rb407e8572eaf4f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148aad55004eb6" /><Relationship Type="http://schemas.openxmlformats.org/officeDocument/2006/relationships/notesMaster" Target="/ppt/notesMasters/notesMaster1.xml" Id="R3e2f35053a1045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5ed3fdda2242da" /><Relationship Type="http://schemas.openxmlformats.org/officeDocument/2006/relationships/notesMaster" Target="/ppt/notesMasters/notesMaster1.xml" Id="R48cbf20a8c8f43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270ac07ff841a2" /><Relationship Type="http://schemas.openxmlformats.org/officeDocument/2006/relationships/notesMaster" Target="/ppt/notesMasters/notesMaster1.xml" Id="Ra8e2cad219984e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b4981646a724a25" /><Relationship Type="http://schemas.openxmlformats.org/officeDocument/2006/relationships/notesMaster" Target="/ppt/notesMasters/notesMaster1.xml" Id="R362009aa64354f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92f9f1513142a6" /><Relationship Type="http://schemas.openxmlformats.org/officeDocument/2006/relationships/notesMaster" Target="/ppt/notesMasters/notesMaster1.xml" Id="R596d467f9a53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本页按新的三段式结构重排。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现场可打开工作台，展示功能项从系统模块重组为业务能力的过程。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现场打开价值流画板，展示 F 项如何落到过程节点。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本页用于从理解过渡到问题判断。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本页用于现场展开完整价值流，再引出全工序设备数据收集的目的。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 2.1。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 2.2。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 2.3。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本页引出当前系统架构对拉动式物流能力的弱化。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本页把业务弱项和系统弱项合并表达。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454d034da49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c2e23ba5374ff6" /><Relationship Type="http://schemas.openxmlformats.org/officeDocument/2006/relationships/slideLayout" Target="/ppt/slideLayouts/slideLayout1.xml" Id="R5011de67e57349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1de67e57349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5e785e217464b" /><Relationship Type="http://schemas.openxmlformats.org/officeDocument/2006/relationships/notesSlide" Target="/ppt/notesSlides/notesSlide1.xml" Id="Re0b36ccef5054a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03d42147a43c8" /><Relationship Type="http://schemas.openxmlformats.org/officeDocument/2006/relationships/notesSlide" Target="/ppt/notesSlides/notesSlide2.xml" Id="R26a21aa1c0a2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cfdba2f3d44f0" /><Relationship Type="http://schemas.openxmlformats.org/officeDocument/2006/relationships/notesSlide" Target="/ppt/notesSlides/notesSlide3.xml" Id="R1efd317d910041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8004ac59a4f4d" /><Relationship Type="http://schemas.openxmlformats.org/officeDocument/2006/relationships/notesSlide" Target="/ppt/notesSlides/notesSlide4.xml" Id="R734618b361ac40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a3cb8e79346e3" /><Relationship Type="http://schemas.openxmlformats.org/officeDocument/2006/relationships/notesSlide" Target="/ppt/notesSlides/notesSlide5.xml" Id="R2259175dae24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631ba0cd642f7" /><Relationship Type="http://schemas.openxmlformats.org/officeDocument/2006/relationships/notesSlide" Target="/ppt/notesSlides/notesSlide6.xml" Id="Ra310ecab0c6f4d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a63fa954e48df" /><Relationship Type="http://schemas.openxmlformats.org/officeDocument/2006/relationships/notesSlide" Target="/ppt/notesSlides/notesSlide7.xml" Id="R53be379df15946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5ae075821458a" /><Relationship Type="http://schemas.openxmlformats.org/officeDocument/2006/relationships/notesSlide" Target="/ppt/notesSlides/notesSlide8.xml" Id="R7f3bc7199b5e4f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4b0f4f66a41a3" /><Relationship Type="http://schemas.openxmlformats.org/officeDocument/2006/relationships/notesSlide" Target="/ppt/notesSlides/notesSlide9.xml" Id="Rb551bcf12a954c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1603311c64dc7" /><Relationship Type="http://schemas.openxmlformats.org/officeDocument/2006/relationships/notesSlide" Target="/ppt/notesSlides/notesSlide10.xml" Id="R3322d7ff95544c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e297606ba4852" /><Relationship Type="http://schemas.openxmlformats.org/officeDocument/2006/relationships/notesSlide" Target="/ppt/notesSlides/notesSlide11.xml" Id="R50a1dce03e5d42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2c0467644868" /><Relationship Type="http://schemas.openxmlformats.org/officeDocument/2006/relationships/notesSlide" Target="/ppt/notesSlides/notesSlide12.xml" Id="R5c32112a69b642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a6d0a84984b4d" /><Relationship Type="http://schemas.openxmlformats.org/officeDocument/2006/relationships/notesSlide" Target="/ppt/notesSlides/notesSlide13.xml" Id="Ra73e6dc6128a43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b4d5cecdf41ef" /><Relationship Type="http://schemas.openxmlformats.org/officeDocument/2006/relationships/notesSlide" Target="/ppt/notesSlides/notesSlide14.xml" Id="Ra71e7c20d24846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3e6819494469c" /><Relationship Type="http://schemas.openxmlformats.org/officeDocument/2006/relationships/notesSlide" Target="/ppt/notesSlides/notesSlide15.xml" Id="R7f68542c4f5c41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571fe98b54946" /><Relationship Type="http://schemas.openxmlformats.org/officeDocument/2006/relationships/notesSlide" Target="/ppt/notesSlides/notesSlide16.xml" Id="R5d913c28e7a749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0b62ad6aa43cb" /><Relationship Type="http://schemas.openxmlformats.org/officeDocument/2006/relationships/notesSlide" Target="/ppt/notesSlides/notesSlide17.xml" Id="R124ce9bcd1e546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7affa02104728" /><Relationship Type="http://schemas.openxmlformats.org/officeDocument/2006/relationships/notesSlide" Target="/ppt/notesSlides/notesSlide18.xml" Id="Rd674a4ae488545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bc7794b894e86" /><Relationship Type="http://schemas.openxmlformats.org/officeDocument/2006/relationships/notesSlide" Target="/ppt/notesSlides/notesSlide19.xml" Id="Re44901f48f2e47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7d361672429c" /><Relationship Type="http://schemas.openxmlformats.org/officeDocument/2006/relationships/notesSlide" Target="/ppt/notesSlides/notesSlide20.xml" Id="R1efd667d1d6d47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c6e52b7f241c4" /><Relationship Type="http://schemas.openxmlformats.org/officeDocument/2006/relationships/notesSlide" Target="/ppt/notesSlides/notesSlide21.xml" Id="Rd455e621ea0a49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c02a156974cc1" /><Relationship Type="http://schemas.openxmlformats.org/officeDocument/2006/relationships/notesSlide" Target="/ppt/notesSlides/notesSlide22.xml" Id="R79c68cf9dead405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a6e6fb27c4fe9" /><Relationship Type="http://schemas.openxmlformats.org/officeDocument/2006/relationships/notesSlide" Target="/ppt/notesSlides/notesSlide23.xml" Id="R6cca354f984f4e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AA098-1365-43FD-AF37-A5F1E772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C0B1E-18EB-431B-BB2C-5DAADD9D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当前功能理解、二阶段数据闭环与最终智能架构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A7367-8A30-47AA-84B3-465FE88D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E611A-2F37-48DC-B3F0-22FBC8FC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C1F69-2C35-4D0D-854E-1D41EC55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639937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39ECD-875E-4285-B4D4-921C5B2F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98999-4A89-432D-83FC-066287D8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53DED-E3CD-48E9-89F0-80077E1E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40B6B-875D-4165-AFDD-E0652F7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FA7D2-09E5-4FD9-9029-221D21F4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把已有和预期功能转译成真实业务能力，确认每项功能服务的过程位置。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F3257-3971-4787-8A62-9A1A593A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92313-9A4A-401B-8D51-4A7316F4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围绕全工序设备数据收集，回答收集之后产生哪些可执行动作。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A57C9-0EDD-4D19-AF9D-B7F32D76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E2DE1-A362-4A3B-AB63-D14B67E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在计划能力和数字孪生基础上，引入 AI 做调整、过滤和重排。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E8D0C-2550-4C27-9BC7-E77D1E3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先建立理解，再讨论路径，最后讨论长期软件架构。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10103-5817-4A77-86B2-1F355DE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1070E-B659-4E73-B406-AE4DDE6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2502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5084F-4591-453C-AD0F-607DDF2D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当前系统功能的业务理解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285C7-5262-4BA2-9B46-779ABEB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336EC-F6ED-4986-BD81-58C2541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E8C6-8EA6-4FAC-80E1-4573FCA0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原系统视角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57B8A-693C-42EA-AA8A-D624985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业务能力视角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16A66-8B64-4E51-BCB0-F0112CFA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EC6AA-DBD9-4EB4-8A17-AEBD1142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EBC9F-1C8F-43BA-8A60-26F5A6DB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A9209-61EF-4010-9035-7F7A1A43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87F02-E47E-4401-B603-257BE59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72765-18A0-45A5-88F1-44AFB087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B98C8-8272-4B04-86EB-DC662C5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B5CA7-A3EF-47C1-AC75-C0B7769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CEC0C-ADD4-4E87-9A7F-6A2FE103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64E8D-E0ED-4D18-82F7-5CF23BE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14436-9242-4CA0-8E33-D38A7F5C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E9F6E-A1BC-4617-9D31-90EC625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40326-5966-4687-AE7E-4536EFA6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7424E-DF8E-4B3F-A68C-BF3CE685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EBE52-C5D0-436C-A787-6B71A7EA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0BA84-C4EE-4853-AEB0-F941643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C3B24-BE56-47FD-A8EB-0106B27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92BD8-948C-4D46-9CF0-45E88D9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42F76-EF63-4CF3-B0AB-65F09CE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986347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C6E11-E861-42EA-AF1D-6690931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功能落位到价值流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991CF-7376-408E-A48E-49DBC86B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65FD-6B60-480C-A851-5545CD02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337DA-8140-4F42-99D0-87795192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1531E-AC35-4C5B-A93B-E9A67740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960B9-60F8-4051-8F78-BDCB9E6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E5A69-2958-4BFE-8959-EC0B668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EDCDC-3D85-4436-915A-18D552FD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380E3-52B1-441F-B7CD-06C9CEAB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18629-2DF8-4AC1-BBD8-4876A00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3E43E-F7D4-4AC0-AA85-7104C89E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1FD1F-3BDA-428E-AE1D-BA369F7C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CB3E7-C6D8-4A85-9C22-40DFD63B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E26C3-232A-4ECB-8530-5ADB4BFB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9FB3A-AF19-4421-8AB8-D6BFCFC5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59A4D-8E78-4CCD-A315-7DF3D7BC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成品入库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3E558-EAD2-4835-9593-9B00C14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4A6BB-F9D9-412D-8807-15ED702C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5AF04-2315-4E19-8F1F-791DC3C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EAB10-353C-4074-B8DA-0FD975A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B365B-8800-4258-B091-B66D20D6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A8D4F-24FB-420F-B940-3C4C941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1C4EE-CD13-462A-A237-DA18717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BF7FE-DB78-4C86-94CF-55B09323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88964-2E21-4A6E-B0E0-C5F1588F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5BFF2-5D97-4987-B3A8-BB9F5DCC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44752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EE203-3A70-4C6F-870E-5BD7DF59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当前能力判断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67085-9087-4ED8-A8C5-AC6D511A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C723D-0C99-40C4-93E4-24C044ED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CD76E-3F46-4578-8ED2-0F84B5B3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3620F-9F8D-4F48-B0D4-9D575C6D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主要缺口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89A60-9425-4CAF-8CF7-23F2EDE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AA7B7-5BFB-4069-901D-567FEF33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仓储、库存、出入库、FIFO 等功能具备基础框架。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D95C4-2A4A-4DB6-A762-A23558F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7CDF3-0219-43AD-A26E-504C0311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生产执行、报工、防错和追溯已有功能入口。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8C964-7D4E-479E-8609-1117D75F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67211-35AC-4A22-927C-8A3352C3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检验、质量标准、不合格品处理已有明确功能项。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3F7C6-DE17-4C9D-855D-25E5359C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CEFBF-9AD9-4C6B-A6EF-38C06AD7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功能仍偏记录和局部管控。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794C2-DA9B-4581-98F6-625C333E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C2D56-BC07-4176-850D-046A3CA3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生产计划能力弱，信息流缺少统一牵引。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FA1D0-9347-4A55-A2DB-C1B9473E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37A33-9605-4CD3-B223-B27582F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既有零件跨工序移动缺少拉动式机制。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BD75C-3221-4E4C-8811-6298D48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182D3-AABC-4D12-8A5C-8F69F1B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7A4FB-E983-4EB6-82AC-E8D1085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413918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7C6B3-2284-4330-94F7-032AFD51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阶段二的核心问题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66A1D-3EBB-49DB-B18D-03FAAF6C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1645-E1F7-4D1D-B4FB-BFF2CD31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BD6E0-8A36-41C1-9FA4-BDF4339D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25083-AE1F-421D-AF4A-79D36F09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BB24A-1629-41D6-8D50-330592D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DCDCE-B6F4-4003-B60D-4501A1B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9540A-FDDF-4DFA-9DF3-48571CD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EFF4A-7604-4006-A56D-C1CAFED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B593E-A83E-43AF-B1BC-4A9B9B0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91578-1ECF-42CE-9650-A5FBF68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955D7-8A8F-4B5A-AB75-3BD20CB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二阶段已经向数字孪生靠拢，关键问题不是采集多少数据，而是采集后触发什么动作。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91F71-23B9-4C63-A7CD-2D4A56B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C21E5-9473-48D9-BB82-D5F1DF07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1831E-8E31-438F-A7BF-3A729FF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54566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E49CF-B59F-4E4C-8836-CD6CC1E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完整价值流展开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B3578-2BAB-42DD-9867-D9804D2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D0DB9-D29D-470A-BB8D-6C07936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73E25-4209-4E87-9929-8A95DA5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BC811-31D7-461D-B2F8-1615A1C7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874C0-4A3F-4AAF-8D09-008B044F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1FF30-8EE8-4F89-A8AC-33FF7BA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4E4B3-0822-43E8-A395-604BC1A8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D2830-3FBF-45CC-8EA5-481FCD79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CFAEE-22BD-4270-9FE4-02206F2E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E9DE-B36C-4CCE-9284-F38DB3AB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5EC8E-713A-495D-B1AE-067A9AA7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3B8AF-9C18-4EAE-B8AB-EFC096B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0B8A3-A7B7-4058-80BD-11ED858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FBA48-FA25-4B50-A6BD-42749161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8BA13-605E-45A5-A460-27D8988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56ED5-0891-4DE1-BF42-0E358671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491F7-CEE9-4AE3-B553-71C4F41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F5480-7F22-4BA1-81E7-9A48E8A3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F25C7-CA35-478A-AD3D-23BBC92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EB25B-D468-4A58-B0DB-E2AF2251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4C0A2-13ED-45C2-A3E4-9288767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C0F5B-A970-4A84-8F86-2BA74F8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DD6F5-4CC5-4EDB-9C45-5E411125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03B24-ACB1-46E0-BFC6-DEBD66B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D98D1-8C3D-4CB9-BD74-99C21C9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77905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E1C21-5E19-47B6-92E1-2CD4123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数据目的一：状态异常与质量指标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D0781-7B32-4A4E-8160-A618195E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88945-F1B4-4908-B568-5A2496DD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25285-BC49-45EE-AA34-A190FF4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触发动作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E67C4-6CDF-4EE5-9D40-DC538F5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实现前提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8EE09-EFF2-4DD1-B7A6-0F46AC8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79789-F27D-4695-8FA7-25B021D4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设备运作状态异常时，系统触发停线或人工确认。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1C996-0247-4F98-9056-0FA325D5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52DAB-3072-4A1E-B6DB-DF52FAE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质量指标持续跟踪，生成趋势曲线和异常曲线。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4647F-4D1B-4A66-89BD-30E380E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D3BC1-4687-420E-8CEF-821AF525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超出阈值时，把异常反馈到现场和计划层。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3B48E-EAD7-4F42-B7B2-EFD7162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9BEAD-7124-456A-B81B-CC49DF7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 100% 检查能力。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700D5-79A7-4A90-B22B-606D8046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46A73-B862-427E-9C50-5E36763A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需要清晰阈值设定。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7CDB5-697A-4447-8901-E0F85581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C1AA2-64D3-47C3-9EF0-5811702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需要定义停线责任和恢复条件。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A9B74-32D4-4691-847D-71BEAE3B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BB1C6-5B6A-43DE-926C-9549D80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8A17F-D37E-403E-8A78-484E98C2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634700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5EA48-1F50-4C9C-91D1-3A98C533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状态异常的价值与代价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1A3BF-11A8-4C60-BE08-2495E1A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CCC82-A68A-4A7B-957A-7EA15A2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判断项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即时价值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减少质量报废率，避免问题继续流入后序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直接代价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生产过程被停掉，价值环节同步停滞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建设要求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检查覆盖率、阈值、停线规则和恢复流程都要明确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管理重点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让停线动作可解释，避免系统只会报警而无法闭环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1E508-789E-4E2E-B53A-812A3F3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A1DFD-6D0D-4D7A-8678-BD1CC899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8731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7A258-3B42-4B70-9743-F61F9B95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数据目的二：技术参数与经验值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CEF12-83BE-4DA1-80C7-755385C9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BC447-CD1F-4C9E-B62F-6214371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0ECFD-00B2-4258-859D-BDA72325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采集内容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1C357-52BA-4A8E-A6E6-5EEABD05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E4DE6-472C-492E-B047-27E0270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F2C23-08F1-40E1-A8EA-DEDBC627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设备技术参数和工艺参数。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AFA09-06EC-4B6F-A835-F620E94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61D63-BB92-4723-A1B3-E1464944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产品状态变化和质量结果。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6194D-7AB3-4210-A43F-520C4098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28BE4-CAC2-457E-B140-66A30009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同一产品、同一工艺路线下的长期表现。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05A03-C91C-4B96-B5B7-54F3E34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D581-D4E3-4FB9-BB0E-31EC0C1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对照产品状态，形成技术经验值。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5983C-F41A-4BAD-B234-AE773F7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E54F2-9AFB-4243-A642-320F712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支持未来产品开发。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84796-4F90-44FE-9536-7EA8BA9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800A7-26FD-4F0D-838F-5611292B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支持后续工艺设定和参数边界优化。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85D75-C327-465F-8BB8-9B4208DF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6FE01-1EC0-4B7A-BE4D-9312F35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FDE7C-409F-412D-B287-40A0E1CE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273630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15BC7-0119-45BA-A2E2-4F9219B0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技术参数的价值周期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0BA11-1A53-4965-A20E-54FEE27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2CA45-F63E-4203-9147-6EE74876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判断项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即时价值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通常不能直接创造当班收益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长期价值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在经验轨道上积累有效参数，支撑产品开发和工艺设定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数据过滤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需要识别哪些参数真正影响产品状态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阶段定位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更适合成为数字孪生和 AI 训练的数据基础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9AB17-F94C-4E50-9983-8B9C7EF9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E70EA-D289-48CF-88C6-3C82F8C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31208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FA978-02C2-4883-ADD7-A4B3121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数据目的三：生产进度跟踪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46463-85F5-4A67-807E-52FD332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811FC-74AD-4CDB-BD78-6953D213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59D5C-F89D-475E-B278-FFD471A9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FFE08-82A7-4D9D-9DE0-B8D8AC22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3DF12-C8CC-46F8-A6F1-AE859F5C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工序进度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AD16B-98BB-4DF3-888B-67E03D07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前后序衔接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CDD67-1D37-4B45-8754-57739A8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1A5A0-9659-4D88-905E-F67A27DD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53FC0-8900-49C7-9DEB-3C112B86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776AB-DBCE-4F41-A0ED-6CE5F86E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844EF-6C7E-4126-AD5A-6052A631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生产进度跟踪可以识别当前工序与前后续的连贯关系，并支持 replan 动作减少浪费。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3B343-FA4B-4181-B4C3-D0913AE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ADC1-E68E-48F5-8242-76D9C8FD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DF7F6-6840-47F5-8DB4-E5829365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745643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426AF-D52F-4A53-A2A9-3EB9EF24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进度跟踪的即时价值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C61A1-BB9E-478E-B69C-4525D1E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7727F-2420-40A0-8E04-84AE98B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54916-0687-42D5-8B29-15F4EB56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它能解决什么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31268-37B8-41E7-B39F-B8411050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它依赖什么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462A-8ACC-4EEA-AE39-7E03CB9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1FFF-188D-4C5C-96D1-E925007F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制止不同工序生产波动带来的等待和堆积。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E99B-EC27-4692-800D-62667977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4C9BA-C5BB-49EF-B433-D50BB47E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保障价值环节尽量不停顿。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803D8-A229-4CB7-9A48-4FF85E76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85A7C-BBE1-4DC7-AC1C-D80A534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把异常及时反馈给计划层，形成短周期调整。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BC3AB-E856-4302-A548-E6E629F5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17EE-2B6E-4178-9595-68B567DF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内业务运作是否按计划执行。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B76A8-45F2-4CBB-B785-867A8B27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C2149-82A0-4312-B735-87BAAC49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真实生产动作如何发生。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2192A-F289-4DE8-9860-6666ADE4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9A474-D721-4BF4-8619-A485427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 和 Performance Rate 的可信数据。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A8AA6-50F4-4C4A-995F-D5D90B5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8867A-4178-4FA9-A1F0-9423402B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AE207-AE41-46B1-9125-D5867F0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443671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CC1C0-5DB4-42C8-99E5-2F883D70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是动态数据的前提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48902-36A4-4D70-81C0-F484380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5C420-77EF-40A6-8FB4-26CC6526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87631-E04B-4E63-81BD-65F613C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F6D3-F4D3-4836-8179-1D869F1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1F831-4A16-438B-B5C2-182D331E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FDF25-49A9-4041-8657-BE6C122C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57E06-C041-4828-AE20-ED84BCD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090FD-29CC-47B0-A046-036F1F0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E976E-21E5-4D1A-886D-169FE06C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没有计划基准，动态数据只能成为记录；有计划基准，动态数据才能判断偏差和触发调整。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1B2B5-1903-44A7-A02B-DD24F2D2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F1F68-FF57-483F-928A-B0D1B286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10BED-0DAC-419E-8FD2-DF64E60C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039629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6A807-1E70-4395-AF3B-081BE3C8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工单驱动与拉动式物料流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9AE48-417E-4CBD-B02F-9D0AD890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6DA1F-8978-4B12-9FFF-8BCD2C36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B54AF-32CD-477A-B5D5-9E1FAD4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可以接受的工单驱动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9E5FF-C543-43D9-A756-FBBC9B4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更适合拉动的物料移动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CEC9A-6E64-4A40-BEAE-9F736C02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6571F-B422-41D3-B91D-A82ECA94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10A29-F5AC-4503-8D66-CB0A63B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CFAA1-5FB0-422A-92FE-F0FAD02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铝锭等原材料发出至铸造产线，可以由工单牵引。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6CBAE-4A98-489C-A332-7EC09AC3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86E9D-E793-48A6-8C18-DF05E92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计划仍然需要提供材料需求和产能边界。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F77A1-4FCB-4961-8500-F67BC57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35DDD-B51D-4F02-94F3-A5E4E02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4B5D2-E239-4E69-B3F9-86C402EF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51B0A-CDF9-4ACC-9D87-BF237B8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4AE89-AFF6-45B4-8CEF-EE307E43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A62A0-8597-4918-8057-274D0E5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排产基于各环节库存量级，真实物理流动由后工序拉动前工序。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2E877-93C9-4C4D-93E1-2E1BA46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3F1FF-4B6C-4AEB-97F2-E17928F8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0BF71-AE49-495A-B9D0-23D1A27D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1564512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E9EBD-8EEA-44E4-A1D3-909D9BA9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当前架构中的弱化能力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A50E3-8BF6-4D8F-A5F7-45AEDBC7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2BA1E-4AAA-4CFE-960C-69CB22D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08DA0-0B74-40E0-8967-EA51B3C8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业务层面较弱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884D1-CCCE-45AC-A8EE-3C4AC6BD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系统层面较弱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A1D2E-698F-4B6E-9774-7CB7F864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6EE37-DFD1-455D-9651-00FEE967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生产计划没有充分牵引现场节奏。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48D09-EBD3-4FBB-99E2-657A0EF3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EE8DC-5D77-4C13-B7D4-244E529D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跨工序库存水位和拉动关系不清晰。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1D352-AB81-4A27-9D7F-8B8A60DB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9E4EF-57DC-401F-B255-F08F3ECE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异常反馈缺少短周期重排机制。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3A747-98B2-4DCE-8328-17FEDE58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4FFBB-CD5E-496A-B519-A8A3895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当前已有功能偏库存记录和执行记录。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80492-D354-4296-90BE-AED37583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DC9A0-701F-40CC-B620-8D848B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二期功能偏设备数据和质量输出。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4DA38-B7B7-4C28-AA55-0859BD10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F152C-F499-4E71-A698-6D25910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对拉动式物流和计划重排的支撑不足。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7BA65-3E56-4EF2-ACCE-7BB786E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495B8-FCBD-41D9-8C5F-1BF47E8D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0D332-13B1-43A3-8465-74B0368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316064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0BB9C-7D10-461D-A1B3-7AABEA2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阶段二的实现方法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E012D-BA39-4AE5-A860-B418FDAB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11031-6ED5-409C-8C69-715C5E52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1E208-05DE-402E-9136-0CE9C57E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价值流落位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59AC-0EB8-4251-9243-D929BBF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把全工序数据采集放回过程节点，而不是放在系统模块里讨论。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B3F4D-C103-40F7-8397-52A2D0A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动作反推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231ED-46CE-4276-849E-EE9370EA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先定义停线、曲线、经验值、replan 等动作，再定义数据范围。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21EA0-5BBC-4CD9-8802-F606F3F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25E4D-7B41-41BA-9AA1-B59E17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建立 24H 计划和工序节拍基准，让动态数据有判断对象。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CE8C1-74F1-45CB-BB8F-600223D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拉动补强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F6DFD-D683-4EBB-8FEA-5A196732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补足跨工序库存水位和后工序拉动前工序的能力。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59B98-EEBA-4A69-A2E8-3C013F48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B1D9B-D314-4865-ABAB-E3C964AE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0B541-64C4-41AE-8A72-C999392E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8689423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76D6E-5C00-4789-A43F-B0623394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阶段二后的数字孪生基础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E7E9F-F67E-4D4D-9F15-639D008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C33B4-5010-4C44-95F7-E9165D5D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4E989-0AA7-4E7D-BAD4-7F85DA75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D9510-054E-43F6-B034-79C1F252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数字投影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169DC-6D8A-45CF-9596-B255DD2D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管理判断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9CE0A-993C-418D-8435-230DA577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669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34BC5-0D40-4142-A1E3-276C9D97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D5B25-2DC1-4FF9-9CD1-347C1EBB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9327C-11AD-4AD8-8007-49633B07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C6905-9052-4E53-926E-BB3557A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质量曲线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D5948-91D7-4885-A7F6-642F513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0A9DB-0517-409C-B0B2-D3BF80B0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29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B43FB-0377-4E3F-8511-7D15481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29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进度偏差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95195-C9C4-4A83-8568-60E66DA2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当计划、设备、质量、参数和实物流都能投影到同一张图上，数字孪生才具备调整能力。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519EC-1627-4F13-B4B9-EE1921D4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31B0F-ED67-4E05-80CF-FCE7BBC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2DBC2-0F9A-438D-A9C3-AD9B6D2F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264254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065F9-5CD6-4BD3-A35B-FFCAAEAE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的介入位置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72C63-3488-4C53-BE73-8AA4722A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99FDF-92DC-4A80-B465-B3EEC47F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6371D-9215-4DE7-8A4C-D1E722FD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1145C-613F-497D-B201-4EADF9DB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在状态异常和质量指标偏离时，辅助判断是否停线、降速或切换参数。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1B581-E6CC-44B5-86AC-09BF493B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034F0-EE4C-441E-9873-C2831249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以更小颗粒度监控工序进度，并生成短周期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31948-C079-4F97-BE1F-3A839E0B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FEF9B-4400-4494-9084-E4CDA37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F3A22-8E17-42C6-9FB0-E6D13CA7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的价值建立在阶段二形成的计划基准、现场数据和调整手段之上。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71C7E-1D5B-4A74-957B-2639E18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34B69-AFCB-4A72-86EE-8212C2B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27510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3792-D695-4CFB-A0B5-F409CD2A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数字孪生的调整方式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F8149-6617-43D5-A8E3-257B0DC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539FE-A282-480F-A6B1-0968ABE7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调整类型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触发方式与能力要求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定时调整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按更小颗粒度周期检查计划执行状态，依赖模型反应速度和计算能力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不定时调整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由阈值、异常责任和模型判断触发，适合状态突变和质量风险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边缘调整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在设备侧快速响应，减少等待中心系统判断的时间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把现场偏差回写到 Planning，更新工序衔接和物料拉动动作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5DA35-52A7-44F6-B712-67AE27EE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5231A-65D1-45F7-B2F2-95660F31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89281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DDE46-7115-4A07-956B-1A6B445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最终软件架构展望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43977-1AED-47D1-9D74-A19E97B6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07F7C-1779-4508-BD0C-855AE4B6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1D238-FBF2-4887-9612-2D2501DE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759C8-D225-4D2D-A555-278E0A6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 24H 基准、短周期 replan 和成本展开入口。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135DB-FC56-439D-81B3-70EEAB24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12FAA-7C97-4CEA-BE32-1D37F55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承接工序、质量、设备、节拍和 WIP 的真实动作。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59D44-AFAA-429A-8966-5F30E6C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0069C-D1DD-499B-A5DA-8CAC460B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按动作目的采集、过滤和沉淀有效参数。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CCE7F-FE01-44FD-BCB5-2FE6093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智能层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8E56D-82D6-485C-961E-DD4474D4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在边缘和计划层分别承担快速响应和优化建议。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EBC6A-248D-41E2-BA78-785E791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6601B-4CC6-4402-8E45-CADB14BA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15072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47EEE-A460-40FA-A411-55A50950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阶段性建设路线图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54CE3-7631-4A31-B4D4-483DD55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3020B-E723-46F7-A9D1-E9CD28D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A1998-19D5-4371-BEC4-833E47F4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37F5E-BA01-452A-BB74-FCE53FBF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当前功能业务理解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242EC-DE27-4C2B-862F-689C7353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价值流画板、功能重组表、现状判断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76FC6-DC1D-4844-A45C-F61B1CC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0CAB0-9E2D-4E2F-8C48-83C43E5A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AA032-EF5A-4E8B-BC0A-AD7AB908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917FD-1361-4563-9003-9BF953C9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CBA1A-639F-44CB-A4E0-1746E823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C383E-E550-4FE1-993C-007FDF88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EF2EF-1BA4-4440-B2D7-D09CD08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71132-21F8-4CEA-8008-2642427E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7893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33968-05C0-4466-BCE6-D489845E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建议的下一步工作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1861B-FEB7-4493-9062-63A47300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88883-852E-48E0-B575-9F4196A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64CCB-C725-45E3-96EE-44ED543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8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D8DA8-B273-46D3-819E-902C9503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09700"/>
            <a:ext cx="8343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确认当前功能已落地、部分落地和未落地的边界。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496B3-A8C4-4F4F-893E-ACEA43A4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E047F-B524-4283-993E-020E1301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33600"/>
            <a:ext cx="8343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围绕全工序设备数据收集，定义停线、曲线、经验值和 replan 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F6E6A-91AC-4F3A-A87A-279739D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D896B-92EB-4BBF-AA93-31D60298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8343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梳理 24H 生产计划、CT、Performance Rate 和工序衔接关系。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F10FA-BA53-47A0-81F8-DD669889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14912-E314-451B-A114-4BDBEC7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81400"/>
            <a:ext cx="8343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补充铸造后、机加后、装配前后的拉动式物流规则。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D5624-89E2-49AA-ABF0-EF7B58C1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9F15B-CC2F-40EE-9CF9-F9309B0F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5300"/>
            <a:ext cx="8343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 AI 介入点放在阶段二能力形成之后再展开。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63E63-9B48-4772-8CD9-24948FA4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BA2BA-361E-4A88-9655-303306E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EC101-8AA2-4994-9B6E-DE5F4D2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03236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2026-09-15T07:19:15.4840000Z</dcterms:created>
  <dcterms:modified xsi:type="dcterms:W3CDTF">2026-09-15T07:19:15.4840000Z</dcterms:modified>
</coreProperties>
</file>