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25eda88533433f" /><Relationship Type="http://schemas.openxmlformats.org/officeDocument/2006/relationships/extended-properties" Target="/docProps/app.xml" Id="Rffb4a523453c4bfd" /><Relationship Type="http://schemas.openxmlformats.org/officeDocument/2006/relationships/officeDocument" Target="/ppt/presentation.xml" Id="R48883daac5dd40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4c64f7cda94579"/>
  </p:sldMasterIdLst>
  <p:notesMasterIdLst>
    <p:notesMasterId xmlns:r="http://schemas.openxmlformats.org/officeDocument/2006/relationships" r:id="R0176e84599064ed8"/>
  </p:notesMasterIdLst>
  <p:sldIdLst>
    <p:sldId xmlns:r="http://schemas.openxmlformats.org/officeDocument/2006/relationships" id="256" r:id="R0f8c4297ab3f4177"/>
    <p:sldId xmlns:r="http://schemas.openxmlformats.org/officeDocument/2006/relationships" id="257" r:id="R6b2068f16d4b4472"/>
    <p:sldId xmlns:r="http://schemas.openxmlformats.org/officeDocument/2006/relationships" id="258" r:id="R090baa01d68142a1"/>
    <p:sldId xmlns:r="http://schemas.openxmlformats.org/officeDocument/2006/relationships" id="259" r:id="R9d1b029ca6a14994"/>
    <p:sldId xmlns:r="http://schemas.openxmlformats.org/officeDocument/2006/relationships" id="260" r:id="Rae6fdef15a024aec"/>
    <p:sldId xmlns:r="http://schemas.openxmlformats.org/officeDocument/2006/relationships" id="261" r:id="R5d2a50c8b0904034"/>
    <p:sldId xmlns:r="http://schemas.openxmlformats.org/officeDocument/2006/relationships" id="262" r:id="Ra61c6b6a3058436a"/>
    <p:sldId xmlns:r="http://schemas.openxmlformats.org/officeDocument/2006/relationships" id="263" r:id="Rfb799d662930478d"/>
    <p:sldId xmlns:r="http://schemas.openxmlformats.org/officeDocument/2006/relationships" id="264" r:id="Rd1cd5a38bd974dc8"/>
    <p:sldId xmlns:r="http://schemas.openxmlformats.org/officeDocument/2006/relationships" id="265" r:id="Rdf05a4a781d3453a"/>
    <p:sldId xmlns:r="http://schemas.openxmlformats.org/officeDocument/2006/relationships" id="266" r:id="Rc0c4ec98f87b4afc"/>
    <p:sldId xmlns:r="http://schemas.openxmlformats.org/officeDocument/2006/relationships" id="267" r:id="R6ac9611477884e30"/>
    <p:sldId xmlns:r="http://schemas.openxmlformats.org/officeDocument/2006/relationships" id="268" r:id="Rbae6037f349947ec"/>
    <p:sldId xmlns:r="http://schemas.openxmlformats.org/officeDocument/2006/relationships" id="269" r:id="Ra7396bb29aae49d5"/>
    <p:sldId xmlns:r="http://schemas.openxmlformats.org/officeDocument/2006/relationships" id="270" r:id="R400992f3ad714d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d3df1b0d1848b2" /><Relationship Type="http://schemas.openxmlformats.org/officeDocument/2006/relationships/slideMaster" Target="/ppt/slideMasters/slideMaster1.xml" Id="R084c64f7cda94579" /><Relationship Type="http://schemas.openxmlformats.org/officeDocument/2006/relationships/notesMaster" Target="/ppt/notesMasters/notesMaster1.xml" Id="R0176e84599064ed8" /><Relationship Type="http://schemas.openxmlformats.org/officeDocument/2006/relationships/presProps" Target="/ppt/presProps.xml" Id="R7571f2165bca470f" /><Relationship Type="http://schemas.openxmlformats.org/officeDocument/2006/relationships/tableStyles" Target="/ppt/tableStyles.xml" Id="R3cf4d106d19a45c0" /><Relationship Type="http://schemas.openxmlformats.org/officeDocument/2006/relationships/slide" Target="/ppt/slides/slide1.xml" Id="R0f8c4297ab3f4177" /><Relationship Type="http://schemas.openxmlformats.org/officeDocument/2006/relationships/slide" Target="/ppt/slides/slide2.xml" Id="R6b2068f16d4b4472" /><Relationship Type="http://schemas.openxmlformats.org/officeDocument/2006/relationships/slide" Target="/ppt/slides/slide3.xml" Id="R090baa01d68142a1" /><Relationship Type="http://schemas.openxmlformats.org/officeDocument/2006/relationships/slide" Target="/ppt/slides/slide4.xml" Id="R9d1b029ca6a14994" /><Relationship Type="http://schemas.openxmlformats.org/officeDocument/2006/relationships/slide" Target="/ppt/slides/slide5.xml" Id="Rae6fdef15a024aec" /><Relationship Type="http://schemas.openxmlformats.org/officeDocument/2006/relationships/slide" Target="/ppt/slides/slide6.xml" Id="R5d2a50c8b0904034" /><Relationship Type="http://schemas.openxmlformats.org/officeDocument/2006/relationships/slide" Target="/ppt/slides/slide7.xml" Id="Ra61c6b6a3058436a" /><Relationship Type="http://schemas.openxmlformats.org/officeDocument/2006/relationships/slide" Target="/ppt/slides/slide8.xml" Id="Rfb799d662930478d" /><Relationship Type="http://schemas.openxmlformats.org/officeDocument/2006/relationships/slide" Target="/ppt/slides/slide9.xml" Id="Rd1cd5a38bd974dc8" /><Relationship Type="http://schemas.openxmlformats.org/officeDocument/2006/relationships/slide" Target="/ppt/slides/slide10.xml" Id="Rdf05a4a781d3453a" /><Relationship Type="http://schemas.openxmlformats.org/officeDocument/2006/relationships/slide" Target="/ppt/slides/slide11.xml" Id="Rc0c4ec98f87b4afc" /><Relationship Type="http://schemas.openxmlformats.org/officeDocument/2006/relationships/slide" Target="/ppt/slides/slide12.xml" Id="R6ac9611477884e30" /><Relationship Type="http://schemas.openxmlformats.org/officeDocument/2006/relationships/slide" Target="/ppt/slides/slide13.xml" Id="Rbae6037f349947ec" /><Relationship Type="http://schemas.openxmlformats.org/officeDocument/2006/relationships/slide" Target="/ppt/slides/slide14.xml" Id="Ra7396bb29aae49d5" /><Relationship Type="http://schemas.openxmlformats.org/officeDocument/2006/relationships/slide" Target="/ppt/slides/slide15.xml" Id="R400992f3ad714d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aef80ecf0345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15ffb54cc54858" /><Relationship Type="http://schemas.openxmlformats.org/officeDocument/2006/relationships/notesMaster" Target="/ppt/notesMasters/notesMaster1.xml" Id="R5878012ba71b4a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98059aa53b4074" /><Relationship Type="http://schemas.openxmlformats.org/officeDocument/2006/relationships/notesMaster" Target="/ppt/notesMasters/notesMaster1.xml" Id="R685fea25ac4d4c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afc3ee0ac74e16" /><Relationship Type="http://schemas.openxmlformats.org/officeDocument/2006/relationships/notesMaster" Target="/ppt/notesMasters/notesMaster1.xml" Id="Raccc21b5410544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8a536666ca4fc7" /><Relationship Type="http://schemas.openxmlformats.org/officeDocument/2006/relationships/notesMaster" Target="/ppt/notesMasters/notesMaster1.xml" Id="R36732d68cd3b47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1432e5ebeb4dd7" /><Relationship Type="http://schemas.openxmlformats.org/officeDocument/2006/relationships/notesMaster" Target="/ppt/notesMasters/notesMaster1.xml" Id="Rd54c0ef3a59a47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98c67411414188" /><Relationship Type="http://schemas.openxmlformats.org/officeDocument/2006/relationships/notesMaster" Target="/ppt/notesMasters/notesMaster1.xml" Id="Ra7b3855d37b74c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95abaf22104485" /><Relationship Type="http://schemas.openxmlformats.org/officeDocument/2006/relationships/notesMaster" Target="/ppt/notesMasters/notesMaster1.xml" Id="Rcf3e287fd6df4f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61ac5f022941e4" /><Relationship Type="http://schemas.openxmlformats.org/officeDocument/2006/relationships/notesMaster" Target="/ppt/notesMasters/notesMaster1.xml" Id="R1e1c206c04a946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b067fecdc242b5" /><Relationship Type="http://schemas.openxmlformats.org/officeDocument/2006/relationships/notesMaster" Target="/ppt/notesMasters/notesMaster1.xml" Id="R53e20cd4da2f49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01b7e2e85148ce" /><Relationship Type="http://schemas.openxmlformats.org/officeDocument/2006/relationships/notesMaster" Target="/ppt/notesMasters/notesMaster1.xml" Id="Rbae82b0c8a9f40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e2b4e752dc49bc" /><Relationship Type="http://schemas.openxmlformats.org/officeDocument/2006/relationships/notesMaster" Target="/ppt/notesMasters/notesMaster1.xml" Id="R78e33fec661549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b0b9dbdf464b87" /><Relationship Type="http://schemas.openxmlformats.org/officeDocument/2006/relationships/notesMaster" Target="/ppt/notesMasters/notesMaster1.xml" Id="R71b7e1225e824a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72061d8f28400a" /><Relationship Type="http://schemas.openxmlformats.org/officeDocument/2006/relationships/notesMaster" Target="/ppt/notesMasters/notesMaster1.xml" Id="R3d9c4d91f7fc4b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714bd43fb34cfd" /><Relationship Type="http://schemas.openxmlformats.org/officeDocument/2006/relationships/notesMaster" Target="/ppt/notesMasters/notesMaster1.xml" Id="R9e2129c1ae604b3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bd5cdcf5f848e1" /><Relationship Type="http://schemas.openxmlformats.org/officeDocument/2006/relationships/notesMaster" Target="/ppt/notesMasters/notesMaster1.xml" Id="Rad01497393a849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封面已去除公司 logo 和名称，仅保留原模板的蓝绿底栏风格。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 页讲述版，用于面谈前搭建口头逻辑。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这不是模块替换，而是把原系统语言重组为业务能力语言。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用价值流画板说明功能必须落到真实过程节点。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不是否定已有系统，而是指出下一阶段真正要补的能力。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三类数据目的的价值周期不同，后续动作也不同。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这页是差异化判断，建议保留为重点讲述页。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b2084487c41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c8825d38424ac1" /><Relationship Type="http://schemas.openxmlformats.org/officeDocument/2006/relationships/slideLayout" Target="/ppt/slideLayouts/slideLayout1.xml" Id="R292d6e3a92f345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2d6e3a92f345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4251e5f8a4823" /><Relationship Type="http://schemas.openxmlformats.org/officeDocument/2006/relationships/notesSlide" Target="/ppt/notesSlides/notesSlide1.xml" Id="R58353a1f5d3845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0194375dd481f" /><Relationship Type="http://schemas.openxmlformats.org/officeDocument/2006/relationships/notesSlide" Target="/ppt/notesSlides/notesSlide2.xml" Id="R12dfd34a906846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eb91e22c74c5f" /><Relationship Type="http://schemas.openxmlformats.org/officeDocument/2006/relationships/notesSlide" Target="/ppt/notesSlides/notesSlide3.xml" Id="R91ca5e70119445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c03ffe7264a8d" /><Relationship Type="http://schemas.openxmlformats.org/officeDocument/2006/relationships/notesSlide" Target="/ppt/notesSlides/notesSlide4.xml" Id="Rcdc59d97864849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dc45d74544625" /><Relationship Type="http://schemas.openxmlformats.org/officeDocument/2006/relationships/notesSlide" Target="/ppt/notesSlides/notesSlide5.xml" Id="R5fbc7b85cf3f49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7cdddb8ef4f39" /><Relationship Type="http://schemas.openxmlformats.org/officeDocument/2006/relationships/notesSlide" Target="/ppt/notesSlides/notesSlide6.xml" Id="Rff7bdda3467f4d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fbc5b0e2d4c66" /><Relationship Type="http://schemas.openxmlformats.org/officeDocument/2006/relationships/notesSlide" Target="/ppt/notesSlides/notesSlide7.xml" Id="R2a2e425efacb40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13455df49443a" /><Relationship Type="http://schemas.openxmlformats.org/officeDocument/2006/relationships/notesSlide" Target="/ppt/notesSlides/notesSlide8.xml" Id="R071b69e80d114e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6f867c3e24b24" /><Relationship Type="http://schemas.openxmlformats.org/officeDocument/2006/relationships/notesSlide" Target="/ppt/notesSlides/notesSlide9.xml" Id="R717f07bcffc440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dd377d3d2461f" /><Relationship Type="http://schemas.openxmlformats.org/officeDocument/2006/relationships/notesSlide" Target="/ppt/notesSlides/notesSlide10.xml" Id="R9ed13ab5dae747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0a00e1b6b49fa" /><Relationship Type="http://schemas.openxmlformats.org/officeDocument/2006/relationships/notesSlide" Target="/ppt/notesSlides/notesSlide11.xml" Id="R671ff114b6934c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a4e38bcaa44e3" /><Relationship Type="http://schemas.openxmlformats.org/officeDocument/2006/relationships/notesSlide" Target="/ppt/notesSlides/notesSlide12.xml" Id="R53314cb4fadf46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598ba6071468e" /><Relationship Type="http://schemas.openxmlformats.org/officeDocument/2006/relationships/notesSlide" Target="/ppt/notesSlides/notesSlide13.xml" Id="R61830b0c36bc48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54a5a67b94c43" /><Relationship Type="http://schemas.openxmlformats.org/officeDocument/2006/relationships/notesSlide" Target="/ppt/notesSlides/notesSlide14.xml" Id="R3c61bd9bf22f4c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743a6c63f4a0a" /><Relationship Type="http://schemas.openxmlformats.org/officeDocument/2006/relationships/notesSlide" Target="/ppt/notesSlides/notesSlide15.xml" Id="Rf53bb38ba27049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D568C-0493-46D4-A8AE-1EE5DCBF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7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信息系统建设理解与下一阶段路径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779C5-6A9B-446F-8827-11811F07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432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当前业务理解、阶段二实现路径与最终架构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16580-7555-42A0-85CC-5B418805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03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F8689-5578-4E2B-A1E2-4EE948F3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210300"/>
            <a:ext cx="1143000" cy="2857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6A516-3A5F-4BE0-A8EE-86069A17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210300"/>
            <a:ext cx="401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</a:ln>
        </p:spPr>
      </p:sp>
    </p:spTree>
    <p:extLst>
      <p:ext uri="{BB962C8B-B14F-4D97-AF65-F5344CB8AC3E}">
        <p14:creationId xmlns:p14="http://schemas.microsoft.com/office/powerpoint/2010/main" val="1567648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2BE9F-7ACD-4245-A54F-5ABC1502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汇报主线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4E44F-F562-41DE-928A-9057F025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31F8C-56DD-4359-A28A-25B86314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7206A-0430-429A-8D2B-85A5147B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当前理解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C87D8-33B4-4C27-B303-A6E05A1E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先把系统清单翻译成业务能力，再确认功能落在价值流的哪个节点。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89474-93DE-4E7B-9D6C-FFE81AC1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B5480-94B0-4449-B9FB-EB91D042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以全工序数据收集为起点，按后续动作反推采集范围和手段。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A857F-42AA-4140-98BB-5F363111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最终架构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3CA0B-A773-4F16-AB0C-8BC04A1D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在计划基准和数字孪生基础上，再引入 AI 做调整和过滤。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8BA1C-436F-45C7-9676-5040E01A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先建立理解，再讨论路径，最后讨论长期软件架构。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975EF-7152-49FD-A5A1-9785A82F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F2AAA-00D3-4348-947E-4B4D5E71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985985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6D29CF-FC07-4927-8371-96BF2C23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系统清单到业务能力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E4449-EBD8-488E-8633-9067EC25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FFD93-6750-46CE-9F16-6CA96CC7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45DE6-3400-4ACB-B0A2-8499B005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71600"/>
            <a:ext cx="2857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原系统语言来源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61CFC-0014-4381-8B34-A06082E2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71600"/>
            <a:ext cx="3143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重组后的业务能力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9E1B6-167D-459B-8598-5B487B98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96709-D79C-47BB-8967-F804D240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实物／物料流管理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5BE77-053B-43A5-848E-2D1CD2E7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812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FCD02-A710-4098-869F-96A83CCF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6D651-A329-40A3-B80C-D8BF3139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47720-F7D3-4DFB-83CA-BBB18212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670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694A9-B0DE-4E49-8E61-CC292EF5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25F8A-25D2-4944-A854-53520BC9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生产过程与工艺管理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3DC06-0FF2-49D3-A356-477C08C8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528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DA52C5-09A3-4EE7-94E4-D8075F8E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8D601-BA1C-4D6C-815B-9D58AF55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 相关界面输出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E876E-CF56-4346-BAA6-515D6B89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08BFE7-5021-4F85-851C-64A0D909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E532F8-F805-44F2-BC51-304D7067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244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设备数据采集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4E07DF-A4AA-47F1-A113-E1D054FE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244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96E966-E401-470E-BA46-8D647E27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57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这一步把系统清单转成经营和现场能讨论的业务语言。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938B0E-0A61-4DB2-B2D0-D67C6D82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FF809A-E707-4585-A8BD-DD913402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5AD299-D8F4-4A23-93C1-D98AFD44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18662540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BDA701-D847-4BB7-B479-67D57D55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功能落位到价值流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A5B41-CC8C-406A-84E5-7096A21F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6E336-B72D-4E2F-A95D-172F9020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BE31B-FC19-416B-91D3-A044531E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供应商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84437-3236-4625-AD3B-D79663EF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4DED6-24F7-463B-8D5A-4DBAABEB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收货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229C0-01AE-4315-B9ED-AA915817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33BFC-267A-4B07-82F2-DCF504A0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入库检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21A0C-780D-426D-9466-FBAC4849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88607-7F49-41FA-95C9-CECB355E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仓库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0B1A5-AB0F-4E41-ACF5-437F397A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A3303-C969-4F3C-A9EF-051A2634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材料出库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E4A6C-5EA1-473B-8F29-CC5BE989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生产工序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B4597-23DB-406E-B853-41181E87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61AA58-CDF1-4850-BBC6-CA89D1A7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9F913-F07D-43E6-BA32-AA78D0AC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成品检验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87FA68-1604-4548-B51A-3CC32B3C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8DC219-7C10-427A-B144-6A58BDF5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成品出库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0DC1AB-8CE2-4146-A02F-1C29ADD4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3BB5F3-0ABF-4BE3-88CE-431EE4E4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FFD9EA-E9D3-47B7-9B27-9A74480E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2D5483-5023-4A02-9316-AA0EBE21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97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9AB30E-1446-4062-8378-B7776498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95875"/>
            <a:ext cx="899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每个功能项都要落到过程节点，才能判断它服务的动作和管理意义。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46A934-B0A9-4A07-A090-8CBF9D1D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A0F38B-8F5D-49A3-8ECE-FB96EF60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687599-7357-433B-BA1F-32BE1705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3735838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CCAC3-4DF0-4109-BEAE-1E0DEF5A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当前能力判断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B0DFF-1FAB-4D2A-BA0E-BD2031CA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BAE24-DAB3-463F-B7F1-9F8F9450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3750E-2562-4D2C-88D9-8231C476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已有基础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CC6E8-D3B7-4EC3-AB59-CC06FC97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关键缺口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44441-11F7-4B6B-BAB6-DE8061BD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46C5B-864B-437A-9D11-9DA6CD2C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仓储、库存、出入库和 FIFO 已有基础框架。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565E0-9214-4A70-B772-7F16EC95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D631C-48B8-4958-8491-2C61A610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生产执行、报工、防错和追溯已有功能入口。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D5677-DF28-4215-8D5A-04919147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1800A-0ACF-4D23-85FE-2673EA65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检验、质量标准和不合格品处理已有明确功能项。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71935-0BFE-4165-9F2F-F97929CA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64BC55-74C1-47BF-90B4-95EA890E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功能仍偏记录和局部管控。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5B75A-AB57-4132-951B-6B232624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ED7A6C-7D00-4E60-B07A-620D1603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生产计划能力弱，动态数据缺少判断基准。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D44C2-45D1-40D2-AC41-9964B07D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87998F-E7EA-4925-9498-822A8868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跨工序既有零件移动缺少拉动式机制。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16043-C21F-429F-B77D-FA6DF3E9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14317A-51CE-4405-9C7A-A8D8420E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3F6BA1-011F-422A-9AC8-2FCDA897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6084741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533186-3F4B-41C6-893F-6826594A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阶段二的核心命题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293B0-61AC-4906-BD12-26EEABCC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9C49A-8CEE-48CF-ABCD-5DD5FA1E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B55E8-0544-428C-8332-EB418916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28900"/>
            <a:ext cx="20002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76BC21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全工序数据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B08F5-40DD-43C5-AF60-EA5F8FCA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240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cxnSp>
        <p:nvCxnSpPr>
          <p:cNvPr id="28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2781300" y="1752600"/>
            <a:ext cx="2314575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1F93B-4D23-436E-8B0D-2E990580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525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</a:t>
            </a:r>
          </a:p>
        </p:txBody>
      </p:sp>
      <p:cxnSp>
        <p:nvCxnSpPr>
          <p:cNvPr id="30" name=""/>
          <p:cNvCxnSpPr>
            <a:stCxn xmlns:a="http://schemas.openxmlformats.org/drawingml/2006/main" id="4" idx="0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5524500" y="1581150"/>
            <a:ext cx="57150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22517-78D3-4BD8-AA06-5100A124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525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技术参数</a:t>
            </a:r>
          </a:p>
        </p:txBody>
      </p: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096125" y="1581150"/>
            <a:ext cx="47625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0547C-8EBF-4DC7-8AC0-E9190ACF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产品状态</a:t>
            </a:r>
          </a:p>
        </p:txBody>
      </p:sp>
      <p:cxnSp>
        <p:nvCxnSpPr>
          <p:cNvPr id="34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096125" y="1752600"/>
            <a:ext cx="2524125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224FC-EF3E-4761-9A0B-3A493BF5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862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生产进度</a:t>
            </a:r>
          </a:p>
        </p:txBody>
      </p:sp>
      <p:cxnSp>
        <p:nvCxnSpPr>
          <p:cNvPr id="36" name=""/>
          <p:cNvCxnSpPr>
            <a:stCxn xmlns:a="http://schemas.openxmlformats.org/drawingml/2006/main" id="4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3257550" y="3048000"/>
            <a:ext cx="1838325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B1E12C-2F6E-4352-B402-8CEBB509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625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</a:t>
            </a:r>
          </a:p>
        </p:txBody>
      </p:sp>
      <p:cxnSp>
        <p:nvCxnSpPr>
          <p:cNvPr id="38" name=""/>
          <p:cNvCxnSpPr>
            <a:stCxn xmlns:a="http://schemas.openxmlformats.org/drawingml/2006/main" id="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6019800" y="3467100"/>
            <a:ext cx="7620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8E25A-9A59-4528-B53D-421AAA11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862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Performance Rate</a:t>
            </a:r>
          </a:p>
        </p:txBody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96125" y="3048000"/>
            <a:ext cx="152400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B45621-45F0-4B4A-A6C2-C75C84B6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阶段二已经接近数字孪生。前提不是 3D 展示，而是过程状态可投影、偏差可判断、动作可回写。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2001D8-31C1-4203-A3E4-9F53142C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D8158-79DC-4E81-AB56-CF791F6A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D80517-AD61-4E85-87C6-DBD613B9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717173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9729BA-A743-44CA-BFD8-90926D4B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数据采集的三类目的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E2EC7-8845-49A7-BBBF-792DA47D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10D80-A842-4E0A-B28F-E73F8383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966DD-AB55-461E-9FFA-F7E620D2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状态异常与质量指标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254B3-0A1E-46CE-926F-8F9067B7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异常出现时触发停线、人工确认、曲线跟踪和质量风险反馈。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8F984-785E-431C-AC6E-42C57227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技术参数与经验值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3B9C6-D213-439B-A8CD-BBBD5E60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对照产品状态变化，沉淀有效参数，服务产品开发和工艺设定。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27E8C-C260-473D-B092-ABE8E0A3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生产进度跟踪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91C1E-B864-4A9D-A555-7FA3CFCB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识别工序衔接偏差，触发短周期 replan，减少等待和堆积。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3E62B-4CFC-40E0-B72D-BC701DDC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先建立理解，再讨论路径，最后讨论长期软件架构。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9071A-9D1B-454C-B800-3604B990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E67E6-CAE7-4578-AAE2-7C49B475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006003-5EE3-4778-ACAD-EAD87DAE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1554060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84B8E-B5D7-48A1-BD88-DC92379B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三类目的的价值差异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00B20-4DBA-4D00-AE0E-48E369EE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631DC-B6BA-446B-A62E-FDE02969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33500" y="1428750"/>
          <a:ext xmlns:a="http://schemas.openxmlformats.org/drawingml/2006/main" cx="9525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86364"/>
                <a:gridCol w="6638636"/>
              </a:tblGrid>
              <a:tr h="704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数据目的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价值判断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状态异常与质量指标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减少质量报废率，但可能让价值环节停顿，需要 100% 检查和阈值设定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技术参数与经验值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通常不创造当班收益，但长期支撑产品开发、工艺设定和 AI 参数过滤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生产进度跟踪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更接近即时运营价值，可抑制工序波动浪费，并尽量保持价值环节连续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共同前提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数据必须对应后续动作，否则只会增加采集成本和解释成本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7D260-0797-4153-853E-44B697AB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4374F-AFBD-496B-897A-97E99AAA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901469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23F7A4-D5E1-4B67-95D2-A1BC324A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Planning 是动态数据的前提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A9E05-4348-44AF-B365-E566BA2E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9ABA5-8FA3-4E54-A0A3-374624C2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23EF2-16B2-40AA-B36A-95038B62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24H 计划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277D4-BECE-4774-A477-9C76A7FC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2937A-A146-48DB-8753-A23572C1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偏差判断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17EF9-FF49-47A1-9AF4-636F74DB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短周期 Replan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708F0-746B-4FD6-8ED8-AEE6F829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物料拉动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F3FBA-3C10-412F-A4DF-8344C7F9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28875"/>
            <a:ext cx="1333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执行反馈</a:t>
            </a:r>
          </a:p>
        </p:txBody>
      </p: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095500" y="2705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05250" y="2705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715000" y="2705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705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34500" y="2705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83E50-24F0-467B-8C66-25B2497D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5750"/>
            <a:ext cx="899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没有计划基准，动态数据只能记录现场。有计划基准，数据才能判断偏差，并触发调整。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9A836F-6A3E-4020-819D-F2CE8066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6CEB7-A275-46EE-9D13-0DFA3283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25491A-6295-4EF4-B0A2-4215CAB1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现场穿插：DEMO2 场地规划软件</a:t>
            </a:r>
          </a:p>
        </p:txBody>
      </p:sp>
    </p:spTree>
    <p:extLst>
      <p:ext uri="{BB962C8B-B14F-4D97-AF65-F5344CB8AC3E}">
        <p14:creationId xmlns:p14="http://schemas.microsoft.com/office/powerpoint/2010/main" val="13940740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D4393-1B5A-4454-968C-F3054088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工单驱动与拉动式物料流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53A28-498A-4D6F-B70C-CE88F0E7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A83D5-F01C-40C9-A36B-462E86F4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4D2F5-42BD-49C9-B251-57813D33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工单驱动适用场景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3E187-E245-4D80-AEA5-54AF053E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拉动式物流适用场景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0657A-263E-45C0-A3FE-4BF55046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71942-C53D-4182-B919-9A84687E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工单可以驱动料单和发料动作。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84ED7-CE29-45DF-B844-7FBC6274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C625E-747A-4E68-BE06-77428BCD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铝锭等原材料发至铸造产线，可以由工单牵引。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27CEB-3DF9-4D03-BD98-71386688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950ED1-4923-4909-8F3F-905EAD72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计划仍负责材料需求和产能边界。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67D15-12DC-4822-85F0-174C1CF0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3A4FF-5366-4B77-8B70-DB177C7F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铸造完成品到后续工序。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60BFEB-E230-401B-B433-21A08988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A699C-6A4E-4E93-B58E-BB343EA8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机加到装配。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CE4B0-4BE6-4800-B6B7-7BBB4C82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E887D-5356-412E-B0C8-9C8165B5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排产基于库存水位展开，真实物料移动由后工序消耗节奏触发。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047C4B-40A2-4324-A704-9262F0D2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D94FDC-6F7D-4AD0-8490-E8C4E9E8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CA8D8E-ECC6-4B86-B624-A3E57FEF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1460292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C57139-464E-4B66-AEE7-95F99177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阶段二的实现方法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94A5B-F234-43D1-9324-164229BF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EC3B7-374C-45A3-8EC7-00A41F1E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96BB5-36C9-411E-9064-58899642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价值流落位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D7A96-783C-419D-A5D8-327FE465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把全工序数据采集放回过程节点，而不是放在系统模块里讨论。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BBEC3-17E1-4248-A54D-8407816B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动作反推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2B9AA-49C7-4B25-8B13-570F347A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先定义停线、曲线、经验值和 replan，再定义数据范围。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A2348-2F82-441A-AC5E-11F7B37D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计划基准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A83D0-050A-4D8C-AD56-880DF9CF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建立 24H 计划和工序节拍基准，让动态数据有判断对象。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33211-16B0-437C-A6E4-BCF57C4D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拉动补强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25E3C-8BC2-4A80-983C-EC65E1D0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补足跨工序库存水位和后工序拉动前工序的能力。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171B1-943D-4433-82B3-949498A5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26DC18-8B4A-4E3D-BD12-B627F8AD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42A95-3A8B-48A1-BE2F-32ADEE88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现场穿插：价值流画板，DEMO2 场地规划软件</a:t>
            </a:r>
          </a:p>
        </p:txBody>
      </p:sp>
    </p:spTree>
    <p:extLst>
      <p:ext uri="{BB962C8B-B14F-4D97-AF65-F5344CB8AC3E}">
        <p14:creationId xmlns:p14="http://schemas.microsoft.com/office/powerpoint/2010/main" val="19509961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D19571-8553-4E8D-98E2-65D8042C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阶段二后的数字孪生基础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AC1A4-06F2-43EB-B550-4ED57A90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BBA13-C8B0-4CF7-993B-C86FEC0A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29ACA-2CF0-45C2-BA94-2E16CDD1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14500"/>
            <a:ext cx="2095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现场过程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CE432-02D9-41EA-A5F8-D503DA36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14500"/>
            <a:ext cx="2095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数字投影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D5614-636E-42AE-BF24-AD7825B9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14500"/>
            <a:ext cx="2095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管理判断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07AFF-F889-402E-B717-C883FF58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6692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296AA-B55A-43D8-BB20-7AB27423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6692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56F95-6418-4E49-85D9-E6F62BC9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计划基准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3F60B-BC71-44AF-B3AA-11F48B07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B5BFF-5B75-4A27-9C62-43D5BBE8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质量曲线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5131B-363B-4036-B1F7-5BC03C0F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290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参数经验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7A6E5-71B1-41A0-989D-BA3FF0F8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290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 水位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50A0E-11DF-4484-8D06-0DF57A33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290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进度偏差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7FD684-0BFC-41A0-8724-A7CDD89C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当计划、设备、质量、参数和实物流都能投影到同一张图上，数字孪生才具备调整能力。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24277-FD94-47D8-B506-A94BD3D6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973BF-B691-4A2E-B9F6-CB42D5C0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31467C-3EB6-4290-BC85-F7C9E5A6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现场穿插：价值流画板，DEMO2 场地规划软件</a:t>
            </a:r>
          </a:p>
        </p:txBody>
      </p:sp>
    </p:spTree>
    <p:extLst>
      <p:ext uri="{BB962C8B-B14F-4D97-AF65-F5344CB8AC3E}">
        <p14:creationId xmlns:p14="http://schemas.microsoft.com/office/powerpoint/2010/main" val="12277529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955A58-264A-4197-B52F-8E8DCD09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的介入位置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338F1-BC83-4C22-812F-BC09F64D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EBD02-EFB7-4208-BF4F-F793CA93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79F18-D6C5-4323-98FB-4A94243C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设备边缘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43EC9-62E2-4F5B-9C39-40B35932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在状态异常和质量指标偏离时，辅助判断停线、降速或参数切换。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AC70B-4A18-4C1C-B1F0-DF891ABB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计划重排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05093-6F79-4B43-80DB-7036AFB4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用更小颗粒度监控工序进度，并生成短周期 replan 建议。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B0C18-6A57-4312-9594-DACBEB4F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参数过滤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CB767-A821-40E1-AAB1-31B2511E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过滤非必要数据，保留对产品状态和工艺设定有效的参数。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A4A92E-E4DB-48AD-809C-10317A5F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AI 的价值建立在阶段二形成的计划基准、现场数据和调整手段之上。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02397-3873-4C79-AA9F-1D74BBEA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1D44A-EF09-4F9E-9800-668BD370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508853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49E6F-21D7-4B9A-93EA-F4CC31F0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最终软件架构展望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AEF2C-A0A0-4217-BEE1-30091B1F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9F356-3D1E-4481-A5B9-97F31D3C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0486C-F735-4FB3-A160-016EA53B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28750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ABFFF-39DC-4BCD-BF09-D542049F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28750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形成 24H 基准、短周期 replan 和成本展开入口。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ACB31-A75E-4330-9C31-99AD76F8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207F8-6A51-49FA-A477-9799702A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28875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承接工序、质量、设备、节拍和 WIP 的真实动作。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7C937-C6E7-45AE-9FE2-4F214C5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29000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2B3CB-8A5E-444C-A36A-133C5BE3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29000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按动作目的采集、过滤和沉淀有效参数。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9C509-ED20-4B83-8A40-3107A1F0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29125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智能层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F5BA6-E6C1-4EA2-9A6B-62545542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29125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在边缘和计划层分别承担快速响应和优化建议。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7B458-95B0-49BD-8745-E3A4CC0E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A9CBC-193B-4F68-9CB5-75011DE2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60375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3FB4E-608C-4EC5-87E8-A183D05A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阶段路线与下一步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A0A75-52D2-461C-8D9A-03E3DBDC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06E65-0E7E-455B-9AEE-E6368F66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FB9B7-E684-4D24-A90A-AD3E9CF1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ED239-A857-440C-ABD8-95B7EB20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当前功能业务理解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13995-12CD-420C-80A5-7F282E2C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价值流画板、功能重组表、当前能力判断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85D88-E54D-4C48-9556-49806B5F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0E490-4A6C-4472-838A-581C47B7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数据采集与计划闭环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A5ED7-0EC1-43A8-887D-B5E1FA0E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全工序数据、24H 计划、拉动物流、replan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F6706-3132-41BA-967C-87D50DE7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D9775-A7C7-469B-9CB8-7CA6CD02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与数字孪生调整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58925-C152-4691-B2F6-CA64129D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边缘模型、参数过滤、短周期重排、成本优化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BC116-7E38-4872-98E9-A6D52256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C6F62-FF19-421A-9E11-217E5966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8AE049-A668-4F81-9C52-9D4162B4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991349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2026-09-20T02:35:59.6200000Z</dcterms:created>
  <dcterms:modified xsi:type="dcterms:W3CDTF">2026-09-20T02:35:59.6200000Z</dcterms:modified>
</coreProperties>
</file>