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56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9008"/>
            <a:ext cx="8503920" cy="56692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5779008"/>
            <a:ext cx="3355848" cy="56692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0768" y="5760720"/>
            <a:ext cx="438912" cy="60350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12648" y="1234440"/>
            <a:ext cx="99669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F3746"/>
                </a:solidFill>
                <a:latin typeface="PingFang SC"/>
              </a:rPr>
              <a:t>从组织补位
走向全球运营复制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4436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76974"/>
                </a:solidFill>
                <a:latin typeface="PingFang SC"/>
              </a:rPr>
              <a:t>集团供应链与数字化组织建议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组织能力与基线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10565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3977639"/>
            <a:ext cx="3172968" cy="71323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先导项目收益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410565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58784" y="4105656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方法沉淀与复制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1846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讨论稿｜岗位人数、IE 归属与收益金额待现场核实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先把两条业务链连起来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让计划指令落实为现场动作，让现场事实反过来修正经营判断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01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63040"/>
            <a:ext cx="2971800" cy="3456432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1682496"/>
            <a:ext cx="1106424" cy="310896"/>
          </a:xfrm>
          <a:prstGeom prst="roundRect">
            <a:avLst/>
          </a:prstGeom>
          <a:solidFill>
            <a:srgbClr val="2C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16916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当前断点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31136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信息流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633472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客户／生产／物料计划
缺少集团统筹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538728"/>
            <a:ext cx="2359152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712463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实物流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05656"/>
            <a:ext cx="232257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仓储管理与物料移动
缺少统一规划和评价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1508760"/>
            <a:ext cx="7296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集团统筹的业务闭环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41648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客户需求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明确交付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59552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可执行计划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匹配约束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6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生产与实物流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真实反馈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识别偏差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633472"/>
            <a:ext cx="164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13264" y="2423160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经营判断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935224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持续改进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8496" y="3931920"/>
            <a:ext cx="7516368" cy="98755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78808" y="4087368"/>
            <a:ext cx="138988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组织的价值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069080"/>
            <a:ext cx="56692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数据对应动作，动作产生结果，结果可被解释和改善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32180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制造执行仍由运营 VP 负责；新团队负责计划、实物流、数字化及集团共性规则。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组织调整：建立清晰的责任链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集团建立能力与共同标准；基地对交付和现场执行负责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02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344168"/>
            <a:ext cx="2423160" cy="502920"/>
          </a:xfrm>
          <a:prstGeom prst="roundRect">
            <a:avLst/>
          </a:prstGeom>
          <a:solidFill>
            <a:srgbClr val="1F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42646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CEO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847088"/>
            <a:ext cx="0" cy="22860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2304" y="2075688"/>
            <a:ext cx="7141464" cy="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32304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73768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" y="2267712"/>
            <a:ext cx="3657600" cy="1874519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2496312"/>
            <a:ext cx="3127248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运营 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26664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76974"/>
                </a:solidFill>
                <a:latin typeface="PingFang SC"/>
              </a:rPr>
              <a:t>制造执行｜工艺与设备｜现场生产结果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2267712"/>
            <a:ext cx="6858000" cy="1874519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450592"/>
            <a:ext cx="63185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集团供应链与数字化负责人（拟）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999232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信息流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9864" y="2999232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客户／生产／物料计划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99232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实物流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99232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仓储／厂内物流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511296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9864" y="3511296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业务＋开发／集成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11296"/>
            <a:ext cx="731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11296"/>
            <a:ext cx="22677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客户要求与控制点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453128"/>
            <a:ext cx="10972800" cy="10698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4645152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现场接口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4636008"/>
            <a:ext cx="92811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计划提出可执行指令 → 制造兑现 → 物流保障 → 数据反馈与异常闭环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70585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IE：前期以项目协作／虚线参与现场测量和方案验证，组织归属待讨论。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3D2EA1C8-F48B-AAEE-E173-66F8EBCA9BA6}"/>
              </a:ext>
            </a:extLst>
          </p:cNvPr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前 12 个月：先建能力，再核实收益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人数是岗位覆盖设想；净新增编制须在现状盘点后确定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03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17320"/>
            <a:ext cx="5312664" cy="427024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5312664" cy="42702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阶段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前 3—6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5176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建能力与基线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72968"/>
            <a:ext cx="46177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明确组织边界；计划、仓储、数字化共同进入现场；以宁德先导建立需求、产能、产出、质量与物料流基线。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4526280"/>
            <a:ext cx="4718304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4690872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A4D9"/>
                </a:solidFill>
                <a:latin typeface="PingFang SC"/>
              </a:rPr>
              <a:t>覆盖设想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4663440"/>
            <a:ext cx="363931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2—3｜数字化业务 1—2｜开发 1｜实物流负责人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阶段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5681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6—12 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5176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形成并核实先导收益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72968"/>
            <a:ext cx="46177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围绕交付、设备时间、质量、损伤和库存持续改善；业务、运营与财务共同核实归因及经济结果。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28816" y="4526280"/>
            <a:ext cx="4727448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28816" y="4690872"/>
            <a:ext cx="11430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8C22F"/>
                </a:solidFill>
                <a:latin typeface="PingFang SC"/>
              </a:rPr>
              <a:t>覆盖设想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63440"/>
            <a:ext cx="364845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4—6｜数字化业务 2—3｜开发 1—2｜体系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7959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仓储与 IE 人数按业务量、现场工作及组织归属核定；此页不是招聘计划。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143DF457-A4BB-1F32-C2B4-3311380C95B9}"/>
              </a:ext>
            </a:extLst>
          </p:cNvPr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人员演化：职能归位，人数随业务成熟调整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现有人数待盘点；以下为功能覆盖设想，派驻与岗位融合均不等于净新增编制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325880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现有岗位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32588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前 3—6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325880"/>
            <a:ext cx="23591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6—12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325880"/>
            <a:ext cx="314553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基地／平台阶段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173736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18688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88152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75904" y="173736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1874519"/>
            <a:ext cx="1993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信息化／计划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286000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评估转向信息流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188366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2—3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231343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客户＋生产＋物料计划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188366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4—6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231343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与系统／AI 协同计算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1883664"/>
            <a:ext cx="28712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每基地计划 1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313432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集团标准进入平台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066543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066543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066543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" y="297180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18688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88152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75904" y="2971800"/>
            <a:ext cx="3145536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3108960"/>
            <a:ext cx="1993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仓储／物流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520440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从操作走向规划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311810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统筹负责人 1 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354787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基地执行维持运作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311810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统筹 1—2 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168" y="354787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预判等待、损伤、库存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118104"/>
            <a:ext cx="28712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每基地实物流 1 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547872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集团方法和指标统一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30098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30098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330098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420624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18688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788152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75904" y="420624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4343400"/>
            <a:ext cx="19933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工程／体系／IE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" y="4754879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协作进入现场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35254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业务 1—2｜开发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46704" y="478231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IE 协作 1 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5312" y="4352544"/>
            <a:ext cx="2084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数字业务 2—3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16168" y="478231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开发 1—2＋体系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3064" y="4352544"/>
            <a:ext cx="28712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融合团队约 5 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782312"/>
            <a:ext cx="28895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至少 2 人通全系统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0088" y="453542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53542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4535424"/>
            <a:ext cx="2103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" y="5650992"/>
            <a:ext cx="10890504" cy="42062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3816" y="5733288"/>
            <a:ext cx="105064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长期看同等业务量所需人工工时下降；海外基地扩张时，绝对人数须结合业务量另算。</a:t>
            </a: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B9FB6C08-F7C5-5A41-C774-CFD780D0AE6F}"/>
              </a:ext>
            </a:extLst>
          </p:cNvPr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12 个月后：人走向基地，规则进入平台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计划与实物流本来服务基地；集团前期统筹是为了培养人员并统一方法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1—2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沉淀与复制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业务规则、数据口径、
软件配置、培训与验收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集团核心：延续阶段 B 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2368296"/>
            <a:ext cx="265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417320"/>
            <a:ext cx="3410712" cy="2185416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8C22F"/>
                </a:solidFill>
                <a:latin typeface="PingFang SC"/>
              </a:rPr>
              <a:t>2—3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基地嵌入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集团培养骨干进入基地，
带教当地团队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每基地：计划 1＋实物流 1（设想）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368296"/>
            <a:ext cx="265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1636776"/>
            <a:ext cx="294436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3 年后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66543"/>
            <a:ext cx="294436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平台治理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24328"/>
            <a:ext cx="29443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轮换与晋升；共性规则、
评价方法进入平台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273552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融合团队约 5；至少 2 人通全系统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8"/>
            <a:ext cx="107716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746"/>
                </a:solidFill>
                <a:latin typeface="PingFang SC"/>
              </a:rPr>
              <a:t>驻基地人员的双线责任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5239512" cy="97840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72784" y="4489704"/>
            <a:ext cx="5239512" cy="97840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672584"/>
            <a:ext cx="242316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实线｜基地负责人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681728"/>
            <a:ext cx="256946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日常交付、现场资源与异常处置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672584"/>
            <a:ext cx="29900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虚线｜集团供应链负责人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4681728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业务方法、指标口径与绩效评价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05856"/>
            <a:ext cx="10771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基地位置改变，业务动作与评价标准仍由统一平台承接；海外节奏取决于实际项目节点。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F22BDD0E-12AC-BD20-41DF-70C776B09807}"/>
              </a:ext>
            </a:extLst>
          </p:cNvPr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以收益和人效，验证组织调整是否有效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先导项目在 6—12 个月核实；复制项目逐基地建立基线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63040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4592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增量贡献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0552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真实需求下的良品交付与供货提升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463040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5" y="164592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实际成本节约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130552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时间损失、报废返工、搬运损伤下降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990088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172968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库存与现金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57600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库存占用释放与持有成本分开核算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990088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5" y="3172968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单位业务量人效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5" y="3657600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同等业务量所需人数与人工工时下降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09160"/>
            <a:ext cx="10844784" cy="78638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485546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核算原则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4846320"/>
            <a:ext cx="9098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校正需求与班次等条件变化；扣除实施投入；库存释放不直接计入利润。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33288"/>
            <a:ext cx="107807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待核实：现状编制与权限边界｜宁德业务基线｜海外投产节点｜IE 归属｜平台成熟门槛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68AFED91-EEAC-E5A5-A2C7-44B95AE5CDD8}"/>
              </a:ext>
            </a:extLst>
          </p:cNvPr>
          <p:cNvSpPr txBox="1"/>
          <p:nvPr/>
        </p:nvSpPr>
        <p:spPr>
          <a:xfrm>
            <a:off x="612648" y="6168408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D8B94"/>
                </a:solidFill>
                <a:latin typeface="PingFang SC"/>
              </a:rPr>
              <a:t>组织调整与阶段价值</a:t>
            </a:r>
            <a:endParaRPr sz="1000" b="0" dirty="0">
              <a:solidFill>
                <a:srgbClr val="7D8B94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450</Words>
  <Application>Microsoft Macintosh PowerPoint</Application>
  <PresentationFormat>宽屏</PresentationFormat>
  <Paragraphs>160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五阶段讨论｜无品牌底板</dc:title>
  <dc:subject>白底、天蓝与草绿的无品牌演示底板</dc:subject>
  <dc:creator>Codex</dc:creator>
  <cp:lastModifiedBy>Li Jiajun</cp:lastModifiedBy>
  <cp:revision>2</cp:revision>
  <dcterms:created xsi:type="dcterms:W3CDTF">2026-09-30T06:57:32Z</dcterms:created>
  <dcterms:modified xsi:type="dcterms:W3CDTF">2026-10-05T05:14:56Z</dcterms:modified>
</cp:coreProperties>
</file>