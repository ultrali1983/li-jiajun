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5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79008"/>
            <a:ext cx="8503920" cy="56692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33104" y="5779008"/>
            <a:ext cx="3355848" cy="56692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0768" y="5760720"/>
            <a:ext cx="438912" cy="60350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12648" y="1234440"/>
            <a:ext cx="996696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F3746"/>
                </a:solidFill>
                <a:latin typeface="PingFang SC"/>
              </a:rPr>
              <a:t>从组织补位
走向全球运营复制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944368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76974"/>
                </a:solidFill>
                <a:latin typeface="PingFang SC"/>
              </a:rPr>
              <a:t>集团供应链与数字化组织建议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3977639"/>
            <a:ext cx="3172968" cy="71323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4105656"/>
            <a:ext cx="2852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组织能力与基线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410565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3977639"/>
            <a:ext cx="3172968" cy="71323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0016" y="4105656"/>
            <a:ext cx="2852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先导项目收益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410565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3977639"/>
            <a:ext cx="3172968" cy="71323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58784" y="4105656"/>
            <a:ext cx="2852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方法沉淀与复制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1846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讨论稿｜岗位人数、IE 归属与收益金额待现场核实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先把两条业务链连起来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让计划指令落实为现场动作，让现场事实反过来修正经营判断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01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63040"/>
            <a:ext cx="2971800" cy="3456432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2" y="1682496"/>
            <a:ext cx="1106424" cy="310896"/>
          </a:xfrm>
          <a:prstGeom prst="roundRect">
            <a:avLst/>
          </a:prstGeom>
          <a:solidFill>
            <a:srgbClr val="2C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16916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当前断点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31136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信息流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633472"/>
            <a:ext cx="232257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客户／生产／物料计划
缺少集团统筹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" y="3538728"/>
            <a:ext cx="2359152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0392" y="3712463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实物流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05656"/>
            <a:ext cx="232257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仓储管理与物料移动
缺少统一规划和评价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8496" y="1508760"/>
            <a:ext cx="7296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集团统筹的业务闭环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0208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41648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客户需求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明确交付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633472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8112" y="2148840"/>
            <a:ext cx="1316736" cy="1371600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59552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可执行计划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匹配约束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2633472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6016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77456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生产与实物流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现场兑现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2633472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2148840"/>
            <a:ext cx="1316736" cy="1371600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0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真实反馈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识别偏差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633472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21824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13264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经营判断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3264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持续改进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68496" y="3931920"/>
            <a:ext cx="7516368" cy="98755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78808" y="4087368"/>
            <a:ext cx="138988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组织的价值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1264" y="4069080"/>
            <a:ext cx="56692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数据对应动作，动作产生结果，结果可被解释和改善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32180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制造执行仍由运营 VP 负责；新团队负责计划、实物流、数字化及集团共性规则。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组织调整：建立清晰的责任链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集团建立能力与共同标准；基地对交付和现场执行负责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02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3752" y="1344168"/>
            <a:ext cx="2423160" cy="502920"/>
          </a:xfrm>
          <a:prstGeom prst="roundRect">
            <a:avLst/>
          </a:prstGeom>
          <a:solidFill>
            <a:srgbClr val="1F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142646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CEO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9904" y="1847088"/>
            <a:ext cx="0" cy="228600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32304" y="2075688"/>
            <a:ext cx="7141464" cy="0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32304" y="2075688"/>
            <a:ext cx="0" cy="201168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73768" y="2075688"/>
            <a:ext cx="0" cy="201168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" y="2267712"/>
            <a:ext cx="3657600" cy="1874519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2496312"/>
            <a:ext cx="3127248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运营 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026664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76974"/>
                </a:solidFill>
                <a:latin typeface="PingFang SC"/>
              </a:rPr>
              <a:t>制造执行｜工艺与设备｜现场生产结果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8304" y="2267712"/>
            <a:ext cx="6858000" cy="1874519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450592"/>
            <a:ext cx="63185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集团供应链与数字化负责人（拟）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2999232"/>
            <a:ext cx="731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A4D9"/>
                </a:solidFill>
                <a:latin typeface="PingFang SC"/>
              </a:rPr>
              <a:t>信息流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9864" y="2999232"/>
            <a:ext cx="22677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客户／生产／物料计划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999232"/>
            <a:ext cx="731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实物流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99232"/>
            <a:ext cx="22677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仓储／厂内物流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511296"/>
            <a:ext cx="731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A4D9"/>
                </a:solidFill>
                <a:latin typeface="PingFang SC"/>
              </a:rPr>
              <a:t>数字化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9864" y="3511296"/>
            <a:ext cx="22677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业务＋开发／集成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511296"/>
            <a:ext cx="731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511296"/>
            <a:ext cx="22677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客户要求与控制点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453128"/>
            <a:ext cx="10972800" cy="106984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4645152"/>
            <a:ext cx="11612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现场接口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0824" y="4636008"/>
            <a:ext cx="92811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计划提出可执行指令 → 制造兑现 → 物流保障 → 数据反馈与异常闭环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70585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IE：前期以项目协作／虚线参与现场测量和方案验证，组织归属待讨论。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前 12 个月：先建能力，再核实收益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人数是岗位覆盖设想；净新增编制须在现状盘点后确定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03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17320"/>
            <a:ext cx="5312664" cy="427024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54496" y="1417320"/>
            <a:ext cx="5312664" cy="427024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63677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阶段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5681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F3746"/>
                </a:solidFill>
                <a:latin typeface="PingFang SC"/>
              </a:rPr>
              <a:t>前 3—6 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651760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建能力与基线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172968"/>
            <a:ext cx="46177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明确组织边界；计划、仓储、数字化共同进入现场；以宁德先导建立需求、产能、产出、质量与物料流基线。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" y="4526280"/>
            <a:ext cx="4718304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" y="4690872"/>
            <a:ext cx="11430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A4D9"/>
                </a:solidFill>
                <a:latin typeface="PingFang SC"/>
              </a:rPr>
              <a:t>覆盖设想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4663440"/>
            <a:ext cx="363931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746"/>
                </a:solidFill>
                <a:latin typeface="PingFang SC"/>
              </a:rPr>
              <a:t>计划 2—3｜数字化业务 1—2｜开发 1｜实物流负责人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163677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阶段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95681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F3746"/>
                </a:solidFill>
                <a:latin typeface="PingFang SC"/>
              </a:rPr>
              <a:t>6—12 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651760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形成并核实先导收益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172968"/>
            <a:ext cx="46177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围绕交付、设备时间、质量、损伤和库存持续改善；业务、运营与财务共同核实归因及经济结果。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28816" y="4526280"/>
            <a:ext cx="4727448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28816" y="4690872"/>
            <a:ext cx="11430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8C22F"/>
                </a:solidFill>
                <a:latin typeface="PingFang SC"/>
              </a:rPr>
              <a:t>覆盖设想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663440"/>
            <a:ext cx="364845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746"/>
                </a:solidFill>
                <a:latin typeface="PingFang SC"/>
              </a:rPr>
              <a:t>计划 4—6｜数字化业务 2—3｜开发 1—2｜体系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8795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仓储与 IE 人数按业务量、现场工作及组织归属核定；此页不是招聘计划。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人员转型：从岗位操作走向业务能力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前期先评估再转岗；每条能力最终要服务真实现场与软件平台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海威作业一  /  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04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490472"/>
            <a:ext cx="2889504" cy="1024128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87368" y="1490472"/>
            <a:ext cx="3227832" cy="102412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91272" y="1490472"/>
            <a:ext cx="3639312" cy="102412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691639"/>
            <a:ext cx="25146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现有信息化／计划岗位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819655"/>
            <a:ext cx="438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1691639"/>
            <a:ext cx="2834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计划（信息流）＋数字化业务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819655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664207"/>
            <a:ext cx="323697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懂约束、会计算、能验证指令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" y="2807208"/>
            <a:ext cx="2889504" cy="1024128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87368" y="2807208"/>
            <a:ext cx="3227832" cy="102412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91272" y="2807208"/>
            <a:ext cx="3639312" cy="102412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3008376"/>
            <a:ext cx="25146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现有仓储／物流岗位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36391"/>
            <a:ext cx="438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8536" y="3008376"/>
            <a:ext cx="2834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实物流规划＋基地骨干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3639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980944"/>
            <a:ext cx="323697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会规划库位、搬运、配送并预判损失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" y="4123944"/>
            <a:ext cx="2889504" cy="1024128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87368" y="4123944"/>
            <a:ext cx="3227832" cy="102412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891272" y="4123944"/>
            <a:ext cx="3639312" cy="102412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325112"/>
            <a:ext cx="25146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工程、体系与 IE 协作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453128"/>
            <a:ext cx="4389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8536" y="4325112"/>
            <a:ext cx="2834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系统接口＋业务规则＋现场测量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453128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297680"/>
            <a:ext cx="323697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沉淀可复用的软件与 AI 工具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" y="5559552"/>
            <a:ext cx="10899648" cy="466344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650992"/>
            <a:ext cx="104698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六类职能共同进现场；IE 前期协作，后期是否并入数字化以业务和平台成熟度为前提。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12 个月后：人走向基地，规则进入平台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计划与实物流本来服务基地；集团前期统筹是为了培养人员并统一方法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05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417320"/>
            <a:ext cx="3410712" cy="2185416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636776"/>
            <a:ext cx="294436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1—2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066543"/>
            <a:ext cx="2944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沉淀与复制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624328"/>
            <a:ext cx="29443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业务规则、数据口径、
软件配置、培训与验收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73552"/>
            <a:ext cx="2944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集团核心：延续阶段 B 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1" y="2368296"/>
            <a:ext cx="265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417320"/>
            <a:ext cx="3410712" cy="2185416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1636776"/>
            <a:ext cx="294436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8C22F"/>
                </a:solidFill>
                <a:latin typeface="PingFang SC"/>
              </a:rPr>
              <a:t>2—3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066543"/>
            <a:ext cx="2944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基地嵌入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624328"/>
            <a:ext cx="29443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集团培养骨干进入基地，
带教当地团队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273552"/>
            <a:ext cx="2944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每基地：计划 1＋实物流 1（设想）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2368296"/>
            <a:ext cx="265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410712" cy="2185416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8472" y="1636776"/>
            <a:ext cx="294436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3 年后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066543"/>
            <a:ext cx="2944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平台治理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624328"/>
            <a:ext cx="29443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轮换与晋升；共性规则、
评价方法进入平台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3273552"/>
            <a:ext cx="2944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融合团队约 5；至少 2 人通全系统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50208"/>
            <a:ext cx="107716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746"/>
                </a:solidFill>
                <a:latin typeface="PingFang SC"/>
              </a:rPr>
              <a:t>驻基地人员的双线责任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89704"/>
            <a:ext cx="5239512" cy="97840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72784" y="4489704"/>
            <a:ext cx="5239512" cy="97840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4672584"/>
            <a:ext cx="242316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实线｜基地负责人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4681728"/>
            <a:ext cx="256946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日常交付、现场资源与异常处置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672584"/>
            <a:ext cx="299008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虚线｜集团供应链负责人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4681728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业务方法、指标口径与绩效评价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05856"/>
            <a:ext cx="10771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基地位置改变，业务动作与评价标准仍由统一平台承接；海外节奏取决于实际项目节点。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以收益和人效，验证组织调整是否有效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先导项目在 6—12 个月核实；复制项目逐基地建立基线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06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463040"/>
            <a:ext cx="5266944" cy="130759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645920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增量贡献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30552"/>
            <a:ext cx="4700016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真实需求下的良品交付与供货提升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463040"/>
            <a:ext cx="5266944" cy="130759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5" y="1645920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8C22F"/>
                </a:solidFill>
                <a:latin typeface="PingFang SC"/>
              </a:rPr>
              <a:t>实际成本节约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130552"/>
            <a:ext cx="4700016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时间损失、报废返工、搬运损伤下降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990088"/>
            <a:ext cx="5266944" cy="130759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172968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8C22F"/>
                </a:solidFill>
                <a:latin typeface="PingFang SC"/>
              </a:rPr>
              <a:t>库存与现金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657600"/>
            <a:ext cx="4700016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库存占用释放与持有成本分开核算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2990088"/>
            <a:ext cx="5266944" cy="130759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5" y="3172968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单位业务量人效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5" y="3657600"/>
            <a:ext cx="4700016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同等业务量所需人数与人工工时下降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709160"/>
            <a:ext cx="10844784" cy="786384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" y="4855464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核算原则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4846320"/>
            <a:ext cx="9098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校正需求与班次等条件变化；扣除实施投入；库存释放不直接计入利润。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33288"/>
            <a:ext cx="107807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待核实：现状编制与权限边界｜宁德业务基线｜海外投产节点｜IE 归属｜平台成熟门槛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399</Words>
  <Application>Microsoft Macintosh PowerPoint</Application>
  <PresentationFormat>宽屏</PresentationFormat>
  <Paragraphs>133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PingFang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五阶段讨论｜无品牌底板</dc:title>
  <dc:subject>白底、天蓝与草绿的无品牌演示底板</dc:subject>
  <dc:creator>Codex</dc:creator>
  <cp:lastModifiedBy>Li Jiajun</cp:lastModifiedBy>
  <cp:revision>3</cp:revision>
  <dcterms:created xsi:type="dcterms:W3CDTF">2026-09-30T06:57:32Z</dcterms:created>
  <dcterms:modified xsi:type="dcterms:W3CDTF">2026-10-05T05:12:19Z</dcterms:modified>
</cp:coreProperties>
</file>