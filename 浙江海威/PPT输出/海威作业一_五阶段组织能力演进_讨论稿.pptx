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链路：信息流提出计划，实物流执行，现场反馈修正计划。前三个月保留原产出、成本、库存及业务条件的基线；三到六个月以宁德为先导，观察经济收益形成路径。岗位人数以现有人数、能力和工作量评估后确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人数均为已讨论的配置设想，不等于获批编制。仓储实物流与 IE 配置按业务量确认。计划、仓储、数字化、开发、供应链体系人员围绕同一经营问题协作；第六个月以后开始按原状态与改进状态核算真实收益。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海外项目按实际节点并行，并不等待此阶段才启动。集团保持指标与方法一致，各基地独立执行并反馈。派驻或增配人数须按实际业务量测算。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基地及时决策与执行；集团通过统一口径识别偏差并提供业务支持。派驻人员的直接汇报对象为基地 leader，集团供应链 leader 保留虚线业务与指标支持。数字化映射关键物理状态，AI 分析与基础决策必须进入真实业务并验证经营改善。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人团队是设想而非编制承诺。至少两人可支持多基地，应解释为关键能力的双人备份与轮值，不是两人包办全部现场执行。选择真实功能验证团队是否能完整完成需求、配置或开发、测试、部署、维护与验收。只有平台可靠运行，才逐步减少重复的集团供应链协调岗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56616"/>
            <a:ext cx="1170432" cy="310896"/>
          </a:xfrm>
          <a:prstGeom prst="roundRect">
            <a:avLst>
              <a:gd name="adj" fmla="val 14706"/>
            </a:avLst>
          </a:prstGeom>
          <a:solidFill>
            <a:srgbClr val="153044"/>
          </a:solidFill>
          <a:ln w="12700">
            <a:solidFill>
              <a:srgbClr val="1530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20624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CEO 讨论稿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55648" y="429768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898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0～6 个月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5953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先把组织与运作方式建起来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40817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6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以宁德项目先导，让计划、实物流、现场事实连成可执行的闭环。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40396" y="461772"/>
            <a:ext cx="137160" cy="137160"/>
          </a:xfrm>
          <a:prstGeom prst="ellipse">
            <a:avLst/>
          </a:prstGeom>
          <a:solidFill>
            <a:srgbClr val="D65F49"/>
          </a:solidFill>
          <a:ln w="12700">
            <a:solidFill>
              <a:srgbClr val="D65F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91272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9932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50808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59468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10344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19004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78540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08792" y="6464808"/>
            <a:ext cx="777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6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/ 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1901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898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组织动作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" y="2212848"/>
            <a:ext cx="3355848" cy="2194560"/>
          </a:xfrm>
          <a:prstGeom prst="roundRect">
            <a:avLst>
              <a:gd name="adj" fmla="val 5417"/>
            </a:avLst>
          </a:prstGeom>
          <a:solidFill>
            <a:srgbClr val="F3F7F8"/>
          </a:solidFill>
          <a:ln w="12700">
            <a:solidFill>
              <a:srgbClr val="F3F7F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D65F4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68096" y="2834640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计划职能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8096" y="320040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34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整合需求、评估产能、形成交付预测；明确制造执行与异常升级边界。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98264" y="2212848"/>
            <a:ext cx="3355848" cy="2194560"/>
          </a:xfrm>
          <a:prstGeom prst="roundRect">
            <a:avLst>
              <a:gd name="adj" fmla="val 5417"/>
            </a:avLst>
          </a:prstGeom>
          <a:solidFill>
            <a:srgbClr val="F3F7F8"/>
          </a:solidFill>
          <a:ln w="12700">
            <a:solidFill>
              <a:srgbClr val="F3F7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D65F4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81144" y="2834640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81144" y="320040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34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承接仓储与物流，按规划视角重新审视库位、搬运、配送和现场损失。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11312" y="2212848"/>
            <a:ext cx="3355848" cy="2194560"/>
          </a:xfrm>
          <a:prstGeom prst="roundRect">
            <a:avLst>
              <a:gd name="adj" fmla="val 5417"/>
            </a:avLst>
          </a:prstGeom>
          <a:solidFill>
            <a:srgbClr val="F3F7F8"/>
          </a:solidFill>
          <a:ln w="12700">
            <a:solidFill>
              <a:srgbClr val="F3F7F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D65F4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394192" y="2834640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数字化与 IE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94192" y="320040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34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信息化人员进入业务线；IE 联合现场，1 名开发与 1 名 IE 协作人员为初期设想。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977640" y="3319272"/>
            <a:ext cx="347472" cy="0"/>
          </a:xfrm>
          <a:prstGeom prst="line">
            <a:avLst/>
          </a:prstGeom>
          <a:noFill/>
          <a:ln w="25400">
            <a:solidFill>
              <a:srgbClr val="14898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790688" y="3319272"/>
            <a:ext cx="347472" cy="0"/>
          </a:xfrm>
          <a:prstGeom prst="line">
            <a:avLst/>
          </a:prstGeom>
          <a:noFill/>
          <a:ln w="25400">
            <a:solidFill>
              <a:srgbClr val="14898A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03504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898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能力变化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" y="5020056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系统维护 → 现场业务理解       仓储作业 → 实物流规划       排产经验 → 可追溯计划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9496" y="6099048"/>
            <a:ext cx="11082528" cy="246888"/>
          </a:xfrm>
          <a:prstGeom prst="roundRect">
            <a:avLst>
              <a:gd name="adj" fmla="val 22222"/>
            </a:avLst>
          </a:prstGeom>
          <a:solidFill>
            <a:srgbClr val="DCEFED"/>
          </a:solidFill>
          <a:ln w="1270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6144768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0～3 个月：测算原状态、梳理组织与接口   ｜   3～6 个月：机制运行，观察时间开动率、质量及作业损失变化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56616"/>
            <a:ext cx="1170432" cy="310896"/>
          </a:xfrm>
          <a:prstGeom prst="roundRect">
            <a:avLst>
              <a:gd name="adj" fmla="val 14706"/>
            </a:avLst>
          </a:prstGeom>
          <a:solidFill>
            <a:srgbClr val="153044"/>
          </a:solidFill>
          <a:ln w="12700">
            <a:solidFill>
              <a:srgbClr val="1530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20624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CEO 讨论稿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55648" y="429768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898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6～12 个月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5953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从机制运转走向收益测算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40817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6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让同一团队同时讲清业务规则、系统动作与经营结果。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40396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91272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9932" y="461772"/>
            <a:ext cx="137160" cy="137160"/>
          </a:xfrm>
          <a:prstGeom prst="ellipse">
            <a:avLst/>
          </a:prstGeom>
          <a:solidFill>
            <a:srgbClr val="D65F49"/>
          </a:solidFill>
          <a:ln w="12700">
            <a:solidFill>
              <a:srgbClr val="D65F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50808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59468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10344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19004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78540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08792" y="6464808"/>
            <a:ext cx="777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6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1892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898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四类人员协同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" y="2221992"/>
            <a:ext cx="2542032" cy="1956816"/>
          </a:xfrm>
          <a:prstGeom prst="roundRect">
            <a:avLst>
              <a:gd name="adj" fmla="val 6075"/>
            </a:avLst>
          </a:prstGeom>
          <a:solidFill>
            <a:srgbClr val="F3F7F8"/>
          </a:solidFill>
          <a:ln w="12700">
            <a:solidFill>
              <a:srgbClr val="F3F7F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243230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 4～6 人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8096" y="2852928"/>
            <a:ext cx="217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34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懂约束、上下游、价值目标和软件边界。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01568" y="2221992"/>
            <a:ext cx="2542032" cy="1956816"/>
          </a:xfrm>
          <a:prstGeom prst="roundRect">
            <a:avLst>
              <a:gd name="adj" fmla="val 6075"/>
            </a:avLst>
          </a:prstGeom>
          <a:solidFill>
            <a:srgbClr val="DCEFED"/>
          </a:solidFill>
          <a:ln w="1270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243230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 2～3 人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584448" y="2852928"/>
            <a:ext cx="217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34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懂现场、AI 工具与财务 controlling 口径。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2221992"/>
            <a:ext cx="2542032" cy="1956816"/>
          </a:xfrm>
          <a:prstGeom prst="roundRect">
            <a:avLst>
              <a:gd name="adj" fmla="val 6075"/>
            </a:avLst>
          </a:prstGeom>
          <a:solidFill>
            <a:srgbClr val="F3F7F8"/>
          </a:solidFill>
          <a:ln w="12700">
            <a:solidFill>
              <a:srgbClr val="F3F7F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43230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开发 1～2 人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2852928"/>
            <a:ext cx="217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34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懂接口、测试、部署、维护及业务必要性。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034272" y="2221992"/>
            <a:ext cx="2542032" cy="1956816"/>
          </a:xfrm>
          <a:prstGeom prst="roundRect">
            <a:avLst>
              <a:gd name="adj" fmla="val 6075"/>
            </a:avLst>
          </a:prstGeom>
          <a:solidFill>
            <a:srgbClr val="F3F7F8"/>
          </a:solidFill>
          <a:ln w="12700">
            <a:solidFill>
              <a:srgbClr val="F3F7F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17152" y="243230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体系管理 1 人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17152" y="2852928"/>
            <a:ext cx="217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34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把客户要求和控制点落到真实业务。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85216" y="4590288"/>
            <a:ext cx="10991088" cy="1014984"/>
          </a:xfrm>
          <a:prstGeom prst="roundRect">
            <a:avLst>
              <a:gd name="adj" fmla="val 10811"/>
            </a:avLst>
          </a:prstGeom>
          <a:solidFill>
            <a:srgbClr val="153044"/>
          </a:solidFill>
          <a:ln w="12700">
            <a:solidFill>
              <a:srgbClr val="15304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8006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收益核算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304288" y="4791456"/>
            <a:ext cx="7936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增量贡献   ＋   实际成本节约   ＋   库存现金释放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33688" y="526694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FDFE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校正业务条件变化，扣除实施投入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9496" y="6099048"/>
            <a:ext cx="11082528" cy="246888"/>
          </a:xfrm>
          <a:prstGeom prst="roundRect">
            <a:avLst>
              <a:gd name="adj" fmla="val 22222"/>
            </a:avLst>
          </a:prstGeom>
          <a:solidFill>
            <a:srgbClr val="DCEFED"/>
          </a:solidFill>
          <a:ln w="1270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6144768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能力变化：各职能从“完成自身任务”，进入“解释并改善共同经营结果”的业务深水区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56616"/>
            <a:ext cx="1170432" cy="310896"/>
          </a:xfrm>
          <a:prstGeom prst="roundRect">
            <a:avLst>
              <a:gd name="adj" fmla="val 14706"/>
            </a:avLst>
          </a:prstGeom>
          <a:solidFill>
            <a:srgbClr val="153044"/>
          </a:solidFill>
          <a:ln w="12700">
            <a:solidFill>
              <a:srgbClr val="1530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20624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CEO 讨论稿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55648" y="429768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898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1～2 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5953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把已验证的方法变成集团能力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40817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6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先复制可解释的运营方法，再按基地条件适配。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40396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91272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9932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50808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59468" y="461772"/>
            <a:ext cx="137160" cy="137160"/>
          </a:xfrm>
          <a:prstGeom prst="ellipse">
            <a:avLst/>
          </a:prstGeom>
          <a:solidFill>
            <a:srgbClr val="D65F49"/>
          </a:solidFill>
          <a:ln w="12700">
            <a:solidFill>
              <a:srgbClr val="D65F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10344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19004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78540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08792" y="6464808"/>
            <a:ext cx="777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6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" y="18836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898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集团复制包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" y="2212848"/>
            <a:ext cx="2523744" cy="1417320"/>
          </a:xfrm>
          <a:prstGeom prst="roundRect">
            <a:avLst>
              <a:gd name="adj" fmla="val 7742"/>
            </a:avLst>
          </a:prstGeom>
          <a:solidFill>
            <a:srgbClr val="F3F7F8"/>
          </a:solidFill>
          <a:ln w="12700">
            <a:solidFill>
              <a:srgbClr val="F3F7F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239572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D65F4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98448" y="23774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业务规则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8096" y="28529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34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需求、产能、库存与交付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163824" y="2907792"/>
            <a:ext cx="201168" cy="0"/>
          </a:xfrm>
          <a:prstGeom prst="line">
            <a:avLst/>
          </a:prstGeom>
          <a:noFill/>
          <a:ln w="25400">
            <a:solidFill>
              <a:srgbClr val="14898A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10712" y="2212848"/>
            <a:ext cx="2523744" cy="1417320"/>
          </a:xfrm>
          <a:prstGeom prst="roundRect">
            <a:avLst>
              <a:gd name="adj" fmla="val 7742"/>
            </a:avLst>
          </a:prstGeom>
          <a:solidFill>
            <a:srgbClr val="DCEFED"/>
          </a:solidFill>
          <a:ln w="1270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75304" y="239572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D65F4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105656" y="23774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数据标准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575304" y="28529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34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现场事实、指标与异常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71032" y="2907792"/>
            <a:ext cx="201168" cy="0"/>
          </a:xfrm>
          <a:prstGeom prst="line">
            <a:avLst/>
          </a:prstGeom>
          <a:noFill/>
          <a:ln w="25400">
            <a:solidFill>
              <a:srgbClr val="14898A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17920" y="2212848"/>
            <a:ext cx="2523744" cy="1417320"/>
          </a:xfrm>
          <a:prstGeom prst="roundRect">
            <a:avLst>
              <a:gd name="adj" fmla="val 7742"/>
            </a:avLst>
          </a:prstGeom>
          <a:solidFill>
            <a:srgbClr val="F3F7F8"/>
          </a:solidFill>
          <a:ln w="12700">
            <a:solidFill>
              <a:srgbClr val="F3F7F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239572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D65F4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6912864" y="23774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软件配置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82512" y="28529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34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接口、工具、AI 场景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778240" y="2907792"/>
            <a:ext cx="201168" cy="0"/>
          </a:xfrm>
          <a:prstGeom prst="line">
            <a:avLst/>
          </a:prstGeom>
          <a:noFill/>
          <a:ln w="25400">
            <a:solidFill>
              <a:srgbClr val="14898A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025128" y="2212848"/>
            <a:ext cx="2523744" cy="1417320"/>
          </a:xfrm>
          <a:prstGeom prst="roundRect">
            <a:avLst>
              <a:gd name="adj" fmla="val 7742"/>
            </a:avLst>
          </a:prstGeom>
          <a:solidFill>
            <a:srgbClr val="F3F7F8"/>
          </a:solidFill>
          <a:ln w="12700">
            <a:solidFill>
              <a:srgbClr val="F3F7F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9720" y="239572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D65F4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720072" y="23774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培训验证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89720" y="28529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34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人员带教、使用和收益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12648" y="3986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898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复制之后仍需本地化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3504" y="4361688"/>
            <a:ext cx="5166360" cy="1170432"/>
          </a:xfrm>
          <a:prstGeom prst="roundRect">
            <a:avLst>
              <a:gd name="adj" fmla="val 9375"/>
            </a:avLst>
          </a:prstGeom>
          <a:solidFill>
            <a:srgbClr val="153044"/>
          </a:solidFill>
          <a:ln w="12700">
            <a:solidFill>
              <a:srgbClr val="15304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46451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837944" y="4690872"/>
            <a:ext cx="3621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方法、指标、客户要求与跨基地协调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63056" y="4361688"/>
            <a:ext cx="5166360" cy="1170432"/>
          </a:xfrm>
          <a:prstGeom prst="roundRect">
            <a:avLst>
              <a:gd name="adj" fmla="val 9375"/>
            </a:avLst>
          </a:prstGeom>
          <a:solidFill>
            <a:srgbClr val="DCEFED"/>
          </a:solidFill>
          <a:ln w="1270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46451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397496" y="4690872"/>
            <a:ext cx="3630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仓储、物流、现场执行与反馈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39496" y="6099048"/>
            <a:ext cx="11082528" cy="246888"/>
          </a:xfrm>
          <a:prstGeom prst="roundRect">
            <a:avLst>
              <a:gd name="adj" fmla="val 22222"/>
            </a:avLst>
          </a:prstGeom>
          <a:solidFill>
            <a:srgbClr val="DCEFED"/>
          </a:solidFill>
          <a:ln w="1270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" y="6144768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能力变化：个人经验 → 可配置、可培训、可验证的方法；每个基地单独建立业务与收益基线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56616"/>
            <a:ext cx="1170432" cy="310896"/>
          </a:xfrm>
          <a:prstGeom prst="roundRect">
            <a:avLst>
              <a:gd name="adj" fmla="val 14706"/>
            </a:avLst>
          </a:prstGeom>
          <a:solidFill>
            <a:srgbClr val="153044"/>
          </a:solidFill>
          <a:ln w="12700">
            <a:solidFill>
              <a:srgbClr val="1530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20624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CEO 讨论稿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55648" y="429768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898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2～3 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5953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集团培养骨干，基地承担执行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40817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6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重点覆盖墨西哥与罗马尼亚；人员原则上来自集团相关团队。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40396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91272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9932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50808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59468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10344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19004" y="461772"/>
            <a:ext cx="137160" cy="137160"/>
          </a:xfrm>
          <a:prstGeom prst="ellipse">
            <a:avLst/>
          </a:prstGeom>
          <a:solidFill>
            <a:srgbClr val="D65F49"/>
          </a:solidFill>
          <a:ln w="12700">
            <a:solidFill>
              <a:srgbClr val="D65F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78540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08792" y="6464808"/>
            <a:ext cx="777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6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/ 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" y="1892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898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派驻骨干的双重协作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24528" y="2322576"/>
            <a:ext cx="3694176" cy="731520"/>
          </a:xfrm>
          <a:prstGeom prst="roundRect">
            <a:avLst>
              <a:gd name="adj" fmla="val 15000"/>
            </a:avLst>
          </a:prstGeom>
          <a:solidFill>
            <a:srgbClr val="153044"/>
          </a:solidFill>
          <a:ln w="12700">
            <a:solidFill>
              <a:srgbClr val="15304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251460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派驻计划／仓储物流骨干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13232" y="3694176"/>
            <a:ext cx="3776472" cy="1014984"/>
          </a:xfrm>
          <a:prstGeom prst="roundRect">
            <a:avLst>
              <a:gd name="adj" fmla="val 10811"/>
            </a:avLst>
          </a:prstGeom>
          <a:solidFill>
            <a:srgbClr val="DCEFED"/>
          </a:solidFill>
          <a:ln w="1270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3904488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 leader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708392" y="3694176"/>
            <a:ext cx="3776472" cy="1014984"/>
          </a:xfrm>
          <a:prstGeom prst="roundRect">
            <a:avLst>
              <a:gd name="adj" fmla="val 10811"/>
            </a:avLst>
          </a:prstGeom>
          <a:solidFill>
            <a:srgbClr val="F3F7F8"/>
          </a:solidFill>
          <a:ln w="12700">
            <a:solidFill>
              <a:srgbClr val="F3F7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73568" y="3904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集团供应链 leader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93792" y="3099816"/>
            <a:ext cx="-2423160" cy="539496"/>
          </a:xfrm>
          <a:prstGeom prst="line">
            <a:avLst/>
          </a:prstGeom>
          <a:noFill/>
          <a:ln w="31750">
            <a:solidFill>
              <a:srgbClr val="14898A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67728" y="3099816"/>
            <a:ext cx="2624328" cy="548640"/>
          </a:xfrm>
          <a:prstGeom prst="line">
            <a:avLst/>
          </a:prstGeom>
          <a:noFill/>
          <a:ln w="25400">
            <a:solidFill>
              <a:srgbClr val="D65F49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76656" y="4937760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898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实线：日常资源、执行与结果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35240" y="4937760"/>
            <a:ext cx="4023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65F4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虚线：业务过程与指标合理性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" y="53400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898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骨干应具备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11680" y="5340096"/>
            <a:ext cx="9235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集团逻辑  /  系统软件  /  绩效标准  /  现场实战  /  基础开发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9496" y="6099048"/>
            <a:ext cx="11082528" cy="246888"/>
          </a:xfrm>
          <a:prstGeom prst="roundRect">
            <a:avLst>
              <a:gd name="adj" fmla="val 22222"/>
            </a:avLst>
          </a:prstGeom>
          <a:solidFill>
            <a:srgbClr val="DCEFED"/>
          </a:solidFill>
          <a:ln w="1270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" y="6144768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能力变化：集团业务专家 → 能嵌入海外基地、带教当地团队、统一指标并反馈偏差的骨干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56616"/>
            <a:ext cx="1170432" cy="310896"/>
          </a:xfrm>
          <a:prstGeom prst="roundRect">
            <a:avLst>
              <a:gd name="adj" fmla="val 14706"/>
            </a:avLst>
          </a:prstGeom>
          <a:solidFill>
            <a:srgbClr val="153044"/>
          </a:solidFill>
          <a:ln w="12700">
            <a:solidFill>
              <a:srgbClr val="15304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20624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CEO 讨论稿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55648" y="429768"/>
            <a:ext cx="2057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4898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 年后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59536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人员轮换，职能向数字化管理平台收拢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40817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6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前提：数字化铺设、数据质量和运行保障基本成型。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40396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91272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9932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50808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59468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10344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19004" y="461772"/>
            <a:ext cx="137160" cy="137160"/>
          </a:xfrm>
          <a:prstGeom prst="ellipse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530352"/>
            <a:ext cx="694944" cy="0"/>
          </a:xfrm>
          <a:prstGeom prst="line">
            <a:avLst/>
          </a:prstGeom>
          <a:noFill/>
          <a:ln w="13970">
            <a:solidFill>
              <a:srgbClr val="E4E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78540" y="461772"/>
            <a:ext cx="137160" cy="137160"/>
          </a:xfrm>
          <a:prstGeom prst="ellipse">
            <a:avLst/>
          </a:prstGeom>
          <a:solidFill>
            <a:srgbClr val="D65F49"/>
          </a:solidFill>
          <a:ln w="12700">
            <a:solidFill>
              <a:srgbClr val="D65F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08792" y="6464808"/>
            <a:ext cx="777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5768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/ 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" y="1865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898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人：轮换与晋升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2148840"/>
            <a:ext cx="3776472" cy="1307592"/>
          </a:xfrm>
          <a:prstGeom prst="roundRect">
            <a:avLst>
              <a:gd name="adj" fmla="val 9091"/>
            </a:avLst>
          </a:prstGeom>
          <a:solidFill>
            <a:srgbClr val="F3F7F8"/>
          </a:solidFill>
          <a:ln w="12700">
            <a:solidFill>
              <a:srgbClr val="F3F7F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359152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国内 ↔ 海外基地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2779776"/>
            <a:ext cx="3410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34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计划与仓储骨干轮换，海外回归人员进入晋升与继任通道。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3666744"/>
            <a:ext cx="3776472" cy="1316736"/>
          </a:xfrm>
          <a:prstGeom prst="roundRect">
            <a:avLst>
              <a:gd name="adj" fmla="val 9028"/>
            </a:avLst>
          </a:prstGeom>
          <a:solidFill>
            <a:srgbClr val="DCEFED"/>
          </a:solidFill>
          <a:ln w="1270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877056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 ↔ 开发集成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4297680"/>
            <a:ext cx="3410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34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双向轮岗；AI 降低重复编码，但工程验证和稳定性仍需专业能力。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64024" y="1865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898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平台：共性能力收拢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148840"/>
            <a:ext cx="6812280" cy="3255264"/>
          </a:xfrm>
          <a:prstGeom prst="roundRect">
            <a:avLst>
              <a:gd name="adj" fmla="val 3652"/>
            </a:avLst>
          </a:prstGeom>
          <a:solidFill>
            <a:srgbClr val="153044"/>
          </a:solidFill>
          <a:ln w="12700">
            <a:solidFill>
              <a:srgbClr val="15304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65776" y="25054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融合型数字化团队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171432" y="2532888"/>
            <a:ext cx="2048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DCD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约 5 人能力验证设想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84064" y="3099816"/>
            <a:ext cx="6135624" cy="0"/>
          </a:xfrm>
          <a:prstGeom prst="line">
            <a:avLst/>
          </a:prstGeom>
          <a:noFill/>
          <a:ln w="12700">
            <a:solidFill>
              <a:srgbClr val="6781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4064" y="3374136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 ＋ 开发集成 ＋ 供应链体系 ＋ IE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084064" y="38862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8E9E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业务规则、精益方法、物理接口与 AI 工具共同开发；传感器、摄像头及软件补丁成为可复用方案。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84064" y="4882896"/>
            <a:ext cx="6044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DCD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集团保留跨基地决策、治理与异常升级；基地继续负责现场执行。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39496" y="6099048"/>
            <a:ext cx="11082528" cy="246888"/>
          </a:xfrm>
          <a:prstGeom prst="roundRect">
            <a:avLst>
              <a:gd name="adj" fmla="val 22222"/>
            </a:avLst>
          </a:prstGeom>
          <a:solidFill>
            <a:srgbClr val="DCEFED"/>
          </a:solidFill>
          <a:ln w="12700">
            <a:solidFill>
              <a:srgbClr val="DCEFE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" y="6144768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530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验证门槛：自主交付能力  /  平台稳定性  /  现场使用  /  外部依赖  /  全球运营收益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五阶段组织与能力演进</dc:title>
  <dc:subject>浙江海威第三轮交流｜作业一</dc:subject>
  <dc:creator>Codex</dc:creator>
  <cp:lastModifiedBy>Codex</cp:lastModifiedBy>
  <cp:revision>1</cp:revision>
  <dcterms:created xsi:type="dcterms:W3CDTF">2026-09-30T04:38:08Z</dcterms:created>
  <dcterms:modified xsi:type="dcterms:W3CDTF">2026-09-30T04:38:08Z</dcterms:modified>
</cp:coreProperties>
</file>