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7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9904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 / 组织总论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先补齐组织，再让计划与实物流形成经营闭环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拟设集团供应链与数字化负责人，承接计划、仓储物流与信息化；制造执行继续由运营 VP 负责。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419088"/>
            <a:ext cx="8650224" cy="438912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14816" y="6419088"/>
            <a:ext cx="3374136" cy="438912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371600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组织如何变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512064" y="1673352"/>
            <a:ext cx="6272784" cy="0"/>
          </a:xfrm>
          <a:prstGeom prst="line">
            <a:avLst/>
          </a:prstGeom>
          <a:noFill/>
          <a:ln w="19050">
            <a:solidFill>
              <a:srgbClr val="2CA4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" y="1792224"/>
            <a:ext cx="6272784" cy="43891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88366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20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当前缺口：计划与供应链职责未独立成型；数字化</a:t>
            </a:r>
            <a:r>
              <a:rPr lang="en-US" altLang="zh-CN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en-US" sz="1020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信息化属于营团队、按</a:t>
            </a:r>
            <a:r>
              <a:rPr lang="en-US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ERP</a:t>
            </a:r>
            <a:r>
              <a:rPr lang="en-US" altLang="zh-CN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en-US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OA </a:t>
            </a:r>
            <a:r>
              <a:rPr lang="en-US" sz="1020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功能分工；实物流</a:t>
            </a:r>
            <a:r>
              <a:rPr lang="en-US" altLang="zh-CN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en-US" sz="1020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仓储更多聚焦执行</a:t>
            </a:r>
            <a:r>
              <a:rPr lang="en-US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310128" y="2340864"/>
            <a:ext cx="713232" cy="28346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23591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CEO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66744" y="2624328"/>
            <a:ext cx="0" cy="137160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57984" y="2761488"/>
            <a:ext cx="2926080" cy="0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57984" y="2761488"/>
            <a:ext cx="0" cy="109728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84064" y="2761488"/>
            <a:ext cx="0" cy="109728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" y="2871216"/>
            <a:ext cx="3154680" cy="126187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" y="2871216"/>
            <a:ext cx="3154680" cy="0"/>
          </a:xfrm>
          <a:prstGeom prst="line">
            <a:avLst/>
          </a:prstGeom>
          <a:noFill/>
          <a:ln w="27940">
            <a:solidFill>
              <a:srgbClr val="2CA4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3035808"/>
            <a:ext cx="2798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运营 VP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" y="3410712"/>
            <a:ext cx="2779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负责制造执行、现场资源和实际产出；与计划及数字化团队约定指标和异常升级边界。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3813048" y="2871216"/>
            <a:ext cx="2971800" cy="1682496"/>
          </a:xfrm>
          <a:prstGeom prst="rect">
            <a:avLst/>
          </a:prstGeom>
          <a:solidFill>
            <a:srgbClr val="FBFDF6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13048" y="2871216"/>
            <a:ext cx="2971800" cy="0"/>
          </a:xfrm>
          <a:prstGeom prst="line">
            <a:avLst/>
          </a:prstGeom>
          <a:noFill/>
          <a:ln w="27940">
            <a:solidFill>
              <a:srgbClr val="88C2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68496" y="301752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集团供应链与数字化负责人（拟）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68496" y="3392424"/>
            <a:ext cx="2642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对客户需求、计划指令、实物流与数据反馈建立共同责任；信息化按业务目的和收益设计功能。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3977640" y="4023360"/>
            <a:ext cx="804672" cy="43891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14216" y="40507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计划职能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新建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4837176" y="4023360"/>
            <a:ext cx="804672" cy="43891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40507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仓储／实物流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承接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696712" y="4023360"/>
            <a:ext cx="804672" cy="43891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33288" y="40507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</a:t>
            </a:r>
            <a:endParaRPr lang="en-US" sz="860" dirty="0"/>
          </a:p>
          <a:p>
            <a:pPr marL="0" indent="0" algn="ctr">
              <a:buNone/>
            </a:pPr>
            <a:r>
              <a:rPr lang="en-US" sz="86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调整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512064" y="4736592"/>
            <a:ext cx="6272784" cy="0"/>
          </a:xfrm>
          <a:prstGeom prst="line">
            <a:avLst/>
          </a:prstGeom>
          <a:noFill/>
          <a:ln w="10160">
            <a:solidFill>
              <a:srgbClr val="88C22F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512064" y="4828032"/>
            <a:ext cx="6272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*</a:t>
            </a:r>
            <a:r>
              <a:rPr lang="en-US" sz="100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 联合现场：与计划、仓储一起测量动作、时间和人机协同；组织归属留待讨论。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68312" y="1371600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30" b="1" dirty="0" err="1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变动为了取得什么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P1(0~6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月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)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-&gt; P2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(6~12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月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)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-&gt;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～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5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(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中长期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)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7068312" y="1673352"/>
            <a:ext cx="4617720" cy="0"/>
          </a:xfrm>
          <a:prstGeom prst="line">
            <a:avLst/>
          </a:prstGeom>
          <a:noFill/>
          <a:ln w="19050">
            <a:solidFill>
              <a:srgbClr val="88C2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14032" y="1810512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0～3 月</a:t>
            </a:r>
            <a:endParaRPr lang="en-US" sz="1160" dirty="0"/>
          </a:p>
        </p:txBody>
      </p:sp>
      <p:sp>
        <p:nvSpPr>
          <p:cNvPr id="36" name="Text 34"/>
          <p:cNvSpPr/>
          <p:nvPr/>
        </p:nvSpPr>
        <p:spPr>
          <a:xfrm>
            <a:off x="8010144" y="18105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建立可比基线</a:t>
            </a:r>
            <a:endParaRPr lang="en-US" sz="1110" dirty="0"/>
          </a:p>
        </p:txBody>
      </p:sp>
      <p:sp>
        <p:nvSpPr>
          <p:cNvPr id="37" name="Text 35"/>
          <p:cNvSpPr/>
          <p:nvPr/>
        </p:nvSpPr>
        <p:spPr>
          <a:xfrm>
            <a:off x="8010144" y="2066544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测算原产出、损失、库存与业务条件；明确角色、协作及数据口径。</a:t>
            </a:r>
            <a:endParaRPr lang="en-US" sz="935" dirty="0"/>
          </a:p>
        </p:txBody>
      </p:sp>
      <p:sp>
        <p:nvSpPr>
          <p:cNvPr id="38" name="Shape 36"/>
          <p:cNvSpPr/>
          <p:nvPr/>
        </p:nvSpPr>
        <p:spPr>
          <a:xfrm>
            <a:off x="7068312" y="2450592"/>
            <a:ext cx="4617720" cy="0"/>
          </a:xfrm>
          <a:prstGeom prst="line">
            <a:avLst/>
          </a:prstGeom>
          <a:noFill/>
          <a:ln w="8890">
            <a:solidFill>
              <a:srgbClr val="DCE6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14032" y="2514600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3～6 月</a:t>
            </a:r>
            <a:endParaRPr lang="en-US" sz="1160" dirty="0"/>
          </a:p>
        </p:txBody>
      </p:sp>
      <p:sp>
        <p:nvSpPr>
          <p:cNvPr id="40" name="Text 38"/>
          <p:cNvSpPr/>
          <p:nvPr/>
        </p:nvSpPr>
        <p:spPr>
          <a:xfrm>
            <a:off x="8010144" y="251460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1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“</a:t>
            </a:r>
            <a:r>
              <a:rPr lang="en-US" sz="111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宁德项目</a:t>
            </a:r>
            <a:r>
              <a:rPr lang="zh-CN" altLang="en-US" sz="11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”</a:t>
            </a:r>
            <a:r>
              <a:rPr lang="en-US" sz="111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先导形成收益路径</a:t>
            </a:r>
            <a:endParaRPr lang="en-US" sz="1110" dirty="0"/>
          </a:p>
        </p:txBody>
      </p:sp>
      <p:sp>
        <p:nvSpPr>
          <p:cNvPr id="41" name="Text 39"/>
          <p:cNvSpPr/>
          <p:nvPr/>
        </p:nvSpPr>
        <p:spPr>
          <a:xfrm>
            <a:off x="8010144" y="2770632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使新机制运行，观察时间开动率、质量和作业损失变化。</a:t>
            </a:r>
            <a:endParaRPr lang="en-US" sz="935" dirty="0"/>
          </a:p>
        </p:txBody>
      </p:sp>
      <p:sp>
        <p:nvSpPr>
          <p:cNvPr id="42" name="Shape 40"/>
          <p:cNvSpPr/>
          <p:nvPr/>
        </p:nvSpPr>
        <p:spPr>
          <a:xfrm>
            <a:off x="7068312" y="3154680"/>
            <a:ext cx="4617720" cy="0"/>
          </a:xfrm>
          <a:prstGeom prst="line">
            <a:avLst/>
          </a:prstGeom>
          <a:noFill/>
          <a:ln w="8890">
            <a:solidFill>
              <a:srgbClr val="DCE6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14032" y="3218688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6～12 月</a:t>
            </a:r>
            <a:endParaRPr lang="en-US" sz="1160" dirty="0"/>
          </a:p>
        </p:txBody>
      </p:sp>
      <p:sp>
        <p:nvSpPr>
          <p:cNvPr id="44" name="Text 42"/>
          <p:cNvSpPr/>
          <p:nvPr/>
        </p:nvSpPr>
        <p:spPr>
          <a:xfrm>
            <a:off x="8010144" y="321868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1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启动核算经营改善</a:t>
            </a:r>
            <a:endParaRPr lang="en-US" sz="1110" dirty="0"/>
          </a:p>
        </p:txBody>
      </p:sp>
      <p:sp>
        <p:nvSpPr>
          <p:cNvPr id="45" name="Text 43"/>
          <p:cNvSpPr/>
          <p:nvPr/>
        </p:nvSpPr>
        <p:spPr>
          <a:xfrm>
            <a:off x="8010144" y="3474720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将增量贡献、成本节约与库存现金释放同原基线比较。</a:t>
            </a:r>
            <a:endParaRPr lang="en-US" sz="935" dirty="0"/>
          </a:p>
        </p:txBody>
      </p:sp>
      <p:sp>
        <p:nvSpPr>
          <p:cNvPr id="46" name="Shape 44"/>
          <p:cNvSpPr/>
          <p:nvPr/>
        </p:nvSpPr>
        <p:spPr>
          <a:xfrm>
            <a:off x="7068312" y="3858768"/>
            <a:ext cx="4617720" cy="0"/>
          </a:xfrm>
          <a:prstGeom prst="line">
            <a:avLst/>
          </a:prstGeom>
          <a:noFill/>
          <a:ln w="8890">
            <a:solidFill>
              <a:srgbClr val="DCE6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14032" y="3922776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中长期</a:t>
            </a:r>
            <a:endParaRPr lang="en-US" sz="1160" dirty="0"/>
          </a:p>
        </p:txBody>
      </p:sp>
      <p:sp>
        <p:nvSpPr>
          <p:cNvPr id="48" name="Text 46"/>
          <p:cNvSpPr/>
          <p:nvPr/>
        </p:nvSpPr>
        <p:spPr>
          <a:xfrm>
            <a:off x="8010144" y="392277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跨基地复制与平台治理</a:t>
            </a:r>
            <a:endParaRPr lang="en-US" sz="1110" dirty="0"/>
          </a:p>
        </p:txBody>
      </p:sp>
      <p:sp>
        <p:nvSpPr>
          <p:cNvPr id="49" name="Text 47"/>
          <p:cNvSpPr/>
          <p:nvPr/>
        </p:nvSpPr>
        <p:spPr>
          <a:xfrm>
            <a:off x="8010144" y="4178808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培养派驻骨干，统一规则与指标，成熟后由平台承接共性工作。</a:t>
            </a:r>
            <a:endParaRPr lang="en-US" sz="935" dirty="0"/>
          </a:p>
        </p:txBody>
      </p:sp>
      <p:sp>
        <p:nvSpPr>
          <p:cNvPr id="50" name="Shape 48"/>
          <p:cNvSpPr/>
          <p:nvPr/>
        </p:nvSpPr>
        <p:spPr>
          <a:xfrm>
            <a:off x="7068312" y="4562856"/>
            <a:ext cx="4617720" cy="0"/>
          </a:xfrm>
          <a:prstGeom prst="line">
            <a:avLst/>
          </a:prstGeom>
          <a:noFill/>
          <a:ln w="8890">
            <a:solidFill>
              <a:srgbClr val="DCE6E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68312" y="4745736"/>
            <a:ext cx="4617720" cy="475488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05472" y="4828032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6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 年后能力条件：融合团队至少 2 人能协同掌握全系统运作，保障各基地业务和系统顺畅运行。</a:t>
            </a:r>
            <a:endParaRPr lang="en-US" sz="965" dirty="0"/>
          </a:p>
        </p:txBody>
      </p:sp>
      <p:sp>
        <p:nvSpPr>
          <p:cNvPr id="53" name="Shape 51"/>
          <p:cNvSpPr/>
          <p:nvPr/>
        </p:nvSpPr>
        <p:spPr>
          <a:xfrm>
            <a:off x="512064" y="5358384"/>
            <a:ext cx="11173968" cy="0"/>
          </a:xfrm>
          <a:prstGeom prst="line">
            <a:avLst/>
          </a:prstGeom>
          <a:noFill/>
          <a:ln w="10160">
            <a:solidFill>
              <a:srgbClr val="DCE6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2064" y="54589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信息流必须在实物流中兑现</a:t>
            </a:r>
            <a:endParaRPr lang="en-US" sz="1030" dirty="0"/>
          </a:p>
        </p:txBody>
      </p:sp>
      <p:sp>
        <p:nvSpPr>
          <p:cNvPr id="55" name="Shape 53"/>
          <p:cNvSpPr/>
          <p:nvPr/>
        </p:nvSpPr>
        <p:spPr>
          <a:xfrm>
            <a:off x="512064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0352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客户需求</a:t>
            </a:r>
            <a:endParaRPr lang="en-US" sz="1020" dirty="0"/>
          </a:p>
        </p:txBody>
      </p:sp>
      <p:sp>
        <p:nvSpPr>
          <p:cNvPr id="57" name="Text 55"/>
          <p:cNvSpPr/>
          <p:nvPr/>
        </p:nvSpPr>
        <p:spPr>
          <a:xfrm>
            <a:off x="2551176" y="5806440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2761488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79776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计划指令</a:t>
            </a:r>
            <a:endParaRPr lang="en-US" sz="1020" dirty="0"/>
          </a:p>
        </p:txBody>
      </p:sp>
      <p:sp>
        <p:nvSpPr>
          <p:cNvPr id="60" name="Text 58"/>
          <p:cNvSpPr/>
          <p:nvPr/>
        </p:nvSpPr>
        <p:spPr>
          <a:xfrm>
            <a:off x="4800600" y="5806440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010912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0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生产与物料动作</a:t>
            </a:r>
            <a:r>
              <a:rPr lang="zh-CN" alt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（*价值体现）</a:t>
            </a:r>
            <a:endParaRPr lang="en-US" sz="1020" dirty="0"/>
          </a:p>
        </p:txBody>
      </p:sp>
      <p:sp>
        <p:nvSpPr>
          <p:cNvPr id="63" name="Text 61"/>
          <p:cNvSpPr/>
          <p:nvPr/>
        </p:nvSpPr>
        <p:spPr>
          <a:xfrm>
            <a:off x="7050024" y="5806440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7260336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78624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现场真实数据</a:t>
            </a:r>
            <a:endParaRPr lang="en-US" sz="1020" dirty="0"/>
          </a:p>
        </p:txBody>
      </p:sp>
      <p:sp>
        <p:nvSpPr>
          <p:cNvPr id="66" name="Text 64"/>
          <p:cNvSpPr/>
          <p:nvPr/>
        </p:nvSpPr>
        <p:spPr>
          <a:xfrm>
            <a:off x="9299448" y="5806440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9509760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528048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修正计划</a:t>
            </a:r>
            <a:endParaRPr lang="en-US" sz="1020" dirty="0"/>
          </a:p>
        </p:txBody>
      </p:sp>
      <p:sp>
        <p:nvSpPr>
          <p:cNvPr id="69" name="Text 67"/>
          <p:cNvSpPr/>
          <p:nvPr/>
        </p:nvSpPr>
        <p:spPr>
          <a:xfrm>
            <a:off x="512064" y="6153912"/>
            <a:ext cx="11155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人员转换：评估现有信息化人员进入计划；数字化人员走入现场；仓储负责人补足实物流规划能力。</a:t>
            </a:r>
            <a:endParaRPr lang="en-US" sz="9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 / 五阶段总览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组织配置、关键职能与收益验证随阶段推进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人员数字均为配置设想，派驻与轮换原则上从集团既有团队培养；不把存量人员转岗误算为新增编制。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6574536"/>
            <a:ext cx="8257032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453896"/>
            <a:ext cx="11164824" cy="310896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17904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阶段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09344" y="1517904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组织与人员数量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1517904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主要职能／能力目标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83296" y="1517904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预期收益与验证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2064" y="1764792"/>
            <a:ext cx="11164824" cy="89611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1764792"/>
            <a:ext cx="3675888" cy="896112"/>
          </a:xfrm>
          <a:prstGeom prst="rect">
            <a:avLst/>
          </a:prstGeom>
          <a:solidFill>
            <a:srgbClr val="FBFDF7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27048" y="1764792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64024" y="1764792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1764792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1874520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</a:t>
            </a:r>
            <a:r>
              <a:rPr lang="en-US" altLang="zh-CN" sz="11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1: </a:t>
            </a:r>
            <a:r>
              <a:rPr lang="en-US" sz="11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0～6 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" y="2203704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先导与建制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18488" y="1874520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计划＋供应链／仓储：新建或承接职责，人数待评估；信息化人员评估转计划。</a:t>
            </a:r>
            <a:endParaRPr lang="en-US" sz="1015" dirty="0"/>
          </a:p>
          <a:p>
            <a:pPr marL="0" indent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数字化进入现场；开发 1 人、IE 协作 1 人为初期设想。</a:t>
            </a:r>
            <a:endParaRPr lang="en-US" sz="1015" dirty="0"/>
          </a:p>
        </p:txBody>
      </p:sp>
      <p:sp>
        <p:nvSpPr>
          <p:cNvPr id="20" name="Text 18"/>
          <p:cNvSpPr/>
          <p:nvPr/>
        </p:nvSpPr>
        <p:spPr>
          <a:xfrm>
            <a:off x="4855464" y="1874520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连接需求、产能、日计划、实际产出与物料动作。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数字化定义采集点；IE 测量动作与时间；U9 等系统保持运转。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8092440" y="1874520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0～3 月建原产出、成本、库存基线。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3～6 月以宁德观察时间开动率、质量与作业损失改善。</a:t>
            </a:r>
            <a:endParaRPr lang="en-US" sz="1010" dirty="0"/>
          </a:p>
        </p:txBody>
      </p:sp>
      <p:sp>
        <p:nvSpPr>
          <p:cNvPr id="22" name="Shape 20"/>
          <p:cNvSpPr/>
          <p:nvPr/>
        </p:nvSpPr>
        <p:spPr>
          <a:xfrm>
            <a:off x="512064" y="2660904"/>
            <a:ext cx="11164824" cy="89611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2660904"/>
            <a:ext cx="3675888" cy="896112"/>
          </a:xfrm>
          <a:prstGeom prst="rect">
            <a:avLst/>
          </a:prstGeom>
          <a:solidFill>
            <a:srgbClr val="FBFDF7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27048" y="2660904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4024" y="2660904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1000" y="2660904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" y="2770632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P2: 6～12 月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585216" y="3099816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协同与核算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18488" y="2770632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 4～6、数字化业务 2～3、开发集成 1～2、体系管理 1 人为设想。</a:t>
            </a:r>
            <a:endParaRPr lang="en-US" sz="1015" dirty="0"/>
          </a:p>
          <a:p>
            <a:pPr marL="0" indent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仓储／实物流与 IE 按工作量核定。</a:t>
            </a:r>
            <a:endParaRPr lang="en-US" sz="1015" dirty="0"/>
          </a:p>
        </p:txBody>
      </p:sp>
      <p:sp>
        <p:nvSpPr>
          <p:cNvPr id="30" name="Text 28"/>
          <p:cNvSpPr/>
          <p:nvPr/>
        </p:nvSpPr>
        <p:spPr>
          <a:xfrm>
            <a:off x="4855464" y="2770632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计划解释业务约束和软件边界；数字化定义现场数据、AI 使用与财务口径。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仓储优化实物流；体系转化客户要求；开发保障接口。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8092440" y="2770632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第 6 个月后正式核算增量贡献、实际成本节约和库存现金释放；校正条件并扣除投入。</a:t>
            </a:r>
            <a:endParaRPr lang="en-US" sz="1010" dirty="0"/>
          </a:p>
        </p:txBody>
      </p:sp>
      <p:sp>
        <p:nvSpPr>
          <p:cNvPr id="32" name="Shape 30"/>
          <p:cNvSpPr/>
          <p:nvPr/>
        </p:nvSpPr>
        <p:spPr>
          <a:xfrm>
            <a:off x="512064" y="3557016"/>
            <a:ext cx="11164824" cy="89611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01000" y="3557016"/>
            <a:ext cx="3675888" cy="896112"/>
          </a:xfrm>
          <a:prstGeom prst="rect">
            <a:avLst/>
          </a:prstGeom>
          <a:solidFill>
            <a:srgbClr val="FBFDF7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27048" y="3557016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64024" y="3557016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01000" y="3557016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216" y="3666744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P3: 1～2 年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5216" y="3995928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标准与复制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618488" y="3666744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承接上阶段集团配置；基地仓储／实物流按业务量增配，IE 按项目参与。</a:t>
            </a:r>
            <a:endParaRPr lang="en-US" sz="1015" dirty="0"/>
          </a:p>
        </p:txBody>
      </p:sp>
      <p:sp>
        <p:nvSpPr>
          <p:cNvPr id="40" name="Text 38"/>
          <p:cNvSpPr/>
          <p:nvPr/>
        </p:nvSpPr>
        <p:spPr>
          <a:xfrm>
            <a:off x="4855464" y="3666744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集团形成“业务规则＋数据标准＋软件配置＋培训验证”复制包；基地承担仓储物流与现场执行。</a:t>
            </a:r>
            <a:endParaRPr lang="en-US" sz="1010" dirty="0"/>
          </a:p>
        </p:txBody>
      </p:sp>
      <p:sp>
        <p:nvSpPr>
          <p:cNvPr id="41" name="Text 39"/>
          <p:cNvSpPr/>
          <p:nvPr/>
        </p:nvSpPr>
        <p:spPr>
          <a:xfrm>
            <a:off x="8092440" y="3666744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各基地单独建基线，验证交付、成本、库存和收益。</a:t>
            </a:r>
            <a:endParaRPr lang="en-US" sz="1010" dirty="0"/>
          </a:p>
        </p:txBody>
      </p:sp>
      <p:sp>
        <p:nvSpPr>
          <p:cNvPr id="42" name="Shape 40"/>
          <p:cNvSpPr/>
          <p:nvPr/>
        </p:nvSpPr>
        <p:spPr>
          <a:xfrm>
            <a:off x="512064" y="4453128"/>
            <a:ext cx="11164824" cy="89611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01000" y="4453128"/>
            <a:ext cx="3675888" cy="896112"/>
          </a:xfrm>
          <a:prstGeom prst="rect">
            <a:avLst/>
          </a:prstGeom>
          <a:solidFill>
            <a:srgbClr val="FBFDF7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527048" y="4453128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64024" y="4453128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01000" y="4453128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5216" y="456285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P4: 2～3 年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85216" y="4892040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派驻与带教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18488" y="4562856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计划与仓储骨干由集团培养后派驻基地，重点覆盖墨西哥与罗马尼亚；人数随项目确定。</a:t>
            </a:r>
            <a:endParaRPr lang="en-US" sz="1015" dirty="0"/>
          </a:p>
        </p:txBody>
      </p:sp>
      <p:sp>
        <p:nvSpPr>
          <p:cNvPr id="50" name="Text 48"/>
          <p:cNvSpPr/>
          <p:nvPr/>
        </p:nvSpPr>
        <p:spPr>
          <a:xfrm>
            <a:off x="4855464" y="4562856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驻基地人员实线向基地负责人汇报，虚线接受集团供应链支持；懂系统、指标、现场及基础开发。</a:t>
            </a:r>
            <a:endParaRPr lang="en-US" sz="1010" dirty="0"/>
          </a:p>
        </p:txBody>
      </p:sp>
      <p:sp>
        <p:nvSpPr>
          <p:cNvPr id="51" name="Text 49"/>
          <p:cNvSpPr/>
          <p:nvPr/>
        </p:nvSpPr>
        <p:spPr>
          <a:xfrm>
            <a:off x="8092440" y="4562856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基地独立执行并反馈；验证交付稳定、指标一致和 AI 分析带来的改善。</a:t>
            </a:r>
            <a:endParaRPr lang="en-US" sz="1010" dirty="0"/>
          </a:p>
        </p:txBody>
      </p:sp>
      <p:sp>
        <p:nvSpPr>
          <p:cNvPr id="52" name="Shape 50"/>
          <p:cNvSpPr/>
          <p:nvPr/>
        </p:nvSpPr>
        <p:spPr>
          <a:xfrm>
            <a:off x="512064" y="5349240"/>
            <a:ext cx="11164824" cy="896112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01000" y="5349240"/>
            <a:ext cx="3675888" cy="896112"/>
          </a:xfrm>
          <a:prstGeom prst="rect">
            <a:avLst/>
          </a:prstGeom>
          <a:solidFill>
            <a:srgbClr val="F7FBE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527048" y="5349240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64024" y="5349240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01000" y="5349240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5216" y="54589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P5: 3 年后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85216" y="5788152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轮换与融合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618488" y="5458968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基地计划／仓储骨干轮换；体系与 IE 融入数字化。约 5 人团队为验证设想，至少 2 人能协同全系统运作。</a:t>
            </a:r>
            <a:endParaRPr lang="en-US" sz="1015" dirty="0"/>
          </a:p>
        </p:txBody>
      </p:sp>
      <p:sp>
        <p:nvSpPr>
          <p:cNvPr id="60" name="Text 58"/>
          <p:cNvSpPr/>
          <p:nvPr/>
        </p:nvSpPr>
        <p:spPr>
          <a:xfrm>
            <a:off x="4855464" y="5458968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数字化业务与开发集成双向轮岗；物理接口和 AI 工具形成复用方案；平台承接共性规则。</a:t>
            </a:r>
            <a:endParaRPr lang="en-US" sz="1010" dirty="0"/>
          </a:p>
        </p:txBody>
      </p:sp>
      <p:sp>
        <p:nvSpPr>
          <p:cNvPr id="61" name="Text 59"/>
          <p:cNvSpPr/>
          <p:nvPr/>
        </p:nvSpPr>
        <p:spPr>
          <a:xfrm>
            <a:off x="8092440" y="5458968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验证自主交付、稳定运行、外部依赖、人员晋升与全球运营收益。</a:t>
            </a:r>
            <a:endParaRPr lang="en-US" sz="1010" dirty="0"/>
          </a:p>
        </p:txBody>
      </p:sp>
      <p:sp>
        <p:nvSpPr>
          <p:cNvPr id="62" name="Text 60"/>
          <p:cNvSpPr/>
          <p:nvPr/>
        </p:nvSpPr>
        <p:spPr>
          <a:xfrm>
            <a:off x="512064" y="6318504"/>
            <a:ext cx="11109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注：收益由业务与财务共同核算；3 年后组织收拢以数字化铺设、数据质量和运行保障成熟为前提，海外项目按实际节点推进。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 / 职能 2＋3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计划与实物流共同对交付结果负责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计划给出可执行的指令，仓储与物流让指令在现场兑现；两类骨干未来共同进入基地。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6574536"/>
            <a:ext cx="8257032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453896"/>
            <a:ext cx="5504688" cy="85039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453896"/>
            <a:ext cx="5504688" cy="0"/>
          </a:xfrm>
          <a:prstGeom prst="line">
            <a:avLst/>
          </a:prstGeom>
          <a:noFill/>
          <a:ln w="25400">
            <a:solidFill>
              <a:srgbClr val="2CA4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计划人员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649224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对数字敏感；懂需求、产能、物料、库存、交付与现场约束，能解释计划的可执行性及软件边界。</a:t>
            </a:r>
            <a:endParaRPr lang="en-US" sz="1035" dirty="0"/>
          </a:p>
        </p:txBody>
      </p:sp>
      <p:sp>
        <p:nvSpPr>
          <p:cNvPr id="11" name="Shape 9"/>
          <p:cNvSpPr/>
          <p:nvPr/>
        </p:nvSpPr>
        <p:spPr>
          <a:xfrm>
            <a:off x="6172200" y="1453896"/>
            <a:ext cx="5504688" cy="85039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453896"/>
            <a:ext cx="5504688" cy="0"/>
          </a:xfrm>
          <a:prstGeom prst="line">
            <a:avLst/>
          </a:prstGeom>
          <a:noFill/>
          <a:ln w="25400">
            <a:solidFill>
              <a:srgbClr val="88C2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仓储／实物流人员</a:t>
            </a:r>
            <a:endParaRPr lang="en-US" sz="1410" dirty="0"/>
          </a:p>
        </p:txBody>
      </p:sp>
      <p:sp>
        <p:nvSpPr>
          <p:cNvPr id="14" name="Text 12"/>
          <p:cNvSpPr/>
          <p:nvPr/>
        </p:nvSpPr>
        <p:spPr>
          <a:xfrm>
            <a:off x="6309360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能把图文转成物理场景与动作；既会优化现有库位、搬运与配送，也能规划新基地实物流。</a:t>
            </a:r>
            <a:endParaRPr lang="en-US" sz="1035" dirty="0"/>
          </a:p>
        </p:txBody>
      </p:sp>
      <p:sp>
        <p:nvSpPr>
          <p:cNvPr id="15" name="Text 13"/>
          <p:cNvSpPr/>
          <p:nvPr/>
        </p:nvSpPr>
        <p:spPr>
          <a:xfrm>
            <a:off x="512064" y="245059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五阶段能力演进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03720" y="2450592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每格上方为阶段工作，下方为相较前一阶段的新能力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12064" y="2706624"/>
            <a:ext cx="11164824" cy="310896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277520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15" dirty="0"/>
          </a:p>
        </p:txBody>
      </p:sp>
      <p:sp>
        <p:nvSpPr>
          <p:cNvPr id="19" name="Text 17"/>
          <p:cNvSpPr/>
          <p:nvPr/>
        </p:nvSpPr>
        <p:spPr>
          <a:xfrm>
            <a:off x="159105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 · 0～6月</a:t>
            </a:r>
            <a:endParaRPr lang="en-US" sz="1015" dirty="0"/>
          </a:p>
        </p:txBody>
      </p:sp>
      <p:sp>
        <p:nvSpPr>
          <p:cNvPr id="20" name="Text 18"/>
          <p:cNvSpPr/>
          <p:nvPr/>
        </p:nvSpPr>
        <p:spPr>
          <a:xfrm>
            <a:off x="362285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 · 6～12月</a:t>
            </a:r>
            <a:endParaRPr lang="en-US" sz="1015" dirty="0"/>
          </a:p>
        </p:txBody>
      </p:sp>
      <p:sp>
        <p:nvSpPr>
          <p:cNvPr id="21" name="Text 19"/>
          <p:cNvSpPr/>
          <p:nvPr/>
        </p:nvSpPr>
        <p:spPr>
          <a:xfrm>
            <a:off x="5654650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 · 1～2年</a:t>
            </a:r>
            <a:endParaRPr lang="en-US" sz="1015" dirty="0"/>
          </a:p>
        </p:txBody>
      </p:sp>
      <p:sp>
        <p:nvSpPr>
          <p:cNvPr id="22" name="Text 20"/>
          <p:cNvSpPr/>
          <p:nvPr/>
        </p:nvSpPr>
        <p:spPr>
          <a:xfrm>
            <a:off x="768644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 · 2～3年</a:t>
            </a:r>
            <a:endParaRPr lang="en-US" sz="1015" dirty="0"/>
          </a:p>
        </p:txBody>
      </p:sp>
      <p:sp>
        <p:nvSpPr>
          <p:cNvPr id="23" name="Text 21"/>
          <p:cNvSpPr/>
          <p:nvPr/>
        </p:nvSpPr>
        <p:spPr>
          <a:xfrm>
            <a:off x="971824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 · 3年后</a:t>
            </a:r>
            <a:endParaRPr lang="en-US" sz="1015" dirty="0"/>
          </a:p>
        </p:txBody>
      </p:sp>
      <p:sp>
        <p:nvSpPr>
          <p:cNvPr id="24" name="Shape 22"/>
          <p:cNvSpPr/>
          <p:nvPr/>
        </p:nvSpPr>
        <p:spPr>
          <a:xfrm>
            <a:off x="512064" y="3017520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31363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计划能力</a:t>
            </a:r>
            <a:endParaRPr lang="en-US" sz="1075" dirty="0"/>
          </a:p>
        </p:txBody>
      </p:sp>
      <p:sp>
        <p:nvSpPr>
          <p:cNvPr id="26" name="Shape 24"/>
          <p:cNvSpPr/>
          <p:nvPr/>
        </p:nvSpPr>
        <p:spPr>
          <a:xfrm>
            <a:off x="151790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2763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核对节拍、可用时间、产出与异常，形成日计划。</a:t>
            </a:r>
            <a:endParaRPr lang="en-US" sz="1035" dirty="0"/>
          </a:p>
        </p:txBody>
      </p:sp>
      <p:sp>
        <p:nvSpPr>
          <p:cNvPr id="28" name="Shape 26"/>
          <p:cNvSpPr/>
          <p:nvPr/>
        </p:nvSpPr>
        <p:spPr>
          <a:xfrm>
            <a:off x="162763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62763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系统数据 → 业务逻辑与价值</a:t>
            </a:r>
            <a:endParaRPr lang="en-US" sz="905" dirty="0"/>
          </a:p>
        </p:txBody>
      </p:sp>
      <p:sp>
        <p:nvSpPr>
          <p:cNvPr id="30" name="Shape 28"/>
          <p:cNvSpPr/>
          <p:nvPr/>
        </p:nvSpPr>
        <p:spPr>
          <a:xfrm>
            <a:off x="3549701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942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联动需求、产能、物料和仓储，解释偏差。</a:t>
            </a:r>
            <a:endParaRPr lang="en-US" sz="1035" dirty="0"/>
          </a:p>
        </p:txBody>
      </p:sp>
      <p:sp>
        <p:nvSpPr>
          <p:cNvPr id="32" name="Shape 30"/>
          <p:cNvSpPr/>
          <p:nvPr/>
        </p:nvSpPr>
        <p:spPr>
          <a:xfrm>
            <a:off x="365942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365942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发工单 → 判断可执行性</a:t>
            </a:r>
            <a:endParaRPr lang="en-US" sz="905" dirty="0"/>
          </a:p>
        </p:txBody>
      </p:sp>
      <p:sp>
        <p:nvSpPr>
          <p:cNvPr id="34" name="Shape 32"/>
          <p:cNvSpPr/>
          <p:nvPr/>
        </p:nvSpPr>
        <p:spPr>
          <a:xfrm>
            <a:off x="5581498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91226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沉淀规则、数据口径和异常升级，转成软件工具。</a:t>
            </a:r>
            <a:endParaRPr lang="en-US" sz="1035" dirty="0"/>
          </a:p>
        </p:txBody>
      </p:sp>
      <p:sp>
        <p:nvSpPr>
          <p:cNvPr id="36" name="Shape 34"/>
          <p:cNvSpPr/>
          <p:nvPr/>
        </p:nvSpPr>
        <p:spPr>
          <a:xfrm>
            <a:off x="5691226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5691226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个人经验 → 可复制方法</a:t>
            </a:r>
            <a:endParaRPr lang="en-US" sz="905" dirty="0"/>
          </a:p>
        </p:txBody>
      </p:sp>
      <p:sp>
        <p:nvSpPr>
          <p:cNvPr id="38" name="Shape 36"/>
          <p:cNvSpPr/>
          <p:nvPr/>
        </p:nvSpPr>
        <p:spPr>
          <a:xfrm>
            <a:off x="761329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2302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派驻基地，双线协作，能做基础配置／开发。</a:t>
            </a:r>
            <a:endParaRPr lang="en-US" sz="1035" dirty="0"/>
          </a:p>
        </p:txBody>
      </p:sp>
      <p:sp>
        <p:nvSpPr>
          <p:cNvPr id="40" name="Shape 38"/>
          <p:cNvSpPr/>
          <p:nvPr/>
        </p:nvSpPr>
        <p:spPr>
          <a:xfrm>
            <a:off x="772302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772302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集团协调 → 跨基地落地</a:t>
            </a:r>
            <a:endParaRPr lang="en-US" sz="905" dirty="0"/>
          </a:p>
        </p:txBody>
      </p:sp>
      <p:sp>
        <p:nvSpPr>
          <p:cNvPr id="42" name="Shape 40"/>
          <p:cNvSpPr/>
          <p:nvPr/>
        </p:nvSpPr>
        <p:spPr>
          <a:xfrm>
            <a:off x="9645091" y="3017520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5481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国内外轮换、带教；海外回归进入晋升通道。</a:t>
            </a:r>
            <a:endParaRPr lang="en-US" sz="1035" dirty="0"/>
          </a:p>
        </p:txBody>
      </p:sp>
      <p:sp>
        <p:nvSpPr>
          <p:cNvPr id="44" name="Shape 42"/>
          <p:cNvSpPr/>
          <p:nvPr/>
        </p:nvSpPr>
        <p:spPr>
          <a:xfrm>
            <a:off x="975481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975481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单基地执行 → </a:t>
            </a:r>
            <a:r>
              <a:rPr lang="en-US" sz="905" b="1" dirty="0" err="1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j集团人才复制</a:t>
            </a:r>
            <a:endParaRPr lang="en-US" sz="905" dirty="0"/>
          </a:p>
        </p:txBody>
      </p:sp>
      <p:sp>
        <p:nvSpPr>
          <p:cNvPr id="46" name="Shape 44"/>
          <p:cNvSpPr/>
          <p:nvPr/>
        </p:nvSpPr>
        <p:spPr>
          <a:xfrm>
            <a:off x="512064" y="4078224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" y="41970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实物流能力</a:t>
            </a:r>
            <a:endParaRPr lang="en-US" sz="1075" dirty="0"/>
          </a:p>
        </p:txBody>
      </p:sp>
      <p:sp>
        <p:nvSpPr>
          <p:cNvPr id="48" name="Shape 46"/>
          <p:cNvSpPr/>
          <p:nvPr/>
        </p:nvSpPr>
        <p:spPr>
          <a:xfrm>
            <a:off x="151790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2763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识别物料状态、动作风险和库位／配送责任。</a:t>
            </a:r>
            <a:endParaRPr lang="en-US" sz="1035" dirty="0"/>
          </a:p>
        </p:txBody>
      </p:sp>
      <p:sp>
        <p:nvSpPr>
          <p:cNvPr id="50" name="Shape 48"/>
          <p:cNvSpPr/>
          <p:nvPr/>
        </p:nvSpPr>
        <p:spPr>
          <a:xfrm>
            <a:off x="162763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162763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按指令作业 → 理解规划</a:t>
            </a:r>
            <a:endParaRPr lang="en-US" sz="905" dirty="0"/>
          </a:p>
        </p:txBody>
      </p:sp>
      <p:sp>
        <p:nvSpPr>
          <p:cNvPr id="52" name="Shape 50"/>
          <p:cNvSpPr/>
          <p:nvPr/>
        </p:nvSpPr>
        <p:spPr>
          <a:xfrm>
            <a:off x="3549701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942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基于现有设施条件优化运作过程，预判等待、损伤与占用</a:t>
            </a: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1035" dirty="0"/>
          </a:p>
        </p:txBody>
      </p:sp>
      <p:sp>
        <p:nvSpPr>
          <p:cNvPr id="54" name="Shape 52"/>
          <p:cNvSpPr/>
          <p:nvPr/>
        </p:nvSpPr>
        <p:spPr>
          <a:xfrm>
            <a:off x="365942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365942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事后复盘 → 提前调整</a:t>
            </a:r>
            <a:endParaRPr lang="en-US" sz="905" dirty="0"/>
          </a:p>
        </p:txBody>
      </p:sp>
      <p:sp>
        <p:nvSpPr>
          <p:cNvPr id="56" name="Shape 54"/>
          <p:cNvSpPr/>
          <p:nvPr/>
        </p:nvSpPr>
        <p:spPr>
          <a:xfrm>
            <a:off x="5581498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91226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形成仓储与厂内物流标准，规划新基地流程。</a:t>
            </a:r>
            <a:endParaRPr lang="en-US" sz="1035" dirty="0"/>
          </a:p>
        </p:txBody>
      </p:sp>
      <p:sp>
        <p:nvSpPr>
          <p:cNvPr id="58" name="Shape 56"/>
          <p:cNvSpPr/>
          <p:nvPr/>
        </p:nvSpPr>
        <p:spPr>
          <a:xfrm>
            <a:off x="5691226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5691226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本地经验 → 标准与培训</a:t>
            </a:r>
            <a:endParaRPr lang="en-US" sz="905" dirty="0"/>
          </a:p>
        </p:txBody>
      </p:sp>
      <p:sp>
        <p:nvSpPr>
          <p:cNvPr id="60" name="Shape 58"/>
          <p:cNvSpPr/>
          <p:nvPr/>
        </p:nvSpPr>
        <p:spPr>
          <a:xfrm>
            <a:off x="761329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2302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基地实线汇报，熟悉集团系统和绩效并带教。</a:t>
            </a:r>
            <a:endParaRPr lang="en-US" sz="1035" dirty="0"/>
          </a:p>
        </p:txBody>
      </p:sp>
      <p:sp>
        <p:nvSpPr>
          <p:cNvPr id="62" name="Shape 60"/>
          <p:cNvSpPr/>
          <p:nvPr/>
        </p:nvSpPr>
        <p:spPr>
          <a:xfrm>
            <a:off x="772302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772302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执行／规划 → 基地骨干</a:t>
            </a:r>
            <a:endParaRPr lang="en-US" sz="905" dirty="0"/>
          </a:p>
        </p:txBody>
      </p:sp>
      <p:sp>
        <p:nvSpPr>
          <p:cNvPr id="64" name="Shape 62"/>
          <p:cNvSpPr/>
          <p:nvPr/>
        </p:nvSpPr>
        <p:spPr>
          <a:xfrm>
            <a:off x="9645091" y="4078224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75481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基地间轮换；海外回归可晋升实物流规划经理。</a:t>
            </a:r>
            <a:endParaRPr lang="en-US" sz="1035" dirty="0"/>
          </a:p>
        </p:txBody>
      </p:sp>
      <p:sp>
        <p:nvSpPr>
          <p:cNvPr id="66" name="Shape 64"/>
          <p:cNvSpPr/>
          <p:nvPr/>
        </p:nvSpPr>
        <p:spPr>
          <a:xfrm>
            <a:off x="975481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975481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</a:t>
            </a:r>
            <a:r>
              <a:rPr lang="en-US" sz="905" b="1" dirty="0" err="1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单基地运作</a:t>
            </a: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→ </a:t>
            </a:r>
            <a:r>
              <a:rPr lang="en-US" sz="905" b="1" dirty="0" err="1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集团人才复制</a:t>
            </a:r>
            <a:endParaRPr lang="en-US" sz="905" dirty="0"/>
          </a:p>
        </p:txBody>
      </p:sp>
      <p:sp>
        <p:nvSpPr>
          <p:cNvPr id="68" name="Shape 66"/>
          <p:cNvSpPr/>
          <p:nvPr/>
        </p:nvSpPr>
        <p:spPr>
          <a:xfrm>
            <a:off x="512064" y="5312664"/>
            <a:ext cx="11164824" cy="0"/>
          </a:xfrm>
          <a:prstGeom prst="line">
            <a:avLst/>
          </a:prstGeom>
          <a:noFill/>
          <a:ln w="9525">
            <a:solidFill>
              <a:srgbClr val="DCE6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2064" y="5440680"/>
            <a:ext cx="11137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共同接口：计划指令 ↔ 物料动作 ↔ 现场反馈；基地接任人员从这两类骨干中培养。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512064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计划验证：可执行率、交付预测、库存与偏差分析、异常闭环。</a:t>
            </a:r>
            <a:endParaRPr lang="en-US" sz="985" dirty="0"/>
          </a:p>
        </p:txBody>
      </p:sp>
      <p:sp>
        <p:nvSpPr>
          <p:cNvPr id="71" name="Text 69"/>
          <p:cNvSpPr/>
          <p:nvPr/>
        </p:nvSpPr>
        <p:spPr>
          <a:xfrm>
            <a:off x="6217920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物流验证：账实、等待和搬运、损伤、配送及时率、交接后连续性。</a:t>
            </a:r>
            <a:endParaRPr lang="en-US" sz="9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 / 职能 4＋5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数字化业务与开发集成双向培养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一个从现场定义功能，一个把需求做成稳定可用的系统；后期共同承担跨基地数字化能力。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6574536"/>
            <a:ext cx="8257032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453896"/>
            <a:ext cx="5504688" cy="85039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453896"/>
            <a:ext cx="5504688" cy="0"/>
          </a:xfrm>
          <a:prstGeom prst="line">
            <a:avLst/>
          </a:prstGeom>
          <a:noFill/>
          <a:ln w="25400">
            <a:solidFill>
              <a:srgbClr val="2CA4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数字化业务人员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649224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以业务问题和收益定义功能；熟悉 ERP／MES／WMS 的真实动作，识别设备、物料、质量的数字采集点。</a:t>
            </a:r>
            <a:endParaRPr lang="en-US" sz="1035" dirty="0"/>
          </a:p>
        </p:txBody>
      </p:sp>
      <p:sp>
        <p:nvSpPr>
          <p:cNvPr id="11" name="Shape 9"/>
          <p:cNvSpPr/>
          <p:nvPr/>
        </p:nvSpPr>
        <p:spPr>
          <a:xfrm>
            <a:off x="6172200" y="1453896"/>
            <a:ext cx="5504688" cy="85039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453896"/>
            <a:ext cx="5504688" cy="0"/>
          </a:xfrm>
          <a:prstGeom prst="line">
            <a:avLst/>
          </a:prstGeom>
          <a:noFill/>
          <a:ln w="25400">
            <a:solidFill>
              <a:srgbClr val="88C2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开发、集成与系统维护人员</a:t>
            </a:r>
            <a:endParaRPr lang="en-US" sz="1410" dirty="0"/>
          </a:p>
        </p:txBody>
      </p:sp>
      <p:sp>
        <p:nvSpPr>
          <p:cNvPr id="14" name="Text 12"/>
          <p:cNvSpPr/>
          <p:nvPr/>
        </p:nvSpPr>
        <p:spPr>
          <a:xfrm>
            <a:off x="6309360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懂接口、数据模型、测试、部署与维护；进入现场理解系统动作的物理含义，用 AI 辅助开发。</a:t>
            </a:r>
            <a:endParaRPr lang="en-US" sz="1035" dirty="0"/>
          </a:p>
        </p:txBody>
      </p:sp>
      <p:sp>
        <p:nvSpPr>
          <p:cNvPr id="15" name="Text 13"/>
          <p:cNvSpPr/>
          <p:nvPr/>
        </p:nvSpPr>
        <p:spPr>
          <a:xfrm>
            <a:off x="512064" y="245059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五阶段能力演进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03720" y="2450592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每格上方为阶段工作，下方为相较前一阶段的新能力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12064" y="2706624"/>
            <a:ext cx="11164824" cy="310896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277520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15" dirty="0"/>
          </a:p>
        </p:txBody>
      </p:sp>
      <p:sp>
        <p:nvSpPr>
          <p:cNvPr id="19" name="Text 17"/>
          <p:cNvSpPr/>
          <p:nvPr/>
        </p:nvSpPr>
        <p:spPr>
          <a:xfrm>
            <a:off x="159105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 · 0～6月</a:t>
            </a:r>
            <a:endParaRPr lang="en-US" sz="1015" dirty="0"/>
          </a:p>
        </p:txBody>
      </p:sp>
      <p:sp>
        <p:nvSpPr>
          <p:cNvPr id="20" name="Text 18"/>
          <p:cNvSpPr/>
          <p:nvPr/>
        </p:nvSpPr>
        <p:spPr>
          <a:xfrm>
            <a:off x="362285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 · 6～12月</a:t>
            </a:r>
            <a:endParaRPr lang="en-US" sz="1015" dirty="0"/>
          </a:p>
        </p:txBody>
      </p:sp>
      <p:sp>
        <p:nvSpPr>
          <p:cNvPr id="21" name="Text 19"/>
          <p:cNvSpPr/>
          <p:nvPr/>
        </p:nvSpPr>
        <p:spPr>
          <a:xfrm>
            <a:off x="5654650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 · 1～2年</a:t>
            </a:r>
            <a:endParaRPr lang="en-US" sz="1015" dirty="0"/>
          </a:p>
        </p:txBody>
      </p:sp>
      <p:sp>
        <p:nvSpPr>
          <p:cNvPr id="22" name="Text 20"/>
          <p:cNvSpPr/>
          <p:nvPr/>
        </p:nvSpPr>
        <p:spPr>
          <a:xfrm>
            <a:off x="768644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 · 2～3年</a:t>
            </a:r>
            <a:endParaRPr lang="en-US" sz="1015" dirty="0"/>
          </a:p>
        </p:txBody>
      </p:sp>
      <p:sp>
        <p:nvSpPr>
          <p:cNvPr id="23" name="Text 21"/>
          <p:cNvSpPr/>
          <p:nvPr/>
        </p:nvSpPr>
        <p:spPr>
          <a:xfrm>
            <a:off x="971824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 · 3年后</a:t>
            </a:r>
            <a:endParaRPr lang="en-US" sz="1015" dirty="0"/>
          </a:p>
        </p:txBody>
      </p:sp>
      <p:sp>
        <p:nvSpPr>
          <p:cNvPr id="24" name="Shape 22"/>
          <p:cNvSpPr/>
          <p:nvPr/>
        </p:nvSpPr>
        <p:spPr>
          <a:xfrm>
            <a:off x="512064" y="3017520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31363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业务能力</a:t>
            </a:r>
            <a:endParaRPr lang="en-US" sz="1075" dirty="0"/>
          </a:p>
        </p:txBody>
      </p:sp>
      <p:sp>
        <p:nvSpPr>
          <p:cNvPr id="26" name="Shape 24"/>
          <p:cNvSpPr/>
          <p:nvPr/>
        </p:nvSpPr>
        <p:spPr>
          <a:xfrm>
            <a:off x="151790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2763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从按系统维护转为驻现场观察需求与数据断点。</a:t>
            </a:r>
            <a:endParaRPr lang="en-US" sz="1035" dirty="0"/>
          </a:p>
        </p:txBody>
      </p:sp>
      <p:sp>
        <p:nvSpPr>
          <p:cNvPr id="28" name="Shape 26"/>
          <p:cNvSpPr/>
          <p:nvPr/>
        </p:nvSpPr>
        <p:spPr>
          <a:xfrm>
            <a:off x="162763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62763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系统管理员 → 业务翻译者</a:t>
            </a:r>
            <a:endParaRPr lang="en-US" sz="905" dirty="0"/>
          </a:p>
        </p:txBody>
      </p:sp>
      <p:sp>
        <p:nvSpPr>
          <p:cNvPr id="30" name="Shape 28"/>
          <p:cNvSpPr/>
          <p:nvPr/>
        </p:nvSpPr>
        <p:spPr>
          <a:xfrm>
            <a:off x="3549701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942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与计划、仓储定义功能、AI 场景和财务口径。</a:t>
            </a:r>
            <a:endParaRPr lang="en-US" sz="1035" dirty="0"/>
          </a:p>
        </p:txBody>
      </p:sp>
      <p:sp>
        <p:nvSpPr>
          <p:cNvPr id="32" name="Shape 30"/>
          <p:cNvSpPr/>
          <p:nvPr/>
        </p:nvSpPr>
        <p:spPr>
          <a:xfrm>
            <a:off x="365942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365942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功能描述 → 过程价值</a:t>
            </a:r>
            <a:endParaRPr lang="en-US" sz="905" dirty="0"/>
          </a:p>
        </p:txBody>
      </p:sp>
      <p:sp>
        <p:nvSpPr>
          <p:cNvPr id="34" name="Shape 32"/>
          <p:cNvSpPr/>
          <p:nvPr/>
        </p:nvSpPr>
        <p:spPr>
          <a:xfrm>
            <a:off x="5581498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91226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沉淀规则、数据标准、配置模板与验收方法。</a:t>
            </a:r>
            <a:endParaRPr lang="en-US" sz="1035" dirty="0"/>
          </a:p>
        </p:txBody>
      </p:sp>
      <p:sp>
        <p:nvSpPr>
          <p:cNvPr id="36" name="Shape 34"/>
          <p:cNvSpPr/>
          <p:nvPr/>
        </p:nvSpPr>
        <p:spPr>
          <a:xfrm>
            <a:off x="5691226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5691226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单项需求 → 跨基地复用</a:t>
            </a:r>
            <a:endParaRPr lang="en-US" sz="905" dirty="0"/>
          </a:p>
        </p:txBody>
      </p:sp>
      <p:sp>
        <p:nvSpPr>
          <p:cNvPr id="38" name="Shape 36"/>
          <p:cNvSpPr/>
          <p:nvPr/>
        </p:nvSpPr>
        <p:spPr>
          <a:xfrm>
            <a:off x="761329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2302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支持基地上线，把物理状态映射进平台。</a:t>
            </a:r>
            <a:endParaRPr lang="en-US" sz="1035" dirty="0"/>
          </a:p>
        </p:txBody>
      </p:sp>
      <p:sp>
        <p:nvSpPr>
          <p:cNvPr id="40" name="Shape 38"/>
          <p:cNvSpPr/>
          <p:nvPr/>
        </p:nvSpPr>
        <p:spPr>
          <a:xfrm>
            <a:off x="772302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772302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使用系统 → 维护业务模型</a:t>
            </a:r>
            <a:endParaRPr lang="en-US" sz="905" dirty="0"/>
          </a:p>
        </p:txBody>
      </p:sp>
      <p:sp>
        <p:nvSpPr>
          <p:cNvPr id="42" name="Shape 40"/>
          <p:cNvSpPr/>
          <p:nvPr/>
        </p:nvSpPr>
        <p:spPr>
          <a:xfrm>
            <a:off x="9645091" y="3017520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5481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与开发岗位轮换，吸纳体系和 IE，共建全系统＋AI。</a:t>
            </a:r>
            <a:endParaRPr lang="en-US" sz="1035" dirty="0"/>
          </a:p>
        </p:txBody>
      </p:sp>
      <p:sp>
        <p:nvSpPr>
          <p:cNvPr id="44" name="Shape 42"/>
          <p:cNvSpPr/>
          <p:nvPr/>
        </p:nvSpPr>
        <p:spPr>
          <a:xfrm>
            <a:off x="975481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975481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功能提出者 → 融合成员</a:t>
            </a:r>
            <a:endParaRPr lang="en-US" sz="905" dirty="0"/>
          </a:p>
        </p:txBody>
      </p:sp>
      <p:sp>
        <p:nvSpPr>
          <p:cNvPr id="46" name="Shape 44"/>
          <p:cNvSpPr/>
          <p:nvPr/>
        </p:nvSpPr>
        <p:spPr>
          <a:xfrm>
            <a:off x="512064" y="4078224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" y="41970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工程能力</a:t>
            </a:r>
            <a:endParaRPr lang="en-US" sz="1075" dirty="0"/>
          </a:p>
        </p:txBody>
      </p:sp>
      <p:sp>
        <p:nvSpPr>
          <p:cNvPr id="48" name="Shape 46"/>
          <p:cNvSpPr/>
          <p:nvPr/>
        </p:nvSpPr>
        <p:spPr>
          <a:xfrm>
            <a:off x="151790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2763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保障 U9 等现有系统，实现采集与先导工具。</a:t>
            </a:r>
            <a:endParaRPr lang="en-US" sz="1035" dirty="0"/>
          </a:p>
        </p:txBody>
      </p:sp>
      <p:sp>
        <p:nvSpPr>
          <p:cNvPr id="50" name="Shape 48"/>
          <p:cNvSpPr/>
          <p:nvPr/>
        </p:nvSpPr>
        <p:spPr>
          <a:xfrm>
            <a:off x="162763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162763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接清单 → 懂物理场景</a:t>
            </a:r>
            <a:endParaRPr lang="en-US" sz="905" dirty="0"/>
          </a:p>
        </p:txBody>
      </p:sp>
      <p:sp>
        <p:nvSpPr>
          <p:cNvPr id="52" name="Shape 50"/>
          <p:cNvSpPr/>
          <p:nvPr/>
        </p:nvSpPr>
        <p:spPr>
          <a:xfrm>
            <a:off x="3549701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942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定义接口、测试、发布与异常处理。</a:t>
            </a:r>
            <a:endParaRPr lang="en-US" sz="1035" dirty="0"/>
          </a:p>
        </p:txBody>
      </p:sp>
      <p:sp>
        <p:nvSpPr>
          <p:cNvPr id="54" name="Shape 52"/>
          <p:cNvSpPr/>
          <p:nvPr/>
        </p:nvSpPr>
        <p:spPr>
          <a:xfrm>
            <a:off x="365942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365942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能交付 → 能控运行成本</a:t>
            </a:r>
            <a:endParaRPr lang="en-US" sz="905" dirty="0"/>
          </a:p>
        </p:txBody>
      </p:sp>
      <p:sp>
        <p:nvSpPr>
          <p:cNvPr id="56" name="Shape 54"/>
          <p:cNvSpPr/>
          <p:nvPr/>
        </p:nvSpPr>
        <p:spPr>
          <a:xfrm>
            <a:off x="5581498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91226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形成可复用的配置、接口、测试和部署包。</a:t>
            </a:r>
            <a:endParaRPr lang="en-US" sz="1035" dirty="0"/>
          </a:p>
        </p:txBody>
      </p:sp>
      <p:sp>
        <p:nvSpPr>
          <p:cNvPr id="58" name="Shape 56"/>
          <p:cNvSpPr/>
          <p:nvPr/>
        </p:nvSpPr>
        <p:spPr>
          <a:xfrm>
            <a:off x="5691226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5691226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单项目 → 可维护体系</a:t>
            </a:r>
            <a:endParaRPr lang="en-US" sz="905" dirty="0"/>
          </a:p>
        </p:txBody>
      </p:sp>
      <p:sp>
        <p:nvSpPr>
          <p:cNvPr id="60" name="Shape 58"/>
          <p:cNvSpPr/>
          <p:nvPr/>
        </p:nvSpPr>
        <p:spPr>
          <a:xfrm>
            <a:off x="761329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2302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接入现场状态，保留人工确认及异常回退。</a:t>
            </a:r>
            <a:endParaRPr lang="en-US" sz="1035" dirty="0"/>
          </a:p>
        </p:txBody>
      </p:sp>
      <p:sp>
        <p:nvSpPr>
          <p:cNvPr id="62" name="Shape 60"/>
          <p:cNvSpPr/>
          <p:nvPr/>
        </p:nvSpPr>
        <p:spPr>
          <a:xfrm>
            <a:off x="772302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772302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软件接口 → 软硬可靠性</a:t>
            </a:r>
            <a:endParaRPr lang="en-US" sz="905" dirty="0"/>
          </a:p>
        </p:txBody>
      </p:sp>
      <p:sp>
        <p:nvSpPr>
          <p:cNvPr id="64" name="Shape 62"/>
          <p:cNvSpPr/>
          <p:nvPr/>
        </p:nvSpPr>
        <p:spPr>
          <a:xfrm>
            <a:off x="9645091" y="4078224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75481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与业务岗位轮换；AI 减少重复编码，仍负责架构与安全。</a:t>
            </a:r>
            <a:endParaRPr lang="en-US" sz="1035" dirty="0"/>
          </a:p>
        </p:txBody>
      </p:sp>
      <p:sp>
        <p:nvSpPr>
          <p:cNvPr id="66" name="Shape 64"/>
          <p:cNvSpPr/>
          <p:nvPr/>
        </p:nvSpPr>
        <p:spPr>
          <a:xfrm>
            <a:off x="975481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975481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开发者 → 运营型工程成员</a:t>
            </a:r>
            <a:endParaRPr lang="en-US" sz="905" dirty="0"/>
          </a:p>
        </p:txBody>
      </p:sp>
      <p:sp>
        <p:nvSpPr>
          <p:cNvPr id="68" name="Shape 66"/>
          <p:cNvSpPr/>
          <p:nvPr/>
        </p:nvSpPr>
        <p:spPr>
          <a:xfrm>
            <a:off x="512064" y="5312664"/>
            <a:ext cx="11164824" cy="0"/>
          </a:xfrm>
          <a:prstGeom prst="line">
            <a:avLst/>
          </a:prstGeom>
          <a:noFill/>
          <a:ln w="9525">
            <a:solidFill>
              <a:srgbClr val="DCE6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2064" y="5440680"/>
            <a:ext cx="11137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融合目标：选择真实功能，验证团队能否自主完成需求、配置／开发、测试、部署和维护。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512064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业务验证：现场使用、数据可信度、需求周期、复用率与收益。</a:t>
            </a:r>
            <a:endParaRPr lang="en-US" sz="985" dirty="0"/>
          </a:p>
        </p:txBody>
      </p:sp>
      <p:sp>
        <p:nvSpPr>
          <p:cNvPr id="71" name="Text 69"/>
          <p:cNvSpPr/>
          <p:nvPr/>
        </p:nvSpPr>
        <p:spPr>
          <a:xfrm>
            <a:off x="6217920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工程验证：系统可用性、接口错误、回退与恢复、供应商依赖。</a:t>
            </a:r>
            <a:endParaRPr lang="en-US" sz="9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 / 职能 6＋7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体系与 IE 把运营方法写进数字化平台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体系界定客户要求与控制点；IE 基于现场事实优化动作，两者在平台成熟后进入数字化业务团队。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6574536"/>
            <a:ext cx="8257032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453896"/>
            <a:ext cx="5504688" cy="85039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453896"/>
            <a:ext cx="5504688" cy="0"/>
          </a:xfrm>
          <a:prstGeom prst="line">
            <a:avLst/>
          </a:prstGeom>
          <a:noFill/>
          <a:ln w="25400">
            <a:solidFill>
              <a:srgbClr val="2CA4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集团供应链体系人员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649224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懂不同客户的体系要求、业务控制点和过程证据；把合规要求转成可执行、少重复录入的供应链规则。</a:t>
            </a:r>
            <a:endParaRPr lang="en-US" sz="1035" dirty="0"/>
          </a:p>
        </p:txBody>
      </p:sp>
      <p:sp>
        <p:nvSpPr>
          <p:cNvPr id="11" name="Shape 9"/>
          <p:cNvSpPr/>
          <p:nvPr/>
        </p:nvSpPr>
        <p:spPr>
          <a:xfrm>
            <a:off x="6172200" y="1453896"/>
            <a:ext cx="5504688" cy="85039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453896"/>
            <a:ext cx="5504688" cy="0"/>
          </a:xfrm>
          <a:prstGeom prst="line">
            <a:avLst/>
          </a:prstGeom>
          <a:noFill/>
          <a:ln w="25400">
            <a:solidFill>
              <a:srgbClr val="88C2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 人员（归属待讨论）</a:t>
            </a:r>
            <a:endParaRPr lang="en-US" sz="1410" dirty="0"/>
          </a:p>
        </p:txBody>
      </p:sp>
      <p:sp>
        <p:nvSpPr>
          <p:cNvPr id="14" name="Text 12"/>
          <p:cNvSpPr/>
          <p:nvPr/>
        </p:nvSpPr>
        <p:spPr>
          <a:xfrm>
            <a:off x="6309360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贴近一线，测量动作、时间、布局和人机协同；与计划、仓储共同验证更优过程，关注视觉模型。</a:t>
            </a:r>
            <a:endParaRPr lang="en-US" sz="1035" dirty="0"/>
          </a:p>
        </p:txBody>
      </p:sp>
      <p:sp>
        <p:nvSpPr>
          <p:cNvPr id="15" name="Text 13"/>
          <p:cNvSpPr/>
          <p:nvPr/>
        </p:nvSpPr>
        <p:spPr>
          <a:xfrm>
            <a:off x="512064" y="245059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五阶段能力演进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03720" y="2450592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每格上方为阶段工作，下方为相较前一阶段的新能力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12064" y="2706624"/>
            <a:ext cx="11164824" cy="310896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277520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15" dirty="0"/>
          </a:p>
        </p:txBody>
      </p:sp>
      <p:sp>
        <p:nvSpPr>
          <p:cNvPr id="19" name="Text 17"/>
          <p:cNvSpPr/>
          <p:nvPr/>
        </p:nvSpPr>
        <p:spPr>
          <a:xfrm>
            <a:off x="159105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 · 0～6月</a:t>
            </a:r>
            <a:endParaRPr lang="en-US" sz="1015" dirty="0"/>
          </a:p>
        </p:txBody>
      </p:sp>
      <p:sp>
        <p:nvSpPr>
          <p:cNvPr id="20" name="Text 18"/>
          <p:cNvSpPr/>
          <p:nvPr/>
        </p:nvSpPr>
        <p:spPr>
          <a:xfrm>
            <a:off x="362285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 · 6～12月</a:t>
            </a:r>
            <a:endParaRPr lang="en-US" sz="1015" dirty="0"/>
          </a:p>
        </p:txBody>
      </p:sp>
      <p:sp>
        <p:nvSpPr>
          <p:cNvPr id="21" name="Text 19"/>
          <p:cNvSpPr/>
          <p:nvPr/>
        </p:nvSpPr>
        <p:spPr>
          <a:xfrm>
            <a:off x="5654650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 · 1～2年</a:t>
            </a:r>
            <a:endParaRPr lang="en-US" sz="1015" dirty="0"/>
          </a:p>
        </p:txBody>
      </p:sp>
      <p:sp>
        <p:nvSpPr>
          <p:cNvPr id="22" name="Text 20"/>
          <p:cNvSpPr/>
          <p:nvPr/>
        </p:nvSpPr>
        <p:spPr>
          <a:xfrm>
            <a:off x="768644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 · 2～3年</a:t>
            </a:r>
            <a:endParaRPr lang="en-US" sz="1015" dirty="0"/>
          </a:p>
        </p:txBody>
      </p:sp>
      <p:sp>
        <p:nvSpPr>
          <p:cNvPr id="23" name="Text 21"/>
          <p:cNvSpPr/>
          <p:nvPr/>
        </p:nvSpPr>
        <p:spPr>
          <a:xfrm>
            <a:off x="971824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 · 3年后</a:t>
            </a:r>
            <a:endParaRPr lang="en-US" sz="1015" dirty="0"/>
          </a:p>
        </p:txBody>
      </p:sp>
      <p:sp>
        <p:nvSpPr>
          <p:cNvPr id="24" name="Shape 22"/>
          <p:cNvSpPr/>
          <p:nvPr/>
        </p:nvSpPr>
        <p:spPr>
          <a:xfrm>
            <a:off x="512064" y="3017520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31363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体系能力</a:t>
            </a:r>
            <a:endParaRPr lang="en-US" sz="1075" dirty="0"/>
          </a:p>
        </p:txBody>
      </p:sp>
      <p:sp>
        <p:nvSpPr>
          <p:cNvPr id="26" name="Shape 24"/>
          <p:cNvSpPr/>
          <p:nvPr/>
        </p:nvSpPr>
        <p:spPr>
          <a:xfrm>
            <a:off x="151790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2763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盘点现状及客户要求，拟从计划或仓储选人。</a:t>
            </a:r>
            <a:endParaRPr lang="en-US" sz="1035" dirty="0"/>
          </a:p>
        </p:txBody>
      </p:sp>
      <p:sp>
        <p:nvSpPr>
          <p:cNvPr id="28" name="Shape 26"/>
          <p:cNvSpPr/>
          <p:nvPr/>
        </p:nvSpPr>
        <p:spPr>
          <a:xfrm>
            <a:off x="162763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62763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审核文档 → 运营过程</a:t>
            </a:r>
            <a:endParaRPr lang="en-US" sz="905" dirty="0"/>
          </a:p>
        </p:txBody>
      </p:sp>
      <p:sp>
        <p:nvSpPr>
          <p:cNvPr id="30" name="Shape 28"/>
          <p:cNvSpPr/>
          <p:nvPr/>
        </p:nvSpPr>
        <p:spPr>
          <a:xfrm>
            <a:off x="3549701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942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建立体系职责，把要求映射到动作和指标。</a:t>
            </a:r>
            <a:endParaRPr lang="en-US" sz="1035" dirty="0"/>
          </a:p>
        </p:txBody>
      </p:sp>
      <p:sp>
        <p:nvSpPr>
          <p:cNvPr id="32" name="Shape 30"/>
          <p:cNvSpPr/>
          <p:nvPr/>
        </p:nvSpPr>
        <p:spPr>
          <a:xfrm>
            <a:off x="365942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365942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条款理解 → 控制点闭环</a:t>
            </a:r>
            <a:endParaRPr lang="en-US" sz="905" dirty="0"/>
          </a:p>
        </p:txBody>
      </p:sp>
      <p:sp>
        <p:nvSpPr>
          <p:cNvPr id="34" name="Shape 32"/>
          <p:cNvSpPr/>
          <p:nvPr/>
        </p:nvSpPr>
        <p:spPr>
          <a:xfrm>
            <a:off x="5581498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91226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统一基地边界、客户要求与证据标准。</a:t>
            </a:r>
            <a:endParaRPr lang="en-US" sz="1035" dirty="0"/>
          </a:p>
        </p:txBody>
      </p:sp>
      <p:sp>
        <p:nvSpPr>
          <p:cNvPr id="36" name="Shape 34"/>
          <p:cNvSpPr/>
          <p:nvPr/>
        </p:nvSpPr>
        <p:spPr>
          <a:xfrm>
            <a:off x="5691226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5691226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单次审核 → 集团标准</a:t>
            </a:r>
            <a:endParaRPr lang="en-US" sz="905" dirty="0"/>
          </a:p>
        </p:txBody>
      </p:sp>
      <p:sp>
        <p:nvSpPr>
          <p:cNvPr id="38" name="Shape 36"/>
          <p:cNvSpPr/>
          <p:nvPr/>
        </p:nvSpPr>
        <p:spPr>
          <a:xfrm>
            <a:off x="761329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2302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评价基地执行，判断统一与本地化边界。</a:t>
            </a:r>
            <a:endParaRPr lang="en-US" sz="1035" dirty="0"/>
          </a:p>
        </p:txBody>
      </p:sp>
      <p:sp>
        <p:nvSpPr>
          <p:cNvPr id="40" name="Shape 38"/>
          <p:cNvSpPr/>
          <p:nvPr/>
        </p:nvSpPr>
        <p:spPr>
          <a:xfrm>
            <a:off x="772302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772302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集团标准 → 全球适配</a:t>
            </a:r>
            <a:endParaRPr lang="en-US" sz="905" dirty="0"/>
          </a:p>
        </p:txBody>
      </p:sp>
      <p:sp>
        <p:nvSpPr>
          <p:cNvPr id="42" name="Shape 40"/>
          <p:cNvSpPr/>
          <p:nvPr/>
        </p:nvSpPr>
        <p:spPr>
          <a:xfrm>
            <a:off x="9645091" y="3017520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5481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并入数字化，控制点进入流程、提醒和追溯。</a:t>
            </a:r>
            <a:endParaRPr lang="en-US" sz="1035" dirty="0"/>
          </a:p>
        </p:txBody>
      </p:sp>
      <p:sp>
        <p:nvSpPr>
          <p:cNvPr id="44" name="Shape 42"/>
          <p:cNvSpPr/>
          <p:nvPr/>
        </p:nvSpPr>
        <p:spPr>
          <a:xfrm>
            <a:off x="975481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975481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人工检查 → 平台内嵌</a:t>
            </a:r>
            <a:endParaRPr lang="en-US" sz="905" dirty="0"/>
          </a:p>
        </p:txBody>
      </p:sp>
      <p:sp>
        <p:nvSpPr>
          <p:cNvPr id="46" name="Shape 44"/>
          <p:cNvSpPr/>
          <p:nvPr/>
        </p:nvSpPr>
        <p:spPr>
          <a:xfrm>
            <a:off x="512064" y="4078224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" y="41970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 能力</a:t>
            </a:r>
            <a:endParaRPr lang="en-US" sz="1075" dirty="0"/>
          </a:p>
        </p:txBody>
      </p:sp>
      <p:sp>
        <p:nvSpPr>
          <p:cNvPr id="48" name="Shape 46"/>
          <p:cNvSpPr/>
          <p:nvPr/>
        </p:nvSpPr>
        <p:spPr>
          <a:xfrm>
            <a:off x="151790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2763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现场确认损失位置、动作与真实时间。</a:t>
            </a:r>
            <a:endParaRPr lang="en-US" sz="1035" dirty="0"/>
          </a:p>
        </p:txBody>
      </p:sp>
      <p:sp>
        <p:nvSpPr>
          <p:cNvPr id="50" name="Shape 48"/>
          <p:cNvSpPr/>
          <p:nvPr/>
        </p:nvSpPr>
        <p:spPr>
          <a:xfrm>
            <a:off x="162763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162763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桌面规划 → 现场证据</a:t>
            </a:r>
            <a:endParaRPr lang="en-US" sz="905" dirty="0"/>
          </a:p>
        </p:txBody>
      </p:sp>
      <p:sp>
        <p:nvSpPr>
          <p:cNvPr id="52" name="Shape 50"/>
          <p:cNvSpPr/>
          <p:nvPr/>
        </p:nvSpPr>
        <p:spPr>
          <a:xfrm>
            <a:off x="3549701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942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验证线平衡、搬运、吊具和人机配合。</a:t>
            </a:r>
            <a:endParaRPr lang="en-US" sz="1035" dirty="0"/>
          </a:p>
        </p:txBody>
      </p:sp>
      <p:sp>
        <p:nvSpPr>
          <p:cNvPr id="54" name="Shape 52"/>
          <p:cNvSpPr/>
          <p:nvPr/>
        </p:nvSpPr>
        <p:spPr>
          <a:xfrm>
            <a:off x="365942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365942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动作改善 → 价值改善</a:t>
            </a:r>
            <a:endParaRPr lang="en-US" sz="905" dirty="0"/>
          </a:p>
        </p:txBody>
      </p:sp>
      <p:sp>
        <p:nvSpPr>
          <p:cNvPr id="56" name="Shape 54"/>
          <p:cNvSpPr/>
          <p:nvPr/>
        </p:nvSpPr>
        <p:spPr>
          <a:xfrm>
            <a:off x="5581498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91226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沉淀布局与能力评估，用于新基地验证。</a:t>
            </a:r>
            <a:endParaRPr lang="en-US" sz="1035" dirty="0"/>
          </a:p>
        </p:txBody>
      </p:sp>
      <p:sp>
        <p:nvSpPr>
          <p:cNvPr id="58" name="Shape 56"/>
          <p:cNvSpPr/>
          <p:nvPr/>
        </p:nvSpPr>
        <p:spPr>
          <a:xfrm>
            <a:off x="5691226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5691226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局部优化 → 方法复制</a:t>
            </a:r>
            <a:endParaRPr lang="en-US" sz="905" dirty="0"/>
          </a:p>
        </p:txBody>
      </p:sp>
      <p:sp>
        <p:nvSpPr>
          <p:cNvPr id="60" name="Shape 58"/>
          <p:cNvSpPr/>
          <p:nvPr/>
        </p:nvSpPr>
        <p:spPr>
          <a:xfrm>
            <a:off x="761329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2302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跨基地验证现场，把物理状态转成数字接口。</a:t>
            </a:r>
            <a:endParaRPr lang="en-US" sz="1035" dirty="0"/>
          </a:p>
        </p:txBody>
      </p:sp>
      <p:sp>
        <p:nvSpPr>
          <p:cNvPr id="62" name="Shape 60"/>
          <p:cNvSpPr/>
          <p:nvPr/>
        </p:nvSpPr>
        <p:spPr>
          <a:xfrm>
            <a:off x="772302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772302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现场事实 → 数字映射</a:t>
            </a:r>
            <a:endParaRPr lang="en-US" sz="905" dirty="0"/>
          </a:p>
        </p:txBody>
      </p:sp>
      <p:sp>
        <p:nvSpPr>
          <p:cNvPr id="64" name="Shape 62"/>
          <p:cNvSpPr/>
          <p:nvPr/>
        </p:nvSpPr>
        <p:spPr>
          <a:xfrm>
            <a:off x="9645091" y="4078224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75481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条件成熟后并入数字化，把精益嵌入 AI 工具。</a:t>
            </a:r>
            <a:endParaRPr lang="en-US" sz="1035" dirty="0"/>
          </a:p>
        </p:txBody>
      </p:sp>
      <p:sp>
        <p:nvSpPr>
          <p:cNvPr id="66" name="Shape 64"/>
          <p:cNvSpPr/>
          <p:nvPr/>
        </p:nvSpPr>
        <p:spPr>
          <a:xfrm>
            <a:off x="975481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975481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5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改善专家 → 过程模型共建</a:t>
            </a:r>
            <a:endParaRPr lang="en-US" sz="905" dirty="0"/>
          </a:p>
        </p:txBody>
      </p:sp>
      <p:sp>
        <p:nvSpPr>
          <p:cNvPr id="68" name="Shape 66"/>
          <p:cNvSpPr/>
          <p:nvPr/>
        </p:nvSpPr>
        <p:spPr>
          <a:xfrm>
            <a:off x="512064" y="5312664"/>
            <a:ext cx="11164824" cy="0"/>
          </a:xfrm>
          <a:prstGeom prst="line">
            <a:avLst/>
          </a:prstGeom>
          <a:noFill/>
          <a:ln w="9525">
            <a:solidFill>
              <a:srgbClr val="DCE6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2064" y="5440680"/>
            <a:ext cx="11137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融合前提：IE 前期项目协作、组织归属待定；数字化和数据质量成熟后，再把体系＋精益嵌入平台。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512064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体系验证：控制点覆盖、证据完整、审核闭环与跨基地一致性。</a:t>
            </a:r>
            <a:endParaRPr lang="en-US" sz="985" dirty="0"/>
          </a:p>
        </p:txBody>
      </p:sp>
      <p:sp>
        <p:nvSpPr>
          <p:cNvPr id="71" name="Text 69"/>
          <p:cNvSpPr/>
          <p:nvPr/>
        </p:nvSpPr>
        <p:spPr>
          <a:xfrm>
            <a:off x="6217920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 验证：等待和动作时间、线平衡、设备／人员利用及实际收益。</a:t>
            </a:r>
            <a:endParaRPr lang="en-US" sz="9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1043</Words>
  <Application>Microsoft Macintosh PowerPoint</Application>
  <PresentationFormat>宽屏</PresentationFormat>
  <Paragraphs>202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Hiragino Sans GB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海威作业一｜五页可编辑版</dc:title>
  <dc:subject>海威作业一：组织与职能能力演进</dc:subject>
  <dc:creator>Codex</dc:creator>
  <cp:lastModifiedBy>Li Jiajun</cp:lastModifiedBy>
  <cp:revision>11</cp:revision>
  <dcterms:created xsi:type="dcterms:W3CDTF">2026-09-30T08:36:49Z</dcterms:created>
  <dcterms:modified xsi:type="dcterms:W3CDTF">2026-09-30T09:12:56Z</dcterms:modified>
</cp:coreProperties>
</file>