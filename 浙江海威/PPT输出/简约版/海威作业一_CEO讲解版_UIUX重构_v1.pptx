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主张：拟承担集团供应链与数字化责任，把客户需求、计划指令、实物流动作和现场反馈连接起来。收益方向是交付更稳、损失更低、库存占用更少。先用宁德项目验证，再按基地条件复制。三项价值均需建立基线并由业务与财务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组织调整的核心：计划职能及仓储实物流职责补齐，数字化从系统模块维护转向现场业务目的。集团供应链与数字化负责人拟承接计划、仓储物流、信息化与供应链体系；运营 VP 继续负责制造执行。两者约定指标和异常升级边界。IE 前期联合计划和仓储进入项目，组织归属待 CEO 讨论。存量人员先评估再转型。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计划团队不能只发布工单，需要核对需求、产能、物料、库存和现场约束。仓储实物流不能只按指令搬运，需要理解库位、动作、等待与风险。现场数据必须记录真实产出和物料移动；数字化人员进入现场识别采集点，开发集成人员把数据接入工具与 U9 等既有系统。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三个月先完成组织职责、业务协作、数据口径及原状态测算。宁德项目从可用时间、设备状态、节拍、实际产出和报废损失切入。三至六个月使计划与现场反馈机制运行，观察时间开动率、质量损失和作业损伤变化。此页只表达预期收益方向，不承诺未经验证的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六个月后，用真实运行数据正式测算收益。增量贡献、实际成本节约及库存现金释放分别列示，避免重复计算。比较时校正需求、产品结构、班次和产能条件变化，并扣除实施投入。由业务和财务共同确认，不把假设直接当作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至二年将国内先导项目沉淀为业务规则、数据标准、软件配置、培训及验证包。二至三年，集团培养的计划和仓储骨干派驻相关基地；驻基地人员实线向基地负责人汇报，虚线接受集团供应链的业务和指标支持。三年后，国内外基地人员轮换、海外回归人员进入晋升通道。数字化业务与开发集成互通，供应链体系和 IE 在条件成熟后融入数字化业务团队。约五人的融合团队是能力验证设想，其中至少两人能协同支持全系统运作；集团保留跨基地治理责任。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65760"/>
            <a:ext cx="5943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海威作业一  /  CEO讲解版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146536" y="3657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6565392"/>
            <a:ext cx="8613648" cy="292608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96528" y="6565392"/>
            <a:ext cx="3392424" cy="292608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24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目标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30352" y="1490472"/>
            <a:ext cx="6080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让信息流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530352" y="2304288"/>
            <a:ext cx="6967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4F7E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在实物流中兑现</a:t>
            </a:r>
            <a:endParaRPr lang="en-US" sz="4300" dirty="0"/>
          </a:p>
        </p:txBody>
      </p:sp>
      <p:sp>
        <p:nvSpPr>
          <p:cNvPr id="9" name="Shape 7"/>
          <p:cNvSpPr/>
          <p:nvPr/>
        </p:nvSpPr>
        <p:spPr>
          <a:xfrm>
            <a:off x="530352" y="3255264"/>
            <a:ext cx="6446520" cy="0"/>
          </a:xfrm>
          <a:prstGeom prst="line">
            <a:avLst/>
          </a:prstGeom>
          <a:noFill/>
          <a:ln w="12700">
            <a:solidFill>
              <a:srgbClr val="DCE6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3502152"/>
            <a:ext cx="65836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从宁德项目验证，再复制到海内外基地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074152" y="1481328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交付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674352" y="1481328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更稳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8055864" y="2231136"/>
            <a:ext cx="3300984" cy="0"/>
          </a:xfrm>
          <a:prstGeom prst="line">
            <a:avLst/>
          </a:prstGeom>
          <a:noFill/>
          <a:ln w="10160">
            <a:solidFill>
              <a:srgbClr val="DCE6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74152" y="2807208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4F7E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成本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9674352" y="2807208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更低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8055864" y="3557016"/>
            <a:ext cx="3300984" cy="0"/>
          </a:xfrm>
          <a:prstGeom prst="line">
            <a:avLst/>
          </a:prstGeom>
          <a:noFill/>
          <a:ln w="10160">
            <a:solidFill>
              <a:srgbClr val="DCE6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74152" y="4133088"/>
            <a:ext cx="14813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库存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9674352" y="4133088"/>
            <a:ext cx="1499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更轻</a:t>
            </a:r>
            <a:endParaRPr lang="en-US" sz="2700" dirty="0"/>
          </a:p>
        </p:txBody>
      </p:sp>
      <p:sp>
        <p:nvSpPr>
          <p:cNvPr id="19" name="Shape 17"/>
          <p:cNvSpPr/>
          <p:nvPr/>
        </p:nvSpPr>
        <p:spPr>
          <a:xfrm>
            <a:off x="8055864" y="4882896"/>
            <a:ext cx="3300984" cy="0"/>
          </a:xfrm>
          <a:prstGeom prst="line">
            <a:avLst/>
          </a:prstGeom>
          <a:noFill/>
          <a:ln w="10160">
            <a:solidFill>
              <a:srgbClr val="DCE6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5294376"/>
            <a:ext cx="29352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组织补位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456432" y="533095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3867912" y="5294376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现场改善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775704" y="533095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7214616" y="5294376"/>
            <a:ext cx="29535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F7E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全球复制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530352" y="5998464"/>
            <a:ext cx="10835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预期价值由业务与财务共同验证</a:t>
            </a:r>
            <a:endParaRPr lang="en-US" sz="11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组织调整：把缺口变成闭环责任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966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制造执行与集团供应链／数字化分工明确，指标共同承担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146536" y="3657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3785616" cy="292608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50208" y="6565392"/>
            <a:ext cx="8238744" cy="292608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0" y="1490472"/>
            <a:ext cx="841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CEO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089904" y="1847088"/>
            <a:ext cx="0" cy="201168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2048256"/>
            <a:ext cx="5852160" cy="0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2048256"/>
            <a:ext cx="0" cy="173736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0" y="2048256"/>
            <a:ext cx="0" cy="173736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" y="2221992"/>
            <a:ext cx="5257800" cy="1965960"/>
          </a:xfrm>
          <a:prstGeom prst="rect">
            <a:avLst/>
          </a:prstGeom>
          <a:solidFill>
            <a:srgbClr val="EAF7FC"/>
          </a:solidFill>
          <a:ln w="12700">
            <a:solidFill>
              <a:srgbClr val="EAF7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2221992"/>
            <a:ext cx="5257800" cy="1965960"/>
          </a:xfrm>
          <a:prstGeom prst="rect">
            <a:avLst/>
          </a:prstGeom>
          <a:solidFill>
            <a:srgbClr val="F3F9E7"/>
          </a:solidFill>
          <a:ln w="12700">
            <a:solidFill>
              <a:srgbClr val="F3F9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2505456"/>
            <a:ext cx="4681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运营 VP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41248" y="3218688"/>
            <a:ext cx="468172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制造执行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841248" y="3712464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现场资源  /  实际产出  /  异常处置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6601968" y="2505456"/>
            <a:ext cx="4736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8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集团供应链与数字化负责人（拟）</a:t>
            </a:r>
            <a:endParaRPr lang="en-US" sz="2080" dirty="0"/>
          </a:p>
        </p:txBody>
      </p:sp>
      <p:sp>
        <p:nvSpPr>
          <p:cNvPr id="18" name="Text 16"/>
          <p:cNvSpPr/>
          <p:nvPr/>
        </p:nvSpPr>
        <p:spPr>
          <a:xfrm>
            <a:off x="6601968" y="3218688"/>
            <a:ext cx="47365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4F7E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信息流 + 实物流 + 数字化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01968" y="3712464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1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 · 仓储物流 · 体系 · 系统</a:t>
            </a:r>
            <a:endParaRPr lang="en-US" sz="1410" dirty="0"/>
          </a:p>
        </p:txBody>
      </p:sp>
      <p:sp>
        <p:nvSpPr>
          <p:cNvPr id="20" name="Shape 18"/>
          <p:cNvSpPr/>
          <p:nvPr/>
        </p:nvSpPr>
        <p:spPr>
          <a:xfrm>
            <a:off x="576072" y="4498848"/>
            <a:ext cx="11036808" cy="0"/>
          </a:xfrm>
          <a:prstGeom prst="line">
            <a:avLst/>
          </a:prstGeom>
          <a:noFill/>
          <a:ln w="12700">
            <a:solidFill>
              <a:srgbClr val="DCE6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48006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新建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45920" y="4800600"/>
            <a:ext cx="2432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计划／信息流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197096" y="48006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承接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76088" y="4800600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仓储／实物流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046720" y="4800600"/>
            <a:ext cx="1014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4F7E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调整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070848" y="4800600"/>
            <a:ext cx="23225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76072" y="5422392"/>
            <a:ext cx="11036808" cy="493776"/>
          </a:xfrm>
          <a:prstGeom prst="rect">
            <a:avLst/>
          </a:prstGeom>
          <a:solidFill>
            <a:srgbClr val="FFFFFF"/>
          </a:solidFill>
          <a:ln w="9525">
            <a:solidFill>
              <a:srgbClr val="88C22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" y="5522976"/>
            <a:ext cx="5321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4F7E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供应链体系：建立集团规则与控制点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181344" y="5522976"/>
            <a:ext cx="5093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4F7E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IE：先项目协作，归属待讨论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运营闭环：计划要被现场兑现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966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从客户需求出发，以真实产出和物料状态校正下一轮计划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146536" y="3657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3785616" cy="292608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50208" y="6565392"/>
            <a:ext cx="8238744" cy="292608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2011680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18836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8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客户需求</a:t>
            </a:r>
            <a:endParaRPr lang="en-US" sz="1880" dirty="0"/>
          </a:p>
        </p:txBody>
      </p:sp>
      <p:sp>
        <p:nvSpPr>
          <p:cNvPr id="9" name="Shape 7"/>
          <p:cNvSpPr/>
          <p:nvPr/>
        </p:nvSpPr>
        <p:spPr>
          <a:xfrm>
            <a:off x="576072" y="3429000"/>
            <a:ext cx="1828800" cy="0"/>
          </a:xfrm>
          <a:prstGeom prst="line">
            <a:avLst/>
          </a:prstGeom>
          <a:noFill/>
          <a:ln w="19050">
            <a:solidFill>
              <a:srgbClr val="DCE6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78024" y="2734056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88920" y="2011680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761488" y="2651760"/>
            <a:ext cx="18836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8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可执行计划</a:t>
            </a:r>
            <a:endParaRPr lang="en-US" sz="1880" dirty="0"/>
          </a:p>
        </p:txBody>
      </p:sp>
      <p:sp>
        <p:nvSpPr>
          <p:cNvPr id="13" name="Shape 11"/>
          <p:cNvSpPr/>
          <p:nvPr/>
        </p:nvSpPr>
        <p:spPr>
          <a:xfrm>
            <a:off x="2788920" y="3429000"/>
            <a:ext cx="1828800" cy="0"/>
          </a:xfrm>
          <a:prstGeom prst="line">
            <a:avLst/>
          </a:prstGeom>
          <a:noFill/>
          <a:ln w="19050">
            <a:solidFill>
              <a:srgbClr val="DCE6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90872" y="2734056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10912" y="2011680"/>
            <a:ext cx="21488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F7E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83480" y="2651760"/>
            <a:ext cx="22037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7E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生产与物料动作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010912" y="3429000"/>
            <a:ext cx="2148840" cy="0"/>
          </a:xfrm>
          <a:prstGeom prst="line">
            <a:avLst/>
          </a:prstGeom>
          <a:noFill/>
          <a:ln w="44450">
            <a:solidFill>
              <a:srgbClr val="88C2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32904" y="2734056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8C22F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534656" y="2011680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507224" y="2651760"/>
            <a:ext cx="18836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8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现场真实数据</a:t>
            </a:r>
            <a:endParaRPr lang="en-US" sz="1880" dirty="0"/>
          </a:p>
        </p:txBody>
      </p:sp>
      <p:sp>
        <p:nvSpPr>
          <p:cNvPr id="21" name="Shape 19"/>
          <p:cNvSpPr/>
          <p:nvPr/>
        </p:nvSpPr>
        <p:spPr>
          <a:xfrm>
            <a:off x="7534656" y="3429000"/>
            <a:ext cx="1828800" cy="0"/>
          </a:xfrm>
          <a:prstGeom prst="line">
            <a:avLst/>
          </a:prstGeom>
          <a:noFill/>
          <a:ln w="19050">
            <a:solidFill>
              <a:srgbClr val="DCE6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36608" y="2734056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756648" y="2011680"/>
            <a:ext cx="1828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729216" y="2651760"/>
            <a:ext cx="188366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8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修正计划</a:t>
            </a:r>
            <a:endParaRPr lang="en-US" sz="1880" dirty="0"/>
          </a:p>
        </p:txBody>
      </p:sp>
      <p:sp>
        <p:nvSpPr>
          <p:cNvPr id="25" name="Shape 23"/>
          <p:cNvSpPr/>
          <p:nvPr/>
        </p:nvSpPr>
        <p:spPr>
          <a:xfrm>
            <a:off x="9756648" y="3429000"/>
            <a:ext cx="1828800" cy="0"/>
          </a:xfrm>
          <a:prstGeom prst="line">
            <a:avLst/>
          </a:prstGeom>
          <a:noFill/>
          <a:ln w="19050">
            <a:solidFill>
              <a:srgbClr val="DCE6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0096" y="3776472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7E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价值体现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671048" y="4114800"/>
            <a:ext cx="0" cy="877824"/>
          </a:xfrm>
          <a:prstGeom prst="line">
            <a:avLst/>
          </a:prstGeom>
          <a:noFill/>
          <a:ln w="17780">
            <a:solidFill>
              <a:srgbClr val="2CA4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39312" y="4992624"/>
            <a:ext cx="7031736" cy="0"/>
          </a:xfrm>
          <a:prstGeom prst="line">
            <a:avLst/>
          </a:prstGeom>
          <a:noFill/>
          <a:ln w="17780">
            <a:solidFill>
              <a:srgbClr val="2CA4D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39312" y="4114800"/>
            <a:ext cx="0" cy="877824"/>
          </a:xfrm>
          <a:prstGeom prst="line">
            <a:avLst/>
          </a:prstGeom>
          <a:noFill/>
          <a:ln w="17780">
            <a:solidFill>
              <a:srgbClr val="2CA4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18688" y="5239512"/>
            <a:ext cx="726033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反馈不是报表：要能改变下一次计划与现场动作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76072" y="6062472"/>
            <a:ext cx="33467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计划／信息流定指令</a:t>
            </a:r>
            <a:endParaRPr lang="en-US" sz="1230" dirty="0"/>
          </a:p>
        </p:txBody>
      </p:sp>
      <p:sp>
        <p:nvSpPr>
          <p:cNvPr id="32" name="Text 30"/>
          <p:cNvSpPr/>
          <p:nvPr/>
        </p:nvSpPr>
        <p:spPr>
          <a:xfrm>
            <a:off x="4425696" y="6062472"/>
            <a:ext cx="3685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运营 VP 负责制造执行</a:t>
            </a:r>
            <a:endParaRPr lang="en-US" sz="1230" dirty="0"/>
          </a:p>
        </p:txBody>
      </p:sp>
      <p:sp>
        <p:nvSpPr>
          <p:cNvPr id="33" name="Text 31"/>
          <p:cNvSpPr/>
          <p:nvPr/>
        </p:nvSpPr>
        <p:spPr>
          <a:xfrm>
            <a:off x="8403336" y="6062472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3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仓储／实物流保障动作</a:t>
            </a:r>
            <a:endParaRPr lang="en-US" sz="12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前6个月：以宁德项目为先导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966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先识别损失，再验证时间开动率、质量和作业损失的改善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146536" y="3657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04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3785616" cy="292608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50208" y="6565392"/>
            <a:ext cx="8238744" cy="292608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700784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0–3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2743200" y="1865376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个月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03504" y="2642616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建基线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03504" y="335584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原产出 · 时间损失 · 报废 · 库存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35040" y="1581912"/>
            <a:ext cx="0" cy="2615184"/>
          </a:xfrm>
          <a:prstGeom prst="line">
            <a:avLst/>
          </a:prstGeom>
          <a:noFill/>
          <a:ln w="15240">
            <a:solidFill>
              <a:srgbClr val="DCE6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700784"/>
            <a:ext cx="2907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4F7E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3–6</a:t>
            </a:r>
            <a:endParaRPr lang="en-US" sz="4300" dirty="0"/>
          </a:p>
        </p:txBody>
      </p:sp>
      <p:sp>
        <p:nvSpPr>
          <p:cNvPr id="13" name="Text 11"/>
          <p:cNvSpPr/>
          <p:nvPr/>
        </p:nvSpPr>
        <p:spPr>
          <a:xfrm>
            <a:off x="8595360" y="1865376"/>
            <a:ext cx="1179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4F7E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个月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19088" y="2642616"/>
            <a:ext cx="5056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跑改进机制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19088" y="3355848"/>
            <a:ext cx="5056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计划跟踪 · 现场采集 · 设备问题闭环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3504" y="4462272"/>
            <a:ext cx="10963656" cy="0"/>
          </a:xfrm>
          <a:prstGeom prst="line">
            <a:avLst/>
          </a:prstGeom>
          <a:noFill/>
          <a:ln w="12700">
            <a:solidFill>
              <a:srgbClr val="DCE6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4818888"/>
            <a:ext cx="2898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4F7E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预期收益信号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3504" y="5394960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时间开动率 ↑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297680" y="539496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质量损失 ↓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037576" y="5394960"/>
            <a:ext cx="33467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作业损伤 ↓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03504" y="6062472"/>
            <a:ext cx="109545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收益是否形成，以相同口径的原状态与改进状态比较。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6–12个月：把改善变成可核算收益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966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原状态对比改进状态；校正业务条件，再扣除实施投入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146536" y="3657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05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3785616" cy="292608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50208" y="6565392"/>
            <a:ext cx="8238744" cy="292608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581912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4F7E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收益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2770632" y="1581912"/>
            <a:ext cx="6858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不是“报表变好”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03504" y="2359152"/>
            <a:ext cx="10972800" cy="0"/>
          </a:xfrm>
          <a:prstGeom prst="line">
            <a:avLst/>
          </a:prstGeom>
          <a:noFill/>
          <a:ln w="12700">
            <a:solidFill>
              <a:srgbClr val="DCE6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77063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" y="3200400"/>
            <a:ext cx="3419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增量贡献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621792" y="3895344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合格产出提升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21792" y="4480560"/>
            <a:ext cx="3419856" cy="0"/>
          </a:xfrm>
          <a:prstGeom prst="line">
            <a:avLst/>
          </a:prstGeom>
          <a:noFill/>
          <a:ln w="43180">
            <a:solidFill>
              <a:srgbClr val="2CA4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277063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89120" y="3200400"/>
            <a:ext cx="3419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F7E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实际成本节约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4389120" y="3895344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损失与无效动作减少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389120" y="4480560"/>
            <a:ext cx="3419856" cy="0"/>
          </a:xfrm>
          <a:prstGeom prst="line">
            <a:avLst/>
          </a:prstGeom>
          <a:noFill/>
          <a:ln w="43180">
            <a:solidFill>
              <a:srgbClr val="88C2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6448" y="2770632"/>
            <a:ext cx="786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56448" y="3200400"/>
            <a:ext cx="34198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库存现金释放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8156448" y="3895344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周转速度提升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156448" y="4480560"/>
            <a:ext cx="3419856" cy="0"/>
          </a:xfrm>
          <a:prstGeom prst="line">
            <a:avLst/>
          </a:prstGeom>
          <a:noFill/>
          <a:ln w="43180">
            <a:solidFill>
              <a:srgbClr val="2CA4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" y="5038344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比较基线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761488" y="5038344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264408" y="5038344"/>
            <a:ext cx="2898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校正条件变化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126480" y="5038344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620256" y="5038344"/>
            <a:ext cx="29626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扣除实施投入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30936" y="5971032"/>
            <a:ext cx="10945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三类收益分别列示；库存现金释放不等同于利润节约。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先复制方法，再复制人才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966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海外推进取决于项目节点；集团定规则，基地负责现场决策与执行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146536" y="365760"/>
            <a:ext cx="530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06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0" y="6565392"/>
            <a:ext cx="3785616" cy="292608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50208" y="6565392"/>
            <a:ext cx="8238744" cy="292608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1907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1–2年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21792" y="2432304"/>
            <a:ext cx="3474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形成复制包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21792" y="3264408"/>
            <a:ext cx="3438144" cy="0"/>
          </a:xfrm>
          <a:prstGeom prst="line">
            <a:avLst/>
          </a:prstGeom>
          <a:noFill/>
          <a:ln w="43180">
            <a:solidFill>
              <a:srgbClr val="2CA4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3575304"/>
            <a:ext cx="34472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规则 · 数据 · 软件配置 · 培训验证</a:t>
            </a:r>
            <a:endParaRPr lang="en-US" sz="1530" dirty="0"/>
          </a:p>
        </p:txBody>
      </p:sp>
      <p:sp>
        <p:nvSpPr>
          <p:cNvPr id="11" name="Text 9"/>
          <p:cNvSpPr/>
          <p:nvPr/>
        </p:nvSpPr>
        <p:spPr>
          <a:xfrm>
            <a:off x="4105656" y="249631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89120" y="171907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2–3年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389120" y="2432304"/>
            <a:ext cx="3474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骨干驻基地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4389120" y="3264408"/>
            <a:ext cx="3438144" cy="0"/>
          </a:xfrm>
          <a:prstGeom prst="line">
            <a:avLst/>
          </a:prstGeom>
          <a:noFill/>
          <a:ln w="43180">
            <a:solidFill>
              <a:srgbClr val="2CA4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3575304"/>
            <a:ext cx="34472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墨西哥 / 罗马尼亚 · 本地带教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7872984" y="2496312"/>
            <a:ext cx="347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A4D9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56448" y="1719072"/>
            <a:ext cx="3429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F7E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3年后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156448" y="2432304"/>
            <a:ext cx="34747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平台承接共性能力</a:t>
            </a:r>
            <a:endParaRPr lang="en-US" sz="2500" dirty="0"/>
          </a:p>
        </p:txBody>
      </p:sp>
      <p:sp>
        <p:nvSpPr>
          <p:cNvPr id="19" name="Shape 17"/>
          <p:cNvSpPr/>
          <p:nvPr/>
        </p:nvSpPr>
        <p:spPr>
          <a:xfrm>
            <a:off x="8156448" y="3264408"/>
            <a:ext cx="3438144" cy="0"/>
          </a:xfrm>
          <a:prstGeom prst="line">
            <a:avLst/>
          </a:prstGeom>
          <a:noFill/>
          <a:ln w="43180">
            <a:solidFill>
              <a:srgbClr val="88C2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56448" y="3575304"/>
            <a:ext cx="34472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轮换晋升 · 体系与 IE 融合</a:t>
            </a:r>
            <a:endParaRPr lang="en-US" sz="1530" dirty="0"/>
          </a:p>
        </p:txBody>
      </p:sp>
      <p:sp>
        <p:nvSpPr>
          <p:cNvPr id="21" name="Shape 19"/>
          <p:cNvSpPr/>
          <p:nvPr/>
        </p:nvSpPr>
        <p:spPr>
          <a:xfrm>
            <a:off x="621792" y="4471416"/>
            <a:ext cx="10927080" cy="0"/>
          </a:xfrm>
          <a:prstGeom prst="line">
            <a:avLst/>
          </a:prstGeom>
          <a:noFill/>
          <a:ln w="12700">
            <a:solidFill>
              <a:srgbClr val="DCE6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" y="4773168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7AA5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两条人才路径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1792" y="5330952"/>
            <a:ext cx="50657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0313B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计划／实物流 → 基地轮换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742432" y="5330952"/>
            <a:ext cx="57515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4F7E16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数字化／开发／体系／IE → 平台融合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21792" y="6016752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dirty="0">
                <a:solidFill>
                  <a:srgbClr val="52636D"/>
                </a:solidFill>
                <a:latin typeface="Hiragino Sans GB" pitchFamily="34" charset="0"/>
                <a:ea typeface="Hiragino Sans GB" pitchFamily="34" charset="-122"/>
                <a:cs typeface="Hiragino Sans GB" pitchFamily="34" charset="-120"/>
              </a:rPr>
              <a:t>成熟条件：数据可信、平台稳定、现场使用；至少2人能协同支持全系统运作。</a:t>
            </a:r>
            <a:endParaRPr lang="en-US" sz="11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海威作业一｜CEO讲解版 v1</dc:title>
  <dc:subject>组织调整、宁德先导、收益核算与全球复制</dc:subject>
  <dc:creator>Codex</dc:creator>
  <cp:lastModifiedBy>Codex</cp:lastModifiedBy>
  <cp:revision>1</cp:revision>
  <dcterms:created xsi:type="dcterms:W3CDTF">2026-10-01T07:06:46Z</dcterms:created>
  <dcterms:modified xsi:type="dcterms:W3CDTF">2026-10-01T07:06:46Z</dcterms:modified>
</cp:coreProperties>
</file>