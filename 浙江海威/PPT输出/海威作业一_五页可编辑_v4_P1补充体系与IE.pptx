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66"/>
    <p:restoredTop sz="94610"/>
  </p:normalViewPr>
  <p:slideViewPr>
    <p:cSldViewPr snapToGrid="0" snapToObjects="1">
      <p:cViewPr>
        <p:scale>
          <a:sx n="124" d="100"/>
          <a:sy n="124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9904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/ 组织总论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先补齐组织，再让计划与实物流形成经营闭环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拟设集团供应链与数字化负责人，承接计划、仓储物流与信息化；制造执行继续由运营 VP 负责。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419088"/>
            <a:ext cx="8650224" cy="438912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814816" y="6419088"/>
            <a:ext cx="3374136" cy="438912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12064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组织如何变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12064" y="1673352"/>
            <a:ext cx="6272784" cy="0"/>
          </a:xfrm>
          <a:prstGeom prst="line">
            <a:avLst/>
          </a:prstGeom>
          <a:noFill/>
          <a:ln w="1905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512064" y="1792224"/>
            <a:ext cx="6272784" cy="43891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368" y="188366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当前缺口：计划与供应链职责未独立成型；数字化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信息化属于营团队、按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ERP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OA 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功能分工；实物流</a:t>
            </a:r>
            <a:r>
              <a:rPr lang="en-US" altLang="zh-CN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en-US" sz="1020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仓储更多聚焦执行</a:t>
            </a: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310128" y="2340864"/>
            <a:ext cx="713232" cy="28346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310128" y="23591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66744" y="2624328"/>
            <a:ext cx="0" cy="13716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2157984" y="2761488"/>
            <a:ext cx="2926080" cy="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215798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084064" y="2761488"/>
            <a:ext cx="0" cy="10972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12064" y="2871216"/>
            <a:ext cx="3154680" cy="126187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12064" y="2871216"/>
            <a:ext cx="3154680" cy="0"/>
          </a:xfrm>
          <a:prstGeom prst="line">
            <a:avLst/>
          </a:prstGeom>
          <a:noFill/>
          <a:ln w="2794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76656" y="3035808"/>
            <a:ext cx="27980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" y="3410712"/>
            <a:ext cx="2779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负责制造执行、现场资源和实际产出；与计划及数字化团队约定指标和异常升级边界。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813048" y="2871216"/>
            <a:ext cx="2971800" cy="1682496"/>
          </a:xfrm>
          <a:prstGeom prst="rect">
            <a:avLst/>
          </a:prstGeom>
          <a:solidFill>
            <a:srgbClr val="FBFDF6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3813048" y="2871216"/>
            <a:ext cx="2971800" cy="0"/>
          </a:xfrm>
          <a:prstGeom prst="line">
            <a:avLst/>
          </a:prstGeom>
          <a:noFill/>
          <a:ln w="2794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968496" y="30175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集团供应链与数字化负责人（拟）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68496" y="3392424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对客户需求、计划指令、实物流与数据反馈建立共同责任；信息化按业务目的和收益设计功能。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977640" y="3922776"/>
            <a:ext cx="804672" cy="25603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26" name="Text 24"/>
          <p:cNvSpPr/>
          <p:nvPr/>
        </p:nvSpPr>
        <p:spPr>
          <a:xfrm>
            <a:off x="4014216" y="3933749"/>
            <a:ext cx="7315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职能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新建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37176" y="3922776"/>
            <a:ext cx="804672" cy="25603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28" name="Text 26"/>
          <p:cNvSpPr/>
          <p:nvPr/>
        </p:nvSpPr>
        <p:spPr>
          <a:xfrm>
            <a:off x="4873752" y="3933749"/>
            <a:ext cx="7315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696712" y="3922776"/>
            <a:ext cx="804672" cy="25603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30" name="Text 28"/>
          <p:cNvSpPr/>
          <p:nvPr/>
        </p:nvSpPr>
        <p:spPr>
          <a:xfrm>
            <a:off x="5733288" y="3933749"/>
            <a:ext cx="7315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调整归属</a:t>
            </a:r>
            <a:endParaRPr lang="en-US" sz="700" dirty="0"/>
          </a:p>
        </p:txBody>
      </p:sp>
      <p:sp>
        <p:nvSpPr>
          <p:cNvPr id="70" name="Shape 70"/>
          <p:cNvSpPr/>
          <p:nvPr/>
        </p:nvSpPr>
        <p:spPr>
          <a:xfrm>
            <a:off x="3977640" y="4242816"/>
            <a:ext cx="1271016" cy="25603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71" name="Text 71"/>
          <p:cNvSpPr/>
          <p:nvPr/>
        </p:nvSpPr>
        <p:spPr>
          <a:xfrm>
            <a:off x="4014216" y="4253789"/>
            <a:ext cx="119786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</a:rPr>
              <a:t>管理</a:t>
            </a:r>
            <a:endParaRPr lang="en-US" sz="700" dirty="0"/>
          </a:p>
        </p:txBody>
      </p:sp>
      <p:sp>
        <p:nvSpPr>
          <p:cNvPr id="72" name="Shape 72"/>
          <p:cNvSpPr/>
          <p:nvPr/>
        </p:nvSpPr>
        <p:spPr>
          <a:xfrm>
            <a:off x="5349240" y="4242816"/>
            <a:ext cx="1271016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88C22F"/>
            </a:solidFill>
            <a:prstDash val="dash"/>
          </a:ln>
        </p:spPr>
        <p:txBody>
          <a:bodyPr/>
          <a:lstStyle/>
          <a:p>
            <a:endParaRPr lang="zh-CN" altLang="en-US" sz="700"/>
          </a:p>
        </p:txBody>
      </p:sp>
      <p:sp>
        <p:nvSpPr>
          <p:cNvPr id="73" name="Text 73"/>
          <p:cNvSpPr/>
          <p:nvPr/>
        </p:nvSpPr>
        <p:spPr>
          <a:xfrm>
            <a:off x="5385816" y="4253789"/>
            <a:ext cx="119786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待讨论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2064" y="4736592"/>
            <a:ext cx="6272784" cy="0"/>
          </a:xfrm>
          <a:prstGeom prst="line">
            <a:avLst/>
          </a:prstGeom>
          <a:noFill/>
          <a:ln w="10160">
            <a:solidFill>
              <a:srgbClr val="88C22F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12064" y="4828032"/>
            <a:ext cx="6272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*</a:t>
            </a:r>
            <a:r>
              <a:rPr lang="en-US" sz="100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联合现场：与计划、仓储一起测量动作、时间和人机协同；组织归属留待讨论。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68312" y="1371600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3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变动为了取得什么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P1(0~6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月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 P2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(6~12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月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～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zh-CN" altLang="en-US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r>
              <a:rPr lang="en-US" altLang="zh-CN" sz="103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7068312" y="1673352"/>
            <a:ext cx="4617720" cy="0"/>
          </a:xfrm>
          <a:prstGeom prst="line">
            <a:avLst/>
          </a:prstGeom>
          <a:noFill/>
          <a:ln w="1905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114032" y="1810512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8010144" y="181051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建立可比基线</a:t>
            </a:r>
            <a:endParaRPr lang="en-US" sz="1110" dirty="0"/>
          </a:p>
        </p:txBody>
      </p:sp>
      <p:sp>
        <p:nvSpPr>
          <p:cNvPr id="37" name="Text 35"/>
          <p:cNvSpPr/>
          <p:nvPr/>
        </p:nvSpPr>
        <p:spPr>
          <a:xfrm>
            <a:off x="8010144" y="2066544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测算原产出、损失、库存与业务条件；明确角色、协作及数据口径。</a:t>
            </a:r>
            <a:endParaRPr lang="en-US" sz="935" dirty="0"/>
          </a:p>
        </p:txBody>
      </p:sp>
      <p:sp>
        <p:nvSpPr>
          <p:cNvPr id="38" name="Shape 36"/>
          <p:cNvSpPr/>
          <p:nvPr/>
        </p:nvSpPr>
        <p:spPr>
          <a:xfrm>
            <a:off x="7068312" y="2450592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114032" y="2514600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8010144" y="25146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zh-CN" alt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宁德项目</a:t>
            </a:r>
            <a:r>
              <a:rPr lang="zh-CN" alt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”</a:t>
            </a: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先导形成收益路径</a:t>
            </a:r>
            <a:endParaRPr lang="en-US" sz="1110" dirty="0"/>
          </a:p>
        </p:txBody>
      </p:sp>
      <p:sp>
        <p:nvSpPr>
          <p:cNvPr id="41" name="Text 39"/>
          <p:cNvSpPr/>
          <p:nvPr/>
        </p:nvSpPr>
        <p:spPr>
          <a:xfrm>
            <a:off x="8010144" y="277063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使新机制运行，观察时间开动率、质量和作业损失变化。</a:t>
            </a:r>
            <a:endParaRPr lang="en-US" sz="935" dirty="0"/>
          </a:p>
        </p:txBody>
      </p:sp>
      <p:sp>
        <p:nvSpPr>
          <p:cNvPr id="42" name="Shape 40"/>
          <p:cNvSpPr/>
          <p:nvPr/>
        </p:nvSpPr>
        <p:spPr>
          <a:xfrm>
            <a:off x="7068312" y="3154680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114032" y="3218688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6～12 月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8010144" y="321868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启动核算经营改善</a:t>
            </a:r>
            <a:endParaRPr lang="en-US" sz="1110" dirty="0"/>
          </a:p>
        </p:txBody>
      </p:sp>
      <p:sp>
        <p:nvSpPr>
          <p:cNvPr id="45" name="Text 43"/>
          <p:cNvSpPr/>
          <p:nvPr/>
        </p:nvSpPr>
        <p:spPr>
          <a:xfrm>
            <a:off x="8010144" y="347472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将增量贡献、成本节约与库存现金释放同原基线比较。</a:t>
            </a:r>
            <a:endParaRPr lang="en-US" sz="935" dirty="0"/>
          </a:p>
        </p:txBody>
      </p:sp>
      <p:sp>
        <p:nvSpPr>
          <p:cNvPr id="46" name="Shape 44"/>
          <p:cNvSpPr/>
          <p:nvPr/>
        </p:nvSpPr>
        <p:spPr>
          <a:xfrm>
            <a:off x="7068312" y="3858768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114032" y="3922776"/>
            <a:ext cx="740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中长期</a:t>
            </a:r>
            <a:endParaRPr lang="en-US" sz="1160" dirty="0"/>
          </a:p>
        </p:txBody>
      </p:sp>
      <p:sp>
        <p:nvSpPr>
          <p:cNvPr id="48" name="Text 46"/>
          <p:cNvSpPr/>
          <p:nvPr/>
        </p:nvSpPr>
        <p:spPr>
          <a:xfrm>
            <a:off x="8010144" y="39227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跨基地复制与平台治理</a:t>
            </a:r>
            <a:endParaRPr lang="en-US" sz="1110" dirty="0"/>
          </a:p>
        </p:txBody>
      </p:sp>
      <p:sp>
        <p:nvSpPr>
          <p:cNvPr id="49" name="Text 47"/>
          <p:cNvSpPr/>
          <p:nvPr/>
        </p:nvSpPr>
        <p:spPr>
          <a:xfrm>
            <a:off x="8010144" y="417880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培养派驻骨干，统一规则与指标，成熟后由平台承接共性工作。</a:t>
            </a:r>
            <a:endParaRPr lang="en-US" sz="935" dirty="0"/>
          </a:p>
        </p:txBody>
      </p:sp>
      <p:sp>
        <p:nvSpPr>
          <p:cNvPr id="50" name="Shape 48"/>
          <p:cNvSpPr/>
          <p:nvPr/>
        </p:nvSpPr>
        <p:spPr>
          <a:xfrm>
            <a:off x="7068312" y="4562856"/>
            <a:ext cx="4617720" cy="0"/>
          </a:xfrm>
          <a:prstGeom prst="line">
            <a:avLst/>
          </a:prstGeom>
          <a:noFill/>
          <a:ln w="889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068312" y="4745736"/>
            <a:ext cx="4617720" cy="475488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7205472" y="4828032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6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 年后能力条件：融合团队至少 2 人能协同掌握全系统运作，保障各基地业务和系统顺畅运行。</a:t>
            </a:r>
            <a:endParaRPr lang="en-US" sz="965" dirty="0"/>
          </a:p>
        </p:txBody>
      </p:sp>
      <p:sp>
        <p:nvSpPr>
          <p:cNvPr id="53" name="Shape 51"/>
          <p:cNvSpPr/>
          <p:nvPr/>
        </p:nvSpPr>
        <p:spPr>
          <a:xfrm>
            <a:off x="512064" y="5358384"/>
            <a:ext cx="11173968" cy="0"/>
          </a:xfrm>
          <a:prstGeom prst="line">
            <a:avLst/>
          </a:prstGeom>
          <a:noFill/>
          <a:ln w="10160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12064" y="54589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信息流必须在实物流中兑现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512064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30352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客户需求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2551176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2761488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2779776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计划指令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4800600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010912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029200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生产与物料动作</a:t>
            </a:r>
            <a:r>
              <a:rPr lang="zh-CN" alt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（*价值体现）</a:t>
            </a:r>
            <a:endParaRPr lang="en-US" sz="1020" dirty="0"/>
          </a:p>
        </p:txBody>
      </p:sp>
      <p:sp>
        <p:nvSpPr>
          <p:cNvPr id="63" name="Text 61"/>
          <p:cNvSpPr/>
          <p:nvPr/>
        </p:nvSpPr>
        <p:spPr>
          <a:xfrm>
            <a:off x="7050024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260336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7278624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现场真实数据</a:t>
            </a:r>
            <a:endParaRPr lang="en-US" sz="1020" dirty="0"/>
          </a:p>
        </p:txBody>
      </p:sp>
      <p:sp>
        <p:nvSpPr>
          <p:cNvPr id="66" name="Text 64"/>
          <p:cNvSpPr/>
          <p:nvPr/>
        </p:nvSpPr>
        <p:spPr>
          <a:xfrm>
            <a:off x="9299448" y="580644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9509760" y="5733288"/>
            <a:ext cx="2029968" cy="365760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9528048" y="579729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修正计划</a:t>
            </a:r>
            <a:endParaRPr lang="en-US" sz="1020" dirty="0"/>
          </a:p>
        </p:txBody>
      </p:sp>
      <p:sp>
        <p:nvSpPr>
          <p:cNvPr id="69" name="Text 67"/>
          <p:cNvSpPr/>
          <p:nvPr/>
        </p:nvSpPr>
        <p:spPr>
          <a:xfrm>
            <a:off x="512064" y="6153912"/>
            <a:ext cx="11155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人员转换：评估现有信息化人员进入计划；数字化人员走入现场；仓储负责人补足实物流规划能力。</a:t>
            </a:r>
            <a:endParaRPr lang="en-US" sz="9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/ 五阶段总览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组织配置、关键职能与收益验证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人员数字均为配置设想，派驻与轮换原则上从集团既有团队培养；不把存量人员转岗误算为新增编制。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阶段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09344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组织与人员数量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517904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主要职能／能力目标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83296" y="1517904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预期收益与验证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" y="1764792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001000" y="1764792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527048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64024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01000" y="1764792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85216" y="1874520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</a:t>
            </a:r>
            <a:r>
              <a:rPr lang="en-US" altLang="zh-CN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1: </a:t>
            </a: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0～6 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" y="2203704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先导与建制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18488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altLang="zh-CN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／ 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计划＋仓储：新建或承接职责，人数待评估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信息化人员评估转计划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数字化进入现场；开发 1 人、IE 协作 1 人为初期设想。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4855464" y="1874520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连接需求、产能、日计划、实际产出与物料动作。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数字化定义采集点；IE 测量动作与时间；U9 等系统保持运转。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8092440" y="1874520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0～3 月建原产出、成本、库存基线。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3～6 月以宁德观察时间开动率、质量与作业损失改善。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512064" y="2660904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001000" y="2660904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527048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764024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001000" y="2660904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85216" y="277063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P2: 6～12 月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585216" y="3099816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协同与核算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18488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4～6人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；</a:t>
            </a:r>
            <a:endParaRPr lang="en-US" altLang="zh-CN" sz="1015" dirty="0">
              <a:solidFill>
                <a:srgbClr val="21313B"/>
              </a:solidFill>
              <a:latin typeface="Hiragino Sans GB" pitchFamily="34" charset="0"/>
              <a:ea typeface="Hiragino Sans GB" pitchFamily="34" charset="-122"/>
              <a:cs typeface="Hiragino Sans GB" pitchFamily="34" charset="-120"/>
            </a:endParaRPr>
          </a:p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2～3人、开发集成 1～2人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(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;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endParaRPr lang="en-US" sz="1015" dirty="0">
              <a:solidFill>
                <a:srgbClr val="21313B"/>
              </a:solidFill>
              <a:latin typeface="Hiragino Sans GB" pitchFamily="34" charset="0"/>
              <a:ea typeface="Hiragino Sans GB" pitchFamily="34" charset="-122"/>
              <a:cs typeface="Hiragino Sans GB" pitchFamily="34" charset="-120"/>
            </a:endParaRPr>
          </a:p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体系管理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1 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(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设想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);</a:t>
            </a:r>
            <a:endParaRPr lang="en-US" sz="1015" dirty="0"/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仓储／实物流与 IE 按工作量核定。</a:t>
            </a:r>
            <a:endParaRPr lang="en-US" sz="1015" dirty="0"/>
          </a:p>
        </p:txBody>
      </p:sp>
      <p:sp>
        <p:nvSpPr>
          <p:cNvPr id="30" name="Text 28"/>
          <p:cNvSpPr/>
          <p:nvPr/>
        </p:nvSpPr>
        <p:spPr>
          <a:xfrm>
            <a:off x="4855464" y="2770632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计划解释业务约束和软件边界；数字化定义现场数据、AI 使用与财务口径。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仓储优化实物流；体系转化客户要求；开发保障接口。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092440" y="2770632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 6 个月后正式核算增量贡献、实际成本节约和库存现金释放；校正条件并扣除投入。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512064" y="3557016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001000" y="3557016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527048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764024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001000" y="3557016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85216" y="3666744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P3: 1～2 年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" y="3995928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标准与复制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618488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承接上阶段集团配置；基地仓储／实物流按业务量增配，IE 按项目参与。</a:t>
            </a:r>
            <a:endParaRPr lang="en-US" sz="1015" dirty="0"/>
          </a:p>
        </p:txBody>
      </p:sp>
      <p:sp>
        <p:nvSpPr>
          <p:cNvPr id="40" name="Text 38"/>
          <p:cNvSpPr/>
          <p:nvPr/>
        </p:nvSpPr>
        <p:spPr>
          <a:xfrm>
            <a:off x="4855464" y="3666744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集团形成“业务规则＋数据标准＋软件配置＋培训验证”复制包；基地承担仓储物流与现场执行。</a:t>
            </a:r>
            <a:endParaRPr lang="en-US" sz="1010" dirty="0"/>
          </a:p>
        </p:txBody>
      </p:sp>
      <p:sp>
        <p:nvSpPr>
          <p:cNvPr id="41" name="Text 39"/>
          <p:cNvSpPr/>
          <p:nvPr/>
        </p:nvSpPr>
        <p:spPr>
          <a:xfrm>
            <a:off x="8092440" y="3666744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各基地单独建基线，验证交付、成本、库存和收益。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512064" y="4453128"/>
            <a:ext cx="11164824" cy="896112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001000" y="4453128"/>
            <a:ext cx="3675888" cy="896112"/>
          </a:xfrm>
          <a:prstGeom prst="rect">
            <a:avLst/>
          </a:prstGeom>
          <a:solidFill>
            <a:srgbClr val="FBFDF7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527048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4764024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001000" y="4453128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85216" y="45628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P4: 2～3 年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5216" y="4892040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派驻与带教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18488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与仓储</a:t>
            </a:r>
            <a:r>
              <a:rPr lang="en-US" altLang="zh-CN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骨干由集团培养后派驻基地，重点覆盖墨西哥与罗马尼亚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（进驻时间基于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项目要求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）</a:t>
            </a:r>
            <a:endParaRPr lang="en-US" sz="1015" dirty="0"/>
          </a:p>
        </p:txBody>
      </p:sp>
      <p:sp>
        <p:nvSpPr>
          <p:cNvPr id="50" name="Text 48"/>
          <p:cNvSpPr/>
          <p:nvPr/>
        </p:nvSpPr>
        <p:spPr>
          <a:xfrm>
            <a:off x="4855464" y="4562856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驻基地人员实线向基地负责人汇报，虚线接受集团供应链支持；懂系统、指标、现场及基础开发。</a:t>
            </a:r>
            <a:endParaRPr lang="en-US" sz="1010" dirty="0"/>
          </a:p>
        </p:txBody>
      </p:sp>
      <p:sp>
        <p:nvSpPr>
          <p:cNvPr id="51" name="Text 49"/>
          <p:cNvSpPr/>
          <p:nvPr/>
        </p:nvSpPr>
        <p:spPr>
          <a:xfrm>
            <a:off x="8092440" y="4562856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基地独立执行并反馈；验证交付稳定、指标一致和 AI 分析带来的改善。</a:t>
            </a:r>
            <a:endParaRPr lang="en-US" sz="1010" dirty="0"/>
          </a:p>
        </p:txBody>
      </p:sp>
      <p:sp>
        <p:nvSpPr>
          <p:cNvPr id="52" name="Shape 50"/>
          <p:cNvSpPr/>
          <p:nvPr/>
        </p:nvSpPr>
        <p:spPr>
          <a:xfrm>
            <a:off x="512064" y="5349240"/>
            <a:ext cx="11164824" cy="896112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001000" y="5349240"/>
            <a:ext cx="3675888" cy="896112"/>
          </a:xfrm>
          <a:prstGeom prst="rect">
            <a:avLst/>
          </a:prstGeom>
          <a:solidFill>
            <a:srgbClr val="F7FBE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527048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4764024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001000" y="5349240"/>
            <a:ext cx="0" cy="896112"/>
          </a:xfrm>
          <a:prstGeom prst="line">
            <a:avLst/>
          </a:prstGeom>
          <a:noFill/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85216" y="5458968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P5: 3 年后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85216" y="5788152"/>
            <a:ext cx="914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轮换与融合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618488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各基地信息流／实物流骨干轮换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；</a:t>
            </a:r>
          </a:p>
          <a:p>
            <a:pPr marL="0" indent="0">
              <a:buNone/>
            </a:pP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体系与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IE 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融入数字化</a:t>
            </a:r>
            <a:r>
              <a:rPr lang="zh-CN" alt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；</a:t>
            </a:r>
            <a:endParaRPr lang="en-US" sz="1015" dirty="0">
              <a:solidFill>
                <a:srgbClr val="21313B"/>
              </a:solidFill>
              <a:latin typeface="Hiragino Sans GB" pitchFamily="34" charset="0"/>
              <a:ea typeface="Hiragino Sans GB" pitchFamily="34" charset="-122"/>
              <a:cs typeface="Hiragino Sans GB" pitchFamily="34" charset="-120"/>
            </a:endParaRPr>
          </a:p>
          <a:p>
            <a:pPr marL="0" indent="0">
              <a:buNone/>
            </a:pP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保持至少5人数字化团队 (</a:t>
            </a:r>
            <a:r>
              <a:rPr lang="en-US" sz="1015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设想</a:t>
            </a:r>
            <a:r>
              <a:rPr lang="en-US" sz="1015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), 其中至少2人可协同各基地全系统有效运作。</a:t>
            </a:r>
            <a:endParaRPr lang="en-US" sz="1015" dirty="0"/>
          </a:p>
        </p:txBody>
      </p:sp>
      <p:sp>
        <p:nvSpPr>
          <p:cNvPr id="60" name="Text 58"/>
          <p:cNvSpPr/>
          <p:nvPr/>
        </p:nvSpPr>
        <p:spPr>
          <a:xfrm>
            <a:off x="4855464" y="5458968"/>
            <a:ext cx="305409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数字化业务与开发集成双向轮岗；物理接口和 AI 工具形成复用方案；平台承接共性规则。</a:t>
            </a:r>
            <a:endParaRPr lang="en-US" sz="1010" dirty="0"/>
          </a:p>
        </p:txBody>
      </p:sp>
      <p:sp>
        <p:nvSpPr>
          <p:cNvPr id="61" name="Text 59"/>
          <p:cNvSpPr/>
          <p:nvPr/>
        </p:nvSpPr>
        <p:spPr>
          <a:xfrm>
            <a:off x="8092440" y="5458968"/>
            <a:ext cx="34930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验证自主交付、稳定运行、外部依赖、人员晋升与全球运营收益。</a:t>
            </a:r>
            <a:endParaRPr lang="en-US" sz="1010" dirty="0"/>
          </a:p>
        </p:txBody>
      </p:sp>
      <p:sp>
        <p:nvSpPr>
          <p:cNvPr id="62" name="Text 60"/>
          <p:cNvSpPr/>
          <p:nvPr/>
        </p:nvSpPr>
        <p:spPr>
          <a:xfrm>
            <a:off x="512064" y="6318504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注：收益由业务与财务共同核算；3 年后组织收拢以数字化铺设、数据质量和运行保障成熟为前提，海外项目按实际节点推进。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</a:t>
            </a:r>
            <a:r>
              <a:rPr lang="en-US" altLang="zh-CN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/ </a:t>
            </a:r>
            <a:r>
              <a:rPr lang="zh-CN" alt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供应链人员</a:t>
            </a: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全供应链职能共同对交付结果负责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计划给出可执行的指令，仓储与物流让指令在现场兑现；两类骨干未来共同进入基地。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41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对数字敏感；懂需求、产能、物料、库存、交付与现场约束，能解释计划的可执行性及软件边界。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能把图文转成物理场景与动作；既会优化现有库位、搬运与配送，也能规划新基地实物流。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</a:t>
            </a:r>
            <a:r>
              <a:rPr lang="en-US" altLang="zh-CN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/</a:t>
            </a:r>
            <a:r>
              <a:rPr lang="zh-CN" alt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</a:t>
            </a: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进入现场核对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（生产）过程动作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节拍、可用时间、实际产出与异常，形成可追溯日计划及反馈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系统数据 → </a:t>
            </a:r>
            <a:r>
              <a:rPr lang="en-US" sz="80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业务逻辑、上下游与价值</a:t>
            </a:r>
            <a:r>
              <a:rPr lang="zh-CN" alt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联动需求、产能、物料和仓储，用真实数据解释计划达成与损失。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</a:t>
            </a:r>
            <a:r>
              <a:rPr lang="en-US" sz="80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生产工单发布者</a:t>
            </a: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→ 判断可执行性与经营价值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沉淀计划规则、数据口径、异常升级和软件配置，能培训基地。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个人经验 → </a:t>
            </a:r>
            <a:r>
              <a:rPr lang="en-US" sz="800" b="1" dirty="0" err="1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可复制的方法与软件工具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集团培养后派驻基地；实线对基地负责、虚线接受集团支持，能做基础配置／开发。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集团协调 → 跨基地落地骨干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国内外基地轮换并带教当地人员；海外回归后进入集团晋升通道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: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计划高级经理、集团供应链经理，等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单基地执行 → 全球计划与人才复制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看见现场物料状态与动作风险；明确库位、搬运、配送和异常反馈责任。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按指令作业 → 理解物流规划与动作要求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基于现有设施优化实物流；关联移动、等待、损伤、库存占用与体系要求。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事后复盘 → 提前识别风险并调整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形成仓储与厂内物流标准；从零规划新基地物流运作并验证。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本地经验 → 可复制规划与培训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派驻基地，实线向基地Leader汇报；熟悉集团系统、绩效与现场接口，带教当地团队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集团执行／规划 → 跨基地现场骨干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与国内基地轮换；海外回归后进入集团晋升通道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: 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实物流规划经理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800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单点运作 → 全球复制与人才培养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共同接口：计划指令 ↔ 物料动作 ↔ 现场反馈；基地接任人员从这两类骨干中培养。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计划</a:t>
            </a:r>
            <a:r>
              <a:rPr lang="en-US" altLang="zh-CN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/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信息流</a:t>
            </a:r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计划可执行率、需求与产能偏差率分析、交付预测、库存变化与预测、异常闭环、派驻交接后业务连续性。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实物流验证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库位与账实准确、物料等待和搬运次数、损伤与报废、配送及时率、物理场景利用率（结合物料运转）、基地交接及带教结果。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/ </a:t>
            </a:r>
            <a:r>
              <a:rPr lang="en-US" sz="950" b="1" dirty="0" err="1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数字化与开发人员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数字化业务与开发集成双向培养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一个从现场定义功能，一个把需求做成稳定可用的系统；后期共同承担跨基地数字化能力。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以业务问题和收益定义功能；熟悉 ERP／MES／WMS 的真实动作，识别设备、物料、质量的数字采集点。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开发、集成与系统维护人员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懂接口、数据模型、测试、部署与维护；进入现场理解系统动作的物理含义，用 AI 辅助开发。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数字化业务能力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从系统模块维护者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altLang="zh-CN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-&gt; 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现场动作数据转化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”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“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数据断点”的问题解决者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系统管理员 → 现场业务问题翻译者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联合计划、仓储定义功能、使用场景、AI 工具与财务 controlling 口径。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功能描述 → 能解释过程价值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沉淀业务规则、数据标准、配置模板与验收方法，供基地复用。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单项需求 → 跨基地业务能力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支持基地上线与运行；关键物理状态映射进平台，验证 AI 分析。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使用系统 → 维护模型与数据质量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与开发集成人员双向轮岗；吸纳体系与 IE，共建全系统＋AI 工具。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功能提出者 → 懂接口和配置的融合成员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开发</a:t>
            </a:r>
            <a:r>
              <a:rPr lang="zh-CN" altLang="en-US" sz="1075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、集成</a:t>
            </a: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工程能力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保障 U9 等系统和接口；完成先导项目必要的数据采集与业务工具。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接功能清单 → 理解现场与业务收益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与数字化业务共同定义接口、测试、发布和异常处理。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能交付 → 判断运行成本与业务可行性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形成可复用的配置、接口、测试与部署包，支持基地适配。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单项目交付 → 可维护、可复制体系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接入关键现场状态；AI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结果进入真实业务场景</a:t>
            </a:r>
            <a:r>
              <a:rPr lang="zh-CN" alt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，但</a:t>
            </a: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保留人工确认与异常回退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软件接口 → 软硬接口与现场可靠性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与数字化岗位轮换；AI</a:t>
            </a: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 辅助开发，仍负责架构、验证、稳定性与安全。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专业开发者 → 懂运营的融合工程成员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融合目标：选择真实功能，验证团队能否自主完成需求、配置／开发、测试、部署和维护。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数字化业务验证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现场使用率、数据准确率、数据可信度、需求到上线周期、跨基地复用率、业务收益及问题回退能力。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开发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、集成</a:t>
            </a:r>
            <a:r>
              <a:rPr lang="en-US" sz="1000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工程验证</a:t>
            </a:r>
            <a:r>
              <a:rPr 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：</a:t>
            </a:r>
            <a:r>
              <a:rPr lang="zh-CN" altLang="en-US" sz="100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</a:rPr>
              <a:t>系统可用性、接口错误率、发布回退次数、故障恢复时间、复用比例、外部（软件）供应商依赖度。</a:t>
            </a:r>
          </a:p>
          <a:p>
            <a:pPr marL="0" indent="0">
              <a:buNone/>
            </a:pPr>
            <a:endParaRPr lang="en-US" sz="1000" dirty="0">
              <a:solidFill>
                <a:srgbClr val="62717B"/>
              </a:solidFill>
              <a:latin typeface="Hiragino Sans GB" pitchFamily="34" charset="0"/>
              <a:ea typeface="Hiragino Sans GB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78440" y="2743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/ </a:t>
            </a:r>
            <a:r>
              <a:rPr lang="en-US" sz="950" b="1" dirty="0" err="1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供应链体系与IE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体系与 IE 把运营方法写进数字化平台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12064" y="868680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体系界定客户要求与控制点；IE 基于现场事实优化动作，两者在平台成熟后进入数字化业务团队。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0" y="6574536"/>
            <a:ext cx="3794760" cy="283464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931920" y="6574536"/>
            <a:ext cx="8257032" cy="283464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2064" y="1453896"/>
            <a:ext cx="5504688" cy="850392"/>
          </a:xfrm>
          <a:prstGeom prst="rect">
            <a:avLst/>
          </a:prstGeom>
          <a:solidFill>
            <a:srgbClr val="F5FAFB"/>
          </a:solidFill>
          <a:ln w="12700">
            <a:solidFill>
              <a:srgbClr val="F5FA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2064" y="1453896"/>
            <a:ext cx="5504688" cy="0"/>
          </a:xfrm>
          <a:prstGeom prst="line">
            <a:avLst/>
          </a:prstGeom>
          <a:noFill/>
          <a:ln w="25400">
            <a:solidFill>
              <a:srgbClr val="2CA4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9224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集团供应链体系人员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649224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懂不同客户的体系要求、业务控制点和过程证据；把合规要求转成可执行、少重复录入的供应链规则。</a:t>
            </a:r>
            <a:endParaRPr lang="en-US" sz="1035" dirty="0"/>
          </a:p>
        </p:txBody>
      </p:sp>
      <p:sp>
        <p:nvSpPr>
          <p:cNvPr id="11" name="Shape 9"/>
          <p:cNvSpPr/>
          <p:nvPr/>
        </p:nvSpPr>
        <p:spPr>
          <a:xfrm>
            <a:off x="6172200" y="1453896"/>
            <a:ext cx="5504688" cy="850392"/>
          </a:xfrm>
          <a:prstGeom prst="rect">
            <a:avLst/>
          </a:prstGeom>
          <a:solidFill>
            <a:srgbClr val="F5FBE9"/>
          </a:solidFill>
          <a:ln w="12700">
            <a:solidFill>
              <a:srgbClr val="F5FB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172200" y="1453896"/>
            <a:ext cx="5504688" cy="0"/>
          </a:xfrm>
          <a:prstGeom prst="line">
            <a:avLst/>
          </a:prstGeom>
          <a:noFill/>
          <a:ln w="25400">
            <a:solidFill>
              <a:srgbClr val="88C2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5202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 人员（归属待讨论）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6309360" y="1865376"/>
            <a:ext cx="52029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3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贴近一线，测量动作、时间、布局和人机协同；与计划、仓储共同验证更优过程</a:t>
            </a:r>
            <a:r>
              <a:rPr lang="zh-CN" alt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r>
              <a:rPr lang="en-US" sz="103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关注视觉模型发展</a:t>
            </a:r>
            <a:r>
              <a:rPr lang="en-US" sz="103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035" dirty="0"/>
          </a:p>
        </p:txBody>
      </p:sp>
      <p:sp>
        <p:nvSpPr>
          <p:cNvPr id="15" name="Text 13"/>
          <p:cNvSpPr/>
          <p:nvPr/>
        </p:nvSpPr>
        <p:spPr>
          <a:xfrm>
            <a:off x="512064" y="245059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五阶段能力演进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03720" y="2450592"/>
            <a:ext cx="4764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20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每格上方为阶段工作；下方 P1 相较现状，P2–P5 相较上一阶段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512064" y="2706624"/>
            <a:ext cx="11164824" cy="310896"/>
          </a:xfrm>
          <a:prstGeom prst="rect">
            <a:avLst/>
          </a:prstGeom>
          <a:solidFill>
            <a:srgbClr val="EFF8FA"/>
          </a:solidFill>
          <a:ln w="12700">
            <a:solidFill>
              <a:srgbClr val="EFF8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85216" y="277520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15" dirty="0"/>
          </a:p>
        </p:txBody>
      </p:sp>
      <p:sp>
        <p:nvSpPr>
          <p:cNvPr id="19" name="Text 17"/>
          <p:cNvSpPr/>
          <p:nvPr/>
        </p:nvSpPr>
        <p:spPr>
          <a:xfrm>
            <a:off x="159105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P1 · 0～6月</a:t>
            </a:r>
            <a:endParaRPr lang="en-US" sz="1015" dirty="0"/>
          </a:p>
        </p:txBody>
      </p:sp>
      <p:sp>
        <p:nvSpPr>
          <p:cNvPr id="20" name="Text 18"/>
          <p:cNvSpPr/>
          <p:nvPr/>
        </p:nvSpPr>
        <p:spPr>
          <a:xfrm>
            <a:off x="362285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P2 · 6～12月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5654650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P3 · 1～2年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7686446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P4 · 2～3年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9718243" y="2775204"/>
            <a:ext cx="1885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5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P5 · 3年后</a:t>
            </a:r>
            <a:endParaRPr lang="en-US" sz="1015" dirty="0"/>
          </a:p>
        </p:txBody>
      </p:sp>
      <p:sp>
        <p:nvSpPr>
          <p:cNvPr id="24" name="Shape 22"/>
          <p:cNvSpPr/>
          <p:nvPr/>
        </p:nvSpPr>
        <p:spPr>
          <a:xfrm>
            <a:off x="512064" y="3017520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03504" y="31363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供应链体系能力</a:t>
            </a:r>
            <a:endParaRPr lang="en-US" sz="1075" dirty="0"/>
          </a:p>
        </p:txBody>
      </p:sp>
      <p:sp>
        <p:nvSpPr>
          <p:cNvPr id="26" name="Shape 24"/>
          <p:cNvSpPr/>
          <p:nvPr/>
        </p:nvSpPr>
        <p:spPr>
          <a:xfrm>
            <a:off x="151790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62763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盘点现状与客户要求；职责待确定，拟从计划或仓储人员中选拔。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29" name="Text 27"/>
          <p:cNvSpPr/>
          <p:nvPr/>
        </p:nvSpPr>
        <p:spPr>
          <a:xfrm>
            <a:off x="162763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审核文档 → 理解实际运营过程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49701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365942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建立集团体系管理职责；把 VDA 6.8 等要求映射到业务动作、记录与指标。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942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3" name="Text 31"/>
          <p:cNvSpPr/>
          <p:nvPr/>
        </p:nvSpPr>
        <p:spPr>
          <a:xfrm>
            <a:off x="365942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条款理解 → 业务控制点与闭环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81498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691226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统一跨基地业务边界、客户要求、过程控制和证据标准。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91226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37" name="Text 35"/>
          <p:cNvSpPr/>
          <p:nvPr/>
        </p:nvSpPr>
        <p:spPr>
          <a:xfrm>
            <a:off x="5691226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单次审核支持 → 集团标准设计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613294" y="3017520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7723022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支持派驻骨干并评价基地执行；判断哪些必须统一、哪些可以本地化。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23022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1" name="Text 39"/>
          <p:cNvSpPr/>
          <p:nvPr/>
        </p:nvSpPr>
        <p:spPr>
          <a:xfrm>
            <a:off x="7723022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集团标准 → 全球差异化适配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645091" y="3017520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754819" y="3136392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条件成熟后并入数字化业务；控制点进入流程、规则、提醒与追溯。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54819" y="3758184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45" name="Text 43"/>
          <p:cNvSpPr/>
          <p:nvPr/>
        </p:nvSpPr>
        <p:spPr>
          <a:xfrm>
            <a:off x="9754819" y="3822192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人工检查推动 → 平台内嵌控制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2064" y="4078224"/>
            <a:ext cx="1005840" cy="1060704"/>
          </a:xfrm>
          <a:prstGeom prst="rect">
            <a:avLst/>
          </a:prstGeom>
          <a:solidFill>
            <a:srgbClr val="F5FBE9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03504" y="4197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5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IE优化能力</a:t>
            </a:r>
            <a:endParaRPr lang="en-US" sz="1075" dirty="0"/>
          </a:p>
        </p:txBody>
      </p:sp>
      <p:sp>
        <p:nvSpPr>
          <p:cNvPr id="48" name="Shape 46"/>
          <p:cNvSpPr/>
          <p:nvPr/>
        </p:nvSpPr>
        <p:spPr>
          <a:xfrm>
            <a:off x="151790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62763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进入一线测量损失位置、作业动作和真实时间，与计划及仓储共同验证。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2763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1" name="Text 49"/>
          <p:cNvSpPr/>
          <p:nvPr/>
        </p:nvSpPr>
        <p:spPr>
          <a:xfrm>
            <a:off x="162763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桌面规划 → 以现场证据设计动作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549701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365942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联合计划和仓储验证线平衡、搬运、吊具与人机配合改善。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942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5" name="Text 53"/>
          <p:cNvSpPr/>
          <p:nvPr/>
        </p:nvSpPr>
        <p:spPr>
          <a:xfrm>
            <a:off x="365942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动作改善 → 时间、质量与成本收益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581498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691226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沉淀布局、动作和能力评估方法，验证新基地方案。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91226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59" name="Text 57"/>
          <p:cNvSpPr/>
          <p:nvPr/>
        </p:nvSpPr>
        <p:spPr>
          <a:xfrm>
            <a:off x="5691226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局部优化 → 可复制的协同方法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13294" y="4078224"/>
            <a:ext cx="2031797" cy="1060704"/>
          </a:xfrm>
          <a:prstGeom prst="rect">
            <a:avLst/>
          </a:prstGeom>
          <a:solidFill>
            <a:srgbClr val="FFFFFF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7723022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随基地项目验证现场条件，把关键物理状态与改善结果交给数字化团队。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23022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63" name="Text 61"/>
          <p:cNvSpPr/>
          <p:nvPr/>
        </p:nvSpPr>
        <p:spPr>
          <a:xfrm>
            <a:off x="7723022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现场事实 → 跨基地数字化接口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645091" y="4078224"/>
            <a:ext cx="2031797" cy="1060704"/>
          </a:xfrm>
          <a:prstGeom prst="rect">
            <a:avLst/>
          </a:prstGeom>
          <a:solidFill>
            <a:srgbClr val="FBFDF5"/>
          </a:solidFill>
          <a:ln w="698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9754819" y="4197096"/>
            <a:ext cx="181234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组织条件成熟后并入数字化业务；把精益方法写进 AI 工具和过程评价。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754819" y="4818888"/>
            <a:ext cx="1812341" cy="0"/>
          </a:xfrm>
          <a:prstGeom prst="line">
            <a:avLst/>
          </a:prstGeom>
          <a:noFill/>
          <a:ln w="8890">
            <a:solidFill>
              <a:srgbClr val="D9E6C7"/>
            </a:solidFill>
            <a:prstDash val="dash"/>
          </a:ln>
        </p:spPr>
        <p:txBody>
          <a:bodyPr/>
          <a:lstStyle/>
          <a:p>
            <a:endParaRPr lang="zh-CN" altLang="en-US" sz="900"/>
          </a:p>
        </p:txBody>
      </p:sp>
      <p:sp>
        <p:nvSpPr>
          <p:cNvPr id="67" name="Text 65"/>
          <p:cNvSpPr/>
          <p:nvPr/>
        </p:nvSpPr>
        <p:spPr>
          <a:xfrm>
            <a:off x="9754819" y="4882896"/>
            <a:ext cx="181234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5B8F1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↑ 现场改善专家 → 数字过程模型共建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12064" y="5312664"/>
            <a:ext cx="11164824" cy="0"/>
          </a:xfrm>
          <a:prstGeom prst="line">
            <a:avLst/>
          </a:prstGeom>
          <a:noFill/>
          <a:ln w="9525">
            <a:solidFill>
              <a:srgbClr val="DCE6E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512064" y="5440680"/>
            <a:ext cx="11137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融合前提：IE进入已有项目协作、组织归属待定；数字化和数据质量成熟后，再把体系＋精益嵌入平台</a:t>
            </a:r>
            <a:r>
              <a:rPr lang="en-US" sz="1150" b="1" dirty="0">
                <a:solidFill>
                  <a:srgbClr val="21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512064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供应链体系验证：控制点覆盖、证据完整、审核闭环与跨基地一致性</a:t>
            </a: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85" dirty="0"/>
          </a:p>
        </p:txBody>
      </p:sp>
      <p:sp>
        <p:nvSpPr>
          <p:cNvPr id="71" name="Text 69"/>
          <p:cNvSpPr/>
          <p:nvPr/>
        </p:nvSpPr>
        <p:spPr>
          <a:xfrm>
            <a:off x="6217920" y="5916168"/>
            <a:ext cx="5449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5" dirty="0" err="1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IE优化能力验证：动作与等待时间、线平衡、设备／人员利用及实际收益</a:t>
            </a:r>
            <a:r>
              <a:rPr lang="en-US" sz="985" dirty="0">
                <a:solidFill>
                  <a:srgbClr val="62717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。</a:t>
            </a:r>
            <a:endParaRPr lang="en-US" sz="9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1273</Words>
  <Application>Microsoft Macintosh PowerPoint</Application>
  <PresentationFormat>宽屏</PresentationFormat>
  <Paragraphs>210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Hiragino Sans GB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海威作业一｜五页可编辑版</dc:title>
  <dc:subject>海威作业一：组织与职能能力演进</dc:subject>
  <dc:creator>Codex</dc:creator>
  <cp:lastModifiedBy>Li Jiajun</cp:lastModifiedBy>
  <cp:revision>38</cp:revision>
  <dcterms:created xsi:type="dcterms:W3CDTF">2026-09-30T08:36:49Z</dcterms:created>
  <dcterms:modified xsi:type="dcterms:W3CDTF">2026-09-30T11:17:40Z</dcterms:modified>
</cp:coreProperties>
</file>