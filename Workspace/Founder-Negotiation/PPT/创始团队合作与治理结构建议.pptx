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6324F"/>
                </a:solidFill>
                <a:latin typeface="Hiragino Sans GB"/>
              </a:rPr>
              <a:t>创始团队合作与治理结构建议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E6DA4"/>
                </a:solidFill>
                <a:latin typeface="Hiragino Sans GB"/>
              </a:rPr>
              <a:t>01 合作目标与模式选择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8A94A6"/>
                </a:solidFill>
                <a:latin typeface="Hiragino Sans GB"/>
              </a:rPr>
              <a:t>1 /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492240" cy="1078992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35024"/>
            <a:ext cx="6035040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16324F"/>
                </a:solidFill>
                <a:latin typeface="Hiragino Sans GB"/>
              </a:rPr>
              <a:t>合作目标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共建工业 AI 软件平台：工业 Know-how + 体系标准 + AI 技术；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兼顾资本安全、核心团队长期激励与后续融资能力。</a:t>
            </a:r>
          </a:p>
        </p:txBody>
      </p:sp>
      <p:pic>
        <p:nvPicPr>
          <p:cNvPr id="8" name="Picture 7" descr="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50592"/>
            <a:ext cx="6492240" cy="32898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852160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Hiragino Sans GB"/>
              </a:rPr>
              <a:t>关键提醒：不建议将“联合创始人的责任”与“职业经理人的收益和权限”混搭组合。</a:t>
            </a:r>
          </a:p>
        </p:txBody>
      </p:sp>
      <p:pic>
        <p:nvPicPr>
          <p:cNvPr id="10" name="Picture 9" descr="知识中台&lt;-&gt;运营系统（+AI模型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207008"/>
            <a:ext cx="3327359" cy="49560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71815" y="1152144"/>
            <a:ext cx="3437087" cy="5065776"/>
          </a:xfrm>
          <a:prstGeom prst="rect">
            <a:avLst/>
          </a:prstGeom>
          <a:noFill/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6263640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A94A6"/>
                </a:solidFill>
                <a:latin typeface="Hiragino Sans GB"/>
              </a:rPr>
              <a:t>工业 AI 软件平台架构示意（知识中台 ↔ 运营系统 + AI）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A94A6"/>
                </a:solidFill>
                <a:latin typeface="Hiragino Sans GB"/>
              </a:rPr>
              <a:t>本文件为可供双方讨论的中性版本，不构成有约束力的要约或法律意见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6324F"/>
                </a:solidFill>
                <a:latin typeface="Hiragino Sans GB"/>
              </a:rPr>
              <a:t>经济结构与股权方案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E6DA4"/>
                </a:solidFill>
                <a:latin typeface="Hiragino Sans GB"/>
              </a:rPr>
              <a:t>02 股权、归属与融资稀释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8A94A6"/>
                </a:solidFill>
                <a:latin typeface="Hiragino Sans GB"/>
              </a:rPr>
              <a:t>2 / 3</a:t>
            </a:r>
          </a:p>
        </p:txBody>
      </p:sp>
      <p:pic>
        <p:nvPicPr>
          <p:cNvPr id="6" name="Picture 5" descr="equ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008"/>
            <a:ext cx="6492240" cy="36287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018600"/>
            <a:ext cx="6492240" cy="1491927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4904"/>
            <a:ext cx="6035040" cy="1217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16324F"/>
                </a:solidFill>
                <a:latin typeface="Hiragino Sans GB"/>
              </a:rPr>
              <a:t>方案要点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ESOP 按 18–24 个月招聘计划确定，初步可讨论 10% 并按需扩充，避免无岗位预算一次预留 25%；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联合创始人模式建议谈判区间 55/35/10 或 51/39/10；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若坚持 70/5/25，须按职业经理人模式补足薪酬、奖金、动态期权、经营授权与无因解聘保护。</a:t>
            </a:r>
          </a:p>
        </p:txBody>
      </p:sp>
      <p:pic>
        <p:nvPicPr>
          <p:cNvPr id="9" name="Picture 8" descr="vesting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207008"/>
            <a:ext cx="4389120" cy="22929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60920" y="3682799"/>
            <a:ext cx="4389120" cy="2827728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3829103"/>
            <a:ext cx="3931920" cy="255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16324F"/>
                </a:solidFill>
                <a:latin typeface="Hiragino Sans GB"/>
              </a:rPr>
              <a:t>归属与退出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四年 Vesting + 一年 Cliff，此后按月归属；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成立前已完成的验证工作可讨论起算信用；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未实缴资本对应股权不应无条件全部生效；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明确离职、无因解聘、违约、死亡失能与控制权变更处理；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约定已/未归属股份的回购权、价格、程序与支付。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A94A6"/>
                </a:solidFill>
                <a:latin typeface="Hiragino Sans GB"/>
              </a:rPr>
              <a:t>本文件为可供双方讨论的中性版本，不构成有约束力的要约或法律意见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6324F"/>
                </a:solidFill>
                <a:latin typeface="Hiragino Sans GB"/>
              </a:rPr>
              <a:t>治理结构与推进路径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E6DA4"/>
                </a:solidFill>
                <a:latin typeface="Hiragino Sans GB"/>
              </a:rPr>
              <a:t>03 权责对等、风险约束与落地节奏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8A94A6"/>
                </a:solidFill>
                <a:latin typeface="Hiragino Sans GB"/>
              </a:rPr>
              <a:t>3 / 3</a:t>
            </a:r>
          </a:p>
        </p:txBody>
      </p:sp>
      <p:pic>
        <p:nvPicPr>
          <p:cNvPr id="6" name="Picture 5" descr="全运营过程系统-功能架构总览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008"/>
            <a:ext cx="6720840" cy="44805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8056" y="1152144"/>
            <a:ext cx="6830568" cy="4590288"/>
          </a:xfrm>
          <a:prstGeom prst="rect">
            <a:avLst/>
          </a:prstGeom>
          <a:noFill/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6720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8A94A6"/>
                </a:solidFill>
                <a:latin typeface="Hiragino Sans GB"/>
              </a:rPr>
              <a:t>全运营过程系统功能架构总览——公司业务全景与产品基础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6720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Hiragino Sans GB"/>
              </a:rPr>
              <a:t>控制权、经济权与岗位权责分别表达；以治理规则覆盖融资、稀释、ESOP 扩池与董事会变化。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207008"/>
            <a:ext cx="4389120" cy="2304288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353312"/>
            <a:ext cx="3931920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16324F"/>
                </a:solidFill>
                <a:latin typeface="Hiragino Sans GB"/>
              </a:rPr>
              <a:t>治理结构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CEO：董事会批准的战略与预算内，享有日常经营决策权；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董事会：审议年度预算、融资、重大合同、核心高管与资本事项；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保留事项：章程修改、增资减资、并购清算、核心 IP 处置、重大关联交易；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•  月度经营报告、季度董事会、财务信息权、关联交易审批与僵局解决机制。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639312"/>
            <a:ext cx="4389120" cy="2871216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3767328"/>
            <a:ext cx="39319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50"/>
              </a:spcAft>
            </a:pPr>
            <a:r>
              <a:rPr sz="1450" b="1">
                <a:solidFill>
                  <a:srgbClr val="16324F"/>
                </a:solidFill>
                <a:latin typeface="Hiragino Sans GB"/>
              </a:rPr>
              <a:t>推进路径（7 步）</a:t>
            </a:r>
          </a:p>
          <a:p>
            <a:pPr algn="l">
              <a:lnSpc>
                <a:spcPct val="112000"/>
              </a:lnSpc>
              <a:spcAft>
                <a:spcPts val="35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① 确认合作模式（联合创始人 / 职业经理人）</a:t>
            </a:r>
          </a:p>
          <a:p>
            <a:pPr algn="l">
              <a:lnSpc>
                <a:spcPct val="112000"/>
              </a:lnSpc>
              <a:spcAft>
                <a:spcPts val="35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② 交换并核实出资、资源、知识产权、全职投入证明</a:t>
            </a:r>
          </a:p>
          <a:p>
            <a:pPr algn="l">
              <a:lnSpc>
                <a:spcPct val="112000"/>
              </a:lnSpc>
              <a:spcAft>
                <a:spcPts val="35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③ 确认 24 个月预算、里程碑与招聘计划</a:t>
            </a:r>
          </a:p>
          <a:p>
            <a:pPr algn="l">
              <a:lnSpc>
                <a:spcPct val="112000"/>
              </a:lnSpc>
              <a:spcAft>
                <a:spcPts val="35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④ 完成股权与融资稀释模型</a:t>
            </a:r>
          </a:p>
          <a:p>
            <a:pPr algn="l">
              <a:lnSpc>
                <a:spcPct val="112000"/>
              </a:lnSpc>
              <a:spcAft>
                <a:spcPts val="35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⑤ 签署原则性 Term Sheet</a:t>
            </a:r>
          </a:p>
          <a:p>
            <a:pPr algn="l">
              <a:lnSpc>
                <a:spcPct val="112000"/>
              </a:lnSpc>
              <a:spcAft>
                <a:spcPts val="35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⑥ 分别征询法律与税务意见</a:t>
            </a:r>
          </a:p>
          <a:p>
            <a:pPr algn="l">
              <a:lnSpc>
                <a:spcPct val="112000"/>
              </a:lnSpc>
              <a:spcAft>
                <a:spcPts val="350"/>
              </a:spcAft>
            </a:pPr>
            <a:r>
              <a:rPr sz="1050" b="0">
                <a:solidFill>
                  <a:srgbClr val="333A45"/>
                </a:solidFill>
                <a:latin typeface="Hiragino Sans GB"/>
              </a:rPr>
              <a:t>⑦ 签署股东协议、章程、投资协议、激励与知识产权文件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8A94A6"/>
                </a:solidFill>
                <a:latin typeface="Hiragino Sans GB"/>
              </a:rPr>
              <a:t>本文件为可供双方讨论的中性版本，不构成有约束力的要约或法律意见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